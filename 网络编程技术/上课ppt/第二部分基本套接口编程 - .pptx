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 id="2147483674" r:id="rId4"/>
    <p:sldMasterId id="2147483687" r:id="rId5"/>
  </p:sldMasterIdLst>
  <p:notesMasterIdLst>
    <p:notesMasterId r:id="rId7"/>
  </p:notesMasterIdLst>
  <p:sldIdLst>
    <p:sldId id="256" r:id="rId6"/>
    <p:sldId id="257" r:id="rId8"/>
    <p:sldId id="373" r:id="rId9"/>
    <p:sldId id="374" r:id="rId10"/>
    <p:sldId id="366" r:id="rId11"/>
    <p:sldId id="358" r:id="rId12"/>
    <p:sldId id="356" r:id="rId13"/>
    <p:sldId id="357" r:id="rId14"/>
    <p:sldId id="259" r:id="rId15"/>
    <p:sldId id="365" r:id="rId16"/>
    <p:sldId id="260" r:id="rId17"/>
    <p:sldId id="405" r:id="rId18"/>
    <p:sldId id="263" r:id="rId19"/>
    <p:sldId id="343" r:id="rId20"/>
    <p:sldId id="367" r:id="rId21"/>
    <p:sldId id="264" r:id="rId22"/>
    <p:sldId id="406" r:id="rId23"/>
    <p:sldId id="265" r:id="rId24"/>
    <p:sldId id="377" r:id="rId25"/>
    <p:sldId id="378" r:id="rId26"/>
    <p:sldId id="266" r:id="rId27"/>
    <p:sldId id="344" r:id="rId28"/>
    <p:sldId id="345" r:id="rId29"/>
    <p:sldId id="368" r:id="rId30"/>
    <p:sldId id="380" r:id="rId31"/>
    <p:sldId id="381" r:id="rId32"/>
    <p:sldId id="383" r:id="rId33"/>
    <p:sldId id="382" r:id="rId34"/>
    <p:sldId id="385" r:id="rId35"/>
    <p:sldId id="384" r:id="rId36"/>
    <p:sldId id="269" r:id="rId37"/>
    <p:sldId id="332" r:id="rId38"/>
    <p:sldId id="386" r:id="rId39"/>
    <p:sldId id="387" r:id="rId40"/>
    <p:sldId id="388" r:id="rId41"/>
    <p:sldId id="270" r:id="rId42"/>
    <p:sldId id="334" r:id="rId43"/>
    <p:sldId id="369" r:id="rId44"/>
    <p:sldId id="361" r:id="rId45"/>
    <p:sldId id="362" r:id="rId46"/>
    <p:sldId id="370" r:id="rId47"/>
    <p:sldId id="333" r:id="rId48"/>
    <p:sldId id="346" r:id="rId49"/>
    <p:sldId id="390" r:id="rId50"/>
    <p:sldId id="335" r:id="rId51"/>
    <p:sldId id="363" r:id="rId52"/>
    <p:sldId id="272" r:id="rId53"/>
    <p:sldId id="371" r:id="rId54"/>
    <p:sldId id="336" r:id="rId55"/>
    <p:sldId id="273" r:id="rId56"/>
    <p:sldId id="375" r:id="rId57"/>
    <p:sldId id="349" r:id="rId58"/>
    <p:sldId id="372" r:id="rId59"/>
    <p:sldId id="274" r:id="rId60"/>
    <p:sldId id="337" r:id="rId61"/>
    <p:sldId id="275" r:id="rId62"/>
    <p:sldId id="407" r:id="rId63"/>
    <p:sldId id="338" r:id="rId64"/>
    <p:sldId id="276" r:id="rId65"/>
    <p:sldId id="277" r:id="rId66"/>
    <p:sldId id="339" r:id="rId67"/>
    <p:sldId id="278" r:id="rId68"/>
    <p:sldId id="279" r:id="rId69"/>
    <p:sldId id="347" r:id="rId70"/>
    <p:sldId id="340" r:id="rId71"/>
    <p:sldId id="280" r:id="rId72"/>
    <p:sldId id="281" r:id="rId73"/>
    <p:sldId id="391" r:id="rId74"/>
    <p:sldId id="342" r:id="rId75"/>
    <p:sldId id="282" r:id="rId76"/>
    <p:sldId id="283" r:id="rId77"/>
    <p:sldId id="284" r:id="rId78"/>
    <p:sldId id="285" r:id="rId79"/>
    <p:sldId id="286" r:id="rId80"/>
    <p:sldId id="287" r:id="rId81"/>
    <p:sldId id="288" r:id="rId82"/>
    <p:sldId id="291" r:id="rId83"/>
    <p:sldId id="350" r:id="rId84"/>
    <p:sldId id="351" r:id="rId85"/>
    <p:sldId id="352" r:id="rId86"/>
    <p:sldId id="355" r:id="rId87"/>
    <p:sldId id="408" r:id="rId88"/>
    <p:sldId id="409" r:id="rId89"/>
    <p:sldId id="410" r:id="rId90"/>
    <p:sldId id="353" r:id="rId91"/>
    <p:sldId id="354" r:id="rId92"/>
    <p:sldId id="289" r:id="rId93"/>
    <p:sldId id="290" r:id="rId94"/>
    <p:sldId id="292" r:id="rId95"/>
    <p:sldId id="293" r:id="rId96"/>
    <p:sldId id="294" r:id="rId97"/>
    <p:sldId id="295" r:id="rId98"/>
    <p:sldId id="296" r:id="rId99"/>
    <p:sldId id="297" r:id="rId100"/>
    <p:sldId id="298" r:id="rId101"/>
    <p:sldId id="299" r:id="rId102"/>
    <p:sldId id="300" r:id="rId103"/>
    <p:sldId id="301" r:id="rId104"/>
    <p:sldId id="302" r:id="rId105"/>
    <p:sldId id="303" r:id="rId106"/>
    <p:sldId id="304" r:id="rId107"/>
    <p:sldId id="305" r:id="rId108"/>
    <p:sldId id="307" r:id="rId109"/>
    <p:sldId id="312" r:id="rId110"/>
    <p:sldId id="392" r:id="rId111"/>
    <p:sldId id="313" r:id="rId112"/>
    <p:sldId id="314" r:id="rId113"/>
    <p:sldId id="315" r:id="rId114"/>
    <p:sldId id="316" r:id="rId115"/>
    <p:sldId id="402" r:id="rId116"/>
    <p:sldId id="393" r:id="rId117"/>
    <p:sldId id="395" r:id="rId118"/>
    <p:sldId id="317" r:id="rId119"/>
    <p:sldId id="396" r:id="rId120"/>
    <p:sldId id="397" r:id="rId121"/>
    <p:sldId id="398" r:id="rId122"/>
    <p:sldId id="399" r:id="rId123"/>
    <p:sldId id="318" r:id="rId124"/>
    <p:sldId id="400" r:id="rId125"/>
    <p:sldId id="401" r:id="rId126"/>
    <p:sldId id="319" r:id="rId127"/>
    <p:sldId id="320" r:id="rId128"/>
    <p:sldId id="321" r:id="rId129"/>
    <p:sldId id="322" r:id="rId130"/>
    <p:sldId id="323" r:id="rId131"/>
    <p:sldId id="324" r:id="rId132"/>
    <p:sldId id="325" r:id="rId133"/>
    <p:sldId id="326" r:id="rId134"/>
    <p:sldId id="327" r:id="rId135"/>
    <p:sldId id="328" r:id="rId136"/>
    <p:sldId id="403" r:id="rId137"/>
    <p:sldId id="404" r:id="rId138"/>
    <p:sldId id="330" r:id="rId139"/>
  </p:sldIdLst>
  <p:sldSz cx="9144000" cy="6858000" type="screen4x3"/>
  <p:notesSz cx="6858000" cy="9144000"/>
  <p:custDataLst>
    <p:tags r:id="rId143"/>
  </p:custDataLst>
  <p:defaultTextStyle>
    <a:defPPr>
      <a:defRPr lang="zh-CN"/>
    </a:defPPr>
    <a:lvl1pPr marL="0" lvl="0"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ahoma" panose="020B060403050404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ahoma" panose="020B060403050404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ahoma" panose="020B060403050404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ahoma" panose="020B060403050404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ahoma" panose="020B060403050404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400" b="1" i="0" u="none" kern="1200" baseline="0">
        <a:solidFill>
          <a:schemeClr val="tx1"/>
        </a:solidFill>
        <a:latin typeface="Tahoma" panose="020B060403050404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304590"/>
    <a:srgbClr val="C0C0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中度样式 4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38"/>
    <p:restoredTop sz="79187"/>
  </p:normalViewPr>
  <p:slideViewPr>
    <p:cSldViewPr showGuides="1">
      <p:cViewPr varScale="1">
        <p:scale>
          <a:sx n="67" d="100"/>
          <a:sy n="67" d="100"/>
        </p:scale>
        <p:origin x="1906" y="62"/>
      </p:cViewPr>
      <p:guideLst>
        <p:guide orient="horz" pos="2160"/>
        <p:guide pos="288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3.xml"/><Relationship Id="rId98" Type="http://schemas.openxmlformats.org/officeDocument/2006/relationships/slide" Target="slides/slide92.xml"/><Relationship Id="rId97" Type="http://schemas.openxmlformats.org/officeDocument/2006/relationships/slide" Target="slides/slide91.xml"/><Relationship Id="rId96" Type="http://schemas.openxmlformats.org/officeDocument/2006/relationships/slide" Target="slides/slide90.xml"/><Relationship Id="rId95" Type="http://schemas.openxmlformats.org/officeDocument/2006/relationships/slide" Target="slides/slide89.xml"/><Relationship Id="rId94" Type="http://schemas.openxmlformats.org/officeDocument/2006/relationships/slide" Target="slides/slide88.xml"/><Relationship Id="rId93" Type="http://schemas.openxmlformats.org/officeDocument/2006/relationships/slide" Target="slides/slide87.xml"/><Relationship Id="rId92" Type="http://schemas.openxmlformats.org/officeDocument/2006/relationships/slide" Target="slides/slide86.xml"/><Relationship Id="rId91" Type="http://schemas.openxmlformats.org/officeDocument/2006/relationships/slide" Target="slides/slide85.xml"/><Relationship Id="rId90" Type="http://schemas.openxmlformats.org/officeDocument/2006/relationships/slide" Target="slides/slide84.xml"/><Relationship Id="rId9" Type="http://schemas.openxmlformats.org/officeDocument/2006/relationships/slide" Target="slides/slide3.xml"/><Relationship Id="rId89" Type="http://schemas.openxmlformats.org/officeDocument/2006/relationships/slide" Target="slides/slide83.xml"/><Relationship Id="rId88" Type="http://schemas.openxmlformats.org/officeDocument/2006/relationships/slide" Target="slides/slide82.xml"/><Relationship Id="rId87" Type="http://schemas.openxmlformats.org/officeDocument/2006/relationships/slide" Target="slides/slide81.xml"/><Relationship Id="rId86" Type="http://schemas.openxmlformats.org/officeDocument/2006/relationships/slide" Target="slides/slide80.xml"/><Relationship Id="rId85" Type="http://schemas.openxmlformats.org/officeDocument/2006/relationships/slide" Target="slides/slide79.xml"/><Relationship Id="rId84" Type="http://schemas.openxmlformats.org/officeDocument/2006/relationships/slide" Target="slides/slide78.xml"/><Relationship Id="rId83" Type="http://schemas.openxmlformats.org/officeDocument/2006/relationships/slide" Target="slides/slide77.xml"/><Relationship Id="rId82" Type="http://schemas.openxmlformats.org/officeDocument/2006/relationships/slide" Target="slides/slide76.xml"/><Relationship Id="rId81" Type="http://schemas.openxmlformats.org/officeDocument/2006/relationships/slide" Target="slides/slide75.xml"/><Relationship Id="rId80" Type="http://schemas.openxmlformats.org/officeDocument/2006/relationships/slide" Target="slides/slide74.xml"/><Relationship Id="rId8" Type="http://schemas.openxmlformats.org/officeDocument/2006/relationships/slide" Target="slides/slide2.xml"/><Relationship Id="rId79" Type="http://schemas.openxmlformats.org/officeDocument/2006/relationships/slide" Target="slides/slide73.xml"/><Relationship Id="rId78" Type="http://schemas.openxmlformats.org/officeDocument/2006/relationships/slide" Target="slides/slide72.xml"/><Relationship Id="rId77" Type="http://schemas.openxmlformats.org/officeDocument/2006/relationships/slide" Target="slides/slide71.xml"/><Relationship Id="rId76" Type="http://schemas.openxmlformats.org/officeDocument/2006/relationships/slide" Target="slides/slide70.xml"/><Relationship Id="rId75" Type="http://schemas.openxmlformats.org/officeDocument/2006/relationships/slide" Target="slides/slide69.xml"/><Relationship Id="rId74" Type="http://schemas.openxmlformats.org/officeDocument/2006/relationships/slide" Target="slides/slide68.xml"/><Relationship Id="rId73" Type="http://schemas.openxmlformats.org/officeDocument/2006/relationships/slide" Target="slides/slide67.xml"/><Relationship Id="rId72" Type="http://schemas.openxmlformats.org/officeDocument/2006/relationships/slide" Target="slides/slide66.xml"/><Relationship Id="rId71" Type="http://schemas.openxmlformats.org/officeDocument/2006/relationships/slide" Target="slides/slide65.xml"/><Relationship Id="rId70" Type="http://schemas.openxmlformats.org/officeDocument/2006/relationships/slide" Target="slides/slide64.xml"/><Relationship Id="rId7" Type="http://schemas.openxmlformats.org/officeDocument/2006/relationships/notesMaster" Target="notesMasters/notesMaster1.xml"/><Relationship Id="rId69" Type="http://schemas.openxmlformats.org/officeDocument/2006/relationships/slide" Target="slides/slide63.xml"/><Relationship Id="rId68" Type="http://schemas.openxmlformats.org/officeDocument/2006/relationships/slide" Target="slides/slide62.xml"/><Relationship Id="rId67" Type="http://schemas.openxmlformats.org/officeDocument/2006/relationships/slide" Target="slides/slide61.xml"/><Relationship Id="rId66" Type="http://schemas.openxmlformats.org/officeDocument/2006/relationships/slide" Target="slides/slide60.xml"/><Relationship Id="rId65" Type="http://schemas.openxmlformats.org/officeDocument/2006/relationships/slide" Target="slides/slide59.xml"/><Relationship Id="rId64" Type="http://schemas.openxmlformats.org/officeDocument/2006/relationships/slide" Target="slides/slide58.xml"/><Relationship Id="rId63" Type="http://schemas.openxmlformats.org/officeDocument/2006/relationships/slide" Target="slides/slide57.xml"/><Relationship Id="rId62" Type="http://schemas.openxmlformats.org/officeDocument/2006/relationships/slide" Target="slides/slide56.xml"/><Relationship Id="rId61" Type="http://schemas.openxmlformats.org/officeDocument/2006/relationships/slide" Target="slides/slide55.xml"/><Relationship Id="rId60" Type="http://schemas.openxmlformats.org/officeDocument/2006/relationships/slide" Target="slides/slide54.xml"/><Relationship Id="rId6" Type="http://schemas.openxmlformats.org/officeDocument/2006/relationships/slide" Target="slides/slide1.xml"/><Relationship Id="rId59" Type="http://schemas.openxmlformats.org/officeDocument/2006/relationships/slide" Target="slides/slide53.xml"/><Relationship Id="rId58" Type="http://schemas.openxmlformats.org/officeDocument/2006/relationships/slide" Target="slides/slide52.xml"/><Relationship Id="rId57" Type="http://schemas.openxmlformats.org/officeDocument/2006/relationships/slide" Target="slides/slide51.xml"/><Relationship Id="rId56" Type="http://schemas.openxmlformats.org/officeDocument/2006/relationships/slide" Target="slides/slide50.xml"/><Relationship Id="rId55" Type="http://schemas.openxmlformats.org/officeDocument/2006/relationships/slide" Target="slides/slide49.xml"/><Relationship Id="rId54" Type="http://schemas.openxmlformats.org/officeDocument/2006/relationships/slide" Target="slides/slide48.xml"/><Relationship Id="rId53" Type="http://schemas.openxmlformats.org/officeDocument/2006/relationships/slide" Target="slides/slide47.xml"/><Relationship Id="rId52" Type="http://schemas.openxmlformats.org/officeDocument/2006/relationships/slide" Target="slides/slide46.xml"/><Relationship Id="rId51" Type="http://schemas.openxmlformats.org/officeDocument/2006/relationships/slide" Target="slides/slide45.xml"/><Relationship Id="rId50" Type="http://schemas.openxmlformats.org/officeDocument/2006/relationships/slide" Target="slides/slide44.xml"/><Relationship Id="rId5" Type="http://schemas.openxmlformats.org/officeDocument/2006/relationships/slideMaster" Target="slideMasters/slideMaster4.xml"/><Relationship Id="rId49" Type="http://schemas.openxmlformats.org/officeDocument/2006/relationships/slide" Target="slides/slide43.xml"/><Relationship Id="rId48" Type="http://schemas.openxmlformats.org/officeDocument/2006/relationships/slide" Target="slides/slide42.xml"/><Relationship Id="rId47" Type="http://schemas.openxmlformats.org/officeDocument/2006/relationships/slide" Target="slides/slide41.xml"/><Relationship Id="rId46" Type="http://schemas.openxmlformats.org/officeDocument/2006/relationships/slide" Target="slides/slide40.xml"/><Relationship Id="rId45" Type="http://schemas.openxmlformats.org/officeDocument/2006/relationships/slide" Target="slides/slide39.xml"/><Relationship Id="rId44" Type="http://schemas.openxmlformats.org/officeDocument/2006/relationships/slide" Target="slides/slide38.xml"/><Relationship Id="rId43" Type="http://schemas.openxmlformats.org/officeDocument/2006/relationships/slide" Target="slides/slide37.xml"/><Relationship Id="rId42" Type="http://schemas.openxmlformats.org/officeDocument/2006/relationships/slide" Target="slides/slide36.xml"/><Relationship Id="rId41" Type="http://schemas.openxmlformats.org/officeDocument/2006/relationships/slide" Target="slides/slide35.xml"/><Relationship Id="rId40" Type="http://schemas.openxmlformats.org/officeDocument/2006/relationships/slide" Target="slides/slide34.xml"/><Relationship Id="rId4" Type="http://schemas.openxmlformats.org/officeDocument/2006/relationships/slideMaster" Target="slideMasters/slideMaster3.xml"/><Relationship Id="rId39" Type="http://schemas.openxmlformats.org/officeDocument/2006/relationships/slide" Target="slides/slide33.xml"/><Relationship Id="rId38" Type="http://schemas.openxmlformats.org/officeDocument/2006/relationships/slide" Target="slides/slide32.xml"/><Relationship Id="rId37" Type="http://schemas.openxmlformats.org/officeDocument/2006/relationships/slide" Target="slides/slide31.xml"/><Relationship Id="rId36" Type="http://schemas.openxmlformats.org/officeDocument/2006/relationships/slide" Target="slides/slide30.xml"/><Relationship Id="rId35" Type="http://schemas.openxmlformats.org/officeDocument/2006/relationships/slide" Target="slides/slide29.xml"/><Relationship Id="rId34" Type="http://schemas.openxmlformats.org/officeDocument/2006/relationships/slide" Target="slides/slide28.xml"/><Relationship Id="rId33" Type="http://schemas.openxmlformats.org/officeDocument/2006/relationships/slide" Target="slides/slide27.xml"/><Relationship Id="rId32" Type="http://schemas.openxmlformats.org/officeDocument/2006/relationships/slide" Target="slides/slide26.xml"/><Relationship Id="rId31" Type="http://schemas.openxmlformats.org/officeDocument/2006/relationships/slide" Target="slides/slide25.xml"/><Relationship Id="rId30" Type="http://schemas.openxmlformats.org/officeDocument/2006/relationships/slide" Target="slides/slide24.xml"/><Relationship Id="rId3" Type="http://schemas.openxmlformats.org/officeDocument/2006/relationships/slideMaster" Target="slideMasters/slideMaster2.xml"/><Relationship Id="rId29" Type="http://schemas.openxmlformats.org/officeDocument/2006/relationships/slide" Target="slides/slide23.xml"/><Relationship Id="rId28" Type="http://schemas.openxmlformats.org/officeDocument/2006/relationships/slide" Target="slides/slide22.xml"/><Relationship Id="rId27" Type="http://schemas.openxmlformats.org/officeDocument/2006/relationships/slide" Target="slides/slide21.xml"/><Relationship Id="rId26" Type="http://schemas.openxmlformats.org/officeDocument/2006/relationships/slide" Target="slides/slide20.xml"/><Relationship Id="rId25" Type="http://schemas.openxmlformats.org/officeDocument/2006/relationships/slide" Target="slides/slide19.xml"/><Relationship Id="rId24" Type="http://schemas.openxmlformats.org/officeDocument/2006/relationships/slide" Target="slides/slide18.xml"/><Relationship Id="rId23" Type="http://schemas.openxmlformats.org/officeDocument/2006/relationships/slide" Target="slides/slide17.xml"/><Relationship Id="rId22" Type="http://schemas.openxmlformats.org/officeDocument/2006/relationships/slide" Target="slides/slide16.xml"/><Relationship Id="rId21" Type="http://schemas.openxmlformats.org/officeDocument/2006/relationships/slide" Target="slides/slide15.xml"/><Relationship Id="rId20" Type="http://schemas.openxmlformats.org/officeDocument/2006/relationships/slide" Target="slides/slide14.xml"/><Relationship Id="rId2" Type="http://schemas.openxmlformats.org/officeDocument/2006/relationships/theme" Target="theme/theme1.xml"/><Relationship Id="rId19" Type="http://schemas.openxmlformats.org/officeDocument/2006/relationships/slide" Target="slides/slide13.xml"/><Relationship Id="rId18" Type="http://schemas.openxmlformats.org/officeDocument/2006/relationships/slide" Target="slides/slide12.xml"/><Relationship Id="rId17" Type="http://schemas.openxmlformats.org/officeDocument/2006/relationships/slide" Target="slides/slide11.xml"/><Relationship Id="rId16" Type="http://schemas.openxmlformats.org/officeDocument/2006/relationships/slide" Target="slides/slide10.xml"/><Relationship Id="rId15" Type="http://schemas.openxmlformats.org/officeDocument/2006/relationships/slide" Target="slides/slide9.xml"/><Relationship Id="rId143" Type="http://schemas.openxmlformats.org/officeDocument/2006/relationships/tags" Target="tags/tag1.xml"/><Relationship Id="rId142" Type="http://schemas.openxmlformats.org/officeDocument/2006/relationships/tableStyles" Target="tableStyles.xml"/><Relationship Id="rId141" Type="http://schemas.openxmlformats.org/officeDocument/2006/relationships/viewProps" Target="viewProps.xml"/><Relationship Id="rId140" Type="http://schemas.openxmlformats.org/officeDocument/2006/relationships/presProps" Target="presProps.xml"/><Relationship Id="rId14" Type="http://schemas.openxmlformats.org/officeDocument/2006/relationships/slide" Target="slides/slide8.xml"/><Relationship Id="rId139" Type="http://schemas.openxmlformats.org/officeDocument/2006/relationships/slide" Target="slides/slide133.xml"/><Relationship Id="rId138" Type="http://schemas.openxmlformats.org/officeDocument/2006/relationships/slide" Target="slides/slide132.xml"/><Relationship Id="rId137" Type="http://schemas.openxmlformats.org/officeDocument/2006/relationships/slide" Target="slides/slide131.xml"/><Relationship Id="rId136" Type="http://schemas.openxmlformats.org/officeDocument/2006/relationships/slide" Target="slides/slide130.xml"/><Relationship Id="rId135" Type="http://schemas.openxmlformats.org/officeDocument/2006/relationships/slide" Target="slides/slide129.xml"/><Relationship Id="rId134" Type="http://schemas.openxmlformats.org/officeDocument/2006/relationships/slide" Target="slides/slide128.xml"/><Relationship Id="rId133" Type="http://schemas.openxmlformats.org/officeDocument/2006/relationships/slide" Target="slides/slide127.xml"/><Relationship Id="rId132" Type="http://schemas.openxmlformats.org/officeDocument/2006/relationships/slide" Target="slides/slide126.xml"/><Relationship Id="rId131" Type="http://schemas.openxmlformats.org/officeDocument/2006/relationships/slide" Target="slides/slide125.xml"/><Relationship Id="rId130" Type="http://schemas.openxmlformats.org/officeDocument/2006/relationships/slide" Target="slides/slide124.xml"/><Relationship Id="rId13" Type="http://schemas.openxmlformats.org/officeDocument/2006/relationships/slide" Target="slides/slide7.xml"/><Relationship Id="rId129" Type="http://schemas.openxmlformats.org/officeDocument/2006/relationships/slide" Target="slides/slide123.xml"/><Relationship Id="rId128" Type="http://schemas.openxmlformats.org/officeDocument/2006/relationships/slide" Target="slides/slide122.xml"/><Relationship Id="rId127" Type="http://schemas.openxmlformats.org/officeDocument/2006/relationships/slide" Target="slides/slide121.xml"/><Relationship Id="rId126" Type="http://schemas.openxmlformats.org/officeDocument/2006/relationships/slide" Target="slides/slide120.xml"/><Relationship Id="rId125" Type="http://schemas.openxmlformats.org/officeDocument/2006/relationships/slide" Target="slides/slide119.xml"/><Relationship Id="rId124" Type="http://schemas.openxmlformats.org/officeDocument/2006/relationships/slide" Target="slides/slide118.xml"/><Relationship Id="rId123" Type="http://schemas.openxmlformats.org/officeDocument/2006/relationships/slide" Target="slides/slide117.xml"/><Relationship Id="rId122" Type="http://schemas.openxmlformats.org/officeDocument/2006/relationships/slide" Target="slides/slide116.xml"/><Relationship Id="rId121" Type="http://schemas.openxmlformats.org/officeDocument/2006/relationships/slide" Target="slides/slide115.xml"/><Relationship Id="rId120" Type="http://schemas.openxmlformats.org/officeDocument/2006/relationships/slide" Target="slides/slide114.xml"/><Relationship Id="rId12" Type="http://schemas.openxmlformats.org/officeDocument/2006/relationships/slide" Target="slides/slide6.xml"/><Relationship Id="rId119" Type="http://schemas.openxmlformats.org/officeDocument/2006/relationships/slide" Target="slides/slide113.xml"/><Relationship Id="rId118" Type="http://schemas.openxmlformats.org/officeDocument/2006/relationships/slide" Target="slides/slide112.xml"/><Relationship Id="rId117" Type="http://schemas.openxmlformats.org/officeDocument/2006/relationships/slide" Target="slides/slide111.xml"/><Relationship Id="rId116" Type="http://schemas.openxmlformats.org/officeDocument/2006/relationships/slide" Target="slides/slide110.xml"/><Relationship Id="rId115" Type="http://schemas.openxmlformats.org/officeDocument/2006/relationships/slide" Target="slides/slide109.xml"/><Relationship Id="rId114" Type="http://schemas.openxmlformats.org/officeDocument/2006/relationships/slide" Target="slides/slide108.xml"/><Relationship Id="rId113" Type="http://schemas.openxmlformats.org/officeDocument/2006/relationships/slide" Target="slides/slide107.xml"/><Relationship Id="rId112" Type="http://schemas.openxmlformats.org/officeDocument/2006/relationships/slide" Target="slides/slide106.xml"/><Relationship Id="rId111" Type="http://schemas.openxmlformats.org/officeDocument/2006/relationships/slide" Target="slides/slide105.xml"/><Relationship Id="rId110" Type="http://schemas.openxmlformats.org/officeDocument/2006/relationships/slide" Target="slides/slide104.xml"/><Relationship Id="rId11" Type="http://schemas.openxmlformats.org/officeDocument/2006/relationships/slide" Target="slides/slide5.xml"/><Relationship Id="rId109" Type="http://schemas.openxmlformats.org/officeDocument/2006/relationships/slide" Target="slides/slide103.xml"/><Relationship Id="rId108" Type="http://schemas.openxmlformats.org/officeDocument/2006/relationships/slide" Target="slides/slide102.xml"/><Relationship Id="rId107" Type="http://schemas.openxmlformats.org/officeDocument/2006/relationships/slide" Target="slides/slide101.xml"/><Relationship Id="rId106" Type="http://schemas.openxmlformats.org/officeDocument/2006/relationships/slide" Target="slides/slide100.xml"/><Relationship Id="rId105" Type="http://schemas.openxmlformats.org/officeDocument/2006/relationships/slide" Target="slides/slide99.xml"/><Relationship Id="rId104" Type="http://schemas.openxmlformats.org/officeDocument/2006/relationships/slide" Target="slides/slide98.xml"/><Relationship Id="rId103" Type="http://schemas.openxmlformats.org/officeDocument/2006/relationships/slide" Target="slides/slide97.xml"/><Relationship Id="rId102" Type="http://schemas.openxmlformats.org/officeDocument/2006/relationships/slide" Target="slides/slide96.xml"/><Relationship Id="rId101" Type="http://schemas.openxmlformats.org/officeDocument/2006/relationships/slide" Target="slides/slide95.xml"/><Relationship Id="rId100" Type="http://schemas.openxmlformats.org/officeDocument/2006/relationships/slide" Target="slides/slide94.xml"/><Relationship Id="rId10" Type="http://schemas.openxmlformats.org/officeDocument/2006/relationships/slide" Target="slides/slide4.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2.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7.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89442"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eaLnBrk="1" hangingPunct="1">
              <a:defRPr sz="1200" b="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89443" name="Rectangle 3"/>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lstStyle>
            <a:lvl1pPr algn="r" eaLnBrk="1" hangingPunct="1">
              <a:defRPr sz="1200" b="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220" name="Rectangle 4"/>
          <p:cNvSpPr>
            <a:spLocks noRo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189445" name="Rectangle 5"/>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89446" name="Rectangle 6"/>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lstStyle>
            <a:lvl1pPr eaLnBrk="1" hangingPunct="1">
              <a:defRPr sz="1200" b="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89447" name="Rectangle 7"/>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8" Type="http://schemas.openxmlformats.org/officeDocument/2006/relationships/hyperlink" Target="http://baike.baidu.com/view/569184.htm" TargetMode="External"/><Relationship Id="rId7" Type="http://schemas.openxmlformats.org/officeDocument/2006/relationships/hyperlink" Target="http://baike.baidu.com/view/4230.htm" TargetMode="External"/><Relationship Id="rId6" Type="http://schemas.openxmlformats.org/officeDocument/2006/relationships/hyperlink" Target="http://baike.baidu.com/view/43200.htm" TargetMode="External"/><Relationship Id="rId5" Type="http://schemas.openxmlformats.org/officeDocument/2006/relationships/hyperlink" Target="http://baike.baidu.com/view/1913658.htm" TargetMode="External"/><Relationship Id="rId4" Type="http://schemas.openxmlformats.org/officeDocument/2006/relationships/hyperlink" Target="http://baike.baidu.com/view/330120.htm" TargetMode="External"/><Relationship Id="rId3" Type="http://schemas.openxmlformats.org/officeDocument/2006/relationships/hyperlink" Target="http://baike.baidu.com/view/813.htm" TargetMode="External"/><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_rels/notesSlide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_rels/notesSlide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9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9.xml"/></Relationships>
</file>

<file path=ppt/notesSlides/_rels/notesSlide9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0.xml"/></Relationships>
</file>

<file path=ppt/notesSlides/_rels/notesSlide9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1.xml"/></Relationships>
</file>

<file path=ppt/notesSlides/_rels/notesSlide9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2.xml"/></Relationships>
</file>

<file path=ppt/notesSlides/_rels/notesSlide9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3.xml"/></Relationships>
</file>

<file path=ppt/notesSlides/_rels/notesSlide9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4.xml"/></Relationships>
</file>

<file path=ppt/notesSlides/_rels/notesSlide9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6.xml"/></Relationships>
</file>

<file path=ppt/notesSlides/_rels/notesSlide9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8.xml"/></Relationships>
</file>

<file path=ppt/notesSlides/_rels/notesSlide9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1.xml"/></Relationships>
</file>

<file path=ppt/notesSlides/_rels/notesSlide9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2.xml"/></Relationships>
</file>

<file path=ppt/notesSlides/_rels/notesSlide10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3.xml"/></Relationships>
</file>

<file path=ppt/notesSlides/_rels/notesSlide10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4.xml"/></Relationships>
</file>

<file path=ppt/notesSlides/_rels/notesSlide10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5.xml"/></Relationships>
</file>

<file path=ppt/notesSlides/_rels/notesSlide10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6.xml"/></Relationships>
</file>

<file path=ppt/notesSlides/_rels/notesSlide10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7.xml"/></Relationships>
</file>

<file path=ppt/notesSlides/_rels/notesSlide10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8.xml"/></Relationships>
</file>

<file path=ppt/notesSlides/_rels/notesSlide10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9.xml"/></Relationships>
</file>

<file path=ppt/notesSlides/_rels/notesSlide10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0.xml"/></Relationships>
</file>

<file path=ppt/notesSlides/_rels/notesSlide10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1.xml"/></Relationships>
</file>

<file path=ppt/notesSlides/_rels/notesSlide10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11267" name="Rectangle 2"/>
          <p:cNvSpPr>
            <a:spLocks noRot="1" noTextEdit="1"/>
          </p:cNvSpPr>
          <p:nvPr>
            <p:ph type="sldImg"/>
          </p:nvPr>
        </p:nvSpPr>
        <p:spPr/>
      </p:sp>
      <p:sp>
        <p:nvSpPr>
          <p:cNvPr id="11268"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13315" name="Rectangle 2"/>
          <p:cNvSpPr>
            <a:spLocks noRot="1" noTextEdit="1"/>
          </p:cNvSpPr>
          <p:nvPr>
            <p:ph type="sldImg"/>
          </p:nvPr>
        </p:nvSpPr>
        <p:spPr/>
      </p:sp>
      <p:sp>
        <p:nvSpPr>
          <p:cNvPr id="13316"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19459" name="Rectangle 2"/>
          <p:cNvSpPr>
            <a:spLocks noRot="1" noTextEdit="1"/>
          </p:cNvSpPr>
          <p:nvPr>
            <p:ph type="sldImg"/>
          </p:nvPr>
        </p:nvSpPr>
        <p:spPr/>
      </p:sp>
      <p:sp>
        <p:nvSpPr>
          <p:cNvPr id="19460" name="Rectangle 3"/>
          <p:cNvSpPr>
            <a:spLocks noGrp="1"/>
          </p:cNvSpPr>
          <p:nvPr>
            <p:ph type="body"/>
          </p:nvPr>
        </p:nvSpPr>
        <p:spPr/>
        <p:txBody>
          <a:bodyPr wrap="square" lIns="91440" tIns="45720" rIns="91440" bIns="45720" anchor="t" anchorCtr="0"/>
          <a:p>
            <a:pPr lvl="0" eaLnBrk="1" hangingPunct="1"/>
            <a:r>
              <a:rPr lang="zh-CN" altLang="en-US" sz="1000" dirty="0"/>
              <a:t>套接口：两个网络应用程序进行通信时，各自通信连接中的一个端点。端点是逻辑上的概念。</a:t>
            </a:r>
            <a:endParaRPr lang="zh-CN" altLang="en-US" sz="100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22531" name="Rectangle 2"/>
          <p:cNvSpPr>
            <a:spLocks noRot="1" noTextEdit="1"/>
          </p:cNvSpPr>
          <p:nvPr>
            <p:ph type="sldImg"/>
          </p:nvPr>
        </p:nvSpPr>
        <p:spPr/>
      </p:sp>
      <p:sp>
        <p:nvSpPr>
          <p:cNvPr id="22532"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25603" name="Rectangle 2"/>
          <p:cNvSpPr>
            <a:spLocks noRot="1" noTextEdit="1"/>
          </p:cNvSpPr>
          <p:nvPr>
            <p:ph type="sldImg"/>
          </p:nvPr>
        </p:nvSpPr>
        <p:spPr/>
      </p:sp>
      <p:sp>
        <p:nvSpPr>
          <p:cNvPr id="25604"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幻灯片图像占位符 1"/>
          <p:cNvSpPr>
            <a:spLocks noGrp="1" noRot="1" noChangeAspect="1" noTextEdit="1"/>
          </p:cNvSpPr>
          <p:nvPr>
            <p:ph type="sldImg"/>
          </p:nvPr>
        </p:nvSpPr>
        <p:spPr/>
      </p:sp>
      <p:sp>
        <p:nvSpPr>
          <p:cNvPr id="27651" name="备注占位符 2"/>
          <p:cNvSpPr>
            <a:spLocks noGrp="1"/>
          </p:cNvSpPr>
          <p:nvPr>
            <p:ph type="body"/>
          </p:nvPr>
        </p:nvSpPr>
        <p:spPr/>
        <p:txBody>
          <a:bodyPr wrap="square" lIns="91440" tIns="45720" rIns="91440" bIns="45720" anchor="t" anchorCtr="0"/>
          <a:p>
            <a:pPr lvl="0"/>
            <a:r>
              <a:rPr lang="zh-CN" altLang="en-US" dirty="0"/>
              <a:t>网际套接字地址结构 </a:t>
            </a:r>
            <a:r>
              <a:rPr lang="en-US" altLang="zh-CN" dirty="0"/>
              <a:t>sockaddr_in</a:t>
            </a:r>
            <a:endParaRPr lang="en-US" altLang="zh-CN" dirty="0"/>
          </a:p>
          <a:p>
            <a:pPr lvl="0"/>
            <a:r>
              <a:rPr lang="zh-CN" altLang="en-US" dirty="0"/>
              <a:t>通用套接字地址结构 </a:t>
            </a:r>
            <a:r>
              <a:rPr lang="en-US" altLang="zh-CN" dirty="0"/>
              <a:t>sockaddr </a:t>
            </a:r>
            <a:r>
              <a:rPr lang="zh-CN" altLang="en-US" dirty="0"/>
              <a:t>大小都是</a:t>
            </a:r>
            <a:r>
              <a:rPr lang="en-US" altLang="zh-CN" dirty="0"/>
              <a:t>16 </a:t>
            </a:r>
            <a:endParaRPr lang="en-US" altLang="zh-CN" dirty="0"/>
          </a:p>
          <a:p>
            <a:pPr lvl="0"/>
            <a:r>
              <a:rPr lang="en-US" altLang="zh-CN" dirty="0"/>
              <a:t>16</a:t>
            </a:r>
            <a:r>
              <a:rPr lang="zh-CN" altLang="en-US" dirty="0"/>
              <a:t>是指不含</a:t>
            </a:r>
            <a:r>
              <a:rPr lang="en-US" altLang="zh-CN" dirty="0"/>
              <a:t>sin_len</a:t>
            </a:r>
            <a:r>
              <a:rPr lang="zh-CN" altLang="en-US" dirty="0"/>
              <a:t>这个长度</a:t>
            </a:r>
            <a:endParaRPr lang="en-US" altLang="zh-CN" dirty="0"/>
          </a:p>
          <a:p>
            <a:pPr lvl="0"/>
            <a:endParaRPr lang="zh-CN" altLang="en-US" dirty="0"/>
          </a:p>
        </p:txBody>
      </p:sp>
      <p:sp>
        <p:nvSpPr>
          <p:cNvPr id="2765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solidFill>
                  <a:srgbClr val="000000"/>
                </a:solidFill>
                <a:latin typeface="Arial" panose="020B0604020202020204" pitchFamily="34" charset="0"/>
              </a:rPr>
            </a:fld>
            <a:endParaRPr lang="en-US" altLang="zh-CN" sz="1200" b="0" dirty="0">
              <a:solidFill>
                <a:srgbClr val="000000"/>
              </a:solidFill>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29699" name="Rectangle 2"/>
          <p:cNvSpPr>
            <a:spLocks noRot="1" noTextEdit="1"/>
          </p:cNvSpPr>
          <p:nvPr>
            <p:ph type="sldImg"/>
          </p:nvPr>
        </p:nvSpPr>
        <p:spPr/>
      </p:sp>
      <p:sp>
        <p:nvSpPr>
          <p:cNvPr id="29700" name="Rectangle 3"/>
          <p:cNvSpPr>
            <a:spLocks noGrp="1"/>
          </p:cNvSpPr>
          <p:nvPr>
            <p:ph type="body"/>
          </p:nvPr>
        </p:nvSpPr>
        <p:spPr/>
        <p:txBody>
          <a:bodyPr wrap="square" lIns="91440" tIns="45720" rIns="91440" bIns="45720" anchor="t" anchorCtr="0"/>
          <a:p>
            <a:pPr lvl="0" eaLnBrk="1" hangingPunct="1"/>
            <a:r>
              <a:rPr lang="zh-CN" altLang="en-US" dirty="0"/>
              <a:t>当作为一个参数传递进任何套接字的时候，套接字的地址结构总是以引用形式（也就是指向该结构的指针）来传递的。</a:t>
            </a:r>
            <a:endParaRPr lang="en-US" altLang="zh-CN" dirty="0"/>
          </a:p>
          <a:p>
            <a:pPr lvl="0" eaLnBrk="1" hangingPunct="1"/>
            <a:r>
              <a:rPr lang="zh-CN" altLang="en-US" dirty="0"/>
              <a:t>然而以这样的指针作为参数之一的套接字函数， 比如</a:t>
            </a:r>
            <a:r>
              <a:rPr lang="en-US" altLang="zh-CN" dirty="0"/>
              <a:t>bind</a:t>
            </a:r>
            <a:r>
              <a:rPr lang="zh-CN" altLang="en-US" dirty="0"/>
              <a:t>、</a:t>
            </a:r>
            <a:r>
              <a:rPr lang="en-US" altLang="zh-CN" dirty="0"/>
              <a:t>connect</a:t>
            </a:r>
            <a:r>
              <a:rPr lang="zh-CN" altLang="en-US" dirty="0"/>
              <a:t>、</a:t>
            </a:r>
            <a:r>
              <a:rPr lang="en-US" altLang="zh-CN" dirty="0"/>
              <a:t>accept</a:t>
            </a:r>
            <a:r>
              <a:rPr lang="zh-CN" altLang="en-US" dirty="0"/>
              <a:t>这些函数，必须处理所支持的任何套接字地址结构，这就导致了在如何声明所传递指针的数据类型上存在问题。</a:t>
            </a:r>
            <a:endParaRPr lang="en-US" altLang="zh-CN" dirty="0"/>
          </a:p>
          <a:p>
            <a:pPr lvl="0" eaLnBrk="1" hangingPunct="1"/>
            <a:r>
              <a:rPr lang="zh-CN" altLang="en-US" dirty="0"/>
              <a:t>在</a:t>
            </a:r>
            <a:r>
              <a:rPr lang="en-US" altLang="zh-CN" dirty="0"/>
              <a:t>ANSI C</a:t>
            </a:r>
            <a:r>
              <a:rPr lang="zh-CN" altLang="en-US" dirty="0"/>
              <a:t>出现之后，这个问题很容易解决，</a:t>
            </a:r>
            <a:r>
              <a:rPr lang="en-US" altLang="zh-CN" dirty="0"/>
              <a:t>void* </a:t>
            </a:r>
            <a:r>
              <a:rPr lang="zh-CN" altLang="en-US" dirty="0"/>
              <a:t>通用指针，然而在套接字是在</a:t>
            </a:r>
            <a:r>
              <a:rPr lang="en-US" altLang="zh-CN" dirty="0"/>
              <a:t>ANSI C</a:t>
            </a:r>
            <a:r>
              <a:rPr lang="zh-CN" altLang="en-US" dirty="0"/>
              <a:t>之前定义的，在</a:t>
            </a:r>
            <a:r>
              <a:rPr lang="en-US" altLang="zh-CN" dirty="0"/>
              <a:t>1982</a:t>
            </a:r>
            <a:r>
              <a:rPr lang="zh-CN" altLang="en-US" dirty="0"/>
              <a:t>年的时候采用的方法就是通用套接字地址结构。</a:t>
            </a:r>
            <a:endParaRPr lang="zh-CN" alt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31747" name="Rectangle 2"/>
          <p:cNvSpPr>
            <a:spLocks noRot="1" noTextEdit="1"/>
          </p:cNvSpPr>
          <p:nvPr>
            <p:ph type="sldImg"/>
          </p:nvPr>
        </p:nvSpPr>
        <p:spPr/>
      </p:sp>
      <p:sp>
        <p:nvSpPr>
          <p:cNvPr id="31748" name="Rectangle 3"/>
          <p:cNvSpPr>
            <a:spLocks noGrp="1"/>
          </p:cNvSpPr>
          <p:nvPr>
            <p:ph type="body"/>
          </p:nvPr>
        </p:nvSpPr>
        <p:spPr/>
        <p:txBody>
          <a:bodyPr wrap="square" lIns="91440" tIns="45720" rIns="91440" bIns="45720" anchor="t" anchorCtr="0"/>
          <a:p>
            <a:pPr lvl="0" eaLnBrk="1" hangingPunct="1"/>
            <a:r>
              <a:rPr lang="en-US" altLang="zh-CN" dirty="0"/>
              <a:t>AF_INET:Internet</a:t>
            </a:r>
            <a:r>
              <a:rPr lang="zh-CN" altLang="en-US" dirty="0"/>
              <a:t>地址族，在</a:t>
            </a:r>
            <a:r>
              <a:rPr lang="en-US" altLang="zh-CN" dirty="0"/>
              <a:t>IPv4</a:t>
            </a:r>
            <a:r>
              <a:rPr lang="zh-CN" altLang="en-US" dirty="0"/>
              <a:t>中是</a:t>
            </a:r>
            <a:r>
              <a:rPr lang="en-US" altLang="zh-CN" dirty="0"/>
              <a:t>AF_INET</a:t>
            </a:r>
            <a:endParaRPr lang="en-US" altLang="zh-CN" dirty="0"/>
          </a:p>
          <a:p>
            <a:pPr lvl="0" eaLnBrk="1" hangingPunct="1"/>
            <a:r>
              <a:rPr lang="zh-CN" altLang="en-US" dirty="0"/>
              <a:t>一般情况下，如果你要建立</a:t>
            </a:r>
            <a:r>
              <a:rPr lang="zh-CN" altLang="en-US" dirty="0">
                <a:hlinkClick r:id="rId3"/>
              </a:rPr>
              <a:t>网络服务器</a:t>
            </a:r>
            <a:r>
              <a:rPr lang="zh-CN" altLang="en-US" dirty="0">
                <a:hlinkClick r:id="rId4"/>
              </a:rPr>
              <a:t>应用程序</a:t>
            </a:r>
            <a:r>
              <a:rPr lang="zh-CN" altLang="en-US" dirty="0"/>
              <a:t>，则你要通知</a:t>
            </a:r>
            <a:r>
              <a:rPr lang="zh-CN" altLang="en-US" dirty="0">
                <a:hlinkClick r:id="rId5"/>
              </a:rPr>
              <a:t>服务器操作系统</a:t>
            </a:r>
            <a:r>
              <a:rPr lang="zh-CN" altLang="en-US" dirty="0"/>
              <a:t>：请在某地址 </a:t>
            </a:r>
            <a:r>
              <a:rPr lang="en-US" altLang="zh-CN" dirty="0"/>
              <a:t>xxx.xxx.xxx.xxx</a:t>
            </a:r>
            <a:r>
              <a:rPr lang="zh-CN" altLang="en-US" dirty="0"/>
              <a:t>上的某端口 </a:t>
            </a:r>
            <a:r>
              <a:rPr lang="en-US" altLang="zh-CN" dirty="0"/>
              <a:t>yyyy</a:t>
            </a:r>
            <a:r>
              <a:rPr lang="zh-CN" altLang="en-US" dirty="0"/>
              <a:t>上进行侦听，并且把侦听到的数据包发送给我。 </a:t>
            </a:r>
            <a:endParaRPr lang="zh-CN" altLang="en-US" dirty="0"/>
          </a:p>
          <a:p>
            <a:pPr lvl="0" eaLnBrk="1" hangingPunct="1"/>
            <a:r>
              <a:rPr lang="zh-CN" altLang="en-US" dirty="0"/>
              <a:t>如果你的服务器有多个网卡（每个网卡上有不同的</a:t>
            </a:r>
            <a:r>
              <a:rPr lang="en-US" altLang="zh-CN" dirty="0"/>
              <a:t>IP</a:t>
            </a:r>
            <a:r>
              <a:rPr lang="zh-CN" altLang="en-US" dirty="0"/>
              <a:t>地址），而你的服务（不管是在</a:t>
            </a:r>
            <a:r>
              <a:rPr lang="en-US" altLang="zh-CN" dirty="0"/>
              <a:t>udp</a:t>
            </a:r>
            <a:r>
              <a:rPr lang="zh-CN" altLang="en-US" dirty="0"/>
              <a:t>端口上侦听，还是在</a:t>
            </a:r>
            <a:r>
              <a:rPr lang="en-US" altLang="zh-CN" dirty="0"/>
              <a:t>tcp</a:t>
            </a:r>
            <a:r>
              <a:rPr lang="zh-CN" altLang="en-US" dirty="0"/>
              <a:t>端口上侦听），出于某种原因：可能是你的服务器操作系统可能随时增减</a:t>
            </a:r>
            <a:r>
              <a:rPr lang="en-US" altLang="zh-CN" dirty="0"/>
              <a:t>IP</a:t>
            </a:r>
            <a:r>
              <a:rPr lang="zh-CN" altLang="en-US" dirty="0"/>
              <a:t>地址，也有可能是为了省去确定服务器上有什么</a:t>
            </a:r>
            <a:r>
              <a:rPr lang="zh-CN" altLang="en-US" dirty="0">
                <a:hlinkClick r:id="rId6"/>
              </a:rPr>
              <a:t>网络端口</a:t>
            </a:r>
            <a:r>
              <a:rPr lang="zh-CN" altLang="en-US" dirty="0"/>
              <a:t>（</a:t>
            </a:r>
            <a:r>
              <a:rPr lang="zh-CN" altLang="en-US" dirty="0">
                <a:hlinkClick r:id="rId7"/>
              </a:rPr>
              <a:t>网卡</a:t>
            </a:r>
            <a:r>
              <a:rPr lang="zh-CN" altLang="en-US" dirty="0"/>
              <a:t>）的麻烦 </a:t>
            </a:r>
            <a:r>
              <a:rPr lang="en-US" altLang="zh-CN" dirty="0"/>
              <a:t>—— </a:t>
            </a:r>
            <a:r>
              <a:rPr lang="zh-CN" altLang="en-US" dirty="0"/>
              <a:t>可以要在调用</a:t>
            </a:r>
            <a:r>
              <a:rPr lang="en-US" altLang="zh-CN" dirty="0">
                <a:hlinkClick r:id="rId8"/>
              </a:rPr>
              <a:t>bind()</a:t>
            </a:r>
            <a:r>
              <a:rPr lang="zh-CN" altLang="en-US" dirty="0"/>
              <a:t>的时候，告诉操作系统：“我需要在 </a:t>
            </a:r>
            <a:r>
              <a:rPr lang="en-US" altLang="zh-CN" dirty="0"/>
              <a:t>yyyy </a:t>
            </a:r>
            <a:r>
              <a:rPr lang="zh-CN" altLang="en-US" dirty="0"/>
              <a:t>端口上侦听，所以发送到服务器的这个端口，不管是哪个网卡</a:t>
            </a:r>
            <a:r>
              <a:rPr lang="en-US" altLang="zh-CN" dirty="0"/>
              <a:t>/</a:t>
            </a:r>
            <a:r>
              <a:rPr lang="zh-CN" altLang="en-US" dirty="0"/>
              <a:t>哪个</a:t>
            </a:r>
            <a:r>
              <a:rPr lang="en-US" altLang="zh-CN" dirty="0"/>
              <a:t>IP</a:t>
            </a:r>
            <a:r>
              <a:rPr lang="zh-CN" altLang="en-US" dirty="0"/>
              <a:t>地址接收到的数据，都是我处理的。”这时候，服务器程序则在</a:t>
            </a:r>
            <a:r>
              <a:rPr lang="en-US" altLang="zh-CN" dirty="0"/>
              <a:t>0.0.0.0</a:t>
            </a:r>
            <a:r>
              <a:rPr lang="zh-CN" altLang="en-US" dirty="0"/>
              <a:t>这个地址上进行侦听。 </a:t>
            </a:r>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幻灯片图像占位符 1"/>
          <p:cNvSpPr>
            <a:spLocks noGrp="1" noRot="1" noChangeAspect="1" noTextEdit="1"/>
          </p:cNvSpPr>
          <p:nvPr>
            <p:ph type="sldImg"/>
          </p:nvPr>
        </p:nvSpPr>
        <p:spPr/>
      </p:sp>
      <p:sp>
        <p:nvSpPr>
          <p:cNvPr id="33795" name="备注占位符 2"/>
          <p:cNvSpPr>
            <a:spLocks noGrp="1"/>
          </p:cNvSpPr>
          <p:nvPr>
            <p:ph type="body" idx="1"/>
          </p:nvPr>
        </p:nvSpPr>
        <p:spPr/>
        <p:txBody>
          <a:bodyPr wrap="square" lIns="91440" tIns="45720" rIns="91440" bIns="45720" anchor="t" anchorCtr="0"/>
          <a:p>
            <a:pPr lvl="0"/>
            <a:endParaRPr lang="zh-CN" altLang="en-US" dirty="0"/>
          </a:p>
        </p:txBody>
      </p:sp>
      <p:sp>
        <p:nvSpPr>
          <p:cNvPr id="3379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35843" name="Rectangle 2"/>
          <p:cNvSpPr>
            <a:spLocks noRot="1" noTextEdit="1"/>
          </p:cNvSpPr>
          <p:nvPr>
            <p:ph type="sldImg"/>
          </p:nvPr>
        </p:nvSpPr>
        <p:spPr/>
      </p:sp>
      <p:sp>
        <p:nvSpPr>
          <p:cNvPr id="35844" name="Rectangle 3"/>
          <p:cNvSpPr>
            <a:spLocks noGrp="1"/>
          </p:cNvSpPr>
          <p:nvPr>
            <p:ph type="body"/>
          </p:nvPr>
        </p:nvSpPr>
        <p:spPr/>
        <p:txBody>
          <a:bodyPr wrap="square" lIns="91440" tIns="45720" rIns="91440" bIns="45720" anchor="t" anchorCtr="0"/>
          <a:p>
            <a:pPr lvl="0" eaLnBrk="1" hangingPunct="1"/>
            <a:r>
              <a:rPr lang="zh-CN" altLang="en-US" dirty="0"/>
              <a:t>小端字节序：将低序字节存储在起始位置。</a:t>
            </a:r>
            <a:r>
              <a:rPr lang="en-US" altLang="zh-CN" dirty="0"/>
              <a:t>0x308A</a:t>
            </a:r>
            <a:r>
              <a:rPr lang="zh-CN" altLang="en-US" dirty="0"/>
              <a:t>的低序字节是</a:t>
            </a:r>
            <a:r>
              <a:rPr lang="en-US" altLang="zh-CN" dirty="0"/>
              <a:t>8A</a:t>
            </a:r>
            <a:r>
              <a:rPr lang="zh-CN" altLang="en-US" dirty="0"/>
              <a:t>，将</a:t>
            </a:r>
            <a:r>
              <a:rPr lang="en-US" altLang="zh-CN" dirty="0"/>
              <a:t>8A</a:t>
            </a:r>
            <a:r>
              <a:rPr lang="zh-CN" altLang="en-US" dirty="0"/>
              <a:t>存放在起始位置</a:t>
            </a:r>
            <a:r>
              <a:rPr lang="en-US" altLang="zh-CN" dirty="0"/>
              <a:t>0x1000</a:t>
            </a:r>
            <a:r>
              <a:rPr lang="zh-CN" altLang="en-US" dirty="0"/>
              <a:t>位置。</a:t>
            </a:r>
            <a:endParaRPr lang="en-US" altLang="zh-CN" dirty="0"/>
          </a:p>
          <a:p>
            <a:pPr lvl="0" eaLnBrk="1" hangingPunct="1"/>
            <a:r>
              <a:rPr lang="zh-CN" altLang="en-US" dirty="0"/>
              <a:t>大端字节序：将高序字节存储在起始位置。</a:t>
            </a:r>
            <a:endParaRPr lang="zh-CN" altLang="zh-CN"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37891" name="Rectangle 2"/>
          <p:cNvSpPr>
            <a:spLocks noRot="1" noTextEdit="1"/>
          </p:cNvSpPr>
          <p:nvPr>
            <p:ph type="sldImg"/>
          </p:nvPr>
        </p:nvSpPr>
        <p:spPr/>
      </p:sp>
      <p:sp>
        <p:nvSpPr>
          <p:cNvPr id="37892" name="Rectangle 3"/>
          <p:cNvSpPr>
            <a:spLocks noGrp="1"/>
          </p:cNvSpPr>
          <p:nvPr>
            <p:ph type="body"/>
          </p:nvPr>
        </p:nvSpPr>
        <p:spPr/>
        <p:txBody>
          <a:bodyPr wrap="square" lIns="91440" tIns="45720" rIns="91440" bIns="45720" anchor="t" anchorCtr="0"/>
          <a:p>
            <a:pPr lvl="0" eaLnBrk="1" hangingPunct="1"/>
            <a:r>
              <a:rPr lang="zh-CN" altLang="en-US" dirty="0"/>
              <a:t>小端字节序：将低序字节存储在起始位置。</a:t>
            </a:r>
            <a:r>
              <a:rPr lang="en-US" altLang="zh-CN" dirty="0"/>
              <a:t>0x308A</a:t>
            </a:r>
            <a:r>
              <a:rPr lang="zh-CN" altLang="en-US" dirty="0"/>
              <a:t>的低序字节是</a:t>
            </a:r>
            <a:r>
              <a:rPr lang="en-US" altLang="zh-CN" dirty="0"/>
              <a:t>8A</a:t>
            </a:r>
            <a:r>
              <a:rPr lang="zh-CN" altLang="en-US" dirty="0"/>
              <a:t>，将</a:t>
            </a:r>
            <a:r>
              <a:rPr lang="en-US" altLang="zh-CN" dirty="0"/>
              <a:t>8A</a:t>
            </a:r>
            <a:r>
              <a:rPr lang="zh-CN" altLang="en-US" dirty="0"/>
              <a:t>存放在起始位置</a:t>
            </a:r>
            <a:r>
              <a:rPr lang="en-US" altLang="zh-CN" dirty="0"/>
              <a:t>0x1000</a:t>
            </a:r>
            <a:r>
              <a:rPr lang="zh-CN" altLang="en-US" dirty="0"/>
              <a:t>位置。</a:t>
            </a:r>
            <a:endParaRPr lang="en-US" altLang="zh-CN" dirty="0"/>
          </a:p>
          <a:p>
            <a:pPr lvl="0" eaLnBrk="1" hangingPunct="1"/>
            <a:r>
              <a:rPr lang="zh-CN" altLang="en-US" dirty="0"/>
              <a:t>大端字节序：将高序字节存储在起始位置。</a:t>
            </a:r>
            <a:endParaRPr lang="zh-CN" altLang="zh-CN"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39939" name="Rectangle 2"/>
          <p:cNvSpPr>
            <a:spLocks noRot="1" noTextEdit="1"/>
          </p:cNvSpPr>
          <p:nvPr>
            <p:ph type="sldImg"/>
          </p:nvPr>
        </p:nvSpPr>
        <p:spPr/>
      </p:sp>
      <p:sp>
        <p:nvSpPr>
          <p:cNvPr id="39940"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41987" name="Rectangle 2"/>
          <p:cNvSpPr>
            <a:spLocks noRot="1" noTextEdit="1"/>
          </p:cNvSpPr>
          <p:nvPr>
            <p:ph type="sldImg"/>
          </p:nvPr>
        </p:nvSpPr>
        <p:spPr/>
      </p:sp>
      <p:sp>
        <p:nvSpPr>
          <p:cNvPr id="41988"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44035" name="Rectangle 2"/>
          <p:cNvSpPr>
            <a:spLocks noRot="1" noTextEdit="1"/>
          </p:cNvSpPr>
          <p:nvPr>
            <p:ph type="sldImg"/>
          </p:nvPr>
        </p:nvSpPr>
        <p:spPr/>
      </p:sp>
      <p:sp>
        <p:nvSpPr>
          <p:cNvPr id="44036"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46083" name="Rectangle 2"/>
          <p:cNvSpPr>
            <a:spLocks noRot="1" noTextEdit="1"/>
          </p:cNvSpPr>
          <p:nvPr>
            <p:ph type="sldImg"/>
          </p:nvPr>
        </p:nvSpPr>
        <p:spPr/>
      </p:sp>
      <p:sp>
        <p:nvSpPr>
          <p:cNvPr id="46084"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49155" name="Rectangle 2"/>
          <p:cNvSpPr>
            <a:spLocks noRot="1" noTextEdit="1"/>
          </p:cNvSpPr>
          <p:nvPr>
            <p:ph type="sldImg"/>
          </p:nvPr>
        </p:nvSpPr>
        <p:spPr/>
      </p:sp>
      <p:sp>
        <p:nvSpPr>
          <p:cNvPr id="49156"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幻灯片图像占位符 1"/>
          <p:cNvSpPr>
            <a:spLocks noGrp="1" noRot="1" noChangeAspect="1" noTextEdit="1"/>
          </p:cNvSpPr>
          <p:nvPr>
            <p:ph type="sldImg"/>
          </p:nvPr>
        </p:nvSpPr>
        <p:spPr/>
      </p:sp>
      <p:sp>
        <p:nvSpPr>
          <p:cNvPr id="51203" name="备注占位符 2"/>
          <p:cNvSpPr>
            <a:spLocks noGrp="1"/>
          </p:cNvSpPr>
          <p:nvPr>
            <p:ph type="body"/>
          </p:nvPr>
        </p:nvSpPr>
        <p:spPr/>
        <p:txBody>
          <a:bodyPr wrap="square" lIns="91440" tIns="45720" rIns="91440" bIns="45720" anchor="t" anchorCtr="0"/>
          <a:p>
            <a:pPr lvl="0"/>
            <a:r>
              <a:rPr lang="en-US" altLang="zh-CN" dirty="0"/>
              <a:t>struct in_addr{</a:t>
            </a:r>
            <a:endParaRPr lang="en-US" altLang="zh-CN" dirty="0"/>
          </a:p>
          <a:p>
            <a:pPr lvl="0"/>
            <a:r>
              <a:rPr lang="en-US" altLang="zh-CN" dirty="0"/>
              <a:t>in_addr_t s_addr;  //typedef uint32_t  in_addr_t</a:t>
            </a:r>
            <a:endParaRPr lang="en-US" altLang="zh-CN" dirty="0"/>
          </a:p>
          <a:p>
            <a:pPr lvl="0"/>
            <a:r>
              <a:rPr lang="en-US" altLang="zh-CN" dirty="0"/>
              <a:t>};</a:t>
            </a:r>
            <a:endParaRPr lang="en-US" altLang="zh-CN" dirty="0"/>
          </a:p>
          <a:p>
            <a:pPr lvl="0"/>
            <a:r>
              <a:rPr lang="zh-CN" altLang="en-US" b="1" dirty="0">
                <a:solidFill>
                  <a:srgbClr val="FF0000"/>
                </a:solidFill>
              </a:rPr>
              <a:t>一、</a:t>
            </a:r>
            <a:r>
              <a:rPr lang="en-US" altLang="zh-CN" b="1" dirty="0">
                <a:solidFill>
                  <a:srgbClr val="FF0000"/>
                </a:solidFill>
              </a:rPr>
              <a:t>inet_addr </a:t>
            </a:r>
            <a:r>
              <a:rPr lang="zh-CN" altLang="en-US" b="1" dirty="0">
                <a:solidFill>
                  <a:srgbClr val="FF0000"/>
                </a:solidFill>
              </a:rPr>
              <a:t>字符串形式的</a:t>
            </a:r>
            <a:r>
              <a:rPr lang="en-US" altLang="zh-CN" b="1" dirty="0">
                <a:solidFill>
                  <a:srgbClr val="FF0000"/>
                </a:solidFill>
              </a:rPr>
              <a:t>IP</a:t>
            </a:r>
            <a:r>
              <a:rPr lang="zh-CN" altLang="en-US" b="1" dirty="0">
                <a:solidFill>
                  <a:srgbClr val="FF0000"/>
                </a:solidFill>
              </a:rPr>
              <a:t>地址转成</a:t>
            </a:r>
            <a:r>
              <a:rPr lang="en-US" altLang="zh-CN" b="1" dirty="0">
                <a:solidFill>
                  <a:srgbClr val="FF0000"/>
                </a:solidFill>
              </a:rPr>
              <a:t>32</a:t>
            </a:r>
            <a:r>
              <a:rPr lang="zh-CN" altLang="en-US" b="1" dirty="0">
                <a:solidFill>
                  <a:srgbClr val="FF0000"/>
                </a:solidFill>
              </a:rPr>
              <a:t>位的二进制</a:t>
            </a:r>
            <a:r>
              <a:rPr lang="en-US" altLang="zh-CN" b="1" dirty="0">
                <a:solidFill>
                  <a:srgbClr val="FF0000"/>
                </a:solidFill>
              </a:rPr>
              <a:t>IP</a:t>
            </a:r>
            <a:r>
              <a:rPr lang="zh-CN" altLang="en-US" b="1" dirty="0">
                <a:solidFill>
                  <a:srgbClr val="FF0000"/>
                </a:solidFill>
              </a:rPr>
              <a:t>地址</a:t>
            </a:r>
            <a:endParaRPr lang="en-US" altLang="zh-CN" b="1" dirty="0">
              <a:solidFill>
                <a:srgbClr val="FF0000"/>
              </a:solidFill>
            </a:endParaRPr>
          </a:p>
          <a:p>
            <a:pPr lvl="0"/>
            <a:r>
              <a:rPr lang="zh-CN" altLang="en-US" b="1" dirty="0">
                <a:solidFill>
                  <a:srgbClr val="FF0000"/>
                </a:solidFill>
              </a:rPr>
              <a:t>二、</a:t>
            </a:r>
            <a:r>
              <a:rPr lang="en-US" altLang="zh-CN" b="1" dirty="0">
                <a:solidFill>
                  <a:srgbClr val="FF0000"/>
                </a:solidFill>
              </a:rPr>
              <a:t>inet_aton </a:t>
            </a:r>
            <a:r>
              <a:rPr lang="zh-CN" altLang="en-US" b="1" dirty="0">
                <a:solidFill>
                  <a:srgbClr val="FF0000"/>
                </a:solidFill>
              </a:rPr>
              <a:t>功能和</a:t>
            </a:r>
            <a:r>
              <a:rPr lang="en-US" altLang="zh-CN" b="1" dirty="0">
                <a:solidFill>
                  <a:srgbClr val="FF0000"/>
                </a:solidFill>
              </a:rPr>
              <a:t>inet_addr</a:t>
            </a:r>
            <a:r>
              <a:rPr lang="zh-CN" altLang="en-US" b="1" dirty="0">
                <a:solidFill>
                  <a:srgbClr val="FF0000"/>
                </a:solidFill>
              </a:rPr>
              <a:t>一样，</a:t>
            </a:r>
            <a:r>
              <a:rPr lang="en-US" altLang="zh-CN" b="1" dirty="0">
                <a:solidFill>
                  <a:srgbClr val="FF0000"/>
                </a:solidFill>
              </a:rPr>
              <a:t>strptr</a:t>
            </a:r>
            <a:r>
              <a:rPr lang="zh-CN" altLang="en-US" b="1" dirty="0">
                <a:solidFill>
                  <a:srgbClr val="FF0000"/>
                </a:solidFill>
              </a:rPr>
              <a:t>指向字符形式的</a:t>
            </a:r>
            <a:r>
              <a:rPr lang="en-US" altLang="zh-CN" b="1" dirty="0">
                <a:solidFill>
                  <a:srgbClr val="FF0000"/>
                </a:solidFill>
              </a:rPr>
              <a:t>IP</a:t>
            </a:r>
            <a:r>
              <a:rPr lang="zh-CN" altLang="en-US" b="1" dirty="0">
                <a:solidFill>
                  <a:srgbClr val="FF0000"/>
                </a:solidFill>
              </a:rPr>
              <a:t>地址</a:t>
            </a:r>
            <a:endParaRPr lang="en-US" altLang="zh-CN" b="1" dirty="0">
              <a:solidFill>
                <a:srgbClr val="FF0000"/>
              </a:solidFill>
            </a:endParaRPr>
          </a:p>
          <a:p>
            <a:pPr lvl="0"/>
            <a:r>
              <a:rPr lang="zh-CN" altLang="en-US" b="1" dirty="0">
                <a:solidFill>
                  <a:srgbClr val="FF0000"/>
                </a:solidFill>
              </a:rPr>
              <a:t>三、</a:t>
            </a:r>
            <a:r>
              <a:rPr lang="en-US" altLang="zh-CN" b="1" dirty="0">
                <a:solidFill>
                  <a:srgbClr val="FF0000"/>
                </a:solidFill>
              </a:rPr>
              <a:t>inet_ntoa </a:t>
            </a:r>
            <a:r>
              <a:rPr lang="zh-CN" altLang="en-US" b="1" dirty="0">
                <a:solidFill>
                  <a:srgbClr val="FF0000"/>
                </a:solidFill>
              </a:rPr>
              <a:t>将</a:t>
            </a:r>
            <a:r>
              <a:rPr lang="en-US" altLang="zh-CN" b="1" dirty="0">
                <a:solidFill>
                  <a:srgbClr val="FF0000"/>
                </a:solidFill>
              </a:rPr>
              <a:t>32bit</a:t>
            </a:r>
            <a:r>
              <a:rPr lang="zh-CN" altLang="en-US" b="1" dirty="0">
                <a:solidFill>
                  <a:srgbClr val="FF0000"/>
                </a:solidFill>
              </a:rPr>
              <a:t>的网络字节序的二进制</a:t>
            </a:r>
            <a:r>
              <a:rPr lang="en-US" altLang="zh-CN" b="1" dirty="0">
                <a:solidFill>
                  <a:srgbClr val="FF0000"/>
                </a:solidFill>
              </a:rPr>
              <a:t>IP</a:t>
            </a:r>
            <a:r>
              <a:rPr lang="zh-CN" altLang="en-US" b="1" dirty="0">
                <a:solidFill>
                  <a:srgbClr val="FF0000"/>
                </a:solidFill>
              </a:rPr>
              <a:t>地址转化为相应的点分十进制</a:t>
            </a:r>
            <a:r>
              <a:rPr lang="en-US" altLang="zh-CN" b="1" dirty="0">
                <a:solidFill>
                  <a:srgbClr val="FF0000"/>
                </a:solidFill>
              </a:rPr>
              <a:t>IP</a:t>
            </a:r>
            <a:r>
              <a:rPr lang="zh-CN" altLang="en-US" b="1" dirty="0">
                <a:solidFill>
                  <a:srgbClr val="FF0000"/>
                </a:solidFill>
              </a:rPr>
              <a:t>地址</a:t>
            </a:r>
            <a:endParaRPr lang="zh-CN" altLang="en-US" b="1" dirty="0">
              <a:solidFill>
                <a:srgbClr val="FF0000"/>
              </a:solidFill>
            </a:endParaRPr>
          </a:p>
        </p:txBody>
      </p:sp>
      <p:sp>
        <p:nvSpPr>
          <p:cNvPr id="5120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幻灯片图像占位符 1"/>
          <p:cNvSpPr>
            <a:spLocks noGrp="1" noRot="1" noChangeAspect="1" noTextEdit="1"/>
          </p:cNvSpPr>
          <p:nvPr>
            <p:ph type="sldImg"/>
          </p:nvPr>
        </p:nvSpPr>
        <p:spPr/>
      </p:sp>
      <p:sp>
        <p:nvSpPr>
          <p:cNvPr id="53251" name="备注占位符 2"/>
          <p:cNvSpPr>
            <a:spLocks noGrp="1"/>
          </p:cNvSpPr>
          <p:nvPr>
            <p:ph type="body"/>
          </p:nvPr>
        </p:nvSpPr>
        <p:spPr/>
        <p:txBody>
          <a:bodyPr wrap="square" lIns="91440" tIns="45720" rIns="91440" bIns="45720" anchor="t" anchorCtr="0"/>
          <a:p>
            <a:pPr lvl="0"/>
            <a:endParaRPr lang="zh-CN" altLang="en-US" b="1" dirty="0">
              <a:solidFill>
                <a:srgbClr val="FF0000"/>
              </a:solidFill>
            </a:endParaRPr>
          </a:p>
        </p:txBody>
      </p:sp>
      <p:sp>
        <p:nvSpPr>
          <p:cNvPr id="5325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幻灯片图像占位符 1"/>
          <p:cNvSpPr>
            <a:spLocks noGrp="1" noRot="1" noChangeAspect="1" noTextEdit="1"/>
          </p:cNvSpPr>
          <p:nvPr>
            <p:ph type="sldImg"/>
          </p:nvPr>
        </p:nvSpPr>
        <p:spPr/>
      </p:sp>
      <p:sp>
        <p:nvSpPr>
          <p:cNvPr id="55299" name="备注占位符 2"/>
          <p:cNvSpPr>
            <a:spLocks noGrp="1"/>
          </p:cNvSpPr>
          <p:nvPr>
            <p:ph type="body"/>
          </p:nvPr>
        </p:nvSpPr>
        <p:spPr/>
        <p:txBody>
          <a:bodyPr wrap="square" lIns="91440" tIns="45720" rIns="91440" bIns="45720" anchor="t" anchorCtr="0"/>
          <a:p>
            <a:pPr lvl="0" eaLnBrk="1" hangingPunct="1"/>
            <a:r>
              <a:rPr lang="en-US" altLang="zh-CN" dirty="0"/>
              <a:t>inet_aton</a:t>
            </a:r>
            <a:r>
              <a:rPr lang="zh-CN" altLang="en-US" dirty="0"/>
              <a:t>函数将</a:t>
            </a:r>
            <a:r>
              <a:rPr lang="en-US" altLang="zh-CN" dirty="0"/>
              <a:t>tcp</a:t>
            </a:r>
            <a:r>
              <a:rPr lang="zh-CN" altLang="en-US" dirty="0"/>
              <a:t>所指的字符串</a:t>
            </a:r>
            <a:r>
              <a:rPr lang="en-US" altLang="zh-CN" dirty="0"/>
              <a:t>(</a:t>
            </a:r>
            <a:r>
              <a:rPr lang="zh-CN" altLang="en-US" dirty="0"/>
              <a:t>点分十进制数串，如</a:t>
            </a:r>
            <a:r>
              <a:rPr lang="en-US" altLang="zh-CN" dirty="0"/>
              <a:t>127.0.0.1)</a:t>
            </a:r>
            <a:r>
              <a:rPr lang="zh-CN" altLang="en-US" dirty="0"/>
              <a:t>转换成</a:t>
            </a:r>
            <a:r>
              <a:rPr lang="en-US" altLang="zh-CN" dirty="0"/>
              <a:t>32</a:t>
            </a:r>
            <a:r>
              <a:rPr lang="zh-CN" altLang="en-US" dirty="0"/>
              <a:t>位的网络字节序二进制，并通过指针</a:t>
            </a:r>
            <a:r>
              <a:rPr lang="en-US" altLang="zh-CN" dirty="0"/>
              <a:t>addrptr</a:t>
            </a:r>
            <a:r>
              <a:rPr lang="zh-CN" altLang="en-US" dirty="0"/>
              <a:t>来存储。这个函数需要对字符串所指的地址进行有效性验证。但如果</a:t>
            </a:r>
            <a:r>
              <a:rPr lang="en-US" altLang="zh-CN" dirty="0"/>
              <a:t>strptr</a:t>
            </a:r>
            <a:r>
              <a:rPr lang="zh-CN" altLang="en-US" dirty="0"/>
              <a:t>为空，函数仍然成功，但不存储任何结果。</a:t>
            </a:r>
            <a:endParaRPr lang="zh-CN" altLang="en-US" dirty="0"/>
          </a:p>
        </p:txBody>
      </p:sp>
      <p:sp>
        <p:nvSpPr>
          <p:cNvPr id="5530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幻灯片图像占位符 1"/>
          <p:cNvSpPr>
            <a:spLocks noGrp="1" noRot="1" noChangeAspect="1" noTextEdit="1"/>
          </p:cNvSpPr>
          <p:nvPr>
            <p:ph type="sldImg"/>
          </p:nvPr>
        </p:nvSpPr>
        <p:spPr/>
      </p:sp>
      <p:sp>
        <p:nvSpPr>
          <p:cNvPr id="57347" name="备注占位符 2"/>
          <p:cNvSpPr>
            <a:spLocks noGrp="1"/>
          </p:cNvSpPr>
          <p:nvPr>
            <p:ph type="body"/>
          </p:nvPr>
        </p:nvSpPr>
        <p:spPr/>
        <p:txBody>
          <a:bodyPr wrap="square" lIns="91440" tIns="45720" rIns="91440" bIns="45720" anchor="t" anchorCtr="0"/>
          <a:p>
            <a:pPr lvl="0" eaLnBrk="1" hangingPunct="1"/>
            <a:r>
              <a:rPr lang="zh-CN" altLang="en-US" dirty="0"/>
              <a:t>重入即表示重复进入，首先它意味着这个函数可以被中断，其次意味着它除了使用自己栈上的变量以外不依赖于任何环境（包括</a:t>
            </a:r>
            <a:r>
              <a:rPr lang="en-US" altLang="zh-CN" dirty="0"/>
              <a:t>static</a:t>
            </a:r>
            <a:r>
              <a:rPr lang="zh-CN" altLang="en-US" dirty="0"/>
              <a:t>），这样的函数就是</a:t>
            </a:r>
            <a:r>
              <a:rPr lang="en-US" altLang="zh-CN" dirty="0"/>
              <a:t>purecode</a:t>
            </a:r>
            <a:r>
              <a:rPr lang="zh-CN" altLang="en-US" dirty="0"/>
              <a:t>（纯代码）可重入，可以允许有该函数的多个副本在运行，由于它们使用的是分离的栈，所以不会互相干扰。</a:t>
            </a:r>
            <a:endParaRPr lang="zh-CN" altLang="en-US" dirty="0"/>
          </a:p>
          <a:p>
            <a:pPr lvl="0" eaLnBrk="1" hangingPunct="1"/>
            <a:r>
              <a:rPr lang="zh-CN" altLang="en-US" dirty="0"/>
              <a:t>如果这个函数不幸被设计成为</a:t>
            </a:r>
            <a:r>
              <a:rPr lang="zh-CN" altLang="en-US" b="1" dirty="0"/>
              <a:t>不可重入</a:t>
            </a:r>
            <a:r>
              <a:rPr lang="zh-CN" altLang="en-US" dirty="0"/>
              <a:t>的函数的话，那么不同任务调用这个函数时可能修改其他任务调用这个函数的数据，从而导致不可预料的后果。那么什么是可重入函数呢？所谓可重入函数是指一个可以被多个任务调用的过程，任务在调用时不必担心数据是否会出错。</a:t>
            </a:r>
            <a:r>
              <a:rPr lang="zh-CN" altLang="en-US" b="1" dirty="0"/>
              <a:t>不可重入</a:t>
            </a:r>
            <a:r>
              <a:rPr lang="zh-CN" altLang="en-US" dirty="0"/>
              <a:t>函数在实时系统设计中被视为不安全函数。</a:t>
            </a:r>
            <a:endParaRPr lang="zh-CN" altLang="en-US" dirty="0"/>
          </a:p>
          <a:p>
            <a:pPr lvl="0"/>
            <a:endParaRPr lang="zh-CN" altLang="en-US" b="1" dirty="0">
              <a:solidFill>
                <a:srgbClr val="FF0000"/>
              </a:solidFill>
            </a:endParaRPr>
          </a:p>
        </p:txBody>
      </p:sp>
      <p:sp>
        <p:nvSpPr>
          <p:cNvPr id="5734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幻灯片图像占位符 1"/>
          <p:cNvSpPr>
            <a:spLocks noGrp="1" noRot="1" noChangeAspect="1" noTextEdit="1"/>
          </p:cNvSpPr>
          <p:nvPr>
            <p:ph type="sldImg"/>
          </p:nvPr>
        </p:nvSpPr>
        <p:spPr/>
      </p:sp>
      <p:sp>
        <p:nvSpPr>
          <p:cNvPr id="59395" name="备注占位符 2"/>
          <p:cNvSpPr>
            <a:spLocks noGrp="1"/>
          </p:cNvSpPr>
          <p:nvPr>
            <p:ph type="body"/>
          </p:nvPr>
        </p:nvSpPr>
        <p:spPr/>
        <p:txBody>
          <a:bodyPr wrap="square" lIns="91440" tIns="45720" rIns="91440" bIns="45720" anchor="t" anchorCtr="0"/>
          <a:p>
            <a:pPr lvl="0"/>
            <a:endParaRPr lang="zh-CN" altLang="en-US" b="1" dirty="0">
              <a:solidFill>
                <a:srgbClr val="FF0000"/>
              </a:solidFill>
            </a:endParaRPr>
          </a:p>
        </p:txBody>
      </p:sp>
      <p:sp>
        <p:nvSpPr>
          <p:cNvPr id="5939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幻灯片图像占位符 1"/>
          <p:cNvSpPr>
            <a:spLocks noGrp="1" noRot="1" noChangeAspect="1" noTextEdit="1"/>
          </p:cNvSpPr>
          <p:nvPr>
            <p:ph type="sldImg"/>
          </p:nvPr>
        </p:nvSpPr>
        <p:spPr/>
      </p:sp>
      <p:sp>
        <p:nvSpPr>
          <p:cNvPr id="53251" name="备注占位符 2"/>
          <p:cNvSpPr>
            <a:spLocks noGrp="1"/>
          </p:cNvSpPr>
          <p:nvPr>
            <p:ph type="body" idx="1"/>
          </p:nvPr>
        </p:nvSpPr>
        <p:spPr/>
        <p:txBody>
          <a:bodyPr wrap="square" lIns="91440" tIns="45720" rIns="91440" bIns="45720" numCol="1" anchor="t" anchorCtr="0" compatLnSpc="1"/>
          <a:lstStyle/>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再回到刚才所说的不可重入函数，程序运行结果证明了</a:t>
            </a:r>
            <a:r>
              <a:rPr kumimoji="0" lang="en-US" altLang="zh-CN" sz="12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ntoa</a:t>
            </a: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函数返回一个</a:t>
            </a: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char *</a:t>
            </a: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，即一个字符串数组的首地址，而这个数组的空间是静态分配的；即后面一次的调用会覆盖上一次的内存空间。</a:t>
            </a: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既然会覆盖，就要重命名，就像</a:t>
            </a: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windows</a:t>
            </a: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下面，如果文件被覆盖，会询问是否覆盖。</a:t>
            </a: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228600" marR="0" lvl="0" indent="-228600" algn="l" defTabSz="914400" rtl="0" eaLnBrk="0" fontAlgn="base" latinLnBrk="0" hangingPunct="0">
              <a:lnSpc>
                <a:spcPct val="100000"/>
              </a:lnSpc>
              <a:spcBef>
                <a:spcPct val="30000"/>
              </a:spcBef>
              <a:spcAft>
                <a:spcPct val="0"/>
              </a:spcAft>
              <a:buClrTx/>
              <a:buSzTx/>
              <a:buFontTx/>
              <a:buAutoNum type="arabicPeriod"/>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说明了</a:t>
            </a: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printf</a:t>
            </a: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函数的求值顺序</a:t>
            </a: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1" i="0" u="none" strike="noStrike" kern="1200" cap="none" spc="0" normalizeH="0" baseline="0" noProof="0">
              <a:ln>
                <a:noFill/>
              </a:ln>
              <a:solidFill>
                <a:srgbClr val="FF0000"/>
              </a:solidFill>
              <a:effectLst/>
              <a:uLnTx/>
              <a:uFillTx/>
              <a:latin typeface="Arial" panose="020B0604020202020204" pitchFamily="34" charset="0"/>
              <a:ea typeface="宋体" panose="02010600030101010101" pitchFamily="2" charset="-122"/>
              <a:cs typeface="+mn-cs"/>
            </a:endParaRPr>
          </a:p>
        </p:txBody>
      </p:sp>
      <p:sp>
        <p:nvSpPr>
          <p:cNvPr id="6144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幻灯片图像占位符 1"/>
          <p:cNvSpPr>
            <a:spLocks noGrp="1" noRot="1" noChangeAspect="1" noTextEdit="1"/>
          </p:cNvSpPr>
          <p:nvPr>
            <p:ph type="sldImg"/>
          </p:nvPr>
        </p:nvSpPr>
        <p:spPr/>
      </p:sp>
      <p:sp>
        <p:nvSpPr>
          <p:cNvPr id="63491" name="备注占位符 2"/>
          <p:cNvSpPr>
            <a:spLocks noGrp="1"/>
          </p:cNvSpPr>
          <p:nvPr>
            <p:ph type="body"/>
          </p:nvPr>
        </p:nvSpPr>
        <p:spPr/>
        <p:txBody>
          <a:bodyPr wrap="square" lIns="91440" tIns="45720" rIns="91440" bIns="45720" anchor="t" anchorCtr="0"/>
          <a:p>
            <a:pPr lvl="0"/>
            <a:endParaRPr lang="zh-CN" altLang="en-US" b="1" dirty="0">
              <a:solidFill>
                <a:srgbClr val="FF0000"/>
              </a:solidFill>
            </a:endParaRPr>
          </a:p>
        </p:txBody>
      </p:sp>
      <p:sp>
        <p:nvSpPr>
          <p:cNvPr id="6349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65539" name="Rectangle 2"/>
          <p:cNvSpPr>
            <a:spLocks noRot="1" noTextEdit="1"/>
          </p:cNvSpPr>
          <p:nvPr>
            <p:ph type="sldImg"/>
          </p:nvPr>
        </p:nvSpPr>
        <p:spPr/>
      </p:sp>
      <p:sp>
        <p:nvSpPr>
          <p:cNvPr id="65540" name="Rectangle 3"/>
          <p:cNvSpPr>
            <a:spLocks noGrp="1"/>
          </p:cNvSpPr>
          <p:nvPr>
            <p:ph type="body"/>
          </p:nvPr>
        </p:nvSpPr>
        <p:spPr/>
        <p:txBody>
          <a:bodyPr wrap="square" lIns="91440" tIns="45720" rIns="91440" bIns="45720" anchor="t" anchorCtr="0"/>
          <a:p>
            <a:pPr lvl="0" eaLnBrk="1" hangingPunct="1"/>
            <a:r>
              <a:rPr lang="en-US" altLang="zh-CN" dirty="0"/>
              <a:t>ntop:</a:t>
            </a:r>
            <a:r>
              <a:rPr lang="zh-CN" altLang="en-US" dirty="0"/>
              <a:t>将第二个参数</a:t>
            </a:r>
            <a:r>
              <a:rPr lang="en-US" altLang="zh-CN" dirty="0"/>
              <a:t>addrptr</a:t>
            </a:r>
            <a:r>
              <a:rPr lang="zh-CN" altLang="en-US" dirty="0"/>
              <a:t>所指向的二进制地址转换为字符串形式的</a:t>
            </a:r>
            <a:r>
              <a:rPr lang="en-US" altLang="zh-CN" dirty="0"/>
              <a:t>IP</a:t>
            </a:r>
            <a:r>
              <a:rPr lang="zh-CN" altLang="en-US" dirty="0"/>
              <a:t>地址，并用第三个参数，</a:t>
            </a:r>
            <a:r>
              <a:rPr lang="en-US" altLang="zh-CN" dirty="0"/>
              <a:t>str</a:t>
            </a:r>
            <a:r>
              <a:rPr lang="zh-CN" altLang="en-US" dirty="0"/>
              <a:t>指针进行存储</a:t>
            </a:r>
            <a:endParaRPr lang="zh-CN" altLang="zh-CN"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67587" name="Rectangle 2"/>
          <p:cNvSpPr>
            <a:spLocks noRot="1" noTextEdit="1"/>
          </p:cNvSpPr>
          <p:nvPr>
            <p:ph type="sldImg"/>
          </p:nvPr>
        </p:nvSpPr>
        <p:spPr/>
      </p:sp>
      <p:sp>
        <p:nvSpPr>
          <p:cNvPr id="67588" name="Rectangle 3"/>
          <p:cNvSpPr>
            <a:spLocks noGrp="1"/>
          </p:cNvSpPr>
          <p:nvPr>
            <p:ph type="body"/>
          </p:nvPr>
        </p:nvSpPr>
        <p:spPr/>
        <p:txBody>
          <a:bodyPr wrap="square" lIns="91440" tIns="45720" rIns="91440" bIns="45720" anchor="t" anchorCtr="0"/>
          <a:p>
            <a:pPr lvl="0" eaLnBrk="1" hangingPunct="1"/>
            <a:r>
              <a:rPr lang="zh-CN" altLang="en-US" dirty="0"/>
              <a:t>自己在</a:t>
            </a:r>
            <a:r>
              <a:rPr lang="en-US" altLang="zh-CN" dirty="0"/>
              <a:t>IPV4</a:t>
            </a:r>
            <a:r>
              <a:rPr lang="zh-CN" altLang="en-US" dirty="0"/>
              <a:t>下实现</a:t>
            </a:r>
            <a:r>
              <a:rPr lang="en-US" altLang="zh-CN" dirty="0"/>
              <a:t>pton</a:t>
            </a:r>
            <a:r>
              <a:rPr lang="zh-CN" altLang="en-US" dirty="0"/>
              <a:t>函数</a:t>
            </a:r>
            <a:endParaRPr lang="zh-CN" altLang="zh-CN"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69635" name="Rectangle 2"/>
          <p:cNvSpPr>
            <a:spLocks noRot="1" noTextEdit="1"/>
          </p:cNvSpPr>
          <p:nvPr>
            <p:ph type="sldImg"/>
          </p:nvPr>
        </p:nvSpPr>
        <p:spPr/>
      </p:sp>
      <p:sp>
        <p:nvSpPr>
          <p:cNvPr id="69636"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71683" name="Rectangle 2"/>
          <p:cNvSpPr>
            <a:spLocks noRot="1" noTextEdit="1"/>
          </p:cNvSpPr>
          <p:nvPr>
            <p:ph type="sldImg"/>
          </p:nvPr>
        </p:nvSpPr>
        <p:spPr/>
      </p:sp>
      <p:sp>
        <p:nvSpPr>
          <p:cNvPr id="71684" name="Rectangle 3"/>
          <p:cNvSpPr>
            <a:spLocks noGrp="1"/>
          </p:cNvSpPr>
          <p:nvPr>
            <p:ph type="body"/>
          </p:nvPr>
        </p:nvSpPr>
        <p:spPr/>
        <p:txBody>
          <a:bodyPr wrap="square" lIns="91440" tIns="45720" rIns="91440" bIns="45720" anchor="t" anchorCtr="0"/>
          <a:p>
            <a:pPr lvl="0" eaLnBrk="1" hangingPunct="1"/>
            <a:r>
              <a:rPr lang="zh-CN" altLang="en-US" dirty="0"/>
              <a:t>自己在</a:t>
            </a:r>
            <a:r>
              <a:rPr lang="en-US" altLang="zh-CN" dirty="0"/>
              <a:t>IPV4</a:t>
            </a:r>
            <a:r>
              <a:rPr lang="zh-CN" altLang="en-US" dirty="0"/>
              <a:t>下实现</a:t>
            </a:r>
            <a:r>
              <a:rPr lang="en-US" altLang="zh-CN" dirty="0"/>
              <a:t>ntop</a:t>
            </a:r>
            <a:r>
              <a:rPr lang="zh-CN" altLang="en-US" dirty="0"/>
              <a:t>函数</a:t>
            </a:r>
            <a:endParaRPr lang="zh-CN" altLang="zh-CN"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73731" name="Rectangle 2"/>
          <p:cNvSpPr>
            <a:spLocks noRot="1" noTextEdit="1"/>
          </p:cNvSpPr>
          <p:nvPr>
            <p:ph type="sldImg"/>
          </p:nvPr>
        </p:nvSpPr>
        <p:spPr/>
      </p:sp>
      <p:sp>
        <p:nvSpPr>
          <p:cNvPr id="73732" name="Rectangle 3"/>
          <p:cNvSpPr>
            <a:spLocks noGrp="1"/>
          </p:cNvSpPr>
          <p:nvPr>
            <p:ph type="body"/>
          </p:nvPr>
        </p:nvSpPr>
        <p:spPr/>
        <p:txBody>
          <a:bodyPr wrap="square" lIns="91440" tIns="45720" rIns="91440" bIns="45720" anchor="t" anchorCtr="0"/>
          <a:p>
            <a:pPr lvl="0" eaLnBrk="1" hangingPunct="1"/>
            <a:r>
              <a:rPr lang="zh-CN" altLang="en-US" dirty="0"/>
              <a:t>自己在</a:t>
            </a:r>
            <a:r>
              <a:rPr lang="en-US" altLang="zh-CN" dirty="0"/>
              <a:t>IPV4</a:t>
            </a:r>
            <a:r>
              <a:rPr lang="zh-CN" altLang="en-US" dirty="0"/>
              <a:t>下实现</a:t>
            </a:r>
            <a:r>
              <a:rPr lang="en-US" altLang="zh-CN" dirty="0"/>
              <a:t>pton</a:t>
            </a:r>
            <a:r>
              <a:rPr lang="zh-CN" altLang="en-US" dirty="0"/>
              <a:t>函数</a:t>
            </a:r>
            <a:endParaRPr lang="zh-CN" altLang="zh-CN"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75779" name="Rectangle 2"/>
          <p:cNvSpPr>
            <a:spLocks noRot="1" noTextEdit="1"/>
          </p:cNvSpPr>
          <p:nvPr>
            <p:ph type="sldImg"/>
          </p:nvPr>
        </p:nvSpPr>
        <p:spPr/>
      </p:sp>
      <p:sp>
        <p:nvSpPr>
          <p:cNvPr id="75780"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77827" name="Rectangle 2"/>
          <p:cNvSpPr>
            <a:spLocks noRot="1" noTextEdit="1"/>
          </p:cNvSpPr>
          <p:nvPr>
            <p:ph type="sldImg"/>
          </p:nvPr>
        </p:nvSpPr>
        <p:spPr/>
      </p:sp>
      <p:sp>
        <p:nvSpPr>
          <p:cNvPr id="77828"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幻灯片图像占位符 1"/>
          <p:cNvSpPr>
            <a:spLocks noGrp="1" noRot="1" noChangeAspect="1" noTextEdit="1"/>
          </p:cNvSpPr>
          <p:nvPr>
            <p:ph type="sldImg"/>
          </p:nvPr>
        </p:nvSpPr>
        <p:spPr/>
      </p:sp>
      <p:sp>
        <p:nvSpPr>
          <p:cNvPr id="80899" name="备注占位符 2"/>
          <p:cNvSpPr>
            <a:spLocks noGrp="1"/>
          </p:cNvSpPr>
          <p:nvPr>
            <p:ph type="body"/>
          </p:nvPr>
        </p:nvSpPr>
        <p:spPr/>
        <p:txBody>
          <a:bodyPr wrap="square" lIns="91440" tIns="45720" rIns="91440" bIns="45720" anchor="t" anchorCtr="0"/>
          <a:p>
            <a:pPr lvl="0"/>
            <a:r>
              <a:rPr lang="zh-CN" altLang="en-US" dirty="0"/>
              <a:t>在</a:t>
            </a:r>
            <a:r>
              <a:rPr lang="en-US" altLang="zh-CN" dirty="0"/>
              <a:t>Internet</a:t>
            </a:r>
            <a:r>
              <a:rPr lang="zh-CN" altLang="en-US" dirty="0"/>
              <a:t>上有很多提供服务的主机，这些主机一般运行了多个服务软件，同时提供几种服务。每种服务都打开一个</a:t>
            </a:r>
            <a:r>
              <a:rPr lang="en-US" altLang="zh-CN" dirty="0"/>
              <a:t>Socket</a:t>
            </a:r>
            <a:r>
              <a:rPr lang="zh-CN" altLang="en-US" dirty="0"/>
              <a:t>，并绑定到一个端口上，不同的端口对应于不同的服务。</a:t>
            </a:r>
            <a:r>
              <a:rPr lang="en-US" altLang="zh-CN" dirty="0"/>
              <a:t>Socket</a:t>
            </a:r>
            <a:r>
              <a:rPr lang="zh-CN" altLang="en-US" dirty="0"/>
              <a:t>正如其英文原意那样，象一个多孔插座。一台主机犹如布满各种插座的房间，每个插座有一个编号，有的插座提供</a:t>
            </a:r>
            <a:r>
              <a:rPr lang="en-US" altLang="zh-CN" dirty="0"/>
              <a:t>220</a:t>
            </a:r>
            <a:r>
              <a:rPr lang="zh-CN" altLang="en-US" dirty="0"/>
              <a:t>伏交流电， 有的提供</a:t>
            </a:r>
            <a:r>
              <a:rPr lang="en-US" altLang="zh-CN" dirty="0"/>
              <a:t>110</a:t>
            </a:r>
            <a:r>
              <a:rPr lang="zh-CN" altLang="en-US" dirty="0"/>
              <a:t>伏交流电，有的则提供有线电视节目。 客户软件将插头插到不同编号的插座，就可以得到不同的服务。</a:t>
            </a:r>
            <a:endParaRPr lang="zh-CN" altLang="en-US" dirty="0"/>
          </a:p>
        </p:txBody>
      </p:sp>
      <p:sp>
        <p:nvSpPr>
          <p:cNvPr id="8090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幻灯片图像占位符 1"/>
          <p:cNvSpPr>
            <a:spLocks noGrp="1" noRot="1" noChangeAspect="1" noTextEdit="1"/>
          </p:cNvSpPr>
          <p:nvPr>
            <p:ph type="sldImg"/>
          </p:nvPr>
        </p:nvSpPr>
        <p:spPr/>
      </p:sp>
      <p:sp>
        <p:nvSpPr>
          <p:cNvPr id="82947" name="备注占位符 2"/>
          <p:cNvSpPr>
            <a:spLocks noGrp="1"/>
          </p:cNvSpPr>
          <p:nvPr>
            <p:ph type="body"/>
          </p:nvPr>
        </p:nvSpPr>
        <p:spPr/>
        <p:txBody>
          <a:bodyPr wrap="square" lIns="91440" tIns="45720" rIns="91440" bIns="45720" anchor="t" anchorCtr="0"/>
          <a:p>
            <a:pPr lvl="0"/>
            <a:r>
              <a:rPr lang="zh-CN" altLang="en-US" dirty="0"/>
              <a:t>协议族 </a:t>
            </a:r>
            <a:r>
              <a:rPr lang="en-US" altLang="zh-CN" dirty="0"/>
              <a:t>AF_INET,AF_INET6,AF_LOCAL</a:t>
            </a:r>
            <a:endParaRPr lang="zh-CN" altLang="en-US" dirty="0"/>
          </a:p>
        </p:txBody>
      </p:sp>
      <p:sp>
        <p:nvSpPr>
          <p:cNvPr id="8294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幻灯片图像占位符 1"/>
          <p:cNvSpPr>
            <a:spLocks noGrp="1" noRot="1" noChangeAspect="1" noTextEdit="1"/>
          </p:cNvSpPr>
          <p:nvPr>
            <p:ph type="sldImg"/>
          </p:nvPr>
        </p:nvSpPr>
        <p:spPr/>
      </p:sp>
      <p:sp>
        <p:nvSpPr>
          <p:cNvPr id="84995" name="备注占位符 2"/>
          <p:cNvSpPr>
            <a:spLocks noGrp="1"/>
          </p:cNvSpPr>
          <p:nvPr>
            <p:ph type="body"/>
          </p:nvPr>
        </p:nvSpPr>
        <p:spPr/>
        <p:txBody>
          <a:bodyPr wrap="square" lIns="91440" tIns="45720" rIns="91440" bIns="45720" anchor="t" anchorCtr="0"/>
          <a:p>
            <a:pPr lvl="0"/>
            <a:r>
              <a:rPr lang="zh-CN" altLang="en-US" dirty="0"/>
              <a:t>文件描述符在形式上是一个非负整数。</a:t>
            </a:r>
            <a:endParaRPr lang="zh-CN" altLang="en-US" dirty="0"/>
          </a:p>
        </p:txBody>
      </p:sp>
      <p:sp>
        <p:nvSpPr>
          <p:cNvPr id="8499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87043" name="Rectangle 2"/>
          <p:cNvSpPr>
            <a:spLocks noRot="1" noTextEdit="1"/>
          </p:cNvSpPr>
          <p:nvPr>
            <p:ph type="sldImg"/>
          </p:nvPr>
        </p:nvSpPr>
        <p:spPr/>
      </p:sp>
      <p:sp>
        <p:nvSpPr>
          <p:cNvPr id="87044" name="Rectangle 3"/>
          <p:cNvSpPr>
            <a:spLocks noGrp="1"/>
          </p:cNvSpPr>
          <p:nvPr>
            <p:ph type="body"/>
          </p:nvPr>
        </p:nvSpPr>
        <p:spPr/>
        <p:txBody>
          <a:bodyPr wrap="square" lIns="91440" tIns="45720" rIns="91440" bIns="45720" anchor="t" anchorCtr="0"/>
          <a:p>
            <a:pPr lvl="0" eaLnBrk="1" hangingPunct="1"/>
            <a:r>
              <a:rPr lang="en-US" altLang="zh-CN" dirty="0"/>
              <a:t>AF_LOCAL unix</a:t>
            </a:r>
            <a:r>
              <a:rPr lang="zh-CN" altLang="en-US" dirty="0"/>
              <a:t>域协议、</a:t>
            </a:r>
            <a:r>
              <a:rPr lang="en-US" altLang="zh-CN" dirty="0"/>
              <a:t>AF_ROUTE </a:t>
            </a:r>
            <a:r>
              <a:rPr lang="zh-CN" altLang="en-US" dirty="0"/>
              <a:t>路由套接字、</a:t>
            </a:r>
            <a:r>
              <a:rPr lang="en-US" altLang="zh-CN" dirty="0"/>
              <a:t>AF_KEY </a:t>
            </a:r>
            <a:r>
              <a:rPr lang="zh-CN" altLang="en-US" dirty="0"/>
              <a:t>密钥套接字</a:t>
            </a:r>
            <a:endParaRPr lang="zh-CN" altLang="zh-CN"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0" name="幻灯片图像占位符 1"/>
          <p:cNvSpPr>
            <a:spLocks noGrp="1" noRot="1" noChangeAspect="1" noTextEdit="1"/>
          </p:cNvSpPr>
          <p:nvPr>
            <p:ph type="sldImg"/>
          </p:nvPr>
        </p:nvSpPr>
        <p:spPr/>
      </p:sp>
      <p:sp>
        <p:nvSpPr>
          <p:cNvPr id="89091" name="备注占位符 2"/>
          <p:cNvSpPr>
            <a:spLocks noGrp="1"/>
          </p:cNvSpPr>
          <p:nvPr>
            <p:ph type="body"/>
          </p:nvPr>
        </p:nvSpPr>
        <p:spPr/>
        <p:txBody>
          <a:bodyPr wrap="square" lIns="91440" tIns="45720" rIns="91440" bIns="45720" anchor="t" anchorCtr="0"/>
          <a:p>
            <a:pPr lvl="0"/>
            <a:endParaRPr lang="zh-CN" altLang="en-US" dirty="0"/>
          </a:p>
        </p:txBody>
      </p:sp>
      <p:sp>
        <p:nvSpPr>
          <p:cNvPr id="8909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8" name="幻灯片图像占位符 1"/>
          <p:cNvSpPr>
            <a:spLocks noGrp="1" noRot="1" noChangeAspect="1" noTextEdit="1"/>
          </p:cNvSpPr>
          <p:nvPr>
            <p:ph type="sldImg"/>
          </p:nvPr>
        </p:nvSpPr>
        <p:spPr/>
      </p:sp>
      <p:sp>
        <p:nvSpPr>
          <p:cNvPr id="91139" name="备注占位符 2"/>
          <p:cNvSpPr>
            <a:spLocks noGrp="1"/>
          </p:cNvSpPr>
          <p:nvPr>
            <p:ph type="body"/>
          </p:nvPr>
        </p:nvSpPr>
        <p:spPr/>
        <p:txBody>
          <a:bodyPr wrap="square" lIns="91440" tIns="45720" rIns="91440" bIns="45720" anchor="t" anchorCtr="0"/>
          <a:p>
            <a:pPr lvl="0"/>
            <a:endParaRPr lang="zh-CN" altLang="en-US" dirty="0"/>
          </a:p>
        </p:txBody>
      </p:sp>
      <p:sp>
        <p:nvSpPr>
          <p:cNvPr id="9114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93187" name="Rectangle 2"/>
          <p:cNvSpPr>
            <a:spLocks noRot="1" noTextEdit="1"/>
          </p:cNvSpPr>
          <p:nvPr>
            <p:ph type="sldImg"/>
          </p:nvPr>
        </p:nvSpPr>
        <p:spPr/>
      </p:sp>
      <p:sp>
        <p:nvSpPr>
          <p:cNvPr id="93188"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96259" name="Rectangle 2"/>
          <p:cNvSpPr>
            <a:spLocks noRot="1" noTextEdit="1"/>
          </p:cNvSpPr>
          <p:nvPr>
            <p:ph type="sldImg"/>
          </p:nvPr>
        </p:nvSpPr>
        <p:spPr/>
      </p:sp>
      <p:sp>
        <p:nvSpPr>
          <p:cNvPr id="96260" name="Rectangle 3"/>
          <p:cNvSpPr>
            <a:spLocks noGrp="1"/>
          </p:cNvSpPr>
          <p:nvPr>
            <p:ph type="body"/>
          </p:nvPr>
        </p:nvSpPr>
        <p:spPr/>
        <p:txBody>
          <a:bodyPr wrap="square" lIns="91440" tIns="45720" rIns="91440" bIns="45720" anchor="t" anchorCtr="0"/>
          <a:p>
            <a:pPr lvl="0" eaLnBrk="1" hangingPunct="1"/>
            <a:r>
              <a:rPr lang="zh-CN" altLang="en-US" dirty="0"/>
              <a:t>服务器在启动时绑定一些</a:t>
            </a:r>
            <a:r>
              <a:rPr lang="zh-CN" altLang="en-US" b="1" dirty="0">
                <a:solidFill>
                  <a:srgbClr val="FF0000"/>
                </a:solidFill>
              </a:rPr>
              <a:t>众所周知</a:t>
            </a:r>
            <a:r>
              <a:rPr lang="zh-CN" altLang="en-US" dirty="0"/>
              <a:t>的端口是很正常的，这些端口表示服务器会提供什么业务。比如服务器提供</a:t>
            </a:r>
            <a:r>
              <a:rPr lang="en-US" altLang="zh-CN" dirty="0"/>
              <a:t>web</a:t>
            </a:r>
            <a:r>
              <a:rPr lang="zh-CN" altLang="en-US" dirty="0"/>
              <a:t>服务就必须绑定</a:t>
            </a:r>
            <a:r>
              <a:rPr lang="en-US" altLang="zh-CN" dirty="0"/>
              <a:t>80</a:t>
            </a:r>
            <a:r>
              <a:rPr lang="zh-CN" altLang="en-US" dirty="0"/>
              <a:t>端口（</a:t>
            </a:r>
            <a:r>
              <a:rPr lang="en-US" altLang="zh-CN" dirty="0"/>
              <a:t>http</a:t>
            </a:r>
            <a:r>
              <a:rPr lang="zh-CN" altLang="en-US" dirty="0"/>
              <a:t>）或者</a:t>
            </a:r>
            <a:r>
              <a:rPr lang="en-US" altLang="zh-CN" dirty="0"/>
              <a:t>443</a:t>
            </a:r>
            <a:r>
              <a:rPr lang="zh-CN" altLang="en-US" dirty="0"/>
              <a:t>端口；又如服务器提供</a:t>
            </a:r>
            <a:r>
              <a:rPr lang="en-US" altLang="zh-CN" dirty="0"/>
              <a:t>ftp</a:t>
            </a:r>
            <a:r>
              <a:rPr lang="zh-CN" altLang="en-US" dirty="0"/>
              <a:t>服务，就必须绑定</a:t>
            </a:r>
            <a:r>
              <a:rPr lang="en-US" altLang="zh-CN" dirty="0"/>
              <a:t>21</a:t>
            </a:r>
            <a:r>
              <a:rPr lang="zh-CN" altLang="en-US" dirty="0"/>
              <a:t>端口。</a:t>
            </a:r>
            <a:endParaRPr lang="en-US" altLang="zh-CN"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933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99331" name="Rectangle 2"/>
          <p:cNvSpPr>
            <a:spLocks noRot="1" noTextEdit="1"/>
          </p:cNvSpPr>
          <p:nvPr>
            <p:ph type="sldImg"/>
          </p:nvPr>
        </p:nvSpPr>
        <p:spPr/>
      </p:sp>
      <p:sp>
        <p:nvSpPr>
          <p:cNvPr id="99332"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101379" name="Rectangle 2"/>
          <p:cNvSpPr>
            <a:spLocks noRot="1" noTextEdit="1"/>
          </p:cNvSpPr>
          <p:nvPr>
            <p:ph type="sldImg"/>
          </p:nvPr>
        </p:nvSpPr>
        <p:spPr/>
      </p:sp>
      <p:sp>
        <p:nvSpPr>
          <p:cNvPr id="101380"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0" name="幻灯片图像占位符 1"/>
          <p:cNvSpPr>
            <a:spLocks noGrp="1" noRot="1" noChangeAspect="1" noTextEdit="1"/>
          </p:cNvSpPr>
          <p:nvPr>
            <p:ph type="sldImg"/>
          </p:nvPr>
        </p:nvSpPr>
        <p:spPr/>
      </p:sp>
      <p:sp>
        <p:nvSpPr>
          <p:cNvPr id="104451" name="备注占位符 2"/>
          <p:cNvSpPr>
            <a:spLocks noGrp="1"/>
          </p:cNvSpPr>
          <p:nvPr>
            <p:ph type="body"/>
          </p:nvPr>
        </p:nvSpPr>
        <p:spPr/>
        <p:txBody>
          <a:bodyPr wrap="square" lIns="91440" tIns="45720" rIns="91440" bIns="45720" anchor="t" anchorCtr="0"/>
          <a:p>
            <a:pPr lvl="0"/>
            <a:r>
              <a:rPr lang="zh-CN" altLang="en-US" dirty="0"/>
              <a:t>在实际应用中不存在这个问题，因为服务器一旦启动将长期运行；而在调试程序时，每次重启系统很费时。</a:t>
            </a:r>
            <a:endParaRPr lang="en-US" altLang="zh-CN" dirty="0"/>
          </a:p>
          <a:p>
            <a:pPr lvl="0"/>
            <a:r>
              <a:rPr lang="en-US" altLang="zh-CN" dirty="0"/>
              <a:t>setsockopt(listenfd,SOL_SOCKET,SO_REUSEADDR,&amp;opt,sizeof(opt));</a:t>
            </a:r>
            <a:endParaRPr lang="zh-CN" altLang="en-US" dirty="0"/>
          </a:p>
        </p:txBody>
      </p:sp>
      <p:sp>
        <p:nvSpPr>
          <p:cNvPr id="10445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8" name="幻灯片图像占位符 1"/>
          <p:cNvSpPr>
            <a:spLocks noGrp="1" noRot="1" noChangeAspect="1" noTextEdit="1"/>
          </p:cNvSpPr>
          <p:nvPr>
            <p:ph type="sldImg"/>
          </p:nvPr>
        </p:nvSpPr>
        <p:spPr/>
      </p:sp>
      <p:sp>
        <p:nvSpPr>
          <p:cNvPr id="106499" name="备注占位符 2"/>
          <p:cNvSpPr>
            <a:spLocks noGrp="1"/>
          </p:cNvSpPr>
          <p:nvPr>
            <p:ph type="body"/>
          </p:nvPr>
        </p:nvSpPr>
        <p:spPr/>
        <p:txBody>
          <a:bodyPr wrap="square" lIns="91440" tIns="45720" rIns="91440" bIns="45720" anchor="t" anchorCtr="0"/>
          <a:p>
            <a:pPr lvl="0"/>
            <a:r>
              <a:rPr lang="en-US" altLang="zh-CN" dirty="0"/>
              <a:t>int setsockopt(int sockfd, int level, int optname, const void *optval, socklen_t optlen);</a:t>
            </a:r>
            <a:endParaRPr lang="en-US" altLang="zh-CN" dirty="0"/>
          </a:p>
          <a:p>
            <a:pPr lvl="0"/>
            <a:r>
              <a:rPr lang="en-US" altLang="zh-CN" dirty="0"/>
              <a:t>int opt = SO_REUSEADDR;</a:t>
            </a:r>
            <a:endParaRPr lang="en-US" altLang="zh-CN" dirty="0"/>
          </a:p>
          <a:p>
            <a:pPr lvl="0"/>
            <a:r>
              <a:rPr lang="en-US" altLang="zh-CN" dirty="0"/>
              <a:t>setsockopt(listenfd,SOL_SOCKET,SO_REUSEADDR,&amp;opt,sizeof(opt));</a:t>
            </a:r>
            <a:endParaRPr lang="zh-CN" altLang="en-US" dirty="0"/>
          </a:p>
        </p:txBody>
      </p:sp>
      <p:sp>
        <p:nvSpPr>
          <p:cNvPr id="10650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108547" name="Rectangle 2"/>
          <p:cNvSpPr>
            <a:spLocks noRot="1" noTextEdit="1"/>
          </p:cNvSpPr>
          <p:nvPr>
            <p:ph type="sldImg"/>
          </p:nvPr>
        </p:nvSpPr>
        <p:spPr/>
      </p:sp>
      <p:sp>
        <p:nvSpPr>
          <p:cNvPr id="108548" name="Rectangle 3"/>
          <p:cNvSpPr>
            <a:spLocks noGrp="1"/>
          </p:cNvSpPr>
          <p:nvPr>
            <p:ph type="body"/>
          </p:nvPr>
        </p:nvSpPr>
        <p:spPr/>
        <p:txBody>
          <a:bodyPr wrap="square" lIns="91440" tIns="45720" rIns="91440" bIns="45720" anchor="t" anchorCtr="0"/>
          <a:p>
            <a:pPr lvl="0" eaLnBrk="1" hangingPunct="1"/>
            <a:r>
              <a:rPr lang="zh-CN" altLang="en-US" dirty="0"/>
              <a:t>一个连接都由本地地址和远端地址的组合唯一却定，所以只要远端地址不同，两个套接口与一个</a:t>
            </a:r>
            <a:r>
              <a:rPr lang="en-US" altLang="zh-CN" dirty="0"/>
              <a:t>ip</a:t>
            </a:r>
            <a:r>
              <a:rPr lang="zh-CN" altLang="en-US" dirty="0"/>
              <a:t>地址绑定并无大碍。为了通知系统套接口实现不要因为一个地址已被一个套接口使用就不让它与另一个套接口绑定，应用程序可再</a:t>
            </a:r>
            <a:r>
              <a:rPr lang="en-US" altLang="zh-CN" dirty="0"/>
              <a:t>bind()</a:t>
            </a:r>
            <a:r>
              <a:rPr lang="zh-CN" altLang="en-US" dirty="0"/>
              <a:t>调用前设置该项。</a:t>
            </a:r>
            <a:endParaRPr lang="zh-CN" altLang="en-US"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059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110595" name="Rectangle 2"/>
          <p:cNvSpPr>
            <a:spLocks noRot="1" noTextEdit="1"/>
          </p:cNvSpPr>
          <p:nvPr>
            <p:ph type="sldImg"/>
          </p:nvPr>
        </p:nvSpPr>
        <p:spPr/>
      </p:sp>
      <p:sp>
        <p:nvSpPr>
          <p:cNvPr id="110596"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112643" name="Rectangle 2"/>
          <p:cNvSpPr>
            <a:spLocks noRot="1" noTextEdit="1"/>
          </p:cNvSpPr>
          <p:nvPr>
            <p:ph type="sldImg"/>
          </p:nvPr>
        </p:nvSpPr>
        <p:spPr/>
      </p:sp>
      <p:sp>
        <p:nvSpPr>
          <p:cNvPr id="112644" name="Rectangle 3"/>
          <p:cNvSpPr>
            <a:spLocks noGrp="1"/>
          </p:cNvSpPr>
          <p:nvPr>
            <p:ph type="body"/>
          </p:nvPr>
        </p:nvSpPr>
        <p:spPr/>
        <p:txBody>
          <a:bodyPr wrap="square" lIns="91440" tIns="45720" rIns="91440" bIns="45720" anchor="t" anchorCtr="0"/>
          <a:p>
            <a:pPr lvl="0" eaLnBrk="1" hangingPunct="1"/>
            <a:r>
              <a:rPr lang="en-US" altLang="zh-CN" dirty="0"/>
              <a:t>socket</a:t>
            </a:r>
            <a:r>
              <a:rPr lang="zh-CN" altLang="en-US" dirty="0"/>
              <a:t>函数创建的套接字默认是一个主动套接字，也就是说它是一个将调用</a:t>
            </a:r>
            <a:r>
              <a:rPr lang="en-US" altLang="zh-CN" dirty="0"/>
              <a:t>connect()</a:t>
            </a:r>
            <a:r>
              <a:rPr lang="zh-CN" altLang="en-US" dirty="0"/>
              <a:t>函数发起连接的客户套接字。</a:t>
            </a:r>
            <a:r>
              <a:rPr lang="en-US" altLang="zh-CN" dirty="0"/>
              <a:t>listen</a:t>
            </a:r>
            <a:r>
              <a:rPr lang="zh-CN" altLang="en-US" dirty="0"/>
              <a:t>函数把一个未连接的套接字转换成一个被动套接字，指示内核应接受指向该套接字的连接请求。</a:t>
            </a:r>
            <a:endParaRPr lang="zh-CN" altLang="zh-CN"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469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114691" name="Rectangle 2"/>
          <p:cNvSpPr>
            <a:spLocks noRot="1" noTextEdit="1"/>
          </p:cNvSpPr>
          <p:nvPr>
            <p:ph type="sldImg"/>
          </p:nvPr>
        </p:nvSpPr>
        <p:spPr/>
      </p:sp>
      <p:sp>
        <p:nvSpPr>
          <p:cNvPr id="114692" name="Rectangle 3"/>
          <p:cNvSpPr>
            <a:spLocks noGrp="1"/>
          </p:cNvSpPr>
          <p:nvPr>
            <p:ph type="body"/>
          </p:nvPr>
        </p:nvSpPr>
        <p:spPr/>
        <p:txBody>
          <a:bodyPr wrap="square" lIns="91440" tIns="45720" rIns="91440" bIns="45720" anchor="t" anchorCtr="0"/>
          <a:p>
            <a:pPr lvl="0" eaLnBrk="1" hangingPunct="1"/>
            <a:r>
              <a:rPr lang="en-US" altLang="zh-CN" dirty="0"/>
              <a:t>socket</a:t>
            </a:r>
            <a:r>
              <a:rPr lang="zh-CN" altLang="en-US" dirty="0"/>
              <a:t>函数创建的套接字默认是一个主动套接字，也就是说它是一个将调用</a:t>
            </a:r>
            <a:r>
              <a:rPr lang="en-US" altLang="zh-CN" dirty="0"/>
              <a:t>connect()</a:t>
            </a:r>
            <a:r>
              <a:rPr lang="zh-CN" altLang="en-US" dirty="0"/>
              <a:t>函数发起连接的客户套接字。</a:t>
            </a:r>
            <a:r>
              <a:rPr lang="en-US" altLang="zh-CN" dirty="0"/>
              <a:t>listen</a:t>
            </a:r>
            <a:r>
              <a:rPr lang="zh-CN" altLang="en-US" dirty="0"/>
              <a:t>函数把一个未连接的套接字转换成一个被动套接字，指示内核应接受指向该套接字的连接请求。</a:t>
            </a:r>
            <a:endParaRPr lang="zh-CN" altLang="zh-CN"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673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116739" name="Rectangle 2"/>
          <p:cNvSpPr>
            <a:spLocks noRot="1" noTextEdit="1"/>
          </p:cNvSpPr>
          <p:nvPr>
            <p:ph type="sldImg"/>
          </p:nvPr>
        </p:nvSpPr>
        <p:spPr/>
      </p:sp>
      <p:sp>
        <p:nvSpPr>
          <p:cNvPr id="116740" name="Rectangle 3"/>
          <p:cNvSpPr>
            <a:spLocks noGrp="1"/>
          </p:cNvSpPr>
          <p:nvPr>
            <p:ph type="body"/>
          </p:nvPr>
        </p:nvSpPr>
        <p:spPr/>
        <p:txBody>
          <a:bodyPr wrap="square" lIns="91440" tIns="45720" rIns="91440" bIns="45720" anchor="t" anchorCtr="0"/>
          <a:p>
            <a:pPr lvl="0" eaLnBrk="1" hangingPunct="1"/>
            <a:r>
              <a:rPr lang="zh-CN" altLang="en-US" dirty="0"/>
              <a:t>当来自客户端的</a:t>
            </a:r>
            <a:r>
              <a:rPr lang="en-US" altLang="zh-CN" dirty="0"/>
              <a:t>syn</a:t>
            </a:r>
            <a:r>
              <a:rPr lang="zh-CN" altLang="en-US" dirty="0"/>
              <a:t>分节到达时，</a:t>
            </a:r>
            <a:r>
              <a:rPr lang="en-US" altLang="zh-CN" dirty="0"/>
              <a:t>tcp</a:t>
            </a:r>
            <a:r>
              <a:rPr lang="zh-CN" altLang="en-US" dirty="0"/>
              <a:t>在未完成队列里建立一个新项，同时发生三次握手中的第二个分节，其中捎带了对客户端</a:t>
            </a:r>
            <a:r>
              <a:rPr lang="en-US" altLang="zh-CN" dirty="0"/>
              <a:t>syn</a:t>
            </a:r>
            <a:r>
              <a:rPr lang="zh-CN" altLang="en-US" dirty="0"/>
              <a:t>的</a:t>
            </a:r>
            <a:r>
              <a:rPr lang="en-US" altLang="zh-CN" dirty="0"/>
              <a:t>ack.</a:t>
            </a:r>
            <a:endParaRPr lang="en-US" altLang="zh-CN" dirty="0"/>
          </a:p>
          <a:p>
            <a:pPr lvl="0" eaLnBrk="1" hangingPunct="1"/>
            <a:r>
              <a:rPr lang="zh-CN" altLang="en-US" dirty="0"/>
              <a:t>新建立的这一项一直保持在未完成队列里，直到三次握手的第三个分节到达或者超时。</a:t>
            </a:r>
            <a:endParaRPr lang="zh-CN" altLang="zh-CN"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878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118787" name="Rectangle 2"/>
          <p:cNvSpPr>
            <a:spLocks noRot="1" noTextEdit="1"/>
          </p:cNvSpPr>
          <p:nvPr>
            <p:ph type="sldImg"/>
          </p:nvPr>
        </p:nvSpPr>
        <p:spPr/>
      </p:sp>
      <p:sp>
        <p:nvSpPr>
          <p:cNvPr id="118788"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083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120835" name="Rectangle 2"/>
          <p:cNvSpPr>
            <a:spLocks noRot="1" noTextEdit="1"/>
          </p:cNvSpPr>
          <p:nvPr>
            <p:ph type="sldImg"/>
          </p:nvPr>
        </p:nvSpPr>
        <p:spPr/>
      </p:sp>
      <p:sp>
        <p:nvSpPr>
          <p:cNvPr id="120836"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8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122883" name="Rectangle 2"/>
          <p:cNvSpPr>
            <a:spLocks noRot="1" noTextEdit="1"/>
          </p:cNvSpPr>
          <p:nvPr>
            <p:ph type="sldImg"/>
          </p:nvPr>
        </p:nvSpPr>
        <p:spPr/>
      </p:sp>
      <p:sp>
        <p:nvSpPr>
          <p:cNvPr id="122884"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493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124931" name="Rectangle 2"/>
          <p:cNvSpPr>
            <a:spLocks noRot="1" noTextEdit="1"/>
          </p:cNvSpPr>
          <p:nvPr>
            <p:ph type="sldImg"/>
          </p:nvPr>
        </p:nvSpPr>
        <p:spPr/>
      </p:sp>
      <p:sp>
        <p:nvSpPr>
          <p:cNvPr id="124932"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697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126979" name="Rectangle 2"/>
          <p:cNvSpPr>
            <a:spLocks noRot="1" noTextEdit="1"/>
          </p:cNvSpPr>
          <p:nvPr>
            <p:ph type="sldImg"/>
          </p:nvPr>
        </p:nvSpPr>
        <p:spPr/>
      </p:sp>
      <p:sp>
        <p:nvSpPr>
          <p:cNvPr id="126980"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005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130051" name="Rectangle 2"/>
          <p:cNvSpPr>
            <a:spLocks noRot="1" noTextEdit="1"/>
          </p:cNvSpPr>
          <p:nvPr>
            <p:ph type="sldImg"/>
          </p:nvPr>
        </p:nvSpPr>
        <p:spPr/>
      </p:sp>
      <p:sp>
        <p:nvSpPr>
          <p:cNvPr id="130052"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132099" name="Rectangle 2"/>
          <p:cNvSpPr>
            <a:spLocks noRot="1" noTextEdit="1"/>
          </p:cNvSpPr>
          <p:nvPr>
            <p:ph type="sldImg"/>
          </p:nvPr>
        </p:nvSpPr>
        <p:spPr/>
      </p:sp>
      <p:sp>
        <p:nvSpPr>
          <p:cNvPr id="132100" name="Rectangle 3"/>
          <p:cNvSpPr>
            <a:spLocks noGrp="1"/>
          </p:cNvSpPr>
          <p:nvPr>
            <p:ph type="body"/>
          </p:nvPr>
        </p:nvSpPr>
        <p:spPr/>
        <p:txBody>
          <a:bodyPr wrap="square" lIns="91440" tIns="45720" rIns="91440" bIns="45720" anchor="t" anchorCtr="0"/>
          <a:p>
            <a:pPr lvl="0" eaLnBrk="1" hangingPunct="1"/>
            <a:r>
              <a:rPr lang="en-US" altLang="zh-CN" dirty="0"/>
              <a:t>sockfd</a:t>
            </a:r>
            <a:r>
              <a:rPr lang="zh-CN" altLang="en-US" dirty="0"/>
              <a:t>监听套接字描述符，一个服务器端通常只创建一个监听套接字，它在服务器端的生命周期内一直存在。内核为每个服务器进程所接受的客户端创建一个已连接套接字（也就是说对于它的</a:t>
            </a:r>
            <a:r>
              <a:rPr lang="en-US" altLang="zh-CN" dirty="0"/>
              <a:t>tcp</a:t>
            </a:r>
            <a:r>
              <a:rPr lang="zh-CN" altLang="en-US" dirty="0"/>
              <a:t>三次握手已经完成），当服务器进程完成对某个给的客户的服务后，相应的</a:t>
            </a:r>
            <a:r>
              <a:rPr lang="zh-CN" altLang="en-US" b="1" dirty="0">
                <a:solidFill>
                  <a:srgbClr val="00B050"/>
                </a:solidFill>
              </a:rPr>
              <a:t>已连接套接字</a:t>
            </a:r>
            <a:r>
              <a:rPr lang="zh-CN" altLang="en-US" dirty="0"/>
              <a:t>就会关闭。</a:t>
            </a:r>
            <a:endParaRPr lang="zh-CN" altLang="zh-CN"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414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134147" name="Rectangle 2"/>
          <p:cNvSpPr>
            <a:spLocks noRot="1" noTextEdit="1"/>
          </p:cNvSpPr>
          <p:nvPr>
            <p:ph type="sldImg"/>
          </p:nvPr>
        </p:nvSpPr>
        <p:spPr/>
      </p:sp>
      <p:sp>
        <p:nvSpPr>
          <p:cNvPr id="134148"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619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136195" name="Rectangle 2"/>
          <p:cNvSpPr>
            <a:spLocks noRot="1" noTextEdit="1"/>
          </p:cNvSpPr>
          <p:nvPr>
            <p:ph type="sldImg"/>
          </p:nvPr>
        </p:nvSpPr>
        <p:spPr/>
      </p:sp>
      <p:sp>
        <p:nvSpPr>
          <p:cNvPr id="136196"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824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138243" name="Rectangle 2"/>
          <p:cNvSpPr>
            <a:spLocks noRot="1" noTextEdit="1"/>
          </p:cNvSpPr>
          <p:nvPr>
            <p:ph type="sldImg"/>
          </p:nvPr>
        </p:nvSpPr>
        <p:spPr/>
      </p:sp>
      <p:sp>
        <p:nvSpPr>
          <p:cNvPr id="138244"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029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140291" name="Rectangle 2"/>
          <p:cNvSpPr>
            <a:spLocks noRot="1" noTextEdit="1"/>
          </p:cNvSpPr>
          <p:nvPr>
            <p:ph type="sldImg"/>
          </p:nvPr>
        </p:nvSpPr>
        <p:spPr/>
      </p:sp>
      <p:sp>
        <p:nvSpPr>
          <p:cNvPr id="140292" name="Rectangle 3"/>
          <p:cNvSpPr>
            <a:spLocks noGrp="1"/>
          </p:cNvSpPr>
          <p:nvPr>
            <p:ph type="body"/>
          </p:nvPr>
        </p:nvSpPr>
        <p:spPr/>
        <p:txBody>
          <a:bodyPr wrap="square" lIns="91440" tIns="45720" rIns="91440" bIns="45720" anchor="t" anchorCtr="0"/>
          <a:p>
            <a:pPr lvl="0" eaLnBrk="1" hangingPunct="1"/>
            <a:r>
              <a:rPr lang="zh-CN" altLang="en-US" dirty="0"/>
              <a:t>有多少进程打开该文件</a:t>
            </a:r>
            <a:endParaRPr lang="zh-CN" altLang="zh-CN"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233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142339" name="Rectangle 2"/>
          <p:cNvSpPr>
            <a:spLocks noRot="1" noTextEdit="1"/>
          </p:cNvSpPr>
          <p:nvPr>
            <p:ph type="sldImg"/>
          </p:nvPr>
        </p:nvSpPr>
        <p:spPr/>
      </p:sp>
      <p:sp>
        <p:nvSpPr>
          <p:cNvPr id="142340"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438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144387" name="Rectangle 2"/>
          <p:cNvSpPr>
            <a:spLocks noRot="1" noTextEdit="1"/>
          </p:cNvSpPr>
          <p:nvPr>
            <p:ph type="sldImg"/>
          </p:nvPr>
        </p:nvSpPr>
        <p:spPr/>
      </p:sp>
      <p:sp>
        <p:nvSpPr>
          <p:cNvPr id="144388" name="Rectangle 3"/>
          <p:cNvSpPr>
            <a:spLocks noGrp="1"/>
          </p:cNvSpPr>
          <p:nvPr>
            <p:ph type="body"/>
          </p:nvPr>
        </p:nvSpPr>
        <p:spPr/>
        <p:txBody>
          <a:bodyPr wrap="square" lIns="91440" tIns="45720" rIns="91440" bIns="45720" anchor="t" anchorCtr="0"/>
          <a:p>
            <a:pPr lvl="0" eaLnBrk="1" hangingPunct="1"/>
            <a:r>
              <a:rPr lang="zh-CN" altLang="en-US" dirty="0"/>
              <a:t>客户端经过若干次写操作之后调用</a:t>
            </a:r>
            <a:r>
              <a:rPr lang="en-US" altLang="zh-CN" dirty="0"/>
              <a:t>shutdown</a:t>
            </a:r>
            <a:r>
              <a:rPr lang="zh-CN" altLang="en-US" dirty="0"/>
              <a:t>（参数</a:t>
            </a:r>
            <a:r>
              <a:rPr lang="en-US" altLang="zh-CN" dirty="0"/>
              <a:t>SHUT_WR </a:t>
            </a:r>
            <a:r>
              <a:rPr lang="zh-CN" altLang="en-US" dirty="0"/>
              <a:t>），告诉服务器端我的数据发送完了，但我还可以接收数据</a:t>
            </a:r>
            <a:endParaRPr lang="zh-CN" altLang="zh-CN" dirty="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643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146435" name="Rectangle 2"/>
          <p:cNvSpPr>
            <a:spLocks noRot="1" noTextEdit="1"/>
          </p:cNvSpPr>
          <p:nvPr>
            <p:ph type="sldImg"/>
          </p:nvPr>
        </p:nvSpPr>
        <p:spPr/>
      </p:sp>
      <p:sp>
        <p:nvSpPr>
          <p:cNvPr id="146436"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848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148483" name="Rectangle 2"/>
          <p:cNvSpPr>
            <a:spLocks noRot="1" noTextEdit="1"/>
          </p:cNvSpPr>
          <p:nvPr>
            <p:ph type="sldImg"/>
          </p:nvPr>
        </p:nvSpPr>
        <p:spPr/>
      </p:sp>
      <p:sp>
        <p:nvSpPr>
          <p:cNvPr id="148484"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053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150531" name="Rectangle 2"/>
          <p:cNvSpPr>
            <a:spLocks noRot="1" noTextEdit="1"/>
          </p:cNvSpPr>
          <p:nvPr>
            <p:ph type="sldImg"/>
          </p:nvPr>
        </p:nvSpPr>
        <p:spPr/>
      </p:sp>
      <p:sp>
        <p:nvSpPr>
          <p:cNvPr id="150532"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257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152579" name="Rectangle 2"/>
          <p:cNvSpPr>
            <a:spLocks noRot="1" noTextEdit="1"/>
          </p:cNvSpPr>
          <p:nvPr>
            <p:ph type="sldImg"/>
          </p:nvPr>
        </p:nvSpPr>
        <p:spPr/>
      </p:sp>
      <p:sp>
        <p:nvSpPr>
          <p:cNvPr id="152580"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462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154627" name="Rectangle 2"/>
          <p:cNvSpPr>
            <a:spLocks noRot="1" noTextEdit="1"/>
          </p:cNvSpPr>
          <p:nvPr>
            <p:ph type="sldImg"/>
          </p:nvPr>
        </p:nvSpPr>
        <p:spPr/>
      </p:sp>
      <p:sp>
        <p:nvSpPr>
          <p:cNvPr id="154628"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7698" name="幻灯片图像占位符 1"/>
          <p:cNvSpPr>
            <a:spLocks noGrp="1" noRot="1" noChangeAspect="1" noTextEdit="1"/>
          </p:cNvSpPr>
          <p:nvPr>
            <p:ph type="sldImg"/>
          </p:nvPr>
        </p:nvSpPr>
        <p:spPr/>
      </p:sp>
      <p:sp>
        <p:nvSpPr>
          <p:cNvPr id="157699" name="备注占位符 2"/>
          <p:cNvSpPr>
            <a:spLocks noGrp="1"/>
          </p:cNvSpPr>
          <p:nvPr>
            <p:ph type="body"/>
          </p:nvPr>
        </p:nvSpPr>
        <p:spPr/>
        <p:txBody>
          <a:bodyPr wrap="square" lIns="91440" tIns="45720" rIns="91440" bIns="45720" anchor="t" anchorCtr="0"/>
          <a:p>
            <a:pPr lvl="0"/>
            <a:r>
              <a:rPr lang="en-US" altLang="zh-CN" dirty="0"/>
              <a:t>h_addr_list</a:t>
            </a:r>
            <a:r>
              <a:rPr lang="zh-CN" altLang="en-US" dirty="0"/>
              <a:t>指向指针的指针。指针在</a:t>
            </a:r>
            <a:r>
              <a:rPr lang="en-US" altLang="zh-CN" dirty="0"/>
              <a:t>c</a:t>
            </a:r>
            <a:r>
              <a:rPr lang="zh-CN" altLang="en-US" dirty="0"/>
              <a:t>语言里面就是地址的意思，所以</a:t>
            </a:r>
            <a:r>
              <a:rPr lang="en-US" altLang="zh-CN" b="1" dirty="0">
                <a:solidFill>
                  <a:srgbClr val="00B050"/>
                </a:solidFill>
              </a:rPr>
              <a:t>h_addr_list[0]</a:t>
            </a:r>
            <a:r>
              <a:rPr lang="zh-CN" altLang="en-US" b="1" dirty="0">
                <a:solidFill>
                  <a:srgbClr val="00B050"/>
                </a:solidFill>
              </a:rPr>
              <a:t>是一个地址</a:t>
            </a:r>
            <a:endParaRPr lang="zh-CN" altLang="en-US" dirty="0"/>
          </a:p>
        </p:txBody>
      </p:sp>
      <p:sp>
        <p:nvSpPr>
          <p:cNvPr id="15770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9746" name="幻灯片图像占位符 1"/>
          <p:cNvSpPr>
            <a:spLocks noGrp="1" noRot="1" noChangeAspect="1" noTextEdit="1"/>
          </p:cNvSpPr>
          <p:nvPr>
            <p:ph type="sldImg"/>
          </p:nvPr>
        </p:nvSpPr>
        <p:spPr/>
      </p:sp>
      <p:sp>
        <p:nvSpPr>
          <p:cNvPr id="159747" name="备注占位符 2"/>
          <p:cNvSpPr>
            <a:spLocks noGrp="1"/>
          </p:cNvSpPr>
          <p:nvPr>
            <p:ph type="body"/>
          </p:nvPr>
        </p:nvSpPr>
        <p:spPr/>
        <p:txBody>
          <a:bodyPr wrap="square" lIns="91440" tIns="45720" rIns="91440" bIns="45720" anchor="t" anchorCtr="0"/>
          <a:p>
            <a:pPr lvl="0"/>
            <a:r>
              <a:rPr lang="en-US" altLang="zh-CN" dirty="0"/>
              <a:t> hostent-&gt;h_aliases </a:t>
            </a:r>
            <a:r>
              <a:rPr lang="zh-CN" altLang="en-US" dirty="0"/>
              <a:t>主机的别名，便于用户记忆，可以有好几个别名；</a:t>
            </a:r>
            <a:endParaRPr lang="en-US" altLang="zh-CN" dirty="0"/>
          </a:p>
          <a:p>
            <a:pPr lvl="0"/>
            <a:r>
              <a:rPr lang="en-US" altLang="zh-CN" dirty="0"/>
              <a:t> hostent-&gt;h_addrtype </a:t>
            </a:r>
            <a:r>
              <a:rPr lang="zh-CN" altLang="en-US" dirty="0"/>
              <a:t>表示的是主机</a:t>
            </a:r>
            <a:r>
              <a:rPr lang="en-US" altLang="zh-CN" dirty="0"/>
              <a:t>ip</a:t>
            </a:r>
            <a:r>
              <a:rPr lang="zh-CN" altLang="en-US" dirty="0"/>
              <a:t>地址的类型，到底是</a:t>
            </a:r>
            <a:r>
              <a:rPr lang="en-US" altLang="zh-CN" dirty="0"/>
              <a:t>ipv4(AF_INET)</a:t>
            </a:r>
            <a:r>
              <a:rPr lang="zh-CN" altLang="en-US" dirty="0"/>
              <a:t>，还是</a:t>
            </a:r>
            <a:r>
              <a:rPr lang="en-US" altLang="zh-CN" dirty="0"/>
              <a:t>pv6(AF_INET6)</a:t>
            </a:r>
            <a:endParaRPr lang="en-US" altLang="zh-CN" dirty="0"/>
          </a:p>
          <a:p>
            <a:pPr lvl="0"/>
            <a:r>
              <a:rPr lang="en-US" altLang="zh-CN" dirty="0"/>
              <a:t> hostent-&gt;h_length </a:t>
            </a:r>
            <a:r>
              <a:rPr lang="zh-CN" altLang="en-US" dirty="0"/>
              <a:t>表示的是主机</a:t>
            </a:r>
            <a:r>
              <a:rPr lang="en-US" altLang="zh-CN" dirty="0"/>
              <a:t>ip</a:t>
            </a:r>
            <a:r>
              <a:rPr lang="zh-CN" altLang="en-US" dirty="0"/>
              <a:t>地址的长度</a:t>
            </a:r>
            <a:endParaRPr lang="en-US" altLang="zh-CN" dirty="0"/>
          </a:p>
          <a:p>
            <a:pPr lvl="0"/>
            <a:r>
              <a:rPr lang="en-US" altLang="zh-CN" dirty="0"/>
              <a:t> hostent-&gt;h_addr_list</a:t>
            </a:r>
            <a:r>
              <a:rPr lang="zh-CN" altLang="en-US" dirty="0"/>
              <a:t>表示的是主机的</a:t>
            </a:r>
            <a:r>
              <a:rPr lang="en-US" altLang="zh-CN" dirty="0"/>
              <a:t>ip</a:t>
            </a:r>
            <a:r>
              <a:rPr lang="zh-CN" altLang="en-US" dirty="0"/>
              <a:t>地址，注意，这个是以网络字节序存储的</a:t>
            </a:r>
            <a:endParaRPr lang="en-US" altLang="zh-CN" dirty="0"/>
          </a:p>
          <a:p>
            <a:pPr lvl="0"/>
            <a:endParaRPr lang="zh-CN" altLang="en-US" dirty="0"/>
          </a:p>
        </p:txBody>
      </p:sp>
      <p:sp>
        <p:nvSpPr>
          <p:cNvPr id="15974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793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167939" name="Rectangle 2"/>
          <p:cNvSpPr>
            <a:spLocks noRot="1" noTextEdit="1"/>
          </p:cNvSpPr>
          <p:nvPr>
            <p:ph type="sldImg"/>
          </p:nvPr>
        </p:nvSpPr>
        <p:spPr/>
      </p:sp>
      <p:sp>
        <p:nvSpPr>
          <p:cNvPr id="167940"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998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169987" name="Rectangle 2"/>
          <p:cNvSpPr>
            <a:spLocks noRot="1" noTextEdit="1"/>
          </p:cNvSpPr>
          <p:nvPr>
            <p:ph type="sldImg"/>
          </p:nvPr>
        </p:nvSpPr>
        <p:spPr/>
      </p:sp>
      <p:sp>
        <p:nvSpPr>
          <p:cNvPr id="169988"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203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172035" name="Rectangle 2"/>
          <p:cNvSpPr>
            <a:spLocks noRot="1" noTextEdit="1"/>
          </p:cNvSpPr>
          <p:nvPr>
            <p:ph type="sldImg"/>
          </p:nvPr>
        </p:nvSpPr>
        <p:spPr/>
      </p:sp>
      <p:sp>
        <p:nvSpPr>
          <p:cNvPr id="172036"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8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174083" name="Rectangle 2"/>
          <p:cNvSpPr>
            <a:spLocks noRot="1" noTextEdit="1"/>
          </p:cNvSpPr>
          <p:nvPr>
            <p:ph type="sldImg"/>
          </p:nvPr>
        </p:nvSpPr>
        <p:spPr/>
      </p:sp>
      <p:sp>
        <p:nvSpPr>
          <p:cNvPr id="174084"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613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176131" name="Rectangle 2"/>
          <p:cNvSpPr>
            <a:spLocks noRot="1" noTextEdit="1"/>
          </p:cNvSpPr>
          <p:nvPr>
            <p:ph type="sldImg"/>
          </p:nvPr>
        </p:nvSpPr>
        <p:spPr/>
      </p:sp>
      <p:sp>
        <p:nvSpPr>
          <p:cNvPr id="176132"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817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178179" name="Rectangle 2"/>
          <p:cNvSpPr>
            <a:spLocks noRot="1" noTextEdit="1"/>
          </p:cNvSpPr>
          <p:nvPr>
            <p:ph type="sldImg"/>
          </p:nvPr>
        </p:nvSpPr>
        <p:spPr/>
      </p:sp>
      <p:sp>
        <p:nvSpPr>
          <p:cNvPr id="178180"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022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180227" name="Rectangle 2"/>
          <p:cNvSpPr>
            <a:spLocks noRot="1" noTextEdit="1"/>
          </p:cNvSpPr>
          <p:nvPr>
            <p:ph type="sldImg"/>
          </p:nvPr>
        </p:nvSpPr>
        <p:spPr/>
      </p:sp>
      <p:sp>
        <p:nvSpPr>
          <p:cNvPr id="180228"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227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182275" name="Rectangle 2"/>
          <p:cNvSpPr>
            <a:spLocks noRot="1" noTextEdit="1"/>
          </p:cNvSpPr>
          <p:nvPr>
            <p:ph type="sldImg"/>
          </p:nvPr>
        </p:nvSpPr>
        <p:spPr/>
      </p:sp>
      <p:sp>
        <p:nvSpPr>
          <p:cNvPr id="182276"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2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184323" name="Rectangle 2"/>
          <p:cNvSpPr>
            <a:spLocks noRot="1" noTextEdit="1"/>
          </p:cNvSpPr>
          <p:nvPr>
            <p:ph type="sldImg"/>
          </p:nvPr>
        </p:nvSpPr>
        <p:spPr/>
      </p:sp>
      <p:sp>
        <p:nvSpPr>
          <p:cNvPr id="184324"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637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186371" name="Rectangle 2"/>
          <p:cNvSpPr>
            <a:spLocks noRot="1" noTextEdit="1"/>
          </p:cNvSpPr>
          <p:nvPr>
            <p:ph type="sldImg"/>
          </p:nvPr>
        </p:nvSpPr>
        <p:spPr/>
      </p:sp>
      <p:sp>
        <p:nvSpPr>
          <p:cNvPr id="186372"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841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188419" name="Rectangle 2"/>
          <p:cNvSpPr>
            <a:spLocks noRot="1" noTextEdit="1"/>
          </p:cNvSpPr>
          <p:nvPr>
            <p:ph type="sldImg"/>
          </p:nvPr>
        </p:nvSpPr>
        <p:spPr/>
      </p:sp>
      <p:sp>
        <p:nvSpPr>
          <p:cNvPr id="188420"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046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190467" name="Rectangle 2"/>
          <p:cNvSpPr>
            <a:spLocks noRot="1" noTextEdit="1"/>
          </p:cNvSpPr>
          <p:nvPr>
            <p:ph type="sldImg"/>
          </p:nvPr>
        </p:nvSpPr>
        <p:spPr/>
      </p:sp>
      <p:sp>
        <p:nvSpPr>
          <p:cNvPr id="190468"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251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192515" name="Rectangle 2"/>
          <p:cNvSpPr>
            <a:spLocks noRot="1" noTextEdit="1"/>
          </p:cNvSpPr>
          <p:nvPr>
            <p:ph type="sldImg"/>
          </p:nvPr>
        </p:nvSpPr>
        <p:spPr/>
      </p:sp>
      <p:sp>
        <p:nvSpPr>
          <p:cNvPr id="192516"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6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194563" name="Rectangle 2"/>
          <p:cNvSpPr>
            <a:spLocks noRot="1" noTextEdit="1"/>
          </p:cNvSpPr>
          <p:nvPr>
            <p:ph type="sldImg"/>
          </p:nvPr>
        </p:nvSpPr>
        <p:spPr/>
      </p:sp>
      <p:sp>
        <p:nvSpPr>
          <p:cNvPr id="194564"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661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196611" name="Rectangle 2"/>
          <p:cNvSpPr>
            <a:spLocks noRot="1" noTextEdit="1"/>
          </p:cNvSpPr>
          <p:nvPr>
            <p:ph type="sldImg"/>
          </p:nvPr>
        </p:nvSpPr>
        <p:spPr/>
      </p:sp>
      <p:sp>
        <p:nvSpPr>
          <p:cNvPr id="196612"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865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198659" name="Rectangle 2"/>
          <p:cNvSpPr>
            <a:spLocks noRot="1" noTextEdit="1"/>
          </p:cNvSpPr>
          <p:nvPr>
            <p:ph type="sldImg"/>
          </p:nvPr>
        </p:nvSpPr>
        <p:spPr/>
      </p:sp>
      <p:sp>
        <p:nvSpPr>
          <p:cNvPr id="198660"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070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200707" name="Rectangle 2"/>
          <p:cNvSpPr>
            <a:spLocks noRot="1" noTextEdit="1"/>
          </p:cNvSpPr>
          <p:nvPr>
            <p:ph type="sldImg"/>
          </p:nvPr>
        </p:nvSpPr>
        <p:spPr/>
      </p:sp>
      <p:sp>
        <p:nvSpPr>
          <p:cNvPr id="200708"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275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202755" name="Rectangle 2"/>
          <p:cNvSpPr>
            <a:spLocks noRot="1" noTextEdit="1"/>
          </p:cNvSpPr>
          <p:nvPr>
            <p:ph type="sldImg"/>
          </p:nvPr>
        </p:nvSpPr>
        <p:spPr/>
      </p:sp>
      <p:sp>
        <p:nvSpPr>
          <p:cNvPr id="202756"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0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204803" name="Rectangle 2"/>
          <p:cNvSpPr>
            <a:spLocks noRot="1" noTextEdit="1"/>
          </p:cNvSpPr>
          <p:nvPr>
            <p:ph type="sldImg"/>
          </p:nvPr>
        </p:nvSpPr>
        <p:spPr/>
      </p:sp>
      <p:sp>
        <p:nvSpPr>
          <p:cNvPr id="204804" name="Rectangle 3"/>
          <p:cNvSpPr>
            <a:spLocks noGrp="1"/>
          </p:cNvSpPr>
          <p:nvPr>
            <p:ph type="body"/>
          </p:nvPr>
        </p:nvSpPr>
        <p:spPr/>
        <p:txBody>
          <a:bodyPr wrap="square" lIns="91440" tIns="45720" rIns="91440" bIns="45720" anchor="t" anchorCtr="0"/>
          <a:p>
            <a:pPr marL="228600" lvl="0" indent="-228600" eaLnBrk="1" hangingPunct="1">
              <a:buFontTx/>
              <a:buAutoNum type="arabicPeriod"/>
            </a:pPr>
            <a:r>
              <a:rPr lang="en-US" altLang="zh-CN" dirty="0"/>
              <a:t>tcp</a:t>
            </a:r>
            <a:r>
              <a:rPr lang="zh-CN" altLang="en-US" dirty="0"/>
              <a:t>提供面向连接的可靠的字节流服务，包括建立连接的三次握手、数据重传、拆链时的四次挥手。相对于此呢，</a:t>
            </a:r>
            <a:r>
              <a:rPr lang="en-US" altLang="zh-CN" dirty="0"/>
              <a:t>udp</a:t>
            </a:r>
            <a:r>
              <a:rPr lang="zh-CN" altLang="en-US" dirty="0"/>
              <a:t>提供的是无连接的不可靠的数据报协议。</a:t>
            </a:r>
            <a:endParaRPr lang="en-US" altLang="zh-CN" dirty="0"/>
          </a:p>
          <a:p>
            <a:pPr marL="228600" lvl="0" indent="-228600" eaLnBrk="1" hangingPunct="1">
              <a:buFontTx/>
              <a:buAutoNum type="arabicPeriod"/>
            </a:pPr>
            <a:r>
              <a:rPr lang="zh-CN" altLang="en-US" dirty="0"/>
              <a:t>问题：常见的应用场景比如</a:t>
            </a:r>
            <a:r>
              <a:rPr lang="en-US" altLang="zh-CN" dirty="0"/>
              <a:t>VOIP</a:t>
            </a:r>
            <a:r>
              <a:rPr lang="zh-CN" altLang="en-US" dirty="0"/>
              <a:t>、网络视频等。网络视频</a:t>
            </a:r>
            <a:r>
              <a:rPr lang="en-US" altLang="zh-CN" dirty="0"/>
              <a:t>720p</a:t>
            </a:r>
            <a:r>
              <a:rPr lang="zh-CN" altLang="en-US" dirty="0"/>
              <a:t>，或者</a:t>
            </a:r>
            <a:r>
              <a:rPr lang="en-US" altLang="zh-CN" dirty="0"/>
              <a:t>1080p</a:t>
            </a:r>
            <a:r>
              <a:rPr lang="zh-CN" altLang="en-US" dirty="0"/>
              <a:t>，丢几帧在人类视觉上是可以接受的。</a:t>
            </a:r>
            <a:endParaRPr lang="zh-CN" altLang="zh-CN" dirty="0"/>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685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206851" name="Rectangle 2"/>
          <p:cNvSpPr>
            <a:spLocks noRot="1" noTextEdit="1"/>
          </p:cNvSpPr>
          <p:nvPr>
            <p:ph type="sldImg"/>
          </p:nvPr>
        </p:nvSpPr>
        <p:spPr/>
      </p:sp>
      <p:sp>
        <p:nvSpPr>
          <p:cNvPr id="206852"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889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208899" name="Rectangle 2"/>
          <p:cNvSpPr>
            <a:spLocks noRot="1" noTextEdit="1"/>
          </p:cNvSpPr>
          <p:nvPr>
            <p:ph type="sldImg"/>
          </p:nvPr>
        </p:nvSpPr>
        <p:spPr/>
      </p:sp>
      <p:sp>
        <p:nvSpPr>
          <p:cNvPr id="208900"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094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210947" name="Rectangle 2"/>
          <p:cNvSpPr>
            <a:spLocks noRot="1" noTextEdit="1"/>
          </p:cNvSpPr>
          <p:nvPr>
            <p:ph type="sldImg"/>
          </p:nvPr>
        </p:nvSpPr>
        <p:spPr/>
      </p:sp>
      <p:sp>
        <p:nvSpPr>
          <p:cNvPr id="210948"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299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212995" name="Rectangle 2"/>
          <p:cNvSpPr>
            <a:spLocks noRot="1" noTextEdit="1"/>
          </p:cNvSpPr>
          <p:nvPr>
            <p:ph type="sldImg"/>
          </p:nvPr>
        </p:nvSpPr>
        <p:spPr/>
      </p:sp>
      <p:sp>
        <p:nvSpPr>
          <p:cNvPr id="212996"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4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215043" name="Rectangle 2"/>
          <p:cNvSpPr>
            <a:spLocks noRot="1" noTextEdit="1"/>
          </p:cNvSpPr>
          <p:nvPr>
            <p:ph type="sldImg"/>
          </p:nvPr>
        </p:nvSpPr>
        <p:spPr/>
      </p:sp>
      <p:sp>
        <p:nvSpPr>
          <p:cNvPr id="215044"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7090" name="幻灯片图像占位符 1"/>
          <p:cNvSpPr>
            <a:spLocks noGrp="1" noRot="1" noChangeAspect="1" noTextEdit="1"/>
          </p:cNvSpPr>
          <p:nvPr>
            <p:ph type="sldImg"/>
          </p:nvPr>
        </p:nvSpPr>
        <p:spPr/>
      </p:sp>
      <p:sp>
        <p:nvSpPr>
          <p:cNvPr id="217091" name="备注占位符 2"/>
          <p:cNvSpPr>
            <a:spLocks noGrp="1"/>
          </p:cNvSpPr>
          <p:nvPr>
            <p:ph type="body"/>
          </p:nvPr>
        </p:nvSpPr>
        <p:spPr/>
        <p:txBody>
          <a:bodyPr wrap="square" lIns="91440" tIns="45720" rIns="91440" bIns="45720" anchor="t" anchorCtr="0"/>
          <a:p>
            <a:pPr lvl="0"/>
            <a:r>
              <a:rPr lang="zh-CN" altLang="en-US" dirty="0"/>
              <a:t>服务器需要等待客户端连接，才能获知客户端的信息</a:t>
            </a:r>
            <a:endParaRPr lang="zh-CN" altLang="en-US" dirty="0"/>
          </a:p>
        </p:txBody>
      </p:sp>
      <p:sp>
        <p:nvSpPr>
          <p:cNvPr id="21709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9138" name="幻灯片图像占位符 1"/>
          <p:cNvSpPr>
            <a:spLocks noGrp="1" noRot="1" noChangeAspect="1" noTextEdit="1"/>
          </p:cNvSpPr>
          <p:nvPr>
            <p:ph type="sldImg"/>
          </p:nvPr>
        </p:nvSpPr>
        <p:spPr/>
      </p:sp>
      <p:sp>
        <p:nvSpPr>
          <p:cNvPr id="219139" name="备注占位符 2"/>
          <p:cNvSpPr>
            <a:spLocks noGrp="1"/>
          </p:cNvSpPr>
          <p:nvPr>
            <p:ph type="body"/>
          </p:nvPr>
        </p:nvSpPr>
        <p:spPr/>
        <p:txBody>
          <a:bodyPr wrap="square" lIns="91440" tIns="45720" rIns="91440" bIns="45720" anchor="t" anchorCtr="0"/>
          <a:p>
            <a:pPr lvl="0"/>
            <a:r>
              <a:rPr lang="zh-CN" altLang="en-US" dirty="0"/>
              <a:t>服务器端通过</a:t>
            </a:r>
            <a:r>
              <a:rPr lang="en-US" altLang="zh-CN" dirty="0"/>
              <a:t>accept</a:t>
            </a:r>
            <a:r>
              <a:rPr lang="zh-CN" altLang="en-US" dirty="0"/>
              <a:t>函数返回的已连接描述符</a:t>
            </a:r>
            <a:r>
              <a:rPr lang="en-US" altLang="zh-CN" dirty="0"/>
              <a:t>connfd</a:t>
            </a:r>
            <a:r>
              <a:rPr lang="zh-CN" altLang="en-US" dirty="0"/>
              <a:t>获取了客户端的文件描述符。</a:t>
            </a:r>
            <a:endParaRPr lang="en-US" altLang="zh-CN" dirty="0"/>
          </a:p>
          <a:p>
            <a:pPr lvl="0"/>
            <a:r>
              <a:rPr lang="en-US" altLang="zh-CN" dirty="0"/>
              <a:t>to</a:t>
            </a:r>
            <a:r>
              <a:rPr lang="zh-CN" altLang="en-US" dirty="0"/>
              <a:t>是套接字地址结构，指明数据将发往的协议地址（包括</a:t>
            </a:r>
            <a:r>
              <a:rPr lang="en-US" altLang="zh-CN" dirty="0"/>
              <a:t>IP</a:t>
            </a:r>
            <a:r>
              <a:rPr lang="zh-CN" altLang="en-US" dirty="0"/>
              <a:t>地址和端口地址），其大小由</a:t>
            </a:r>
            <a:r>
              <a:rPr lang="en-US" altLang="zh-CN" dirty="0"/>
              <a:t>tolen</a:t>
            </a:r>
            <a:r>
              <a:rPr lang="zh-CN" altLang="en-US" dirty="0"/>
              <a:t>来制定</a:t>
            </a:r>
            <a:endParaRPr lang="zh-CN" altLang="en-US" dirty="0"/>
          </a:p>
        </p:txBody>
      </p:sp>
      <p:sp>
        <p:nvSpPr>
          <p:cNvPr id="21914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118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221187" name="Rectangle 2"/>
          <p:cNvSpPr>
            <a:spLocks noRot="1" noTextEdit="1"/>
          </p:cNvSpPr>
          <p:nvPr>
            <p:ph type="sldImg"/>
          </p:nvPr>
        </p:nvSpPr>
        <p:spPr/>
      </p:sp>
      <p:sp>
        <p:nvSpPr>
          <p:cNvPr id="221188" name="Rectangle 3"/>
          <p:cNvSpPr>
            <a:spLocks noGrp="1"/>
          </p:cNvSpPr>
          <p:nvPr>
            <p:ph type="body"/>
          </p:nvPr>
        </p:nvSpPr>
        <p:spPr/>
        <p:txBody>
          <a:bodyPr wrap="square" lIns="91440" tIns="45720" rIns="91440" bIns="45720" anchor="t" anchorCtr="0"/>
          <a:p>
            <a:pPr lvl="0" eaLnBrk="1" hangingPunct="1"/>
            <a:r>
              <a:rPr lang="en-US" altLang="zh-CN" dirty="0"/>
              <a:t>recvfrom</a:t>
            </a:r>
            <a:r>
              <a:rPr lang="zh-CN" altLang="en-US" dirty="0"/>
              <a:t>的最后两个参数类似与</a:t>
            </a:r>
            <a:r>
              <a:rPr lang="en-US" altLang="zh-CN" dirty="0"/>
              <a:t>accept</a:t>
            </a:r>
            <a:r>
              <a:rPr lang="zh-CN" altLang="en-US" dirty="0"/>
              <a:t>的最后两个参数</a:t>
            </a:r>
            <a:r>
              <a:rPr lang="en-US" altLang="zh-CN" dirty="0"/>
              <a:t>,</a:t>
            </a:r>
            <a:r>
              <a:rPr lang="zh-CN" altLang="en-US" dirty="0"/>
              <a:t>返回时其中套接字的地址结构的内容告诉我们是谁发送了数据报</a:t>
            </a:r>
            <a:endParaRPr lang="zh-CN" altLang="zh-CN" dirty="0"/>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323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223235" name="Rectangle 2"/>
          <p:cNvSpPr>
            <a:spLocks noRot="1" noTextEdit="1"/>
          </p:cNvSpPr>
          <p:nvPr>
            <p:ph type="sldImg"/>
          </p:nvPr>
        </p:nvSpPr>
        <p:spPr/>
      </p:sp>
      <p:sp>
        <p:nvSpPr>
          <p:cNvPr id="223236"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6306" name="幻灯片图像占位符 1"/>
          <p:cNvSpPr>
            <a:spLocks noGrp="1" noRot="1" noChangeAspect="1" noTextEdit="1"/>
          </p:cNvSpPr>
          <p:nvPr>
            <p:ph type="sldImg"/>
          </p:nvPr>
        </p:nvSpPr>
        <p:spPr/>
      </p:sp>
      <p:sp>
        <p:nvSpPr>
          <p:cNvPr id="226307" name="备注占位符 2"/>
          <p:cNvSpPr>
            <a:spLocks noGrp="1"/>
          </p:cNvSpPr>
          <p:nvPr>
            <p:ph type="body"/>
          </p:nvPr>
        </p:nvSpPr>
        <p:spPr/>
        <p:txBody>
          <a:bodyPr wrap="square" lIns="91440" tIns="45720" rIns="91440" bIns="45720" anchor="t" anchorCtr="0"/>
          <a:p>
            <a:pPr lvl="0"/>
            <a:endParaRPr lang="zh-CN" altLang="en-US" dirty="0"/>
          </a:p>
        </p:txBody>
      </p:sp>
      <p:sp>
        <p:nvSpPr>
          <p:cNvPr id="22630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937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229379" name="Rectangle 2"/>
          <p:cNvSpPr>
            <a:spLocks noRot="1" noTextEdit="1"/>
          </p:cNvSpPr>
          <p:nvPr>
            <p:ph type="sldImg"/>
          </p:nvPr>
        </p:nvSpPr>
        <p:spPr/>
      </p:sp>
      <p:sp>
        <p:nvSpPr>
          <p:cNvPr id="229380"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347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233475" name="Rectangle 2"/>
          <p:cNvSpPr>
            <a:spLocks noRot="1" noTextEdit="1"/>
          </p:cNvSpPr>
          <p:nvPr>
            <p:ph type="sldImg"/>
          </p:nvPr>
        </p:nvSpPr>
        <p:spPr/>
      </p:sp>
      <p:sp>
        <p:nvSpPr>
          <p:cNvPr id="233476"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2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235523" name="Rectangle 2"/>
          <p:cNvSpPr>
            <a:spLocks noRot="1" noTextEdit="1"/>
          </p:cNvSpPr>
          <p:nvPr>
            <p:ph type="sldImg"/>
          </p:nvPr>
        </p:nvSpPr>
        <p:spPr/>
      </p:sp>
      <p:sp>
        <p:nvSpPr>
          <p:cNvPr id="235524"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757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237571" name="Rectangle 2"/>
          <p:cNvSpPr>
            <a:spLocks noRot="1" noTextEdit="1"/>
          </p:cNvSpPr>
          <p:nvPr>
            <p:ph type="sldImg"/>
          </p:nvPr>
        </p:nvSpPr>
        <p:spPr/>
      </p:sp>
      <p:sp>
        <p:nvSpPr>
          <p:cNvPr id="237572"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961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239619" name="Rectangle 2"/>
          <p:cNvSpPr>
            <a:spLocks noRot="1" noTextEdit="1"/>
          </p:cNvSpPr>
          <p:nvPr>
            <p:ph type="sldImg"/>
          </p:nvPr>
        </p:nvSpPr>
        <p:spPr/>
      </p:sp>
      <p:sp>
        <p:nvSpPr>
          <p:cNvPr id="239620"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166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241667" name="Rectangle 2"/>
          <p:cNvSpPr>
            <a:spLocks noRot="1" noTextEdit="1"/>
          </p:cNvSpPr>
          <p:nvPr>
            <p:ph type="sldImg"/>
          </p:nvPr>
        </p:nvSpPr>
        <p:spPr/>
      </p:sp>
      <p:sp>
        <p:nvSpPr>
          <p:cNvPr id="241668"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371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243715" name="Rectangle 2"/>
          <p:cNvSpPr>
            <a:spLocks noRot="1" noTextEdit="1"/>
          </p:cNvSpPr>
          <p:nvPr>
            <p:ph type="sldImg"/>
          </p:nvPr>
        </p:nvSpPr>
        <p:spPr/>
      </p:sp>
      <p:sp>
        <p:nvSpPr>
          <p:cNvPr id="243716"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6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245763" name="Rectangle 2"/>
          <p:cNvSpPr>
            <a:spLocks noRot="1" noTextEdit="1"/>
          </p:cNvSpPr>
          <p:nvPr>
            <p:ph type="sldImg"/>
          </p:nvPr>
        </p:nvSpPr>
        <p:spPr/>
      </p:sp>
      <p:sp>
        <p:nvSpPr>
          <p:cNvPr id="245764"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781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247811" name="Rectangle 2"/>
          <p:cNvSpPr>
            <a:spLocks noRot="1" noTextEdit="1"/>
          </p:cNvSpPr>
          <p:nvPr>
            <p:ph type="sldImg"/>
          </p:nvPr>
        </p:nvSpPr>
        <p:spPr/>
      </p:sp>
      <p:sp>
        <p:nvSpPr>
          <p:cNvPr id="247812"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985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249859" name="Rectangle 2"/>
          <p:cNvSpPr>
            <a:spLocks noRot="1" noTextEdit="1"/>
          </p:cNvSpPr>
          <p:nvPr>
            <p:ph type="sldImg"/>
          </p:nvPr>
        </p:nvSpPr>
        <p:spPr/>
      </p:sp>
      <p:sp>
        <p:nvSpPr>
          <p:cNvPr id="249860"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5190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251907" name="Rectangle 2"/>
          <p:cNvSpPr>
            <a:spLocks noRot="1" noTextEdit="1"/>
          </p:cNvSpPr>
          <p:nvPr>
            <p:ph type="sldImg"/>
          </p:nvPr>
        </p:nvSpPr>
        <p:spPr/>
      </p:sp>
      <p:sp>
        <p:nvSpPr>
          <p:cNvPr id="251908"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5395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253955" name="Rectangle 2"/>
          <p:cNvSpPr>
            <a:spLocks noRot="1" noTextEdit="1"/>
          </p:cNvSpPr>
          <p:nvPr>
            <p:ph type="sldImg"/>
          </p:nvPr>
        </p:nvSpPr>
        <p:spPr/>
      </p:sp>
      <p:sp>
        <p:nvSpPr>
          <p:cNvPr id="253956"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5702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
        <p:nvSpPr>
          <p:cNvPr id="257027" name="Rectangle 2"/>
          <p:cNvSpPr>
            <a:spLocks noRot="1" noTextEdit="1"/>
          </p:cNvSpPr>
          <p:nvPr>
            <p:ph type="sldImg"/>
          </p:nvPr>
        </p:nvSpPr>
        <p:spPr/>
      </p:sp>
      <p:sp>
        <p:nvSpPr>
          <p:cNvPr id="257028"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grpSp>
        <p:nvGrpSpPr>
          <p:cNvPr id="5122" name="Group 2"/>
          <p:cNvGrpSpPr/>
          <p:nvPr/>
        </p:nvGrpSpPr>
        <p:grpSpPr>
          <a:xfrm>
            <a:off x="0" y="2438400"/>
            <a:ext cx="9009063" cy="1052513"/>
            <a:chOff x="0" y="1536"/>
            <a:chExt cx="5675" cy="663"/>
          </a:xfrm>
        </p:grpSpPr>
        <p:grpSp>
          <p:nvGrpSpPr>
            <p:cNvPr id="5128" name="Group 3"/>
            <p:cNvGrpSpPr/>
            <p:nvPr/>
          </p:nvGrpSpPr>
          <p:grpSpPr>
            <a:xfrm>
              <a:off x="183" y="1604"/>
              <a:ext cx="448" cy="299"/>
              <a:chOff x="720" y="336"/>
              <a:chExt cx="624" cy="432"/>
            </a:xfrm>
          </p:grpSpPr>
          <p:sp>
            <p:nvSpPr>
              <p:cNvPr id="10" name="Rectangle 4"/>
              <p:cNvSpPr>
                <a:spLocks noChangeArrowheads="1"/>
              </p:cNvSpPr>
              <p:nvPr/>
            </p:nvSpPr>
            <p:spPr bwMode="auto">
              <a:xfrm>
                <a:off x="720" y="336"/>
                <a:ext cx="384" cy="432"/>
              </a:xfrm>
              <a:prstGeom prst="rect">
                <a:avLst/>
              </a:prstGeom>
              <a:solidFill>
                <a:schemeClr val="folHlink"/>
              </a:solidFill>
              <a:ln>
                <a:noFill/>
              </a:ln>
              <a:effectLst/>
            </p:spPr>
            <p:txBody>
              <a:bodyPr wrap="none" anchor="ctr"/>
              <a:lstStyle>
                <a:lvl1pPr eaLnBrk="0" hangingPunct="0">
                  <a:defRPr sz="2400" b="1">
                    <a:solidFill>
                      <a:schemeClr val="tx1"/>
                    </a:solidFill>
                    <a:latin typeface="Tahoma" panose="020B0604030504040204" pitchFamily="34" charset="0"/>
                    <a:ea typeface="宋体" panose="02010600030101010101" pitchFamily="2" charset="-122"/>
                  </a:defRPr>
                </a:lvl1pPr>
                <a:lvl2pPr marL="742950" indent="-285750" eaLnBrk="0" hangingPunct="0">
                  <a:defRPr sz="2400" b="1">
                    <a:solidFill>
                      <a:schemeClr val="tx1"/>
                    </a:solidFill>
                    <a:latin typeface="Tahoma" panose="020B0604030504040204" pitchFamily="34" charset="0"/>
                    <a:ea typeface="宋体" panose="02010600030101010101" pitchFamily="2" charset="-122"/>
                  </a:defRPr>
                </a:lvl2pPr>
                <a:lvl3pPr marL="1143000" indent="-228600" eaLnBrk="0" hangingPunct="0">
                  <a:defRPr sz="2400" b="1">
                    <a:solidFill>
                      <a:schemeClr val="tx1"/>
                    </a:solidFill>
                    <a:latin typeface="Tahoma" panose="020B0604030504040204" pitchFamily="34" charset="0"/>
                    <a:ea typeface="宋体" panose="02010600030101010101" pitchFamily="2" charset="-122"/>
                  </a:defRPr>
                </a:lvl3pPr>
                <a:lvl4pPr marL="1600200" indent="-228600" eaLnBrk="0" hangingPunct="0">
                  <a:defRPr sz="2400" b="1">
                    <a:solidFill>
                      <a:schemeClr val="tx1"/>
                    </a:solidFill>
                    <a:latin typeface="Tahoma" panose="020B0604030504040204" pitchFamily="34" charset="0"/>
                    <a:ea typeface="宋体" panose="02010600030101010101" pitchFamily="2" charset="-122"/>
                  </a:defRPr>
                </a:lvl4pPr>
                <a:lvl5pPr marL="2057400" indent="-228600" eaLnBrk="0" hangingPunct="0">
                  <a:defRPr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1"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p:spPr>
            <p:txBody>
              <a:bodyPr wrap="none" anchor="ctr"/>
              <a:lstStyle>
                <a:lvl1pPr eaLnBrk="0" hangingPunct="0">
                  <a:defRPr sz="2400" b="1">
                    <a:solidFill>
                      <a:schemeClr val="tx1"/>
                    </a:solidFill>
                    <a:latin typeface="Tahoma" panose="020B0604030504040204" pitchFamily="34" charset="0"/>
                    <a:ea typeface="宋体" panose="02010600030101010101" pitchFamily="2" charset="-122"/>
                  </a:defRPr>
                </a:lvl1pPr>
                <a:lvl2pPr marL="742950" indent="-285750" eaLnBrk="0" hangingPunct="0">
                  <a:defRPr sz="2400" b="1">
                    <a:solidFill>
                      <a:schemeClr val="tx1"/>
                    </a:solidFill>
                    <a:latin typeface="Tahoma" panose="020B0604030504040204" pitchFamily="34" charset="0"/>
                    <a:ea typeface="宋体" panose="02010600030101010101" pitchFamily="2" charset="-122"/>
                  </a:defRPr>
                </a:lvl2pPr>
                <a:lvl3pPr marL="1143000" indent="-228600" eaLnBrk="0" hangingPunct="0">
                  <a:defRPr sz="2400" b="1">
                    <a:solidFill>
                      <a:schemeClr val="tx1"/>
                    </a:solidFill>
                    <a:latin typeface="Tahoma" panose="020B0604030504040204" pitchFamily="34" charset="0"/>
                    <a:ea typeface="宋体" panose="02010600030101010101" pitchFamily="2" charset="-122"/>
                  </a:defRPr>
                </a:lvl3pPr>
                <a:lvl4pPr marL="1600200" indent="-228600" eaLnBrk="0" hangingPunct="0">
                  <a:defRPr sz="2400" b="1">
                    <a:solidFill>
                      <a:schemeClr val="tx1"/>
                    </a:solidFill>
                    <a:latin typeface="Tahoma" panose="020B0604030504040204" pitchFamily="34" charset="0"/>
                    <a:ea typeface="宋体" panose="02010600030101010101" pitchFamily="2" charset="-122"/>
                  </a:defRPr>
                </a:lvl4pPr>
                <a:lvl5pPr marL="2057400" indent="-228600" eaLnBrk="0" hangingPunct="0">
                  <a:defRPr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grpSp>
        <p:grpSp>
          <p:nvGrpSpPr>
            <p:cNvPr id="5129" name="Group 6"/>
            <p:cNvGrpSpPr/>
            <p:nvPr/>
          </p:nvGrpSpPr>
          <p:grpSpPr>
            <a:xfrm>
              <a:off x="261" y="1870"/>
              <a:ext cx="465" cy="299"/>
              <a:chOff x="912" y="2640"/>
              <a:chExt cx="672" cy="432"/>
            </a:xfrm>
          </p:grpSpPr>
          <p:sp>
            <p:nvSpPr>
              <p:cNvPr id="8" name="Rectangle 7"/>
              <p:cNvSpPr>
                <a:spLocks noChangeArrowheads="1"/>
              </p:cNvSpPr>
              <p:nvPr/>
            </p:nvSpPr>
            <p:spPr bwMode="auto">
              <a:xfrm>
                <a:off x="912" y="2640"/>
                <a:ext cx="384" cy="432"/>
              </a:xfrm>
              <a:prstGeom prst="rect">
                <a:avLst/>
              </a:prstGeom>
              <a:solidFill>
                <a:schemeClr val="accent2"/>
              </a:solidFill>
              <a:ln>
                <a:noFill/>
              </a:ln>
              <a:effectLst/>
            </p:spPr>
            <p:txBody>
              <a:bodyPr wrap="none" anchor="ctr"/>
              <a:lstStyle>
                <a:lvl1pPr eaLnBrk="0" hangingPunct="0">
                  <a:defRPr sz="2400" b="1">
                    <a:solidFill>
                      <a:schemeClr val="tx1"/>
                    </a:solidFill>
                    <a:latin typeface="Tahoma" panose="020B0604030504040204" pitchFamily="34" charset="0"/>
                    <a:ea typeface="宋体" panose="02010600030101010101" pitchFamily="2" charset="-122"/>
                  </a:defRPr>
                </a:lvl1pPr>
                <a:lvl2pPr marL="742950" indent="-285750" eaLnBrk="0" hangingPunct="0">
                  <a:defRPr sz="2400" b="1">
                    <a:solidFill>
                      <a:schemeClr val="tx1"/>
                    </a:solidFill>
                    <a:latin typeface="Tahoma" panose="020B0604030504040204" pitchFamily="34" charset="0"/>
                    <a:ea typeface="宋体" panose="02010600030101010101" pitchFamily="2" charset="-122"/>
                  </a:defRPr>
                </a:lvl2pPr>
                <a:lvl3pPr marL="1143000" indent="-228600" eaLnBrk="0" hangingPunct="0">
                  <a:defRPr sz="2400" b="1">
                    <a:solidFill>
                      <a:schemeClr val="tx1"/>
                    </a:solidFill>
                    <a:latin typeface="Tahoma" panose="020B0604030504040204" pitchFamily="34" charset="0"/>
                    <a:ea typeface="宋体" panose="02010600030101010101" pitchFamily="2" charset="-122"/>
                  </a:defRPr>
                </a:lvl3pPr>
                <a:lvl4pPr marL="1600200" indent="-228600" eaLnBrk="0" hangingPunct="0">
                  <a:defRPr sz="2400" b="1">
                    <a:solidFill>
                      <a:schemeClr val="tx1"/>
                    </a:solidFill>
                    <a:latin typeface="Tahoma" panose="020B0604030504040204" pitchFamily="34" charset="0"/>
                    <a:ea typeface="宋体" panose="02010600030101010101" pitchFamily="2" charset="-122"/>
                  </a:defRPr>
                </a:lvl4pPr>
                <a:lvl5pPr marL="2057400" indent="-228600" eaLnBrk="0" hangingPunct="0">
                  <a:defRPr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9" name="Rectangle 8"/>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ffectLst/>
            </p:spPr>
            <p:txBody>
              <a:bodyPr wrap="none" anchor="ctr"/>
              <a:lstStyle>
                <a:lvl1pPr eaLnBrk="0" hangingPunct="0">
                  <a:defRPr sz="2400" b="1">
                    <a:solidFill>
                      <a:schemeClr val="tx1"/>
                    </a:solidFill>
                    <a:latin typeface="Tahoma" panose="020B0604030504040204" pitchFamily="34" charset="0"/>
                    <a:ea typeface="宋体" panose="02010600030101010101" pitchFamily="2" charset="-122"/>
                  </a:defRPr>
                </a:lvl1pPr>
                <a:lvl2pPr marL="742950" indent="-285750" eaLnBrk="0" hangingPunct="0">
                  <a:defRPr sz="2400" b="1">
                    <a:solidFill>
                      <a:schemeClr val="tx1"/>
                    </a:solidFill>
                    <a:latin typeface="Tahoma" panose="020B0604030504040204" pitchFamily="34" charset="0"/>
                    <a:ea typeface="宋体" panose="02010600030101010101" pitchFamily="2" charset="-122"/>
                  </a:defRPr>
                </a:lvl2pPr>
                <a:lvl3pPr marL="1143000" indent="-228600" eaLnBrk="0" hangingPunct="0">
                  <a:defRPr sz="2400" b="1">
                    <a:solidFill>
                      <a:schemeClr val="tx1"/>
                    </a:solidFill>
                    <a:latin typeface="Tahoma" panose="020B0604030504040204" pitchFamily="34" charset="0"/>
                    <a:ea typeface="宋体" panose="02010600030101010101" pitchFamily="2" charset="-122"/>
                  </a:defRPr>
                </a:lvl3pPr>
                <a:lvl4pPr marL="1600200" indent="-228600" eaLnBrk="0" hangingPunct="0">
                  <a:defRPr sz="2400" b="1">
                    <a:solidFill>
                      <a:schemeClr val="tx1"/>
                    </a:solidFill>
                    <a:latin typeface="Tahoma" panose="020B0604030504040204" pitchFamily="34" charset="0"/>
                    <a:ea typeface="宋体" panose="02010600030101010101" pitchFamily="2" charset="-122"/>
                  </a:defRPr>
                </a:lvl4pPr>
                <a:lvl5pPr marL="2057400" indent="-228600" eaLnBrk="0" hangingPunct="0">
                  <a:defRPr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grpSp>
        <p:sp>
          <p:nvSpPr>
            <p:cNvPr id="5"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p:spPr>
          <p:txBody>
            <a:bodyPr wrap="none" anchor="ctr"/>
            <a:lstStyle>
              <a:lvl1pPr eaLnBrk="0" hangingPunct="0">
                <a:defRPr sz="2400" b="1">
                  <a:solidFill>
                    <a:schemeClr val="tx1"/>
                  </a:solidFill>
                  <a:latin typeface="Tahoma" panose="020B0604030504040204" pitchFamily="34" charset="0"/>
                  <a:ea typeface="宋体" panose="02010600030101010101" pitchFamily="2" charset="-122"/>
                </a:defRPr>
              </a:lvl1pPr>
              <a:lvl2pPr marL="742950" indent="-285750" eaLnBrk="0" hangingPunct="0">
                <a:defRPr sz="2400" b="1">
                  <a:solidFill>
                    <a:schemeClr val="tx1"/>
                  </a:solidFill>
                  <a:latin typeface="Tahoma" panose="020B0604030504040204" pitchFamily="34" charset="0"/>
                  <a:ea typeface="宋体" panose="02010600030101010101" pitchFamily="2" charset="-122"/>
                </a:defRPr>
              </a:lvl2pPr>
              <a:lvl3pPr marL="1143000" indent="-228600" eaLnBrk="0" hangingPunct="0">
                <a:defRPr sz="2400" b="1">
                  <a:solidFill>
                    <a:schemeClr val="tx1"/>
                  </a:solidFill>
                  <a:latin typeface="Tahoma" panose="020B0604030504040204" pitchFamily="34" charset="0"/>
                  <a:ea typeface="宋体" panose="02010600030101010101" pitchFamily="2" charset="-122"/>
                </a:defRPr>
              </a:lvl3pPr>
              <a:lvl4pPr marL="1600200" indent="-228600" eaLnBrk="0" hangingPunct="0">
                <a:defRPr sz="2400" b="1">
                  <a:solidFill>
                    <a:schemeClr val="tx1"/>
                  </a:solidFill>
                  <a:latin typeface="Tahoma" panose="020B0604030504040204" pitchFamily="34" charset="0"/>
                  <a:ea typeface="宋体" panose="02010600030101010101" pitchFamily="2" charset="-122"/>
                </a:defRPr>
              </a:lvl4pPr>
              <a:lvl5pPr marL="2057400" indent="-228600" eaLnBrk="0" hangingPunct="0">
                <a:defRPr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Rectangle 10"/>
            <p:cNvSpPr>
              <a:spLocks noChangeArrowheads="1"/>
            </p:cNvSpPr>
            <p:nvPr/>
          </p:nvSpPr>
          <p:spPr bwMode="auto">
            <a:xfrm>
              <a:off x="400" y="1536"/>
              <a:ext cx="20" cy="663"/>
            </a:xfrm>
            <a:prstGeom prst="rect">
              <a:avLst/>
            </a:prstGeom>
            <a:solidFill>
              <a:schemeClr val="bg2"/>
            </a:solidFill>
            <a:ln>
              <a:noFill/>
            </a:ln>
            <a:effectLst/>
          </p:spPr>
          <p:txBody>
            <a:bodyPr wrap="none" anchor="ctr"/>
            <a:lstStyle>
              <a:lvl1pPr eaLnBrk="0" hangingPunct="0">
                <a:defRPr sz="2400" b="1">
                  <a:solidFill>
                    <a:schemeClr val="tx1"/>
                  </a:solidFill>
                  <a:latin typeface="Tahoma" panose="020B0604030504040204" pitchFamily="34" charset="0"/>
                  <a:ea typeface="宋体" panose="02010600030101010101" pitchFamily="2" charset="-122"/>
                </a:defRPr>
              </a:lvl1pPr>
              <a:lvl2pPr marL="742950" indent="-285750" eaLnBrk="0" hangingPunct="0">
                <a:defRPr sz="2400" b="1">
                  <a:solidFill>
                    <a:schemeClr val="tx1"/>
                  </a:solidFill>
                  <a:latin typeface="Tahoma" panose="020B0604030504040204" pitchFamily="34" charset="0"/>
                  <a:ea typeface="宋体" panose="02010600030101010101" pitchFamily="2" charset="-122"/>
                </a:defRPr>
              </a:lvl2pPr>
              <a:lvl3pPr marL="1143000" indent="-228600" eaLnBrk="0" hangingPunct="0">
                <a:defRPr sz="2400" b="1">
                  <a:solidFill>
                    <a:schemeClr val="tx1"/>
                  </a:solidFill>
                  <a:latin typeface="Tahoma" panose="020B0604030504040204" pitchFamily="34" charset="0"/>
                  <a:ea typeface="宋体" panose="02010600030101010101" pitchFamily="2" charset="-122"/>
                </a:defRPr>
              </a:lvl3pPr>
              <a:lvl4pPr marL="1600200" indent="-228600" eaLnBrk="0" hangingPunct="0">
                <a:defRPr sz="2400" b="1">
                  <a:solidFill>
                    <a:schemeClr val="tx1"/>
                  </a:solidFill>
                  <a:latin typeface="Tahoma" panose="020B0604030504040204" pitchFamily="34" charset="0"/>
                  <a:ea typeface="宋体" panose="02010600030101010101" pitchFamily="2" charset="-122"/>
                </a:defRPr>
              </a:lvl4pPr>
              <a:lvl5pPr marL="2057400" indent="-228600" eaLnBrk="0" hangingPunct="0">
                <a:defRPr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7"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p:spPr>
          <p:txBody>
            <a:bodyPr wrap="none" anchor="ctr"/>
            <a:lstStyle>
              <a:lvl1pPr eaLnBrk="0" hangingPunct="0">
                <a:defRPr sz="2400" b="1">
                  <a:solidFill>
                    <a:schemeClr val="tx1"/>
                  </a:solidFill>
                  <a:latin typeface="Tahoma" panose="020B0604030504040204" pitchFamily="34" charset="0"/>
                  <a:ea typeface="宋体" panose="02010600030101010101" pitchFamily="2" charset="-122"/>
                </a:defRPr>
              </a:lvl1pPr>
              <a:lvl2pPr marL="742950" indent="-285750" eaLnBrk="0" hangingPunct="0">
                <a:defRPr sz="2400" b="1">
                  <a:solidFill>
                    <a:schemeClr val="tx1"/>
                  </a:solidFill>
                  <a:latin typeface="Tahoma" panose="020B0604030504040204" pitchFamily="34" charset="0"/>
                  <a:ea typeface="宋体" panose="02010600030101010101" pitchFamily="2" charset="-122"/>
                </a:defRPr>
              </a:lvl2pPr>
              <a:lvl3pPr marL="1143000" indent="-228600" eaLnBrk="0" hangingPunct="0">
                <a:defRPr sz="2400" b="1">
                  <a:solidFill>
                    <a:schemeClr val="tx1"/>
                  </a:solidFill>
                  <a:latin typeface="Tahoma" panose="020B0604030504040204" pitchFamily="34" charset="0"/>
                  <a:ea typeface="宋体" panose="02010600030101010101" pitchFamily="2" charset="-122"/>
                </a:defRPr>
              </a:lvl3pPr>
              <a:lvl4pPr marL="1600200" indent="-228600" eaLnBrk="0" hangingPunct="0">
                <a:defRPr sz="2400" b="1">
                  <a:solidFill>
                    <a:schemeClr val="tx1"/>
                  </a:solidFill>
                  <a:latin typeface="Tahoma" panose="020B0604030504040204" pitchFamily="34" charset="0"/>
                  <a:ea typeface="宋体" panose="02010600030101010101" pitchFamily="2" charset="-122"/>
                </a:defRPr>
              </a:lvl4pPr>
              <a:lvl5pPr marL="2057400" indent="-228600" eaLnBrk="0" hangingPunct="0">
                <a:defRPr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grpSp>
      <p:sp>
        <p:nvSpPr>
          <p:cNvPr id="147468" name="Rectangle 12"/>
          <p:cNvSpPr>
            <a:spLocks noGrp="1" noChangeArrowheads="1"/>
          </p:cNvSpPr>
          <p:nvPr>
            <p:ph type="ctrTitle"/>
          </p:nvPr>
        </p:nvSpPr>
        <p:spPr>
          <a:xfrm>
            <a:off x="990600" y="1676400"/>
            <a:ext cx="7772400" cy="1462088"/>
          </a:xfrm>
        </p:spPr>
        <p:txBody>
          <a:bodyPr/>
          <a:lstStyle>
            <a:lvl1pPr>
              <a:defRPr/>
            </a:lvl1pPr>
          </a:lstStyle>
          <a:p>
            <a:pPr lvl="0"/>
            <a:r>
              <a:rPr lang="zh-CN" altLang="en-US" noProof="0"/>
              <a:t>单击此处编辑母版标题样式</a:t>
            </a:r>
            <a:endParaRPr lang="zh-CN" altLang="en-US" noProof="0"/>
          </a:p>
        </p:txBody>
      </p:sp>
      <p:sp>
        <p:nvSpPr>
          <p:cNvPr id="147469"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pPr lvl="0"/>
            <a:r>
              <a:rPr lang="zh-CN" altLang="en-US" noProof="0"/>
              <a:t>单击此处编辑母版副标题样式</a:t>
            </a:r>
            <a:endParaRPr lang="zh-CN" altLang="en-US" noProof="0"/>
          </a:p>
        </p:txBody>
      </p:sp>
      <p:sp>
        <p:nvSpPr>
          <p:cNvPr id="12" name="Rectangle 14"/>
          <p:cNvSpPr>
            <a:spLocks noGrp="1" noChangeArrowheads="1"/>
          </p:cNvSpPr>
          <p:nvPr>
            <p:ph type="dt" sz="half" idx="2"/>
          </p:nvPr>
        </p:nvSpPr>
        <p:spPr bwMode="auto">
          <a:xfrm>
            <a:off x="990600" y="6248400"/>
            <a:ext cx="1905000" cy="457200"/>
          </a:xfrm>
          <a:prstGeom prst="rect">
            <a:avLst/>
          </a:prstGeom>
        </p:spPr>
        <p:txBody>
          <a:bodyPr vert="horz" wrap="square" lIns="91440" tIns="45720" rIns="91440" bIns="45720" numCol="1" anchor="b" anchorCtr="0" compatLnSpc="1"/>
          <a:lstStyle>
            <a:lvl1pPr>
              <a:defRPr>
                <a:solidFill>
                  <a:schemeClr val="bg2"/>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endParaRPr>
          </a:p>
        </p:txBody>
      </p:sp>
      <p:sp>
        <p:nvSpPr>
          <p:cNvPr id="13" name="Rectangle 15"/>
          <p:cNvSpPr>
            <a:spLocks noGrp="1" noChangeArrowheads="1"/>
          </p:cNvSpPr>
          <p:nvPr>
            <p:ph type="ftr" sz="quarter" idx="3"/>
          </p:nvPr>
        </p:nvSpPr>
        <p:spPr bwMode="auto">
          <a:xfrm>
            <a:off x="3429000" y="6248400"/>
            <a:ext cx="2895600" cy="457200"/>
          </a:xfrm>
          <a:prstGeom prst="rect">
            <a:avLst/>
          </a:prstGeom>
        </p:spPr>
        <p:txBody>
          <a:bodyPr vert="horz" wrap="square" lIns="91440" tIns="45720" rIns="91440" bIns="45720" numCol="1" anchor="b" anchorCtr="0" compatLnSpc="1"/>
          <a:lstStyle>
            <a:lvl1pPr>
              <a:defRPr>
                <a:solidFill>
                  <a:schemeClr val="bg2"/>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endParaRPr>
          </a:p>
        </p:txBody>
      </p:sp>
      <p:sp>
        <p:nvSpPr>
          <p:cNvPr id="14" name="Rectangle 16"/>
          <p:cNvSpPr>
            <a:spLocks noGrp="1" noChangeArrowheads="1"/>
          </p:cNvSpPr>
          <p:nvPr>
            <p:ph type="sldNum" sz="quarter" idx="4"/>
          </p:nvPr>
        </p:nvSpPr>
        <p:spPr bwMode="auto">
          <a:xfrm>
            <a:off x="6858000" y="6248400"/>
            <a:ext cx="1905000" cy="457200"/>
          </a:xfrm>
          <a:prstGeom prst="rect">
            <a:avLst/>
          </a:prstGeom>
        </p:spPr>
        <p:txBody>
          <a:bodyPr vert="horz" wrap="square" lIns="91440" tIns="45720" rIns="91440" bIns="45720" numCol="1" anchor="b" anchorCtr="0" compatLnSpc="1"/>
          <a:p>
            <a:pPr algn="r" eaLnBrk="1" hangingPunct="1"/>
            <a:fld id="{9A0DB2DC-4C9A-4742-B13C-FB6460FD3503}" type="slidenum">
              <a:rPr lang="en-US" altLang="zh-CN" dirty="0">
                <a:solidFill>
                  <a:schemeClr val="bg2"/>
                </a:solidFill>
              </a:rPr>
            </a:fld>
            <a:endParaRPr lang="en-US" altLang="zh-CN" dirty="0">
              <a:solidFill>
                <a:schemeClr val="bg2"/>
              </a:solidFill>
            </a:endParaRPr>
          </a:p>
        </p:txBody>
      </p:sp>
    </p:spTree>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fld id="{9A0DB2DC-4C9A-4742-B13C-FB6460FD3503}" type="slidenum">
              <a:rPr lang="en-US" altLang="zh-CN" dirty="0">
                <a:latin typeface="Tahoma" panose="020B0604030504040204" pitchFamily="34" charset="0"/>
              </a:rPr>
            </a:fld>
            <a:endParaRPr lang="en-US" altLang="zh-CN" dirty="0">
              <a:latin typeface="Tahoma" panose="020B0604030504040204" pitchFamily="34" charset="0"/>
            </a:endParaRPr>
          </a:p>
        </p:txBody>
      </p:sp>
    </p:spTree>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fld id="{9A0DB2DC-4C9A-4742-B13C-FB6460FD3503}" type="slidenum">
              <a:rPr lang="en-US" altLang="zh-CN" dirty="0">
                <a:latin typeface="Tahoma" panose="020B0604030504040204" pitchFamily="34" charset="0"/>
              </a:rPr>
            </a:fld>
            <a:endParaRPr lang="en-US" altLang="zh-CN" dirty="0">
              <a:latin typeface="Tahoma" panose="020B0604030504040204" pitchFamily="34" charset="0"/>
            </a:endParaRPr>
          </a:p>
        </p:txBody>
      </p:sp>
    </p:spTree>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971550" y="1628775"/>
            <a:ext cx="3810000" cy="46799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933950" y="1628775"/>
            <a:ext cx="3810000" cy="46799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fld id="{9A0DB2DC-4C9A-4742-B13C-FB6460FD3503}" type="slidenum">
              <a:rPr lang="en-US" altLang="zh-CN" dirty="0">
                <a:latin typeface="Tahoma" panose="020B0604030504040204" pitchFamily="34" charset="0"/>
              </a:rPr>
            </a:fld>
            <a:endParaRPr lang="en-US" altLang="zh-CN" dirty="0">
              <a:latin typeface="Tahoma" panose="020B0604030504040204" pitchFamily="34" charset="0"/>
            </a:endParaRPr>
          </a:p>
        </p:txBody>
      </p:sp>
    </p:spTree>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lvl="0" eaLnBrk="1" hangingPunct="1"/>
            <a:fld id="{9A0DB2DC-4C9A-4742-B13C-FB6460FD3503}" type="slidenum">
              <a:rPr lang="en-US" altLang="zh-CN" dirty="0">
                <a:latin typeface="Tahoma" panose="020B0604030504040204" pitchFamily="34" charset="0"/>
              </a:rPr>
            </a:fld>
            <a:endParaRPr lang="en-US" altLang="zh-CN" dirty="0">
              <a:latin typeface="Tahoma" panose="020B0604030504040204" pitchFamily="34" charset="0"/>
            </a:endParaRPr>
          </a:p>
        </p:txBody>
      </p:sp>
    </p:spTree>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1" hangingPunct="1"/>
            <a:fld id="{9A0DB2DC-4C9A-4742-B13C-FB6460FD3503}" type="slidenum">
              <a:rPr lang="en-US" altLang="zh-CN" dirty="0">
                <a:latin typeface="Tahoma" panose="020B0604030504040204" pitchFamily="34" charset="0"/>
              </a:rPr>
            </a:fld>
            <a:endParaRPr lang="en-US" altLang="zh-CN" dirty="0">
              <a:latin typeface="Tahoma" panose="020B0604030504040204" pitchFamily="34" charset="0"/>
            </a:endParaRPr>
          </a:p>
        </p:txBody>
      </p:sp>
    </p:spTree>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1" hangingPunct="1"/>
            <a:fld id="{9A0DB2DC-4C9A-4742-B13C-FB6460FD3503}" type="slidenum">
              <a:rPr lang="en-US" altLang="zh-CN" dirty="0">
                <a:latin typeface="Tahoma" panose="020B0604030504040204" pitchFamily="34" charset="0"/>
              </a:rPr>
            </a:fld>
            <a:endParaRPr lang="en-US" altLang="zh-CN" dirty="0">
              <a:latin typeface="Tahoma" panose="020B0604030504040204" pitchFamily="34" charset="0"/>
            </a:endParaRPr>
          </a:p>
        </p:txBody>
      </p:sp>
    </p:spTree>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fld id="{9A0DB2DC-4C9A-4742-B13C-FB6460FD3503}" type="slidenum">
              <a:rPr lang="en-US" altLang="zh-CN" dirty="0">
                <a:latin typeface="Tahoma" panose="020B0604030504040204" pitchFamily="34" charset="0"/>
              </a:rPr>
            </a:fld>
            <a:endParaRPr lang="en-US" altLang="zh-CN" dirty="0">
              <a:latin typeface="Tahoma" panose="020B0604030504040204" pitchFamily="34" charset="0"/>
            </a:endParaRPr>
          </a:p>
        </p:txBody>
      </p:sp>
    </p:spTree>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fld id="{9A0DB2DC-4C9A-4742-B13C-FB6460FD3503}" type="slidenum">
              <a:rPr lang="en-US" altLang="zh-CN" dirty="0">
                <a:latin typeface="Tahoma" panose="020B0604030504040204" pitchFamily="34" charset="0"/>
              </a:rPr>
            </a:fld>
            <a:endParaRPr lang="en-US" altLang="zh-CN" dirty="0">
              <a:latin typeface="Tahoma" panose="020B0604030504040204" pitchFamily="34" charset="0"/>
            </a:endParaRPr>
          </a:p>
        </p:txBody>
      </p:sp>
    </p:spTree>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fld id="{9A0DB2DC-4C9A-4742-B13C-FB6460FD3503}" type="slidenum">
              <a:rPr lang="en-US" altLang="zh-CN" dirty="0">
                <a:latin typeface="Tahoma" panose="020B0604030504040204" pitchFamily="34" charset="0"/>
              </a:rPr>
            </a:fld>
            <a:endParaRPr lang="en-US" altLang="zh-CN" dirty="0">
              <a:latin typeface="Tahoma" panose="020B0604030504040204" pitchFamily="34" charset="0"/>
            </a:endParaRPr>
          </a:p>
        </p:txBody>
      </p:sp>
    </p:spTree>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51663" y="214313"/>
            <a:ext cx="1992312" cy="6094412"/>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971550" y="214313"/>
            <a:ext cx="5827713" cy="6094412"/>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fld id="{9A0DB2DC-4C9A-4742-B13C-FB6460FD3503}" type="slidenum">
              <a:rPr lang="en-US" altLang="zh-CN" dirty="0">
                <a:latin typeface="Tahoma" panose="020B0604030504040204" pitchFamily="34" charset="0"/>
              </a:rPr>
            </a:fld>
            <a:endParaRPr lang="en-US" altLang="zh-CN" dirty="0">
              <a:latin typeface="Tahoma" panose="020B0604030504040204" pitchFamily="34" charset="0"/>
            </a:endParaRPr>
          </a:p>
        </p:txBody>
      </p:sp>
    </p:spTree>
  </p:cSld>
  <p:clrMapOvr>
    <a:masterClrMapping/>
  </p:clrMapOvr>
  <p:transition>
    <p:rand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2" name="标题 1"/>
          <p:cNvSpPr>
            <a:spLocks noGrp="1"/>
          </p:cNvSpPr>
          <p:nvPr>
            <p:ph type="title"/>
          </p:nvPr>
        </p:nvSpPr>
        <p:spPr>
          <a:xfrm>
            <a:off x="1150938" y="214313"/>
            <a:ext cx="7793037" cy="911225"/>
          </a:xfrm>
        </p:spPr>
        <p:txBody>
          <a:bodyPr/>
          <a:lstStyle/>
          <a:p>
            <a:r>
              <a:rPr lang="zh-CN" altLang="en-US" noProof="1"/>
              <a:t>单击此处编辑母版标题样式</a:t>
            </a:r>
            <a:endParaRPr lang="zh-CN" altLang="en-US" noProof="1"/>
          </a:p>
        </p:txBody>
      </p:sp>
      <p:sp>
        <p:nvSpPr>
          <p:cNvPr id="3" name="文本占位符 2"/>
          <p:cNvSpPr>
            <a:spLocks noGrp="1"/>
          </p:cNvSpPr>
          <p:nvPr>
            <p:ph type="body" sz="half" idx="1"/>
          </p:nvPr>
        </p:nvSpPr>
        <p:spPr>
          <a:xfrm>
            <a:off x="971550" y="1628775"/>
            <a:ext cx="3810000" cy="467995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剪贴画占位符 3"/>
          <p:cNvSpPr>
            <a:spLocks noGrp="1"/>
          </p:cNvSpPr>
          <p:nvPr>
            <p:ph type="clipArt" sz="half" idx="2"/>
          </p:nvPr>
        </p:nvSpPr>
        <p:spPr>
          <a:xfrm>
            <a:off x="4933950" y="1628775"/>
            <a:ext cx="3810000" cy="467995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fld id="{9A0DB2DC-4C9A-4742-B13C-FB6460FD3503}" type="slidenum">
              <a:rPr lang="en-US" altLang="zh-CN" dirty="0">
                <a:latin typeface="Tahoma" panose="020B0604030504040204" pitchFamily="34" charset="0"/>
              </a:rPr>
            </a:fld>
            <a:endParaRPr lang="en-US" altLang="zh-CN" dirty="0">
              <a:latin typeface="Tahoma" panose="020B0604030504040204" pitchFamily="34" charset="0"/>
            </a:endParaRPr>
          </a:p>
        </p:txBody>
      </p:sp>
    </p:spTree>
  </p:cSld>
  <p:clrMapOvr>
    <a:masterClrMapping/>
  </p:clrMapOvr>
  <p:transition>
    <p:rand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grpSp>
        <p:nvGrpSpPr>
          <p:cNvPr id="6146" name="Group 2"/>
          <p:cNvGrpSpPr/>
          <p:nvPr/>
        </p:nvGrpSpPr>
        <p:grpSpPr>
          <a:xfrm>
            <a:off x="0" y="2438400"/>
            <a:ext cx="9009063" cy="1052513"/>
            <a:chOff x="0" y="1536"/>
            <a:chExt cx="5675" cy="663"/>
          </a:xfrm>
        </p:grpSpPr>
        <p:grpSp>
          <p:nvGrpSpPr>
            <p:cNvPr id="6152" name="Group 3"/>
            <p:cNvGrpSpPr/>
            <p:nvPr/>
          </p:nvGrpSpPr>
          <p:grpSpPr>
            <a:xfrm>
              <a:off x="185" y="1604"/>
              <a:ext cx="449" cy="299"/>
              <a:chOff x="720" y="336"/>
              <a:chExt cx="624" cy="432"/>
            </a:xfrm>
          </p:grpSpPr>
          <p:sp>
            <p:nvSpPr>
              <p:cNvPr id="10" name="Rectangle 4"/>
              <p:cNvSpPr>
                <a:spLocks noChangeArrowheads="1"/>
              </p:cNvSpPr>
              <p:nvPr/>
            </p:nvSpPr>
            <p:spPr bwMode="auto">
              <a:xfrm>
                <a:off x="720" y="336"/>
                <a:ext cx="384" cy="432"/>
              </a:xfrm>
              <a:prstGeom prst="rect">
                <a:avLst/>
              </a:prstGeom>
              <a:solidFill>
                <a:schemeClr val="folHlink"/>
              </a:solidFill>
              <a:ln>
                <a:noFill/>
              </a:ln>
            </p:spPr>
            <p:txBody>
              <a:bodyPr wrap="none"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1"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grpSp>
        <p:grpSp>
          <p:nvGrpSpPr>
            <p:cNvPr id="6153" name="Group 6"/>
            <p:cNvGrpSpPr/>
            <p:nvPr/>
          </p:nvGrpSpPr>
          <p:grpSpPr>
            <a:xfrm>
              <a:off x="263" y="1870"/>
              <a:ext cx="466" cy="299"/>
              <a:chOff x="912" y="2640"/>
              <a:chExt cx="672" cy="432"/>
            </a:xfrm>
          </p:grpSpPr>
          <p:sp>
            <p:nvSpPr>
              <p:cNvPr id="8" name="Rectangle 7"/>
              <p:cNvSpPr>
                <a:spLocks noChangeArrowheads="1"/>
              </p:cNvSpPr>
              <p:nvPr/>
            </p:nvSpPr>
            <p:spPr bwMode="auto">
              <a:xfrm>
                <a:off x="912" y="2640"/>
                <a:ext cx="384" cy="432"/>
              </a:xfrm>
              <a:prstGeom prst="rect">
                <a:avLst/>
              </a:prstGeom>
              <a:solidFill>
                <a:schemeClr val="accent2"/>
              </a:solidFill>
              <a:ln>
                <a:noFill/>
              </a:ln>
            </p:spPr>
            <p:txBody>
              <a:bodyPr wrap="none"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9"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grpSp>
        <p:sp>
          <p:nvSpPr>
            <p:cNvPr id="5"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 name="Rectangle 10"/>
            <p:cNvSpPr>
              <a:spLocks noChangeArrowheads="1"/>
            </p:cNvSpPr>
            <p:nvPr/>
          </p:nvSpPr>
          <p:spPr bwMode="auto">
            <a:xfrm>
              <a:off x="400" y="1536"/>
              <a:ext cx="20" cy="663"/>
            </a:xfrm>
            <a:prstGeom prst="rect">
              <a:avLst/>
            </a:prstGeom>
            <a:solidFill>
              <a:schemeClr val="bg2"/>
            </a:solidFill>
            <a:ln>
              <a:noFill/>
            </a:ln>
          </p:spPr>
          <p:txBody>
            <a:bodyPr wrap="none"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7"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grpSp>
      <p:sp>
        <p:nvSpPr>
          <p:cNvPr id="38924" name="Rectangle 12"/>
          <p:cNvSpPr>
            <a:spLocks noGrp="1" noChangeArrowheads="1"/>
          </p:cNvSpPr>
          <p:nvPr>
            <p:ph type="ctrTitle"/>
          </p:nvPr>
        </p:nvSpPr>
        <p:spPr>
          <a:xfrm>
            <a:off x="990600" y="1676400"/>
            <a:ext cx="7772400" cy="1462088"/>
          </a:xfrm>
        </p:spPr>
        <p:txBody>
          <a:bodyPr/>
          <a:lstStyle>
            <a:lvl1pPr>
              <a:defRPr/>
            </a:lvl1pPr>
          </a:lstStyle>
          <a:p>
            <a:r>
              <a:rPr lang="zh-CN" altLang="en-US" noProof="1"/>
              <a:t>单击此处编辑母版标题样式</a:t>
            </a:r>
            <a:endParaRPr lang="zh-CN" altLang="en-US" noProof="1"/>
          </a:p>
        </p:txBody>
      </p:sp>
      <p:sp>
        <p:nvSpPr>
          <p:cNvPr id="38925"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r>
              <a:rPr lang="zh-CN" altLang="en-US" noProof="1"/>
              <a:t>单击此处编辑母版副标题样式</a:t>
            </a:r>
            <a:endParaRPr lang="zh-CN" altLang="en-US" noProof="1"/>
          </a:p>
        </p:txBody>
      </p:sp>
      <p:sp>
        <p:nvSpPr>
          <p:cNvPr id="12" name="Rectangle 14"/>
          <p:cNvSpPr>
            <a:spLocks noGrp="1" noChangeArrowheads="1"/>
          </p:cNvSpPr>
          <p:nvPr>
            <p:ph type="dt" sz="half" idx="2"/>
          </p:nvPr>
        </p:nvSpPr>
        <p:spPr bwMode="auto">
          <a:xfrm>
            <a:off x="990600" y="6248400"/>
            <a:ext cx="1905000" cy="457200"/>
          </a:xfrm>
          <a:prstGeom prst="rect">
            <a:avLst/>
          </a:prstGeom>
          <a:ln>
            <a:miter lim="800000"/>
          </a:ln>
        </p:spPr>
        <p:txBody>
          <a:bodyPr vert="horz" wrap="square" lIns="91440" tIns="45720" rIns="91440" bIns="45720" numCol="1" anchor="b" anchorCtr="0" compatLnSpc="1"/>
          <a:lstStyle>
            <a:lvl1pPr>
              <a:defRPr>
                <a:solidFill>
                  <a:srgbClr val="1C1C1C"/>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1C1C1C"/>
              </a:solidFill>
              <a:effectLst/>
              <a:uLnTx/>
              <a:uFillTx/>
              <a:latin typeface="Tahoma" panose="020B0604030504040204" pitchFamily="34" charset="0"/>
              <a:ea typeface="宋体" panose="02010600030101010101" pitchFamily="2" charset="-122"/>
              <a:cs typeface="+mn-cs"/>
            </a:endParaRPr>
          </a:p>
        </p:txBody>
      </p:sp>
      <p:sp>
        <p:nvSpPr>
          <p:cNvPr id="13" name="Rectangle 15"/>
          <p:cNvSpPr>
            <a:spLocks noGrp="1" noChangeArrowheads="1"/>
          </p:cNvSpPr>
          <p:nvPr>
            <p:ph type="ftr" sz="quarter" idx="3"/>
          </p:nvPr>
        </p:nvSpPr>
        <p:spPr bwMode="auto">
          <a:xfrm>
            <a:off x="3429000" y="6248400"/>
            <a:ext cx="2895600" cy="457200"/>
          </a:xfrm>
          <a:prstGeom prst="rect">
            <a:avLst/>
          </a:prstGeom>
          <a:ln>
            <a:miter lim="800000"/>
          </a:ln>
        </p:spPr>
        <p:txBody>
          <a:bodyPr vert="horz" wrap="square" lIns="91440" tIns="45720" rIns="91440" bIns="45720" numCol="1" anchor="b" anchorCtr="0" compatLnSpc="1"/>
          <a:lstStyle>
            <a:lvl1pPr>
              <a:defRPr>
                <a:solidFill>
                  <a:srgbClr val="1C1C1C"/>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1C1C1C"/>
              </a:solidFill>
              <a:effectLst/>
              <a:uLnTx/>
              <a:uFillTx/>
              <a:latin typeface="Tahoma" panose="020B0604030504040204" pitchFamily="34" charset="0"/>
              <a:ea typeface="宋体" panose="02010600030101010101" pitchFamily="2" charset="-122"/>
              <a:cs typeface="+mn-cs"/>
            </a:endParaRPr>
          </a:p>
        </p:txBody>
      </p:sp>
      <p:sp>
        <p:nvSpPr>
          <p:cNvPr id="14" name="Rectangle 16"/>
          <p:cNvSpPr>
            <a:spLocks noGrp="1" noChangeArrowheads="1"/>
          </p:cNvSpPr>
          <p:nvPr>
            <p:ph type="sldNum" sz="quarter" idx="4"/>
          </p:nvPr>
        </p:nvSpPr>
        <p:spPr bwMode="auto">
          <a:xfrm>
            <a:off x="6858000" y="6248400"/>
            <a:ext cx="1905000" cy="457200"/>
          </a:xfrm>
          <a:prstGeom prst="rect">
            <a:avLst/>
          </a:prstGeom>
          <a:ln>
            <a:miter lim="800000"/>
          </a:ln>
        </p:spPr>
        <p:txBody>
          <a:bodyPr vert="horz" wrap="square" lIns="91440" tIns="45720" rIns="91440" bIns="45720" numCol="1" anchor="b" anchorCtr="0" compatLnSpc="1"/>
          <a:p>
            <a:pPr algn="r" eaLnBrk="1" hangingPunct="1"/>
            <a:fld id="{9A0DB2DC-4C9A-4742-B13C-FB6460FD3503}" type="slidenum">
              <a:rPr lang="en-US" altLang="zh-CN" dirty="0">
                <a:solidFill>
                  <a:srgbClr val="1C1C1C"/>
                </a:solidFill>
              </a:rPr>
            </a:fld>
            <a:endParaRPr lang="en-US" altLang="zh-CN" dirty="0">
              <a:solidFill>
                <a:srgbClr val="1C1C1C"/>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fld id="{9A0DB2DC-4C9A-4742-B13C-FB6460FD3503}" type="slidenum">
              <a:rPr lang="en-US" altLang="zh-CN" dirty="0">
                <a:latin typeface="Tahoma" panose="020B0604030504040204" pitchFamily="34" charset="0"/>
              </a:rPr>
            </a:fld>
            <a:endParaRPr lang="en-US" altLang="zh-CN" dirty="0">
              <a:latin typeface="Tahoma" panose="020B0604030504040204" pitchFamily="34"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fld id="{9A0DB2DC-4C9A-4742-B13C-FB6460FD3503}" type="slidenum">
              <a:rPr lang="en-US" altLang="zh-CN" dirty="0">
                <a:latin typeface="Tahoma" panose="020B0604030504040204" pitchFamily="34" charset="0"/>
              </a:rPr>
            </a:fld>
            <a:endParaRPr lang="en-US" altLang="zh-CN" dirty="0">
              <a:latin typeface="Tahoma" panose="020B0604030504040204" pitchFamily="34" charset="0"/>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11826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51450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fld id="{9A0DB2DC-4C9A-4742-B13C-FB6460FD3503}" type="slidenum">
              <a:rPr lang="en-US" altLang="zh-CN" dirty="0">
                <a:latin typeface="Tahoma" panose="020B0604030504040204" pitchFamily="34" charset="0"/>
              </a:rPr>
            </a:fld>
            <a:endParaRPr lang="en-US" altLang="zh-CN" dirty="0">
              <a:latin typeface="Tahoma" panose="020B0604030504040204" pitchFamily="34" charset="0"/>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lvl="0" eaLnBrk="1" hangingPunct="1"/>
            <a:fld id="{9A0DB2DC-4C9A-4742-B13C-FB6460FD3503}" type="slidenum">
              <a:rPr lang="en-US" altLang="zh-CN" dirty="0">
                <a:latin typeface="Tahoma" panose="020B0604030504040204" pitchFamily="34" charset="0"/>
              </a:rPr>
            </a:fld>
            <a:endParaRPr lang="en-US" altLang="zh-CN" dirty="0">
              <a:latin typeface="Tahoma" panose="020B0604030504040204" pitchFamily="34" charset="0"/>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1" hangingPunct="1"/>
            <a:fld id="{9A0DB2DC-4C9A-4742-B13C-FB6460FD3503}" type="slidenum">
              <a:rPr lang="en-US" altLang="zh-CN" dirty="0">
                <a:latin typeface="Tahoma" panose="020B0604030504040204" pitchFamily="34" charset="0"/>
              </a:rPr>
            </a:fld>
            <a:endParaRPr lang="en-US" altLang="zh-CN" dirty="0">
              <a:latin typeface="Tahoma" panose="020B0604030504040204" pitchFamily="34" charset="0"/>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1" hangingPunct="1"/>
            <a:fld id="{9A0DB2DC-4C9A-4742-B13C-FB6460FD3503}" type="slidenum">
              <a:rPr lang="en-US" altLang="zh-CN" dirty="0">
                <a:latin typeface="Tahoma" panose="020B0604030504040204" pitchFamily="34" charset="0"/>
              </a:rPr>
            </a:fld>
            <a:endParaRPr lang="en-US" altLang="zh-CN" dirty="0">
              <a:latin typeface="Tahoma" panose="020B0604030504040204" pitchFamily="34" charset="0"/>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fld id="{9A0DB2DC-4C9A-4742-B13C-FB6460FD3503}" type="slidenum">
              <a:rPr lang="en-US" altLang="zh-CN" dirty="0">
                <a:latin typeface="Tahoma" panose="020B0604030504040204" pitchFamily="34" charset="0"/>
              </a:rPr>
            </a:fld>
            <a:endParaRPr lang="en-US" altLang="zh-CN" dirty="0">
              <a:latin typeface="Tahoma" panose="020B0604030504040204" pitchFamily="34" charset="0"/>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fld id="{9A0DB2DC-4C9A-4742-B13C-FB6460FD3503}" type="slidenum">
              <a:rPr lang="en-US" altLang="zh-CN" dirty="0">
                <a:latin typeface="Tahoma" panose="020B0604030504040204" pitchFamily="34" charset="0"/>
              </a:rPr>
            </a:fld>
            <a:endParaRPr lang="en-US" altLang="zh-CN" dirty="0">
              <a:latin typeface="Tahoma" panose="020B0604030504040204" pitchFamily="34" charset="0"/>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fld id="{9A0DB2DC-4C9A-4742-B13C-FB6460FD3503}" type="slidenum">
              <a:rPr lang="en-US" altLang="zh-CN" dirty="0">
                <a:latin typeface="Tahoma" panose="020B0604030504040204" pitchFamily="34" charset="0"/>
              </a:rPr>
            </a:fld>
            <a:endParaRPr lang="en-US" altLang="zh-CN" dirty="0">
              <a:latin typeface="Tahoma" panose="020B0604030504040204" pitchFamily="34" charset="0"/>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050" y="214313"/>
            <a:ext cx="1951038" cy="5918200"/>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1150938" y="214313"/>
            <a:ext cx="5700712" cy="5918200"/>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fld id="{9A0DB2DC-4C9A-4742-B13C-FB6460FD3503}" type="slidenum">
              <a:rPr lang="en-US" altLang="zh-CN" dirty="0">
                <a:latin typeface="Tahoma" panose="020B0604030504040204" pitchFamily="34" charset="0"/>
              </a:rPr>
            </a:fld>
            <a:endParaRPr lang="en-US" altLang="zh-CN" dirty="0">
              <a:latin typeface="Tahoma" panose="020B0604030504040204" pitchFamily="34" charset="0"/>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1150938" y="214313"/>
            <a:ext cx="7804150" cy="591820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1" hangingPunct="1"/>
            <a:fld id="{9A0DB2DC-4C9A-4742-B13C-FB6460FD3503}" type="slidenum">
              <a:rPr lang="en-US" altLang="zh-CN" dirty="0">
                <a:latin typeface="Tahoma" panose="020B0604030504040204" pitchFamily="34" charset="0"/>
              </a:rPr>
            </a:fld>
            <a:endParaRPr lang="en-US" altLang="zh-CN" dirty="0">
              <a:latin typeface="Tahoma" panose="020B0604030504040204" pitchFamily="34" charset="0"/>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grpSp>
        <p:nvGrpSpPr>
          <p:cNvPr id="7170" name="Group 2"/>
          <p:cNvGrpSpPr/>
          <p:nvPr/>
        </p:nvGrpSpPr>
        <p:grpSpPr>
          <a:xfrm>
            <a:off x="0" y="2438400"/>
            <a:ext cx="9009063" cy="1052513"/>
            <a:chOff x="0" y="1536"/>
            <a:chExt cx="5675" cy="663"/>
          </a:xfrm>
        </p:grpSpPr>
        <p:grpSp>
          <p:nvGrpSpPr>
            <p:cNvPr id="7176" name="Group 3"/>
            <p:cNvGrpSpPr/>
            <p:nvPr/>
          </p:nvGrpSpPr>
          <p:grpSpPr>
            <a:xfrm>
              <a:off x="185" y="1604"/>
              <a:ext cx="449" cy="299"/>
              <a:chOff x="720" y="336"/>
              <a:chExt cx="624" cy="432"/>
            </a:xfrm>
          </p:grpSpPr>
          <p:sp>
            <p:nvSpPr>
              <p:cNvPr id="10" name="Rectangle 4"/>
              <p:cNvSpPr>
                <a:spLocks noChangeArrowheads="1"/>
              </p:cNvSpPr>
              <p:nvPr/>
            </p:nvSpPr>
            <p:spPr bwMode="auto">
              <a:xfrm>
                <a:off x="720" y="336"/>
                <a:ext cx="384" cy="432"/>
              </a:xfrm>
              <a:prstGeom prst="rect">
                <a:avLst/>
              </a:prstGeom>
              <a:solidFill>
                <a:schemeClr val="folHlink"/>
              </a:solidFill>
              <a:ln>
                <a:noFill/>
              </a:ln>
            </p:spPr>
            <p:txBody>
              <a:bodyPr wrap="none"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1"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grpSp>
        <p:grpSp>
          <p:nvGrpSpPr>
            <p:cNvPr id="7177" name="Group 6"/>
            <p:cNvGrpSpPr/>
            <p:nvPr/>
          </p:nvGrpSpPr>
          <p:grpSpPr>
            <a:xfrm>
              <a:off x="263" y="1870"/>
              <a:ext cx="466" cy="299"/>
              <a:chOff x="912" y="2640"/>
              <a:chExt cx="672" cy="432"/>
            </a:xfrm>
          </p:grpSpPr>
          <p:sp>
            <p:nvSpPr>
              <p:cNvPr id="8" name="Rectangle 7"/>
              <p:cNvSpPr>
                <a:spLocks noChangeArrowheads="1"/>
              </p:cNvSpPr>
              <p:nvPr/>
            </p:nvSpPr>
            <p:spPr bwMode="auto">
              <a:xfrm>
                <a:off x="912" y="2640"/>
                <a:ext cx="384" cy="432"/>
              </a:xfrm>
              <a:prstGeom prst="rect">
                <a:avLst/>
              </a:prstGeom>
              <a:solidFill>
                <a:schemeClr val="accent2"/>
              </a:solidFill>
              <a:ln>
                <a:noFill/>
              </a:ln>
            </p:spPr>
            <p:txBody>
              <a:bodyPr wrap="none"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9"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grpSp>
        <p:sp>
          <p:nvSpPr>
            <p:cNvPr id="5"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 name="Rectangle 10"/>
            <p:cNvSpPr>
              <a:spLocks noChangeArrowheads="1"/>
            </p:cNvSpPr>
            <p:nvPr/>
          </p:nvSpPr>
          <p:spPr bwMode="auto">
            <a:xfrm>
              <a:off x="400" y="1536"/>
              <a:ext cx="20" cy="663"/>
            </a:xfrm>
            <a:prstGeom prst="rect">
              <a:avLst/>
            </a:prstGeom>
            <a:solidFill>
              <a:schemeClr val="bg2"/>
            </a:solidFill>
            <a:ln>
              <a:noFill/>
            </a:ln>
          </p:spPr>
          <p:txBody>
            <a:bodyPr wrap="none"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7"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grpSp>
      <p:sp>
        <p:nvSpPr>
          <p:cNvPr id="38924" name="Rectangle 12"/>
          <p:cNvSpPr>
            <a:spLocks noGrp="1" noChangeArrowheads="1"/>
          </p:cNvSpPr>
          <p:nvPr>
            <p:ph type="ctrTitle"/>
          </p:nvPr>
        </p:nvSpPr>
        <p:spPr>
          <a:xfrm>
            <a:off x="990600" y="1676400"/>
            <a:ext cx="7772400" cy="1462088"/>
          </a:xfrm>
        </p:spPr>
        <p:txBody>
          <a:bodyPr/>
          <a:lstStyle>
            <a:lvl1pPr>
              <a:defRPr/>
            </a:lvl1pPr>
          </a:lstStyle>
          <a:p>
            <a:r>
              <a:rPr lang="zh-CN" altLang="en-US" noProof="1"/>
              <a:t>单击此处编辑母版标题样式</a:t>
            </a:r>
            <a:endParaRPr lang="zh-CN" altLang="en-US" noProof="1"/>
          </a:p>
        </p:txBody>
      </p:sp>
      <p:sp>
        <p:nvSpPr>
          <p:cNvPr id="38925"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r>
              <a:rPr lang="zh-CN" altLang="en-US" noProof="1"/>
              <a:t>单击此处编辑母版副标题样式</a:t>
            </a:r>
            <a:endParaRPr lang="zh-CN" altLang="en-US" noProof="1"/>
          </a:p>
        </p:txBody>
      </p:sp>
      <p:sp>
        <p:nvSpPr>
          <p:cNvPr id="12" name="Rectangle 14"/>
          <p:cNvSpPr>
            <a:spLocks noGrp="1" noChangeArrowheads="1"/>
          </p:cNvSpPr>
          <p:nvPr>
            <p:ph type="dt" sz="half" idx="2"/>
          </p:nvPr>
        </p:nvSpPr>
        <p:spPr bwMode="auto">
          <a:xfrm>
            <a:off x="990600" y="6248400"/>
            <a:ext cx="1905000" cy="457200"/>
          </a:xfrm>
          <a:prstGeom prst="rect">
            <a:avLst/>
          </a:prstGeom>
          <a:ln>
            <a:miter lim="800000"/>
          </a:ln>
        </p:spPr>
        <p:txBody>
          <a:bodyPr vert="horz" wrap="square" lIns="91440" tIns="45720" rIns="91440" bIns="45720" numCol="1" anchor="b" anchorCtr="0" compatLnSpc="1"/>
          <a:lstStyle>
            <a:lvl1pPr>
              <a:defRPr>
                <a:solidFill>
                  <a:srgbClr val="1C1C1C"/>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1C1C1C"/>
              </a:solidFill>
              <a:effectLst/>
              <a:uLnTx/>
              <a:uFillTx/>
              <a:latin typeface="Tahoma" panose="020B0604030504040204" pitchFamily="34" charset="0"/>
              <a:ea typeface="宋体" panose="02010600030101010101" pitchFamily="2" charset="-122"/>
              <a:cs typeface="+mn-cs"/>
            </a:endParaRPr>
          </a:p>
        </p:txBody>
      </p:sp>
      <p:sp>
        <p:nvSpPr>
          <p:cNvPr id="13" name="Rectangle 15"/>
          <p:cNvSpPr>
            <a:spLocks noGrp="1" noChangeArrowheads="1"/>
          </p:cNvSpPr>
          <p:nvPr>
            <p:ph type="ftr" sz="quarter" idx="3"/>
          </p:nvPr>
        </p:nvSpPr>
        <p:spPr bwMode="auto">
          <a:xfrm>
            <a:off x="3429000" y="6248400"/>
            <a:ext cx="2895600" cy="457200"/>
          </a:xfrm>
          <a:prstGeom prst="rect">
            <a:avLst/>
          </a:prstGeom>
          <a:ln>
            <a:miter lim="800000"/>
          </a:ln>
        </p:spPr>
        <p:txBody>
          <a:bodyPr vert="horz" wrap="square" lIns="91440" tIns="45720" rIns="91440" bIns="45720" numCol="1" anchor="b" anchorCtr="0" compatLnSpc="1"/>
          <a:lstStyle>
            <a:lvl1pPr>
              <a:defRPr>
                <a:solidFill>
                  <a:srgbClr val="1C1C1C"/>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1C1C1C"/>
              </a:solidFill>
              <a:effectLst/>
              <a:uLnTx/>
              <a:uFillTx/>
              <a:latin typeface="Tahoma" panose="020B0604030504040204" pitchFamily="34" charset="0"/>
              <a:ea typeface="宋体" panose="02010600030101010101" pitchFamily="2" charset="-122"/>
              <a:cs typeface="+mn-cs"/>
            </a:endParaRPr>
          </a:p>
        </p:txBody>
      </p:sp>
      <p:sp>
        <p:nvSpPr>
          <p:cNvPr id="14" name="Rectangle 16"/>
          <p:cNvSpPr>
            <a:spLocks noGrp="1" noChangeArrowheads="1"/>
          </p:cNvSpPr>
          <p:nvPr>
            <p:ph type="sldNum" sz="quarter" idx="4"/>
          </p:nvPr>
        </p:nvSpPr>
        <p:spPr bwMode="auto">
          <a:xfrm>
            <a:off x="6858000" y="6248400"/>
            <a:ext cx="1905000" cy="457200"/>
          </a:xfrm>
          <a:prstGeom prst="rect">
            <a:avLst/>
          </a:prstGeom>
          <a:ln>
            <a:miter lim="800000"/>
          </a:ln>
        </p:spPr>
        <p:txBody>
          <a:bodyPr vert="horz" wrap="square" lIns="91440" tIns="45720" rIns="91440" bIns="45720" numCol="1" anchor="b" anchorCtr="0" compatLnSpc="1"/>
          <a:p>
            <a:pPr algn="r" eaLnBrk="1" hangingPunct="1"/>
            <a:fld id="{9A0DB2DC-4C9A-4742-B13C-FB6460FD3503}" type="slidenum">
              <a:rPr lang="en-US" altLang="zh-CN" dirty="0">
                <a:solidFill>
                  <a:srgbClr val="1C1C1C"/>
                </a:solidFill>
              </a:rPr>
            </a:fld>
            <a:endParaRPr lang="en-US" altLang="zh-CN" dirty="0">
              <a:solidFill>
                <a:srgbClr val="1C1C1C"/>
              </a:solidFil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fld id="{9A0DB2DC-4C9A-4742-B13C-FB6460FD3503}" type="slidenum">
              <a:rPr lang="en-US" altLang="zh-CN" dirty="0">
                <a:latin typeface="Tahoma" panose="020B0604030504040204" pitchFamily="34" charset="0"/>
              </a:rPr>
            </a:fld>
            <a:endParaRPr lang="en-US" altLang="zh-CN" dirty="0">
              <a:latin typeface="Tahoma" panose="020B0604030504040204" pitchFamily="34" charset="0"/>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fld id="{9A0DB2DC-4C9A-4742-B13C-FB6460FD3503}" type="slidenum">
              <a:rPr lang="en-US" altLang="zh-CN" dirty="0">
                <a:latin typeface="Tahoma" panose="020B0604030504040204" pitchFamily="34" charset="0"/>
              </a:rPr>
            </a:fld>
            <a:endParaRPr lang="en-US" altLang="zh-CN" dirty="0">
              <a:latin typeface="Tahoma" panose="020B0604030504040204" pitchFamily="34" charset="0"/>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11826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51450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fld id="{9A0DB2DC-4C9A-4742-B13C-FB6460FD3503}" type="slidenum">
              <a:rPr lang="en-US" altLang="zh-CN" dirty="0">
                <a:latin typeface="Tahoma" panose="020B0604030504040204" pitchFamily="34" charset="0"/>
              </a:rPr>
            </a:fld>
            <a:endParaRPr lang="en-US" altLang="zh-CN" dirty="0">
              <a:latin typeface="Tahoma" panose="020B0604030504040204" pitchFamily="34" charset="0"/>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lvl="0" eaLnBrk="1" hangingPunct="1"/>
            <a:fld id="{9A0DB2DC-4C9A-4742-B13C-FB6460FD3503}" type="slidenum">
              <a:rPr lang="en-US" altLang="zh-CN" dirty="0">
                <a:latin typeface="Tahoma" panose="020B0604030504040204" pitchFamily="34" charset="0"/>
              </a:rPr>
            </a:fld>
            <a:endParaRPr lang="en-US" altLang="zh-CN" dirty="0">
              <a:latin typeface="Tahoma" panose="020B0604030504040204" pitchFamily="34" charset="0"/>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1" hangingPunct="1"/>
            <a:fld id="{9A0DB2DC-4C9A-4742-B13C-FB6460FD3503}" type="slidenum">
              <a:rPr lang="en-US" altLang="zh-CN" dirty="0">
                <a:latin typeface="Tahoma" panose="020B0604030504040204" pitchFamily="34" charset="0"/>
              </a:rPr>
            </a:fld>
            <a:endParaRPr lang="en-US" altLang="zh-CN" dirty="0">
              <a:latin typeface="Tahoma" panose="020B0604030504040204" pitchFamily="34" charset="0"/>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1" hangingPunct="1"/>
            <a:fld id="{9A0DB2DC-4C9A-4742-B13C-FB6460FD3503}" type="slidenum">
              <a:rPr lang="en-US" altLang="zh-CN" dirty="0">
                <a:latin typeface="Tahoma" panose="020B0604030504040204" pitchFamily="34" charset="0"/>
              </a:rPr>
            </a:fld>
            <a:endParaRPr lang="en-US" altLang="zh-CN" dirty="0">
              <a:latin typeface="Tahoma" panose="020B0604030504040204" pitchFamily="34" charset="0"/>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fld id="{9A0DB2DC-4C9A-4742-B13C-FB6460FD3503}" type="slidenum">
              <a:rPr lang="en-US" altLang="zh-CN" dirty="0">
                <a:latin typeface="Tahoma" panose="020B0604030504040204" pitchFamily="34" charset="0"/>
              </a:rPr>
            </a:fld>
            <a:endParaRPr lang="en-US" altLang="zh-CN" dirty="0">
              <a:latin typeface="Tahoma" panose="020B0604030504040204" pitchFamily="34" charset="0"/>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fld id="{9A0DB2DC-4C9A-4742-B13C-FB6460FD3503}" type="slidenum">
              <a:rPr lang="en-US" altLang="zh-CN" dirty="0">
                <a:latin typeface="Tahoma" panose="020B0604030504040204" pitchFamily="34" charset="0"/>
              </a:rPr>
            </a:fld>
            <a:endParaRPr lang="en-US" altLang="zh-CN" dirty="0">
              <a:latin typeface="Tahoma" panose="020B0604030504040204" pitchFamily="34" charset="0"/>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fld id="{9A0DB2DC-4C9A-4742-B13C-FB6460FD3503}" type="slidenum">
              <a:rPr lang="en-US" altLang="zh-CN" dirty="0">
                <a:latin typeface="Tahoma" panose="020B0604030504040204" pitchFamily="34" charset="0"/>
              </a:rPr>
            </a:fld>
            <a:endParaRPr lang="en-US" altLang="zh-CN" dirty="0">
              <a:latin typeface="Tahoma" panose="020B0604030504040204" pitchFamily="34" charset="0"/>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050" y="214313"/>
            <a:ext cx="1951038" cy="5918200"/>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1150938" y="214313"/>
            <a:ext cx="5700712" cy="5918200"/>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fld id="{9A0DB2DC-4C9A-4742-B13C-FB6460FD3503}" type="slidenum">
              <a:rPr lang="en-US" altLang="zh-CN" dirty="0">
                <a:latin typeface="Tahoma" panose="020B0604030504040204" pitchFamily="34" charset="0"/>
              </a:rPr>
            </a:fld>
            <a:endParaRPr lang="en-US" altLang="zh-CN" dirty="0">
              <a:latin typeface="Tahoma" panose="020B0604030504040204" pitchFamily="34" charset="0"/>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1150938" y="214313"/>
            <a:ext cx="7804150" cy="591820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1" hangingPunct="1"/>
            <a:fld id="{9A0DB2DC-4C9A-4742-B13C-FB6460FD3503}" type="slidenum">
              <a:rPr lang="en-US" altLang="zh-CN" dirty="0">
                <a:latin typeface="Tahoma" panose="020B0604030504040204" pitchFamily="34" charset="0"/>
              </a:rPr>
            </a:fld>
            <a:endParaRPr lang="en-US" altLang="zh-CN" dirty="0">
              <a:latin typeface="Tahoma" panose="020B0604030504040204" pitchFamily="34" charset="0"/>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grpSp>
        <p:nvGrpSpPr>
          <p:cNvPr id="8194" name="Group 2"/>
          <p:cNvGrpSpPr/>
          <p:nvPr/>
        </p:nvGrpSpPr>
        <p:grpSpPr>
          <a:xfrm>
            <a:off x="0" y="2438400"/>
            <a:ext cx="9009063" cy="1052513"/>
            <a:chOff x="0" y="1536"/>
            <a:chExt cx="5675" cy="663"/>
          </a:xfrm>
        </p:grpSpPr>
        <p:grpSp>
          <p:nvGrpSpPr>
            <p:cNvPr id="8200" name="Group 3"/>
            <p:cNvGrpSpPr/>
            <p:nvPr/>
          </p:nvGrpSpPr>
          <p:grpSpPr>
            <a:xfrm>
              <a:off x="185" y="1604"/>
              <a:ext cx="449" cy="299"/>
              <a:chOff x="720" y="336"/>
              <a:chExt cx="624" cy="432"/>
            </a:xfrm>
          </p:grpSpPr>
          <p:sp>
            <p:nvSpPr>
              <p:cNvPr id="10" name="Rectangle 4"/>
              <p:cNvSpPr>
                <a:spLocks noChangeArrowheads="1"/>
              </p:cNvSpPr>
              <p:nvPr/>
            </p:nvSpPr>
            <p:spPr bwMode="auto">
              <a:xfrm>
                <a:off x="720" y="336"/>
                <a:ext cx="384" cy="432"/>
              </a:xfrm>
              <a:prstGeom prst="rect">
                <a:avLst/>
              </a:prstGeom>
              <a:solidFill>
                <a:schemeClr val="folHlink"/>
              </a:solidFill>
              <a:ln>
                <a:noFill/>
              </a:ln>
            </p:spPr>
            <p:txBody>
              <a:bodyPr wrap="none"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1"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grpSp>
        <p:grpSp>
          <p:nvGrpSpPr>
            <p:cNvPr id="8201" name="Group 6"/>
            <p:cNvGrpSpPr/>
            <p:nvPr/>
          </p:nvGrpSpPr>
          <p:grpSpPr>
            <a:xfrm>
              <a:off x="263" y="1870"/>
              <a:ext cx="466" cy="299"/>
              <a:chOff x="912" y="2640"/>
              <a:chExt cx="672" cy="432"/>
            </a:xfrm>
          </p:grpSpPr>
          <p:sp>
            <p:nvSpPr>
              <p:cNvPr id="8" name="Rectangle 7"/>
              <p:cNvSpPr>
                <a:spLocks noChangeArrowheads="1"/>
              </p:cNvSpPr>
              <p:nvPr/>
            </p:nvSpPr>
            <p:spPr bwMode="auto">
              <a:xfrm>
                <a:off x="912" y="2640"/>
                <a:ext cx="384" cy="432"/>
              </a:xfrm>
              <a:prstGeom prst="rect">
                <a:avLst/>
              </a:prstGeom>
              <a:solidFill>
                <a:schemeClr val="accent2"/>
              </a:solidFill>
              <a:ln>
                <a:noFill/>
              </a:ln>
            </p:spPr>
            <p:txBody>
              <a:bodyPr wrap="none"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9"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grpSp>
        <p:sp>
          <p:nvSpPr>
            <p:cNvPr id="5"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 name="Rectangle 10"/>
            <p:cNvSpPr>
              <a:spLocks noChangeArrowheads="1"/>
            </p:cNvSpPr>
            <p:nvPr/>
          </p:nvSpPr>
          <p:spPr bwMode="auto">
            <a:xfrm>
              <a:off x="400" y="1536"/>
              <a:ext cx="20" cy="663"/>
            </a:xfrm>
            <a:prstGeom prst="rect">
              <a:avLst/>
            </a:prstGeom>
            <a:solidFill>
              <a:schemeClr val="bg2"/>
            </a:solidFill>
            <a:ln>
              <a:noFill/>
            </a:ln>
          </p:spPr>
          <p:txBody>
            <a:bodyPr wrap="none"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7"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grpSp>
      <p:sp>
        <p:nvSpPr>
          <p:cNvPr id="38924" name="Rectangle 12"/>
          <p:cNvSpPr>
            <a:spLocks noGrp="1" noChangeArrowheads="1"/>
          </p:cNvSpPr>
          <p:nvPr>
            <p:ph type="ctrTitle"/>
          </p:nvPr>
        </p:nvSpPr>
        <p:spPr>
          <a:xfrm>
            <a:off x="990600" y="1676400"/>
            <a:ext cx="7772400" cy="1462088"/>
          </a:xfrm>
        </p:spPr>
        <p:txBody>
          <a:bodyPr/>
          <a:lstStyle>
            <a:lvl1pPr>
              <a:defRPr/>
            </a:lvl1pPr>
          </a:lstStyle>
          <a:p>
            <a:r>
              <a:rPr lang="zh-CN" altLang="en-US" noProof="1"/>
              <a:t>单击此处编辑母版标题样式</a:t>
            </a:r>
            <a:endParaRPr lang="zh-CN" altLang="en-US" noProof="1"/>
          </a:p>
        </p:txBody>
      </p:sp>
      <p:sp>
        <p:nvSpPr>
          <p:cNvPr id="38925"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r>
              <a:rPr lang="zh-CN" altLang="en-US" noProof="1"/>
              <a:t>单击此处编辑母版副标题样式</a:t>
            </a:r>
            <a:endParaRPr lang="zh-CN" altLang="en-US" noProof="1"/>
          </a:p>
        </p:txBody>
      </p:sp>
      <p:sp>
        <p:nvSpPr>
          <p:cNvPr id="12" name="Rectangle 14"/>
          <p:cNvSpPr>
            <a:spLocks noGrp="1" noChangeArrowheads="1"/>
          </p:cNvSpPr>
          <p:nvPr>
            <p:ph type="dt" sz="half" idx="2"/>
          </p:nvPr>
        </p:nvSpPr>
        <p:spPr bwMode="auto">
          <a:xfrm>
            <a:off x="990600" y="6248400"/>
            <a:ext cx="1905000" cy="457200"/>
          </a:xfrm>
          <a:prstGeom prst="rect">
            <a:avLst/>
          </a:prstGeom>
          <a:ln>
            <a:miter lim="800000"/>
          </a:ln>
        </p:spPr>
        <p:txBody>
          <a:bodyPr vert="horz" wrap="square" lIns="91440" tIns="45720" rIns="91440" bIns="45720" numCol="1" anchor="b" anchorCtr="0" compatLnSpc="1"/>
          <a:lstStyle>
            <a:lvl1pPr>
              <a:defRPr>
                <a:solidFill>
                  <a:srgbClr val="1C1C1C"/>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1C1C1C"/>
              </a:solidFill>
              <a:effectLst/>
              <a:uLnTx/>
              <a:uFillTx/>
              <a:latin typeface="Tahoma" panose="020B0604030504040204" pitchFamily="34" charset="0"/>
              <a:ea typeface="宋体" panose="02010600030101010101" pitchFamily="2" charset="-122"/>
              <a:cs typeface="+mn-cs"/>
            </a:endParaRPr>
          </a:p>
        </p:txBody>
      </p:sp>
      <p:sp>
        <p:nvSpPr>
          <p:cNvPr id="13" name="Rectangle 15"/>
          <p:cNvSpPr>
            <a:spLocks noGrp="1" noChangeArrowheads="1"/>
          </p:cNvSpPr>
          <p:nvPr>
            <p:ph type="ftr" sz="quarter" idx="3"/>
          </p:nvPr>
        </p:nvSpPr>
        <p:spPr bwMode="auto">
          <a:xfrm>
            <a:off x="3429000" y="6248400"/>
            <a:ext cx="2895600" cy="457200"/>
          </a:xfrm>
          <a:prstGeom prst="rect">
            <a:avLst/>
          </a:prstGeom>
          <a:ln>
            <a:miter lim="800000"/>
          </a:ln>
        </p:spPr>
        <p:txBody>
          <a:bodyPr vert="horz" wrap="square" lIns="91440" tIns="45720" rIns="91440" bIns="45720" numCol="1" anchor="b" anchorCtr="0" compatLnSpc="1"/>
          <a:lstStyle>
            <a:lvl1pPr>
              <a:defRPr>
                <a:solidFill>
                  <a:srgbClr val="1C1C1C"/>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1C1C1C"/>
              </a:solidFill>
              <a:effectLst/>
              <a:uLnTx/>
              <a:uFillTx/>
              <a:latin typeface="Tahoma" panose="020B0604030504040204" pitchFamily="34" charset="0"/>
              <a:ea typeface="宋体" panose="02010600030101010101" pitchFamily="2" charset="-122"/>
              <a:cs typeface="+mn-cs"/>
            </a:endParaRPr>
          </a:p>
        </p:txBody>
      </p:sp>
      <p:sp>
        <p:nvSpPr>
          <p:cNvPr id="14" name="Rectangle 16"/>
          <p:cNvSpPr>
            <a:spLocks noGrp="1" noChangeArrowheads="1"/>
          </p:cNvSpPr>
          <p:nvPr>
            <p:ph type="sldNum" sz="quarter" idx="4"/>
          </p:nvPr>
        </p:nvSpPr>
        <p:spPr bwMode="auto">
          <a:xfrm>
            <a:off x="6858000" y="6248400"/>
            <a:ext cx="1905000" cy="457200"/>
          </a:xfrm>
          <a:prstGeom prst="rect">
            <a:avLst/>
          </a:prstGeom>
          <a:ln>
            <a:miter lim="800000"/>
          </a:ln>
        </p:spPr>
        <p:txBody>
          <a:bodyPr vert="horz" wrap="square" lIns="91440" tIns="45720" rIns="91440" bIns="45720" numCol="1" anchor="b" anchorCtr="0" compatLnSpc="1"/>
          <a:p>
            <a:pPr algn="r" eaLnBrk="1" hangingPunct="1"/>
            <a:fld id="{9A0DB2DC-4C9A-4742-B13C-FB6460FD3503}" type="slidenum">
              <a:rPr lang="en-US" altLang="zh-CN" dirty="0">
                <a:solidFill>
                  <a:srgbClr val="1C1C1C"/>
                </a:solidFill>
              </a:rPr>
            </a:fld>
            <a:endParaRPr lang="en-US" altLang="zh-CN" dirty="0">
              <a:solidFill>
                <a:srgbClr val="1C1C1C"/>
              </a:solidFill>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fld id="{9A0DB2DC-4C9A-4742-B13C-FB6460FD3503}" type="slidenum">
              <a:rPr lang="en-US" altLang="zh-CN" dirty="0">
                <a:latin typeface="Tahoma" panose="020B0604030504040204" pitchFamily="34" charset="0"/>
              </a:rPr>
            </a:fld>
            <a:endParaRPr lang="en-US" altLang="zh-CN" dirty="0">
              <a:latin typeface="Tahoma" panose="020B0604030504040204" pitchFamily="34" charset="0"/>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fld id="{9A0DB2DC-4C9A-4742-B13C-FB6460FD3503}" type="slidenum">
              <a:rPr lang="en-US" altLang="zh-CN" dirty="0">
                <a:latin typeface="Tahoma" panose="020B0604030504040204" pitchFamily="34" charset="0"/>
              </a:rPr>
            </a:fld>
            <a:endParaRPr lang="en-US" altLang="zh-CN" dirty="0">
              <a:latin typeface="Tahoma" panose="020B0604030504040204" pitchFamily="34" charset="0"/>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11826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51450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fld id="{9A0DB2DC-4C9A-4742-B13C-FB6460FD3503}" type="slidenum">
              <a:rPr lang="en-US" altLang="zh-CN" dirty="0">
                <a:latin typeface="Tahoma" panose="020B0604030504040204" pitchFamily="34" charset="0"/>
              </a:rPr>
            </a:fld>
            <a:endParaRPr lang="en-US" altLang="zh-CN" dirty="0">
              <a:latin typeface="Tahoma" panose="020B0604030504040204" pitchFamily="34" charset="0"/>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lvl="0" eaLnBrk="1" hangingPunct="1"/>
            <a:fld id="{9A0DB2DC-4C9A-4742-B13C-FB6460FD3503}" type="slidenum">
              <a:rPr lang="en-US" altLang="zh-CN" dirty="0">
                <a:latin typeface="Tahoma" panose="020B0604030504040204" pitchFamily="34" charset="0"/>
              </a:rPr>
            </a:fld>
            <a:endParaRPr lang="en-US" altLang="zh-CN" dirty="0">
              <a:latin typeface="Tahoma" panose="020B0604030504040204" pitchFamily="34" charset="0"/>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1" hangingPunct="1"/>
            <a:fld id="{9A0DB2DC-4C9A-4742-B13C-FB6460FD3503}" type="slidenum">
              <a:rPr lang="en-US" altLang="zh-CN" dirty="0">
                <a:latin typeface="Tahoma" panose="020B0604030504040204" pitchFamily="34" charset="0"/>
              </a:rPr>
            </a:fld>
            <a:endParaRPr lang="en-US" altLang="zh-CN" dirty="0">
              <a:latin typeface="Tahoma" panose="020B0604030504040204" pitchFamily="34" charset="0"/>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1" hangingPunct="1"/>
            <a:fld id="{9A0DB2DC-4C9A-4742-B13C-FB6460FD3503}" type="slidenum">
              <a:rPr lang="en-US" altLang="zh-CN" dirty="0">
                <a:latin typeface="Tahoma" panose="020B0604030504040204" pitchFamily="34" charset="0"/>
              </a:rPr>
            </a:fld>
            <a:endParaRPr lang="en-US" altLang="zh-CN" dirty="0">
              <a:latin typeface="Tahoma" panose="020B0604030504040204" pitchFamily="34" charset="0"/>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fld id="{9A0DB2DC-4C9A-4742-B13C-FB6460FD3503}" type="slidenum">
              <a:rPr lang="en-US" altLang="zh-CN" dirty="0">
                <a:latin typeface="Tahoma" panose="020B0604030504040204" pitchFamily="34" charset="0"/>
              </a:rPr>
            </a:fld>
            <a:endParaRPr lang="en-US" altLang="zh-CN" dirty="0">
              <a:latin typeface="Tahoma" panose="020B0604030504040204" pitchFamily="34" charset="0"/>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fld id="{9A0DB2DC-4C9A-4742-B13C-FB6460FD3503}" type="slidenum">
              <a:rPr lang="en-US" altLang="zh-CN" dirty="0">
                <a:latin typeface="Tahoma" panose="020B0604030504040204" pitchFamily="34" charset="0"/>
              </a:rPr>
            </a:fld>
            <a:endParaRPr lang="en-US" altLang="zh-CN" dirty="0">
              <a:latin typeface="Tahoma" panose="020B0604030504040204" pitchFamily="34" charset="0"/>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fld id="{9A0DB2DC-4C9A-4742-B13C-FB6460FD3503}" type="slidenum">
              <a:rPr lang="en-US" altLang="zh-CN" dirty="0">
                <a:latin typeface="Tahoma" panose="020B0604030504040204" pitchFamily="34" charset="0"/>
              </a:rPr>
            </a:fld>
            <a:endParaRPr lang="en-US" altLang="zh-CN" dirty="0">
              <a:latin typeface="Tahoma" panose="020B0604030504040204" pitchFamily="34" charset="0"/>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050" y="214313"/>
            <a:ext cx="1951038" cy="5918200"/>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1150938" y="214313"/>
            <a:ext cx="5700712" cy="5918200"/>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fld id="{9A0DB2DC-4C9A-4742-B13C-FB6460FD3503}" type="slidenum">
              <a:rPr lang="en-US" altLang="zh-CN" dirty="0">
                <a:latin typeface="Tahoma" panose="020B0604030504040204" pitchFamily="34" charset="0"/>
              </a:rPr>
            </a:fld>
            <a:endParaRPr lang="en-US" altLang="zh-CN" dirty="0">
              <a:latin typeface="Tahoma" panose="020B0604030504040204" pitchFamily="34" charset="0"/>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1150938" y="214313"/>
            <a:ext cx="7804150" cy="5918200"/>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1" hangingPunct="1"/>
            <a:fld id="{9A0DB2DC-4C9A-4742-B13C-FB6460FD3503}" type="slidenum">
              <a:rPr lang="en-US" altLang="zh-CN" dirty="0">
                <a:latin typeface="Tahoma" panose="020B0604030504040204" pitchFamily="34" charset="0"/>
              </a:rPr>
            </a:fld>
            <a:endParaRPr lang="en-US" altLang="zh-CN" dirty="0">
              <a:latin typeface="Tahoma" panose="020B060403050404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3" Type="http://schemas.openxmlformats.org/officeDocument/2006/relationships/theme" Target="../theme/theme2.xml"/><Relationship Id="rId12" Type="http://schemas.openxmlformats.org/officeDocument/2006/relationships/slideLayout" Target="../slideLayouts/slideLayout24.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3.xml"/><Relationship Id="rId8" Type="http://schemas.openxmlformats.org/officeDocument/2006/relationships/slideLayout" Target="../slideLayouts/slideLayout32.xml"/><Relationship Id="rId7" Type="http://schemas.openxmlformats.org/officeDocument/2006/relationships/slideLayout" Target="../slideLayouts/slideLayout31.xml"/><Relationship Id="rId6" Type="http://schemas.openxmlformats.org/officeDocument/2006/relationships/slideLayout" Target="../slideLayouts/slideLayout30.xml"/><Relationship Id="rId5" Type="http://schemas.openxmlformats.org/officeDocument/2006/relationships/slideLayout" Target="../slideLayouts/slideLayout29.xml"/><Relationship Id="rId4" Type="http://schemas.openxmlformats.org/officeDocument/2006/relationships/slideLayout" Target="../slideLayouts/slideLayout28.xml"/><Relationship Id="rId3" Type="http://schemas.openxmlformats.org/officeDocument/2006/relationships/slideLayout" Target="../slideLayouts/slideLayout27.xml"/><Relationship Id="rId2" Type="http://schemas.openxmlformats.org/officeDocument/2006/relationships/slideLayout" Target="../slideLayouts/slideLayout26.xml"/><Relationship Id="rId13" Type="http://schemas.openxmlformats.org/officeDocument/2006/relationships/theme" Target="../theme/theme3.xml"/><Relationship Id="rId12" Type="http://schemas.openxmlformats.org/officeDocument/2006/relationships/slideLayout" Target="../slideLayouts/slideLayout36.xml"/><Relationship Id="rId11" Type="http://schemas.openxmlformats.org/officeDocument/2006/relationships/slideLayout" Target="../slideLayouts/slideLayout35.xml"/><Relationship Id="rId10" Type="http://schemas.openxmlformats.org/officeDocument/2006/relationships/slideLayout" Target="../slideLayouts/slideLayout34.xml"/><Relationship Id="rId1" Type="http://schemas.openxmlformats.org/officeDocument/2006/relationships/slideLayout" Target="../slideLayouts/slideLayout25.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5.xml"/><Relationship Id="rId8" Type="http://schemas.openxmlformats.org/officeDocument/2006/relationships/slideLayout" Target="../slideLayouts/slideLayout44.xml"/><Relationship Id="rId7" Type="http://schemas.openxmlformats.org/officeDocument/2006/relationships/slideLayout" Target="../slideLayouts/slideLayout43.xml"/><Relationship Id="rId6" Type="http://schemas.openxmlformats.org/officeDocument/2006/relationships/slideLayout" Target="../slideLayouts/slideLayout42.xml"/><Relationship Id="rId5" Type="http://schemas.openxmlformats.org/officeDocument/2006/relationships/slideLayout" Target="../slideLayouts/slideLayout41.xml"/><Relationship Id="rId4" Type="http://schemas.openxmlformats.org/officeDocument/2006/relationships/slideLayout" Target="../slideLayouts/slideLayout40.xml"/><Relationship Id="rId3" Type="http://schemas.openxmlformats.org/officeDocument/2006/relationships/slideLayout" Target="../slideLayouts/slideLayout39.xml"/><Relationship Id="rId2" Type="http://schemas.openxmlformats.org/officeDocument/2006/relationships/slideLayout" Target="../slideLayouts/slideLayout38.xml"/><Relationship Id="rId13" Type="http://schemas.openxmlformats.org/officeDocument/2006/relationships/theme" Target="../theme/theme4.xml"/><Relationship Id="rId12" Type="http://schemas.openxmlformats.org/officeDocument/2006/relationships/slideLayout" Target="../slideLayouts/slideLayout48.xml"/><Relationship Id="rId11" Type="http://schemas.openxmlformats.org/officeDocument/2006/relationships/slideLayout" Target="../slideLayouts/slideLayout47.xml"/><Relationship Id="rId10" Type="http://schemas.openxmlformats.org/officeDocument/2006/relationships/slideLayout" Target="../slideLayouts/slideLayout46.xml"/><Relationship Id="rId1" Type="http://schemas.openxmlformats.org/officeDocument/2006/relationships/slideLayout" Target="../slideLayouts/slideLayout3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ChangeArrowheads="1"/>
          </p:cNvSpPr>
          <p:nvPr/>
        </p:nvSpPr>
        <p:spPr bwMode="ltGray">
          <a:xfrm>
            <a:off x="417513" y="900113"/>
            <a:ext cx="438150" cy="474663"/>
          </a:xfrm>
          <a:prstGeom prst="rect">
            <a:avLst/>
          </a:prstGeom>
          <a:solidFill>
            <a:schemeClr val="accent2"/>
          </a:solidFill>
          <a:ln>
            <a:noFill/>
          </a:ln>
          <a:effectLst/>
        </p:spPr>
        <p:txBody>
          <a:bodyPr wrap="none" anchor="ctr"/>
          <a:lstStyle>
            <a:lvl1pPr eaLnBrk="0" hangingPunct="0">
              <a:defRPr sz="2400" b="1">
                <a:solidFill>
                  <a:schemeClr val="tx1"/>
                </a:solidFill>
                <a:latin typeface="Tahoma" panose="020B0604030504040204" pitchFamily="34" charset="0"/>
                <a:ea typeface="宋体" panose="02010600030101010101" pitchFamily="2" charset="-122"/>
              </a:defRPr>
            </a:lvl1pPr>
            <a:lvl2pPr marL="742950" indent="-285750" eaLnBrk="0" hangingPunct="0">
              <a:defRPr sz="2400" b="1">
                <a:solidFill>
                  <a:schemeClr val="tx1"/>
                </a:solidFill>
                <a:latin typeface="Tahoma" panose="020B0604030504040204" pitchFamily="34" charset="0"/>
                <a:ea typeface="宋体" panose="02010600030101010101" pitchFamily="2" charset="-122"/>
              </a:defRPr>
            </a:lvl2pPr>
            <a:lvl3pPr marL="1143000" indent="-228600" eaLnBrk="0" hangingPunct="0">
              <a:defRPr sz="2400" b="1">
                <a:solidFill>
                  <a:schemeClr val="tx1"/>
                </a:solidFill>
                <a:latin typeface="Tahoma" panose="020B0604030504040204" pitchFamily="34" charset="0"/>
                <a:ea typeface="宋体" panose="02010600030101010101" pitchFamily="2" charset="-122"/>
              </a:defRPr>
            </a:lvl3pPr>
            <a:lvl4pPr marL="1600200" indent="-228600" eaLnBrk="0" hangingPunct="0">
              <a:defRPr sz="2400" b="1">
                <a:solidFill>
                  <a:schemeClr val="tx1"/>
                </a:solidFill>
                <a:latin typeface="Tahoma" panose="020B0604030504040204" pitchFamily="34" charset="0"/>
                <a:ea typeface="宋体" panose="02010600030101010101" pitchFamily="2" charset="-122"/>
              </a:defRPr>
            </a:lvl4pPr>
            <a:lvl5pPr marL="2057400" indent="-228600" eaLnBrk="0" hangingPunct="0">
              <a:defRPr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27" name="Rectangle 3"/>
          <p:cNvSpPr>
            <a:spLocks noChangeArrowheads="1"/>
          </p:cNvSpPr>
          <p:nvPr/>
        </p:nvSpPr>
        <p:spPr bwMode="ltGray">
          <a:xfrm>
            <a:off x="800100" y="900113"/>
            <a:ext cx="328613" cy="474663"/>
          </a:xfrm>
          <a:prstGeom prst="rect">
            <a:avLst/>
          </a:prstGeom>
          <a:gradFill rotWithShape="0">
            <a:gsLst>
              <a:gs pos="0">
                <a:schemeClr val="accent2"/>
              </a:gs>
              <a:gs pos="100000">
                <a:schemeClr val="bg1"/>
              </a:gs>
            </a:gsLst>
            <a:lin ang="0" scaled="1"/>
          </a:gradFill>
          <a:ln>
            <a:noFill/>
          </a:ln>
          <a:effectLst/>
        </p:spPr>
        <p:txBody>
          <a:bodyPr wrap="none" anchor="ctr"/>
          <a:lstStyle>
            <a:lvl1pPr eaLnBrk="0" hangingPunct="0">
              <a:defRPr sz="2400" b="1">
                <a:solidFill>
                  <a:schemeClr val="tx1"/>
                </a:solidFill>
                <a:latin typeface="Tahoma" panose="020B0604030504040204" pitchFamily="34" charset="0"/>
                <a:ea typeface="宋体" panose="02010600030101010101" pitchFamily="2" charset="-122"/>
              </a:defRPr>
            </a:lvl1pPr>
            <a:lvl2pPr marL="742950" indent="-285750" eaLnBrk="0" hangingPunct="0">
              <a:defRPr sz="2400" b="1">
                <a:solidFill>
                  <a:schemeClr val="tx1"/>
                </a:solidFill>
                <a:latin typeface="Tahoma" panose="020B0604030504040204" pitchFamily="34" charset="0"/>
                <a:ea typeface="宋体" panose="02010600030101010101" pitchFamily="2" charset="-122"/>
              </a:defRPr>
            </a:lvl2pPr>
            <a:lvl3pPr marL="1143000" indent="-228600" eaLnBrk="0" hangingPunct="0">
              <a:defRPr sz="2400" b="1">
                <a:solidFill>
                  <a:schemeClr val="tx1"/>
                </a:solidFill>
                <a:latin typeface="Tahoma" panose="020B0604030504040204" pitchFamily="34" charset="0"/>
                <a:ea typeface="宋体" panose="02010600030101010101" pitchFamily="2" charset="-122"/>
              </a:defRPr>
            </a:lvl3pPr>
            <a:lvl4pPr marL="1600200" indent="-228600" eaLnBrk="0" hangingPunct="0">
              <a:defRPr sz="2400" b="1">
                <a:solidFill>
                  <a:schemeClr val="tx1"/>
                </a:solidFill>
                <a:latin typeface="Tahoma" panose="020B0604030504040204" pitchFamily="34" charset="0"/>
                <a:ea typeface="宋体" panose="02010600030101010101" pitchFamily="2" charset="-122"/>
              </a:defRPr>
            </a:lvl4pPr>
            <a:lvl5pPr marL="2057400" indent="-228600" eaLnBrk="0" hangingPunct="0">
              <a:defRPr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28" name="Rectangle 4"/>
          <p:cNvSpPr>
            <a:spLocks noChangeArrowheads="1"/>
          </p:cNvSpPr>
          <p:nvPr/>
        </p:nvSpPr>
        <p:spPr bwMode="ltGray">
          <a:xfrm>
            <a:off x="541338" y="1322388"/>
            <a:ext cx="422275" cy="474663"/>
          </a:xfrm>
          <a:prstGeom prst="rect">
            <a:avLst/>
          </a:prstGeom>
          <a:solidFill>
            <a:schemeClr val="folHlink"/>
          </a:solidFill>
          <a:ln>
            <a:noFill/>
          </a:ln>
          <a:effectLst/>
        </p:spPr>
        <p:txBody>
          <a:bodyPr wrap="none" anchor="ctr"/>
          <a:lstStyle>
            <a:lvl1pPr eaLnBrk="0" hangingPunct="0">
              <a:defRPr sz="2400" b="1">
                <a:solidFill>
                  <a:schemeClr val="tx1"/>
                </a:solidFill>
                <a:latin typeface="Tahoma" panose="020B0604030504040204" pitchFamily="34" charset="0"/>
                <a:ea typeface="宋体" panose="02010600030101010101" pitchFamily="2" charset="-122"/>
              </a:defRPr>
            </a:lvl1pPr>
            <a:lvl2pPr marL="742950" indent="-285750" eaLnBrk="0" hangingPunct="0">
              <a:defRPr sz="2400" b="1">
                <a:solidFill>
                  <a:schemeClr val="tx1"/>
                </a:solidFill>
                <a:latin typeface="Tahoma" panose="020B0604030504040204" pitchFamily="34" charset="0"/>
                <a:ea typeface="宋体" panose="02010600030101010101" pitchFamily="2" charset="-122"/>
              </a:defRPr>
            </a:lvl2pPr>
            <a:lvl3pPr marL="1143000" indent="-228600" eaLnBrk="0" hangingPunct="0">
              <a:defRPr sz="2400" b="1">
                <a:solidFill>
                  <a:schemeClr val="tx1"/>
                </a:solidFill>
                <a:latin typeface="Tahoma" panose="020B0604030504040204" pitchFamily="34" charset="0"/>
                <a:ea typeface="宋体" panose="02010600030101010101" pitchFamily="2" charset="-122"/>
              </a:defRPr>
            </a:lvl3pPr>
            <a:lvl4pPr marL="1600200" indent="-228600" eaLnBrk="0" hangingPunct="0">
              <a:defRPr sz="2400" b="1">
                <a:solidFill>
                  <a:schemeClr val="tx1"/>
                </a:solidFill>
                <a:latin typeface="Tahoma" panose="020B0604030504040204" pitchFamily="34" charset="0"/>
                <a:ea typeface="宋体" panose="02010600030101010101" pitchFamily="2" charset="-122"/>
              </a:defRPr>
            </a:lvl4pPr>
            <a:lvl5pPr marL="2057400" indent="-228600" eaLnBrk="0" hangingPunct="0">
              <a:defRPr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29" name="Rectangle 5"/>
          <p:cNvSpPr>
            <a:spLocks noChangeArrowheads="1"/>
          </p:cNvSpPr>
          <p:nvPr/>
        </p:nvSpPr>
        <p:spPr bwMode="ltGray">
          <a:xfrm>
            <a:off x="911225" y="1322388"/>
            <a:ext cx="368300" cy="474663"/>
          </a:xfrm>
          <a:prstGeom prst="rect">
            <a:avLst/>
          </a:prstGeom>
          <a:gradFill rotWithShape="0">
            <a:gsLst>
              <a:gs pos="0">
                <a:schemeClr val="folHlink"/>
              </a:gs>
              <a:gs pos="100000">
                <a:schemeClr val="bg1"/>
              </a:gs>
            </a:gsLst>
            <a:lin ang="0" scaled="1"/>
          </a:gradFill>
          <a:ln>
            <a:noFill/>
          </a:ln>
          <a:effectLst/>
        </p:spPr>
        <p:txBody>
          <a:bodyPr wrap="none" anchor="ctr"/>
          <a:lstStyle>
            <a:lvl1pPr eaLnBrk="0" hangingPunct="0">
              <a:defRPr sz="2400" b="1">
                <a:solidFill>
                  <a:schemeClr val="tx1"/>
                </a:solidFill>
                <a:latin typeface="Tahoma" panose="020B0604030504040204" pitchFamily="34" charset="0"/>
                <a:ea typeface="宋体" panose="02010600030101010101" pitchFamily="2" charset="-122"/>
              </a:defRPr>
            </a:lvl1pPr>
            <a:lvl2pPr marL="742950" indent="-285750" eaLnBrk="0" hangingPunct="0">
              <a:defRPr sz="2400" b="1">
                <a:solidFill>
                  <a:schemeClr val="tx1"/>
                </a:solidFill>
                <a:latin typeface="Tahoma" panose="020B0604030504040204" pitchFamily="34" charset="0"/>
                <a:ea typeface="宋体" panose="02010600030101010101" pitchFamily="2" charset="-122"/>
              </a:defRPr>
            </a:lvl2pPr>
            <a:lvl3pPr marL="1143000" indent="-228600" eaLnBrk="0" hangingPunct="0">
              <a:defRPr sz="2400" b="1">
                <a:solidFill>
                  <a:schemeClr val="tx1"/>
                </a:solidFill>
                <a:latin typeface="Tahoma" panose="020B0604030504040204" pitchFamily="34" charset="0"/>
                <a:ea typeface="宋体" panose="02010600030101010101" pitchFamily="2" charset="-122"/>
              </a:defRPr>
            </a:lvl3pPr>
            <a:lvl4pPr marL="1600200" indent="-228600" eaLnBrk="0" hangingPunct="0">
              <a:defRPr sz="2400" b="1">
                <a:solidFill>
                  <a:schemeClr val="tx1"/>
                </a:solidFill>
                <a:latin typeface="Tahoma" panose="020B0604030504040204" pitchFamily="34" charset="0"/>
                <a:ea typeface="宋体" panose="02010600030101010101" pitchFamily="2" charset="-122"/>
              </a:defRPr>
            </a:lvl4pPr>
            <a:lvl5pPr marL="2057400" indent="-228600" eaLnBrk="0" hangingPunct="0">
              <a:defRPr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30" name="Rectangle 6"/>
          <p:cNvSpPr>
            <a:spLocks noChangeArrowheads="1"/>
          </p:cNvSpPr>
          <p:nvPr/>
        </p:nvSpPr>
        <p:spPr bwMode="ltGray">
          <a:xfrm>
            <a:off x="127000" y="1249363"/>
            <a:ext cx="560388" cy="422275"/>
          </a:xfrm>
          <a:prstGeom prst="rect">
            <a:avLst/>
          </a:prstGeom>
          <a:gradFill rotWithShape="0">
            <a:gsLst>
              <a:gs pos="0">
                <a:schemeClr val="bg1"/>
              </a:gs>
              <a:gs pos="100000">
                <a:schemeClr val="hlink"/>
              </a:gs>
            </a:gsLst>
            <a:lin ang="18900000" scaled="1"/>
          </a:gradFill>
          <a:ln>
            <a:noFill/>
          </a:ln>
          <a:effectLst/>
        </p:spPr>
        <p:txBody>
          <a:bodyPr wrap="none" anchor="ctr"/>
          <a:lstStyle>
            <a:lvl1pPr eaLnBrk="0" hangingPunct="0">
              <a:defRPr sz="2400" b="1">
                <a:solidFill>
                  <a:schemeClr val="tx1"/>
                </a:solidFill>
                <a:latin typeface="Tahoma" panose="020B0604030504040204" pitchFamily="34" charset="0"/>
                <a:ea typeface="宋体" panose="02010600030101010101" pitchFamily="2" charset="-122"/>
              </a:defRPr>
            </a:lvl1pPr>
            <a:lvl2pPr marL="742950" indent="-285750" eaLnBrk="0" hangingPunct="0">
              <a:defRPr sz="2400" b="1">
                <a:solidFill>
                  <a:schemeClr val="tx1"/>
                </a:solidFill>
                <a:latin typeface="Tahoma" panose="020B0604030504040204" pitchFamily="34" charset="0"/>
                <a:ea typeface="宋体" panose="02010600030101010101" pitchFamily="2" charset="-122"/>
              </a:defRPr>
            </a:lvl2pPr>
            <a:lvl3pPr marL="1143000" indent="-228600" eaLnBrk="0" hangingPunct="0">
              <a:defRPr sz="2400" b="1">
                <a:solidFill>
                  <a:schemeClr val="tx1"/>
                </a:solidFill>
                <a:latin typeface="Tahoma" panose="020B0604030504040204" pitchFamily="34" charset="0"/>
                <a:ea typeface="宋体" panose="02010600030101010101" pitchFamily="2" charset="-122"/>
              </a:defRPr>
            </a:lvl3pPr>
            <a:lvl4pPr marL="1600200" indent="-228600" eaLnBrk="0" hangingPunct="0">
              <a:defRPr sz="2400" b="1">
                <a:solidFill>
                  <a:schemeClr val="tx1"/>
                </a:solidFill>
                <a:latin typeface="Tahoma" panose="020B0604030504040204" pitchFamily="34" charset="0"/>
                <a:ea typeface="宋体" panose="02010600030101010101" pitchFamily="2" charset="-122"/>
              </a:defRPr>
            </a:lvl4pPr>
            <a:lvl5pPr marL="2057400" indent="-228600" eaLnBrk="0" hangingPunct="0">
              <a:defRPr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31" name="Rectangle 7"/>
          <p:cNvSpPr>
            <a:spLocks noChangeArrowheads="1"/>
          </p:cNvSpPr>
          <p:nvPr/>
        </p:nvSpPr>
        <p:spPr bwMode="gray">
          <a:xfrm>
            <a:off x="762000" y="792163"/>
            <a:ext cx="31750" cy="1052513"/>
          </a:xfrm>
          <a:prstGeom prst="rect">
            <a:avLst/>
          </a:prstGeom>
          <a:solidFill>
            <a:schemeClr val="bg2"/>
          </a:solidFill>
          <a:ln>
            <a:noFill/>
          </a:ln>
          <a:effectLst/>
        </p:spPr>
        <p:txBody>
          <a:bodyPr wrap="none" anchor="ctr"/>
          <a:lstStyle>
            <a:lvl1pPr eaLnBrk="0" hangingPunct="0">
              <a:defRPr sz="2400" b="1">
                <a:solidFill>
                  <a:schemeClr val="tx1"/>
                </a:solidFill>
                <a:latin typeface="Tahoma" panose="020B0604030504040204" pitchFamily="34" charset="0"/>
                <a:ea typeface="宋体" panose="02010600030101010101" pitchFamily="2" charset="-122"/>
              </a:defRPr>
            </a:lvl1pPr>
            <a:lvl2pPr marL="742950" indent="-285750" eaLnBrk="0" hangingPunct="0">
              <a:defRPr sz="2400" b="1">
                <a:solidFill>
                  <a:schemeClr val="tx1"/>
                </a:solidFill>
                <a:latin typeface="Tahoma" panose="020B0604030504040204" pitchFamily="34" charset="0"/>
                <a:ea typeface="宋体" panose="02010600030101010101" pitchFamily="2" charset="-122"/>
              </a:defRPr>
            </a:lvl2pPr>
            <a:lvl3pPr marL="1143000" indent="-228600" eaLnBrk="0" hangingPunct="0">
              <a:defRPr sz="2400" b="1">
                <a:solidFill>
                  <a:schemeClr val="tx1"/>
                </a:solidFill>
                <a:latin typeface="Tahoma" panose="020B0604030504040204" pitchFamily="34" charset="0"/>
                <a:ea typeface="宋体" panose="02010600030101010101" pitchFamily="2" charset="-122"/>
              </a:defRPr>
            </a:lvl3pPr>
            <a:lvl4pPr marL="1600200" indent="-228600" eaLnBrk="0" hangingPunct="0">
              <a:defRPr sz="2400" b="1">
                <a:solidFill>
                  <a:schemeClr val="tx1"/>
                </a:solidFill>
                <a:latin typeface="Tahoma" panose="020B0604030504040204" pitchFamily="34" charset="0"/>
                <a:ea typeface="宋体" panose="02010600030101010101" pitchFamily="2" charset="-122"/>
              </a:defRPr>
            </a:lvl4pPr>
            <a:lvl5pPr marL="2057400" indent="-228600" eaLnBrk="0" hangingPunct="0">
              <a:defRPr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32" name="Rectangle 8"/>
          <p:cNvSpPr>
            <a:spLocks noChangeArrowheads="1"/>
          </p:cNvSpPr>
          <p:nvPr/>
        </p:nvSpPr>
        <p:spPr bwMode="gray">
          <a:xfrm>
            <a:off x="684213" y="1412875"/>
            <a:ext cx="8226425" cy="31750"/>
          </a:xfrm>
          <a:prstGeom prst="rect">
            <a:avLst/>
          </a:prstGeom>
          <a:gradFill rotWithShape="0">
            <a:gsLst>
              <a:gs pos="0">
                <a:schemeClr val="bg2"/>
              </a:gs>
              <a:gs pos="100000">
                <a:schemeClr val="bg1"/>
              </a:gs>
            </a:gsLst>
            <a:lin ang="0" scaled="1"/>
          </a:gradFill>
          <a:ln>
            <a:noFill/>
          </a:ln>
          <a:effectLst/>
        </p:spPr>
        <p:txBody>
          <a:bodyPr wrap="none" anchor="ctr"/>
          <a:lstStyle>
            <a:lvl1pPr eaLnBrk="0" hangingPunct="0">
              <a:defRPr sz="2400" b="1">
                <a:solidFill>
                  <a:schemeClr val="tx1"/>
                </a:solidFill>
                <a:latin typeface="Tahoma" panose="020B0604030504040204" pitchFamily="34" charset="0"/>
                <a:ea typeface="宋体" panose="02010600030101010101" pitchFamily="2" charset="-122"/>
              </a:defRPr>
            </a:lvl1pPr>
            <a:lvl2pPr marL="742950" indent="-285750" eaLnBrk="0" hangingPunct="0">
              <a:defRPr sz="2400" b="1">
                <a:solidFill>
                  <a:schemeClr val="tx1"/>
                </a:solidFill>
                <a:latin typeface="Tahoma" panose="020B0604030504040204" pitchFamily="34" charset="0"/>
                <a:ea typeface="宋体" panose="02010600030101010101" pitchFamily="2" charset="-122"/>
              </a:defRPr>
            </a:lvl2pPr>
            <a:lvl3pPr marL="1143000" indent="-228600" eaLnBrk="0" hangingPunct="0">
              <a:defRPr sz="2400" b="1">
                <a:solidFill>
                  <a:schemeClr val="tx1"/>
                </a:solidFill>
                <a:latin typeface="Tahoma" panose="020B0604030504040204" pitchFamily="34" charset="0"/>
                <a:ea typeface="宋体" panose="02010600030101010101" pitchFamily="2" charset="-122"/>
              </a:defRPr>
            </a:lvl3pPr>
            <a:lvl4pPr marL="1600200" indent="-228600" eaLnBrk="0" hangingPunct="0">
              <a:defRPr sz="2400" b="1">
                <a:solidFill>
                  <a:schemeClr val="tx1"/>
                </a:solidFill>
                <a:latin typeface="Tahoma" panose="020B0604030504040204" pitchFamily="34" charset="0"/>
                <a:ea typeface="宋体" panose="02010600030101010101" pitchFamily="2" charset="-122"/>
              </a:defRPr>
            </a:lvl4pPr>
            <a:lvl5pPr marL="2057400" indent="-228600" eaLnBrk="0" hangingPunct="0">
              <a:defRPr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33" name="Rectangle 9"/>
          <p:cNvSpPr>
            <a:spLocks noGrp="1"/>
          </p:cNvSpPr>
          <p:nvPr>
            <p:ph type="title"/>
          </p:nvPr>
        </p:nvSpPr>
        <p:spPr>
          <a:xfrm>
            <a:off x="1150938" y="214313"/>
            <a:ext cx="7793037" cy="911225"/>
          </a:xfrm>
          <a:prstGeom prst="rect">
            <a:avLst/>
          </a:prstGeom>
          <a:noFill/>
          <a:ln w="9525">
            <a:noFill/>
          </a:ln>
        </p:spPr>
        <p:txBody>
          <a:bodyPr anchor="b" anchorCtr="0"/>
          <a:p>
            <a:pPr lvl="0"/>
            <a:r>
              <a:rPr lang="zh-CN" altLang="en-US" dirty="0"/>
              <a:t>单击此处编辑母版标题样式</a:t>
            </a:r>
            <a:endParaRPr lang="zh-CN" altLang="en-US" dirty="0"/>
          </a:p>
        </p:txBody>
      </p:sp>
      <p:sp>
        <p:nvSpPr>
          <p:cNvPr id="1034" name="Rectangle 10"/>
          <p:cNvSpPr>
            <a:spLocks noGrp="1"/>
          </p:cNvSpPr>
          <p:nvPr>
            <p:ph type="body"/>
          </p:nvPr>
        </p:nvSpPr>
        <p:spPr>
          <a:xfrm>
            <a:off x="971550" y="1628775"/>
            <a:ext cx="7772400" cy="467995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46443" name="Rectangle 11"/>
          <p:cNvSpPr>
            <a:spLocks noGrp="1" noChangeArrowheads="1"/>
          </p:cNvSpPr>
          <p:nvPr>
            <p:ph type="dt" sz="half" idx="2"/>
          </p:nvPr>
        </p:nvSpPr>
        <p:spPr bwMode="auto">
          <a:xfrm>
            <a:off x="1162050" y="6243638"/>
            <a:ext cx="1905000" cy="457200"/>
          </a:xfrm>
          <a:prstGeom prst="rect">
            <a:avLst/>
          </a:prstGeom>
          <a:noFill/>
          <a:ln>
            <a:noFill/>
          </a:ln>
          <a:effectLst/>
        </p:spPr>
        <p:txBody>
          <a:bodyPr vert="horz" wrap="square" lIns="91440" tIns="45720" rIns="91440" bIns="45720" numCol="1" anchor="b" anchorCtr="0" compatLnSpc="1"/>
          <a:lstStyle>
            <a:lvl1pPr eaLnBrk="1" hangingPunct="1">
              <a:defRPr sz="1400" b="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46444" name="Rectangle 12"/>
          <p:cNvSpPr>
            <a:spLocks noGrp="1" noChangeArrowheads="1"/>
          </p:cNvSpPr>
          <p:nvPr>
            <p:ph type="ftr" sz="quarter" idx="3"/>
          </p:nvPr>
        </p:nvSpPr>
        <p:spPr bwMode="auto">
          <a:xfrm>
            <a:off x="3657600" y="6243638"/>
            <a:ext cx="2895600" cy="457200"/>
          </a:xfrm>
          <a:prstGeom prst="rect">
            <a:avLst/>
          </a:prstGeom>
          <a:noFill/>
          <a:ln>
            <a:noFill/>
          </a:ln>
          <a:effectLst/>
        </p:spPr>
        <p:txBody>
          <a:bodyPr vert="horz" wrap="square" lIns="91440" tIns="45720" rIns="91440" bIns="45720" numCol="1" anchor="b" anchorCtr="0" compatLnSpc="1"/>
          <a:lstStyle>
            <a:lvl1pPr algn="ctr" eaLnBrk="1" hangingPunct="1">
              <a:defRPr sz="1400" b="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46445" name="Rectangle 13"/>
          <p:cNvSpPr>
            <a:spLocks noGrp="1" noChangeArrowheads="1"/>
          </p:cNvSpPr>
          <p:nvPr>
            <p:ph type="sldNum" sz="quarter" idx="4"/>
          </p:nvPr>
        </p:nvSpPr>
        <p:spPr bwMode="auto">
          <a:xfrm>
            <a:off x="7042150" y="6243638"/>
            <a:ext cx="1905000" cy="457200"/>
          </a:xfrm>
          <a:prstGeom prst="rect">
            <a:avLst/>
          </a:prstGeom>
          <a:noFill/>
          <a:ln>
            <a:noFill/>
          </a:ln>
          <a:effectLst/>
        </p:spPr>
        <p:txBody>
          <a:bodyPr vert="horz" wrap="square" lIns="91440" tIns="45720" rIns="91440" bIns="45720" numCol="1" anchor="b" anchorCtr="0" compatLnSpc="1"/>
          <a:lstStyle>
            <a:lvl1pPr algn="r">
              <a:defRPr sz="1400" b="0"/>
            </a:lvl1pPr>
          </a:lstStyle>
          <a:p>
            <a:pPr lvl="0" eaLnBrk="1" hangingPunct="1"/>
            <a:fld id="{9A0DB2DC-4C9A-4742-B13C-FB6460FD3503}" type="slidenum">
              <a:rPr lang="en-US" altLang="zh-CN" dirty="0">
                <a:latin typeface="Tahoma" panose="020B0604030504040204" pitchFamily="34" charset="0"/>
              </a:rPr>
            </a:fld>
            <a:endParaRPr lang="en-US" altLang="zh-CN" dirty="0">
              <a:latin typeface="Tahoma" panose="020B060403050404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random/>
  </p:transition>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ChangeArrowheads="1"/>
          </p:cNvSpPr>
          <p:nvPr/>
        </p:nvSpPr>
        <p:spPr bwMode="ltGray">
          <a:xfrm>
            <a:off x="417513" y="1098550"/>
            <a:ext cx="438150" cy="474663"/>
          </a:xfrm>
          <a:prstGeom prst="rect">
            <a:avLst/>
          </a:prstGeom>
          <a:solidFill>
            <a:schemeClr val="accent2"/>
          </a:solidFill>
          <a:ln>
            <a:noFill/>
          </a:ln>
        </p:spPr>
        <p:txBody>
          <a:bodyPr wrap="none"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027" name="Rectangle 3"/>
          <p:cNvSpPr>
            <a:spLocks noChangeArrowheads="1"/>
          </p:cNvSpPr>
          <p:nvPr/>
        </p:nvSpPr>
        <p:spPr bwMode="ltGray">
          <a:xfrm>
            <a:off x="800100" y="1098550"/>
            <a:ext cx="328613" cy="474663"/>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028" name="Rectangle 4"/>
          <p:cNvSpPr>
            <a:spLocks noChangeArrowheads="1"/>
          </p:cNvSpPr>
          <p:nvPr/>
        </p:nvSpPr>
        <p:spPr bwMode="ltGray">
          <a:xfrm>
            <a:off x="541338" y="1520825"/>
            <a:ext cx="422275" cy="474663"/>
          </a:xfrm>
          <a:prstGeom prst="rect">
            <a:avLst/>
          </a:prstGeom>
          <a:solidFill>
            <a:schemeClr val="folHlink"/>
          </a:solidFill>
          <a:ln>
            <a:noFill/>
          </a:ln>
        </p:spPr>
        <p:txBody>
          <a:bodyPr wrap="none"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029" name="Rectangle 5"/>
          <p:cNvSpPr>
            <a:spLocks noChangeArrowheads="1"/>
          </p:cNvSpPr>
          <p:nvPr/>
        </p:nvSpPr>
        <p:spPr bwMode="ltGray">
          <a:xfrm>
            <a:off x="911225" y="1520825"/>
            <a:ext cx="368300" cy="474663"/>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030" name="Rectangle 6"/>
          <p:cNvSpPr>
            <a:spLocks noChangeArrowheads="1"/>
          </p:cNvSpPr>
          <p:nvPr/>
        </p:nvSpPr>
        <p:spPr bwMode="ltGray">
          <a:xfrm>
            <a:off x="127000" y="1447800"/>
            <a:ext cx="560388" cy="422275"/>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031" name="Rectangle 7"/>
          <p:cNvSpPr>
            <a:spLocks noChangeArrowheads="1"/>
          </p:cNvSpPr>
          <p:nvPr/>
        </p:nvSpPr>
        <p:spPr bwMode="gray">
          <a:xfrm>
            <a:off x="762000" y="990600"/>
            <a:ext cx="31750" cy="1052513"/>
          </a:xfrm>
          <a:prstGeom prst="rect">
            <a:avLst/>
          </a:prstGeom>
          <a:solidFill>
            <a:schemeClr val="bg2"/>
          </a:solidFill>
          <a:ln>
            <a:noFill/>
          </a:ln>
        </p:spPr>
        <p:txBody>
          <a:bodyPr wrap="none"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032" name="Rectangle 8"/>
          <p:cNvSpPr>
            <a:spLocks noChangeArrowheads="1"/>
          </p:cNvSpPr>
          <p:nvPr/>
        </p:nvSpPr>
        <p:spPr bwMode="gray">
          <a:xfrm>
            <a:off x="442913" y="1781175"/>
            <a:ext cx="8226425" cy="31750"/>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2057" name="Rectangle 9"/>
          <p:cNvSpPr>
            <a:spLocks noGrp="1"/>
          </p:cNvSpPr>
          <p:nvPr>
            <p:ph type="title"/>
          </p:nvPr>
        </p:nvSpPr>
        <p:spPr>
          <a:xfrm>
            <a:off x="1150938" y="214313"/>
            <a:ext cx="7793037" cy="1462087"/>
          </a:xfrm>
          <a:prstGeom prst="rect">
            <a:avLst/>
          </a:prstGeom>
          <a:noFill/>
          <a:ln w="9525">
            <a:noFill/>
          </a:ln>
        </p:spPr>
        <p:txBody>
          <a:bodyPr anchor="b" anchorCtr="0"/>
          <a:p>
            <a:pPr lvl="0"/>
            <a:r>
              <a:rPr lang="zh-CN" altLang="en-US" dirty="0"/>
              <a:t>单击此处编辑母版标题样式</a:t>
            </a:r>
            <a:endParaRPr lang="zh-CN" altLang="en-US" dirty="0"/>
          </a:p>
        </p:txBody>
      </p:sp>
      <p:sp>
        <p:nvSpPr>
          <p:cNvPr id="2058" name="Rectangle 10"/>
          <p:cNvSpPr>
            <a:spLocks noGrp="1"/>
          </p:cNvSpPr>
          <p:nvPr>
            <p:ph type="body"/>
          </p:nvPr>
        </p:nvSpPr>
        <p:spPr>
          <a:xfrm>
            <a:off x="1182688" y="2017713"/>
            <a:ext cx="7772400" cy="41148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7899" name="Rectangle 11"/>
          <p:cNvSpPr>
            <a:spLocks noGrp="1" noChangeArrowheads="1"/>
          </p:cNvSpPr>
          <p:nvPr>
            <p:ph type="dt" sz="half" idx="2"/>
          </p:nvPr>
        </p:nvSpPr>
        <p:spPr bwMode="auto">
          <a:xfrm>
            <a:off x="1162050" y="6243638"/>
            <a:ext cx="19050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400" b="0">
                <a:solidFill>
                  <a:srgbClr val="000000"/>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37900" name="Rectangle 12"/>
          <p:cNvSpPr>
            <a:spLocks noGrp="1" noChangeArrowheads="1"/>
          </p:cNvSpPr>
          <p:nvPr>
            <p:ph type="ftr" sz="quarter" idx="3"/>
          </p:nvPr>
        </p:nvSpPr>
        <p:spPr bwMode="auto">
          <a:xfrm>
            <a:off x="3657600" y="6243638"/>
            <a:ext cx="2895600" cy="457200"/>
          </a:xfrm>
          <a:prstGeom prst="rect">
            <a:avLst/>
          </a:prstGeom>
          <a:noFill/>
          <a:ln w="9525">
            <a:noFill/>
            <a:miter lim="800000"/>
          </a:ln>
          <a:effectLst/>
        </p:spPr>
        <p:txBody>
          <a:bodyPr vert="horz" wrap="square" lIns="91440" tIns="45720" rIns="91440" bIns="45720" numCol="1" anchor="b" anchorCtr="0" compatLnSpc="1"/>
          <a:lstStyle>
            <a:lvl1pPr algn="ctr" eaLnBrk="1" hangingPunct="1">
              <a:defRPr sz="1400" b="0">
                <a:solidFill>
                  <a:srgbClr val="000000"/>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37901" name="Rectangle 13"/>
          <p:cNvSpPr>
            <a:spLocks noGrp="1" noChangeArrowheads="1"/>
          </p:cNvSpPr>
          <p:nvPr>
            <p:ph type="sldNum" sz="quarter" idx="4"/>
          </p:nvPr>
        </p:nvSpPr>
        <p:spPr bwMode="auto">
          <a:xfrm>
            <a:off x="7042150" y="6243638"/>
            <a:ext cx="1905000" cy="457200"/>
          </a:xfrm>
          <a:prstGeom prst="rect">
            <a:avLst/>
          </a:prstGeom>
          <a:noFill/>
          <a:ln w="9525">
            <a:noFill/>
            <a:miter lim="800000"/>
          </a:ln>
          <a:effectLst/>
        </p:spPr>
        <p:txBody>
          <a:bodyPr vert="horz" wrap="square" lIns="91440" tIns="45720" rIns="91440" bIns="45720" numCol="1" anchor="b" anchorCtr="0" compatLnSpc="1"/>
          <a:lstStyle>
            <a:lvl1pPr algn="r">
              <a:defRPr sz="1400" b="0">
                <a:solidFill>
                  <a:srgbClr val="000000"/>
                </a:solidFill>
              </a:defRPr>
            </a:lvl1pPr>
          </a:lstStyle>
          <a:p>
            <a:pPr lvl="0" eaLnBrk="1" hangingPunct="1"/>
            <a:fld id="{9A0DB2DC-4C9A-4742-B13C-FB6460FD3503}" type="slidenum">
              <a:rPr lang="en-US" altLang="zh-CN" dirty="0">
                <a:latin typeface="Tahoma" panose="020B0604030504040204" pitchFamily="34" charset="0"/>
              </a:rPr>
            </a:fld>
            <a:endParaRPr lang="en-US" altLang="zh-CN" dirty="0">
              <a:latin typeface="Tahoma" panose="020B0604030504040204" pitchFamily="34" charset="0"/>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sldNum="0" hdr="0" ftr="0" dt="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ChangeArrowheads="1"/>
          </p:cNvSpPr>
          <p:nvPr/>
        </p:nvSpPr>
        <p:spPr bwMode="ltGray">
          <a:xfrm>
            <a:off x="417513" y="1098550"/>
            <a:ext cx="438150" cy="474663"/>
          </a:xfrm>
          <a:prstGeom prst="rect">
            <a:avLst/>
          </a:prstGeom>
          <a:solidFill>
            <a:schemeClr val="accent2"/>
          </a:solidFill>
          <a:ln>
            <a:noFill/>
          </a:ln>
        </p:spPr>
        <p:txBody>
          <a:bodyPr wrap="none"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027" name="Rectangle 3"/>
          <p:cNvSpPr>
            <a:spLocks noChangeArrowheads="1"/>
          </p:cNvSpPr>
          <p:nvPr/>
        </p:nvSpPr>
        <p:spPr bwMode="ltGray">
          <a:xfrm>
            <a:off x="800100" y="1098550"/>
            <a:ext cx="328613" cy="474663"/>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028" name="Rectangle 4"/>
          <p:cNvSpPr>
            <a:spLocks noChangeArrowheads="1"/>
          </p:cNvSpPr>
          <p:nvPr/>
        </p:nvSpPr>
        <p:spPr bwMode="ltGray">
          <a:xfrm>
            <a:off x="541338" y="1520825"/>
            <a:ext cx="422275" cy="474663"/>
          </a:xfrm>
          <a:prstGeom prst="rect">
            <a:avLst/>
          </a:prstGeom>
          <a:solidFill>
            <a:schemeClr val="folHlink"/>
          </a:solidFill>
          <a:ln>
            <a:noFill/>
          </a:ln>
        </p:spPr>
        <p:txBody>
          <a:bodyPr wrap="none"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029" name="Rectangle 5"/>
          <p:cNvSpPr>
            <a:spLocks noChangeArrowheads="1"/>
          </p:cNvSpPr>
          <p:nvPr/>
        </p:nvSpPr>
        <p:spPr bwMode="ltGray">
          <a:xfrm>
            <a:off x="911225" y="1520825"/>
            <a:ext cx="368300" cy="474663"/>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030" name="Rectangle 6"/>
          <p:cNvSpPr>
            <a:spLocks noChangeArrowheads="1"/>
          </p:cNvSpPr>
          <p:nvPr/>
        </p:nvSpPr>
        <p:spPr bwMode="ltGray">
          <a:xfrm>
            <a:off x="127000" y="1447800"/>
            <a:ext cx="560388" cy="422275"/>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031" name="Rectangle 7"/>
          <p:cNvSpPr>
            <a:spLocks noChangeArrowheads="1"/>
          </p:cNvSpPr>
          <p:nvPr/>
        </p:nvSpPr>
        <p:spPr bwMode="gray">
          <a:xfrm>
            <a:off x="762000" y="990600"/>
            <a:ext cx="31750" cy="1052513"/>
          </a:xfrm>
          <a:prstGeom prst="rect">
            <a:avLst/>
          </a:prstGeom>
          <a:solidFill>
            <a:schemeClr val="bg2"/>
          </a:solidFill>
          <a:ln>
            <a:noFill/>
          </a:ln>
        </p:spPr>
        <p:txBody>
          <a:bodyPr wrap="none"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032" name="Rectangle 8"/>
          <p:cNvSpPr>
            <a:spLocks noChangeArrowheads="1"/>
          </p:cNvSpPr>
          <p:nvPr/>
        </p:nvSpPr>
        <p:spPr bwMode="gray">
          <a:xfrm>
            <a:off x="442913" y="1781175"/>
            <a:ext cx="8226425" cy="31750"/>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3081" name="Rectangle 9"/>
          <p:cNvSpPr>
            <a:spLocks noGrp="1"/>
          </p:cNvSpPr>
          <p:nvPr>
            <p:ph type="title"/>
          </p:nvPr>
        </p:nvSpPr>
        <p:spPr>
          <a:xfrm>
            <a:off x="1150938" y="214313"/>
            <a:ext cx="7793037" cy="1462087"/>
          </a:xfrm>
          <a:prstGeom prst="rect">
            <a:avLst/>
          </a:prstGeom>
          <a:noFill/>
          <a:ln w="9525">
            <a:noFill/>
          </a:ln>
        </p:spPr>
        <p:txBody>
          <a:bodyPr anchor="b" anchorCtr="0"/>
          <a:p>
            <a:pPr lvl="0"/>
            <a:r>
              <a:rPr lang="zh-CN" altLang="en-US" dirty="0"/>
              <a:t>单击此处编辑母版标题样式</a:t>
            </a:r>
            <a:endParaRPr lang="zh-CN" altLang="en-US" dirty="0"/>
          </a:p>
        </p:txBody>
      </p:sp>
      <p:sp>
        <p:nvSpPr>
          <p:cNvPr id="3082" name="Rectangle 10"/>
          <p:cNvSpPr>
            <a:spLocks noGrp="1"/>
          </p:cNvSpPr>
          <p:nvPr>
            <p:ph type="body"/>
          </p:nvPr>
        </p:nvSpPr>
        <p:spPr>
          <a:xfrm>
            <a:off x="1182688" y="2017713"/>
            <a:ext cx="7772400" cy="41148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7899" name="Rectangle 11"/>
          <p:cNvSpPr>
            <a:spLocks noGrp="1" noChangeArrowheads="1"/>
          </p:cNvSpPr>
          <p:nvPr>
            <p:ph type="dt" sz="half" idx="2"/>
          </p:nvPr>
        </p:nvSpPr>
        <p:spPr bwMode="auto">
          <a:xfrm>
            <a:off x="1162050" y="6243638"/>
            <a:ext cx="19050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400" b="0">
                <a:solidFill>
                  <a:srgbClr val="000000"/>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37900" name="Rectangle 12"/>
          <p:cNvSpPr>
            <a:spLocks noGrp="1" noChangeArrowheads="1"/>
          </p:cNvSpPr>
          <p:nvPr>
            <p:ph type="ftr" sz="quarter" idx="3"/>
          </p:nvPr>
        </p:nvSpPr>
        <p:spPr bwMode="auto">
          <a:xfrm>
            <a:off x="3657600" y="6243638"/>
            <a:ext cx="2895600" cy="457200"/>
          </a:xfrm>
          <a:prstGeom prst="rect">
            <a:avLst/>
          </a:prstGeom>
          <a:noFill/>
          <a:ln w="9525">
            <a:noFill/>
            <a:miter lim="800000"/>
          </a:ln>
          <a:effectLst/>
        </p:spPr>
        <p:txBody>
          <a:bodyPr vert="horz" wrap="square" lIns="91440" tIns="45720" rIns="91440" bIns="45720" numCol="1" anchor="b" anchorCtr="0" compatLnSpc="1"/>
          <a:lstStyle>
            <a:lvl1pPr algn="ctr" eaLnBrk="1" hangingPunct="1">
              <a:defRPr sz="1400" b="0">
                <a:solidFill>
                  <a:srgbClr val="000000"/>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37901" name="Rectangle 13"/>
          <p:cNvSpPr>
            <a:spLocks noGrp="1" noChangeArrowheads="1"/>
          </p:cNvSpPr>
          <p:nvPr>
            <p:ph type="sldNum" sz="quarter" idx="4"/>
          </p:nvPr>
        </p:nvSpPr>
        <p:spPr bwMode="auto">
          <a:xfrm>
            <a:off x="7042150" y="6243638"/>
            <a:ext cx="1905000" cy="457200"/>
          </a:xfrm>
          <a:prstGeom prst="rect">
            <a:avLst/>
          </a:prstGeom>
          <a:noFill/>
          <a:ln w="9525">
            <a:noFill/>
            <a:miter lim="800000"/>
          </a:ln>
          <a:effectLst/>
        </p:spPr>
        <p:txBody>
          <a:bodyPr vert="horz" wrap="square" lIns="91440" tIns="45720" rIns="91440" bIns="45720" numCol="1" anchor="b" anchorCtr="0" compatLnSpc="1"/>
          <a:lstStyle>
            <a:lvl1pPr algn="r">
              <a:defRPr sz="1400" b="0">
                <a:solidFill>
                  <a:srgbClr val="000000"/>
                </a:solidFill>
              </a:defRPr>
            </a:lvl1pPr>
          </a:lstStyle>
          <a:p>
            <a:pPr lvl="0" eaLnBrk="1" hangingPunct="1"/>
            <a:fld id="{9A0DB2DC-4C9A-4742-B13C-FB6460FD3503}" type="slidenum">
              <a:rPr lang="en-US" altLang="zh-CN" dirty="0">
                <a:latin typeface="Tahoma" panose="020B0604030504040204" pitchFamily="34" charset="0"/>
              </a:rPr>
            </a:fld>
            <a:endParaRPr lang="en-US" altLang="zh-CN" dirty="0">
              <a:latin typeface="Tahoma" panose="020B0604030504040204" pitchFamily="34" charset="0"/>
            </a:endParaRP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sldNum="0" hdr="0" ftr="0" dt="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ChangeArrowheads="1"/>
          </p:cNvSpPr>
          <p:nvPr/>
        </p:nvSpPr>
        <p:spPr bwMode="ltGray">
          <a:xfrm>
            <a:off x="417513" y="1098550"/>
            <a:ext cx="438150" cy="474663"/>
          </a:xfrm>
          <a:prstGeom prst="rect">
            <a:avLst/>
          </a:prstGeom>
          <a:solidFill>
            <a:schemeClr val="accent2"/>
          </a:solidFill>
          <a:ln>
            <a:noFill/>
          </a:ln>
        </p:spPr>
        <p:txBody>
          <a:bodyPr wrap="none"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027" name="Rectangle 3"/>
          <p:cNvSpPr>
            <a:spLocks noChangeArrowheads="1"/>
          </p:cNvSpPr>
          <p:nvPr/>
        </p:nvSpPr>
        <p:spPr bwMode="ltGray">
          <a:xfrm>
            <a:off x="800100" y="1098550"/>
            <a:ext cx="328613" cy="474663"/>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028" name="Rectangle 4"/>
          <p:cNvSpPr>
            <a:spLocks noChangeArrowheads="1"/>
          </p:cNvSpPr>
          <p:nvPr/>
        </p:nvSpPr>
        <p:spPr bwMode="ltGray">
          <a:xfrm>
            <a:off x="541338" y="1520825"/>
            <a:ext cx="422275" cy="474663"/>
          </a:xfrm>
          <a:prstGeom prst="rect">
            <a:avLst/>
          </a:prstGeom>
          <a:solidFill>
            <a:schemeClr val="folHlink"/>
          </a:solidFill>
          <a:ln>
            <a:noFill/>
          </a:ln>
        </p:spPr>
        <p:txBody>
          <a:bodyPr wrap="none"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029" name="Rectangle 5"/>
          <p:cNvSpPr>
            <a:spLocks noChangeArrowheads="1"/>
          </p:cNvSpPr>
          <p:nvPr/>
        </p:nvSpPr>
        <p:spPr bwMode="ltGray">
          <a:xfrm>
            <a:off x="911225" y="1520825"/>
            <a:ext cx="368300" cy="474663"/>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030" name="Rectangle 6"/>
          <p:cNvSpPr>
            <a:spLocks noChangeArrowheads="1"/>
          </p:cNvSpPr>
          <p:nvPr/>
        </p:nvSpPr>
        <p:spPr bwMode="ltGray">
          <a:xfrm>
            <a:off x="127000" y="1447800"/>
            <a:ext cx="560388" cy="422275"/>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031" name="Rectangle 7"/>
          <p:cNvSpPr>
            <a:spLocks noChangeArrowheads="1"/>
          </p:cNvSpPr>
          <p:nvPr/>
        </p:nvSpPr>
        <p:spPr bwMode="gray">
          <a:xfrm>
            <a:off x="762000" y="990600"/>
            <a:ext cx="31750" cy="1052513"/>
          </a:xfrm>
          <a:prstGeom prst="rect">
            <a:avLst/>
          </a:prstGeom>
          <a:solidFill>
            <a:schemeClr val="bg2"/>
          </a:solidFill>
          <a:ln>
            <a:noFill/>
          </a:ln>
        </p:spPr>
        <p:txBody>
          <a:bodyPr wrap="none"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032" name="Rectangle 8"/>
          <p:cNvSpPr>
            <a:spLocks noChangeArrowheads="1"/>
          </p:cNvSpPr>
          <p:nvPr/>
        </p:nvSpPr>
        <p:spPr bwMode="gray">
          <a:xfrm>
            <a:off x="442913" y="1781175"/>
            <a:ext cx="8226425" cy="31750"/>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4105" name="Rectangle 9"/>
          <p:cNvSpPr>
            <a:spLocks noGrp="1"/>
          </p:cNvSpPr>
          <p:nvPr>
            <p:ph type="title"/>
          </p:nvPr>
        </p:nvSpPr>
        <p:spPr>
          <a:xfrm>
            <a:off x="1150938" y="214313"/>
            <a:ext cx="7793037" cy="1462087"/>
          </a:xfrm>
          <a:prstGeom prst="rect">
            <a:avLst/>
          </a:prstGeom>
          <a:noFill/>
          <a:ln w="9525">
            <a:noFill/>
          </a:ln>
        </p:spPr>
        <p:txBody>
          <a:bodyPr anchor="b" anchorCtr="0"/>
          <a:p>
            <a:pPr lvl="0"/>
            <a:r>
              <a:rPr lang="zh-CN" altLang="en-US" dirty="0"/>
              <a:t>单击此处编辑母版标题样式</a:t>
            </a:r>
            <a:endParaRPr lang="zh-CN" altLang="en-US" dirty="0"/>
          </a:p>
        </p:txBody>
      </p:sp>
      <p:sp>
        <p:nvSpPr>
          <p:cNvPr id="4106" name="Rectangle 10"/>
          <p:cNvSpPr>
            <a:spLocks noGrp="1"/>
          </p:cNvSpPr>
          <p:nvPr>
            <p:ph type="body"/>
          </p:nvPr>
        </p:nvSpPr>
        <p:spPr>
          <a:xfrm>
            <a:off x="1182688" y="2017713"/>
            <a:ext cx="7772400" cy="41148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7899" name="Rectangle 11"/>
          <p:cNvSpPr>
            <a:spLocks noGrp="1" noChangeArrowheads="1"/>
          </p:cNvSpPr>
          <p:nvPr>
            <p:ph type="dt" sz="half" idx="2"/>
          </p:nvPr>
        </p:nvSpPr>
        <p:spPr bwMode="auto">
          <a:xfrm>
            <a:off x="1162050" y="6243638"/>
            <a:ext cx="19050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400" b="0">
                <a:solidFill>
                  <a:srgbClr val="000000"/>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37900" name="Rectangle 12"/>
          <p:cNvSpPr>
            <a:spLocks noGrp="1" noChangeArrowheads="1"/>
          </p:cNvSpPr>
          <p:nvPr>
            <p:ph type="ftr" sz="quarter" idx="3"/>
          </p:nvPr>
        </p:nvSpPr>
        <p:spPr bwMode="auto">
          <a:xfrm>
            <a:off x="3657600" y="6243638"/>
            <a:ext cx="2895600" cy="457200"/>
          </a:xfrm>
          <a:prstGeom prst="rect">
            <a:avLst/>
          </a:prstGeom>
          <a:noFill/>
          <a:ln w="9525">
            <a:noFill/>
            <a:miter lim="800000"/>
          </a:ln>
          <a:effectLst/>
        </p:spPr>
        <p:txBody>
          <a:bodyPr vert="horz" wrap="square" lIns="91440" tIns="45720" rIns="91440" bIns="45720" numCol="1" anchor="b" anchorCtr="0" compatLnSpc="1"/>
          <a:lstStyle>
            <a:lvl1pPr algn="ctr" eaLnBrk="1" hangingPunct="1">
              <a:defRPr sz="1400" b="0">
                <a:solidFill>
                  <a:srgbClr val="000000"/>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37901" name="Rectangle 13"/>
          <p:cNvSpPr>
            <a:spLocks noGrp="1" noChangeArrowheads="1"/>
          </p:cNvSpPr>
          <p:nvPr>
            <p:ph type="sldNum" sz="quarter" idx="4"/>
          </p:nvPr>
        </p:nvSpPr>
        <p:spPr bwMode="auto">
          <a:xfrm>
            <a:off x="7042150" y="6243638"/>
            <a:ext cx="1905000" cy="457200"/>
          </a:xfrm>
          <a:prstGeom prst="rect">
            <a:avLst/>
          </a:prstGeom>
          <a:noFill/>
          <a:ln w="9525">
            <a:noFill/>
            <a:miter lim="800000"/>
          </a:ln>
          <a:effectLst/>
        </p:spPr>
        <p:txBody>
          <a:bodyPr vert="horz" wrap="square" lIns="91440" tIns="45720" rIns="91440" bIns="45720" numCol="1" anchor="b" anchorCtr="0" compatLnSpc="1"/>
          <a:lstStyle>
            <a:lvl1pPr algn="r">
              <a:defRPr sz="1400" b="0">
                <a:solidFill>
                  <a:srgbClr val="000000"/>
                </a:solidFill>
              </a:defRPr>
            </a:lvl1pPr>
          </a:lstStyle>
          <a:p>
            <a:pPr lvl="0" eaLnBrk="1" hangingPunct="1"/>
            <a:fld id="{9A0DB2DC-4C9A-4742-B13C-FB6460FD3503}" type="slidenum">
              <a:rPr lang="en-US" altLang="zh-CN" dirty="0">
                <a:latin typeface="Tahoma" panose="020B0604030504040204" pitchFamily="34" charset="0"/>
              </a:rPr>
            </a:fld>
            <a:endParaRPr lang="en-US" altLang="zh-CN" dirty="0">
              <a:latin typeface="Tahoma" panose="020B0604030504040204" pitchFamily="34" charset="0"/>
            </a:endParaRPr>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hf sldNum="0" hdr="0" ftr="0" dt="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slideLayout" Target="../slideLayouts/slideLayout2.xml"/><Relationship Id="rId3" Type="http://schemas.openxmlformats.org/officeDocument/2006/relationships/oleObject" Target="../embeddings/oleObject2.bin"/><Relationship Id="rId2" Type="http://schemas.openxmlformats.org/officeDocument/2006/relationships/image" Target="../media/image3.wmf"/><Relationship Id="rId1" Type="http://schemas.openxmlformats.org/officeDocument/2006/relationships/oleObject" Target="../embeddings/oleObject1.bin"/></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4.emf"/><Relationship Id="rId1" Type="http://schemas.openxmlformats.org/officeDocument/2006/relationships/oleObject" Target="../embeddings/oleObject3.bin"/></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slide" Target="slide8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2.xml"/><Relationship Id="rId2" Type="http://schemas.openxmlformats.org/officeDocument/2006/relationships/image" Target="../media/image6.jpeg"/><Relationship Id="rId1" Type="http://schemas.openxmlformats.org/officeDocument/2006/relationships/image" Target="../media/image5.jpe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2.xml"/><Relationship Id="rId2" Type="http://schemas.openxmlformats.org/officeDocument/2006/relationships/image" Target="../media/image10.jpeg"/><Relationship Id="rId1" Type="http://schemas.openxmlformats.org/officeDocument/2006/relationships/image" Target="../media/image9.jpe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image" Target="../media/image11.jpe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image" Target="../media/image12.jpe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slide" Target="slide6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image" Target="../media/image13.jpe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5" Type="http://schemas.openxmlformats.org/officeDocument/2006/relationships/notesSlide" Target="../notesSlides/notesSlide28.xml"/><Relationship Id="rId4" Type="http://schemas.openxmlformats.org/officeDocument/2006/relationships/slideLayout" Target="../slideLayouts/slideLayout2.xml"/><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image" Target="../media/image14.jpe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2.xml"/><Relationship Id="rId2" Type="http://schemas.openxmlformats.org/officeDocument/2006/relationships/hyperlink" Target="http://baike.baidu.com/view/23880.htm" TargetMode="External"/><Relationship Id="rId1" Type="http://schemas.openxmlformats.org/officeDocument/2006/relationships/hyperlink" Target="http://baike.baidu.com/view/1077.htm" TargetMode="External"/></Relationships>
</file>

<file path=ppt/slides/_rels/slide40.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2.xml"/><Relationship Id="rId2" Type="http://schemas.openxmlformats.org/officeDocument/2006/relationships/hyperlink" Target="http://baike.baidu.com/view/880.htm" TargetMode="External"/><Relationship Id="rId1" Type="http://schemas.openxmlformats.org/officeDocument/2006/relationships/hyperlink" Target="http://baike.baidu.com/view/494802.htm" TargetMode="Externa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4" Type="http://schemas.openxmlformats.org/officeDocument/2006/relationships/notesSlide" Target="../notesSlides/notesSlide36.xml"/><Relationship Id="rId3" Type="http://schemas.openxmlformats.org/officeDocument/2006/relationships/slideLayout" Target="../slideLayouts/slideLayout2.xml"/><Relationship Id="rId2" Type="http://schemas.openxmlformats.org/officeDocument/2006/relationships/image" Target="../media/image18.jpeg"/><Relationship Id="rId1" Type="http://schemas.openxmlformats.org/officeDocument/2006/relationships/image" Target="../media/image17.jpe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hyperlink" Target="http://baike.baidu.com/view/569184.htm" TargetMode="External"/><Relationship Id="rId5" Type="http://schemas.openxmlformats.org/officeDocument/2006/relationships/hyperlink" Target="http://baike.baidu.com/view/4230.htm" TargetMode="External"/><Relationship Id="rId4" Type="http://schemas.openxmlformats.org/officeDocument/2006/relationships/hyperlink" Target="http://baike.baidu.com/view/43200.htm" TargetMode="External"/><Relationship Id="rId3" Type="http://schemas.openxmlformats.org/officeDocument/2006/relationships/hyperlink" Target="http://baike.baidu.com/view/1913658.htm" TargetMode="External"/><Relationship Id="rId2" Type="http://schemas.openxmlformats.org/officeDocument/2006/relationships/hyperlink" Target="http://baike.baidu.com/view/330120.htm" TargetMode="External"/><Relationship Id="rId1" Type="http://schemas.openxmlformats.org/officeDocument/2006/relationships/hyperlink" Target="http://baike.baidu.com/view/813.htm" TargetMode="Externa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2.xml"/><Relationship Id="rId1" Type="http://schemas.openxmlformats.org/officeDocument/2006/relationships/slide" Target="slide31.xml"/></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2.xml"/><Relationship Id="rId1" Type="http://schemas.openxmlformats.org/officeDocument/2006/relationships/image" Target="../media/image19.jpeg"/></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slide" Target="slide1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38.xml"/><Relationship Id="rId1" Type="http://schemas.openxmlformats.org/officeDocument/2006/relationships/image" Target="../media/image20.jpe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jpeg"/></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5" Type="http://schemas.openxmlformats.org/officeDocument/2006/relationships/notesSlide" Target="../notesSlides/notesSlide79.xml"/><Relationship Id="rId4" Type="http://schemas.openxmlformats.org/officeDocument/2006/relationships/vmlDrawing" Target="../drawings/vmlDrawing3.vml"/><Relationship Id="rId3" Type="http://schemas.openxmlformats.org/officeDocument/2006/relationships/slideLayout" Target="../slideLayouts/slideLayout4.xml"/><Relationship Id="rId2" Type="http://schemas.openxmlformats.org/officeDocument/2006/relationships/image" Target="../media/image22.png"/><Relationship Id="rId1" Type="http://schemas.openxmlformats.org/officeDocument/2006/relationships/oleObject" Target="../embeddings/oleObject4.bin"/></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4.jpeg"/><Relationship Id="rId1" Type="http://schemas.openxmlformats.org/officeDocument/2006/relationships/image" Target="../media/image23.jpeg"/></Relationships>
</file>

<file path=ppt/slides/_rels/slide1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6.jpeg"/><Relationship Id="rId1" Type="http://schemas.openxmlformats.org/officeDocument/2006/relationships/image" Target="../media/image25.jpeg"/></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5" Type="http://schemas.openxmlformats.org/officeDocument/2006/relationships/notesSlide" Target="../notesSlides/notesSlide107.xml"/><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27.png"/><Relationship Id="rId1" Type="http://schemas.openxmlformats.org/officeDocument/2006/relationships/oleObject" Target="../embeddings/oleObject5.bin"/></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Rectangle 2"/>
          <p:cNvSpPr>
            <a:spLocks noGrp="1"/>
          </p:cNvSpPr>
          <p:nvPr>
            <p:ph type="ctrTitle"/>
          </p:nvPr>
        </p:nvSpPr>
        <p:spPr>
          <a:xfrm>
            <a:off x="971550" y="1341438"/>
            <a:ext cx="7772400" cy="1462087"/>
          </a:xfrm>
        </p:spPr>
        <p:txBody>
          <a:bodyPr vert="horz" wrap="square" lIns="91440" tIns="45720" rIns="91440" bIns="45720" anchor="b" anchorCtr="0"/>
          <a:p>
            <a:pPr eaLnBrk="1" hangingPunct="1">
              <a:buClrTx/>
              <a:buSzTx/>
              <a:buFontTx/>
            </a:pPr>
            <a:r>
              <a:rPr lang="zh-CN" altLang="en-US" dirty="0">
                <a:latin typeface="+mj-lt"/>
                <a:ea typeface="+mj-ea"/>
                <a:cs typeface="+mj-cs"/>
              </a:rPr>
              <a:t>基本套接字编程  </a:t>
            </a:r>
            <a:endParaRPr lang="zh-CN" altLang="en-US" dirty="0">
              <a:latin typeface="+mj-lt"/>
              <a:ea typeface="+mj-ea"/>
              <a:cs typeface="+mj-cs"/>
            </a:endParaRPr>
          </a:p>
        </p:txBody>
      </p:sp>
    </p:spTree>
  </p:cSld>
  <p:clrMapOvr>
    <a:masterClrMapping/>
  </p:clrMapOvr>
  <p:transition>
    <p:rand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Rectangle 2"/>
          <p:cNvSpPr>
            <a:spLocks noGrp="1"/>
          </p:cNvSpPr>
          <p:nvPr>
            <p:ph type="title"/>
          </p:nvPr>
        </p:nvSpPr>
        <p:spPr>
          <a:xfrm>
            <a:off x="900113" y="641350"/>
            <a:ext cx="7396162" cy="484188"/>
          </a:xfrm>
        </p:spPr>
        <p:txBody>
          <a:bodyPr vert="horz" wrap="square" lIns="91440" tIns="45720" rIns="91440" bIns="45720" anchor="b" anchorCtr="0"/>
          <a:p>
            <a:pPr eaLnBrk="1" hangingPunct="1"/>
            <a:r>
              <a:rPr lang="zh-CN" altLang="en-US" b="1" dirty="0"/>
              <a:t>主要内容</a:t>
            </a:r>
            <a:endParaRPr lang="zh-CN" altLang="en-US" b="1" dirty="0"/>
          </a:p>
        </p:txBody>
      </p:sp>
      <p:sp>
        <p:nvSpPr>
          <p:cNvPr id="12291" name="Rectangle 3"/>
          <p:cNvSpPr>
            <a:spLocks noGrp="1"/>
          </p:cNvSpPr>
          <p:nvPr>
            <p:ph type="body" sz="half" idx="1"/>
          </p:nvPr>
        </p:nvSpPr>
        <p:spPr>
          <a:xfrm>
            <a:off x="1752600" y="2057400"/>
            <a:ext cx="4659313" cy="4114800"/>
          </a:xfrm>
        </p:spPr>
        <p:txBody>
          <a:bodyPr vert="horz" wrap="square" lIns="91440" tIns="45720" rIns="91440" bIns="45720" anchor="t" anchorCtr="0"/>
          <a:p>
            <a:pPr eaLnBrk="1" hangingPunct="1">
              <a:buClr>
                <a:schemeClr val="folHlink"/>
              </a:buClr>
              <a:buSzPct val="60000"/>
              <a:buFont typeface="Wingdings" panose="05000000000000000000" pitchFamily="2" charset="2"/>
            </a:pPr>
            <a:r>
              <a:rPr lang="zh-CN" altLang="en-US" dirty="0"/>
              <a:t>套接字基础</a:t>
            </a:r>
            <a:endParaRPr lang="zh-CN" altLang="en-US" dirty="0"/>
          </a:p>
          <a:p>
            <a:pPr eaLnBrk="1" hangingPunct="1">
              <a:buClr>
                <a:schemeClr val="folHlink"/>
              </a:buClr>
              <a:buSzPct val="60000"/>
              <a:buFont typeface="Wingdings" panose="05000000000000000000" pitchFamily="2" charset="2"/>
            </a:pPr>
            <a:r>
              <a:rPr lang="zh-CN" altLang="en-US" dirty="0"/>
              <a:t>套接字地址结构</a:t>
            </a:r>
            <a:endParaRPr lang="zh-CN" altLang="en-US" dirty="0"/>
          </a:p>
          <a:p>
            <a:pPr eaLnBrk="1" hangingPunct="1">
              <a:buClr>
                <a:schemeClr val="folHlink"/>
              </a:buClr>
              <a:buSzPct val="60000"/>
              <a:buFont typeface="Wingdings" panose="05000000000000000000" pitchFamily="2" charset="2"/>
            </a:pPr>
            <a:r>
              <a:rPr lang="zh-CN" altLang="en-US" dirty="0"/>
              <a:t>套接字基本函数</a:t>
            </a:r>
            <a:endParaRPr lang="zh-CN" altLang="en-US" dirty="0"/>
          </a:p>
          <a:p>
            <a:pPr eaLnBrk="1" hangingPunct="1">
              <a:buClr>
                <a:schemeClr val="folHlink"/>
              </a:buClr>
              <a:buSzPct val="60000"/>
              <a:buFont typeface="Wingdings" panose="05000000000000000000" pitchFamily="2" charset="2"/>
            </a:pPr>
            <a:r>
              <a:rPr lang="zh-CN" altLang="en-US" dirty="0"/>
              <a:t>简单</a:t>
            </a:r>
            <a:r>
              <a:rPr lang="en-US" altLang="zh-CN" dirty="0"/>
              <a:t>TCP</a:t>
            </a:r>
            <a:r>
              <a:rPr lang="zh-CN" altLang="en-US" dirty="0"/>
              <a:t>套接字编程</a:t>
            </a:r>
            <a:endParaRPr lang="zh-CN" altLang="en-US" dirty="0"/>
          </a:p>
          <a:p>
            <a:pPr eaLnBrk="1" hangingPunct="1">
              <a:buClr>
                <a:schemeClr val="folHlink"/>
              </a:buClr>
              <a:buSzPct val="60000"/>
              <a:buFont typeface="Wingdings" panose="05000000000000000000" pitchFamily="2" charset="2"/>
            </a:pPr>
            <a:r>
              <a:rPr lang="zh-CN" altLang="en-US" dirty="0"/>
              <a:t>简单套接字编程</a:t>
            </a:r>
            <a:endParaRPr lang="zh-CN" altLang="en-US" dirty="0"/>
          </a:p>
        </p:txBody>
      </p:sp>
    </p:spTree>
  </p:cSld>
  <p:clrMapOvr>
    <a:masterClrMapping/>
  </p:clrMapOvr>
  <p:transition>
    <p:rand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338" name="Picture 1" descr="C:\Users\admin\AppData\Roaming\Tencent\Users\275129963\QQ\WinTemp\RichOle\(X3GU}W5{%A)OZAVAPU4Q`K.png"/>
          <p:cNvPicPr>
            <a:picLocks noChangeAspect="1"/>
          </p:cNvPicPr>
          <p:nvPr/>
        </p:nvPicPr>
        <p:blipFill>
          <a:blip r:embed="rId1"/>
          <a:stretch>
            <a:fillRect/>
          </a:stretch>
        </p:blipFill>
        <p:spPr>
          <a:xfrm>
            <a:off x="1906588" y="1196975"/>
            <a:ext cx="5000625" cy="4267200"/>
          </a:xfrm>
          <a:prstGeom prst="rect">
            <a:avLst/>
          </a:prstGeom>
          <a:noFill/>
          <a:ln w="9525">
            <a:noFill/>
          </a:ln>
        </p:spPr>
      </p:pic>
      <p:sp>
        <p:nvSpPr>
          <p:cNvPr id="14339" name="Rectangle 17"/>
          <p:cNvSpPr/>
          <p:nvPr/>
        </p:nvSpPr>
        <p:spPr>
          <a:xfrm>
            <a:off x="755650" y="5373688"/>
            <a:ext cx="7704138" cy="1322387"/>
          </a:xfrm>
          <a:prstGeom prst="rect">
            <a:avLst/>
          </a:prstGeom>
          <a:noFill/>
          <a:ln w="9525">
            <a:noFill/>
          </a:ln>
        </p:spPr>
        <p:txBody>
          <a:bodyPr>
            <a:spAutoFit/>
          </a:bodyPr>
          <a:p>
            <a:pPr eaLnBrk="1" hangingPunct="1"/>
            <a:r>
              <a:rPr lang="zh-CN" altLang="en-US" sz="2000" b="0" dirty="0">
                <a:latin typeface="Tahoma" panose="020B0604030504040204" pitchFamily="34" charset="0"/>
              </a:rPr>
              <a:t>应用层通过传输层进行数据通信时，</a:t>
            </a:r>
            <a:r>
              <a:rPr lang="en-US" altLang="zh-CN" sz="2000" b="0" dirty="0">
                <a:latin typeface="Tahoma" panose="020B0604030504040204" pitchFamily="34" charset="0"/>
              </a:rPr>
              <a:t>TCP</a:t>
            </a:r>
            <a:r>
              <a:rPr lang="zh-CN" altLang="en-US" sz="2000" b="0" dirty="0">
                <a:latin typeface="Tahoma" panose="020B0604030504040204" pitchFamily="34" charset="0"/>
              </a:rPr>
              <a:t>和</a:t>
            </a:r>
            <a:r>
              <a:rPr lang="en-US" altLang="zh-CN" sz="2000" b="0" dirty="0">
                <a:latin typeface="Tahoma" panose="020B0604030504040204" pitchFamily="34" charset="0"/>
              </a:rPr>
              <a:t>UDP</a:t>
            </a:r>
            <a:r>
              <a:rPr lang="zh-CN" altLang="en-US" sz="2000" b="0" dirty="0">
                <a:latin typeface="Tahoma" panose="020B0604030504040204" pitchFamily="34" charset="0"/>
              </a:rPr>
              <a:t>会遇到同时为多个应用程序进程提供并发服务的问题。多个</a:t>
            </a:r>
            <a:r>
              <a:rPr lang="en-US" altLang="zh-CN" sz="2000" b="0" dirty="0">
                <a:latin typeface="Tahoma" panose="020B0604030504040204" pitchFamily="34" charset="0"/>
              </a:rPr>
              <a:t>TCP</a:t>
            </a:r>
            <a:r>
              <a:rPr lang="zh-CN" altLang="en-US" sz="2000" b="0" dirty="0">
                <a:latin typeface="Tahoma" panose="020B0604030504040204" pitchFamily="34" charset="0"/>
              </a:rPr>
              <a:t>连接或多个应用程序进程可能需要通过同一个</a:t>
            </a:r>
            <a:r>
              <a:rPr lang="en-US" altLang="zh-CN" sz="2000" b="0" dirty="0">
                <a:latin typeface="Tahoma" panose="020B0604030504040204" pitchFamily="34" charset="0"/>
              </a:rPr>
              <a:t>TCP</a:t>
            </a:r>
            <a:r>
              <a:rPr lang="zh-CN" altLang="en-US" sz="2000" b="0" dirty="0">
                <a:latin typeface="Tahoma" panose="020B0604030504040204" pitchFamily="34" charset="0"/>
              </a:rPr>
              <a:t>协议传输数据。怎么区别不同的应用程序进程和连接？</a:t>
            </a:r>
            <a:endParaRPr lang="zh-CN" altLang="en-US" sz="2000" b="0" dirty="0">
              <a:latin typeface="Tahoma" panose="020B0604030504040204" pitchFamily="34" charset="0"/>
            </a:endParaRPr>
          </a:p>
        </p:txBody>
      </p:sp>
      <p:sp>
        <p:nvSpPr>
          <p:cNvPr id="14340" name="Rectangle 2"/>
          <p:cNvSpPr>
            <a:spLocks noGrp="1"/>
          </p:cNvSpPr>
          <p:nvPr>
            <p:ph type="title"/>
          </p:nvPr>
        </p:nvSpPr>
        <p:spPr>
          <a:xfrm>
            <a:off x="900113" y="641350"/>
            <a:ext cx="7793037" cy="484188"/>
          </a:xfrm>
        </p:spPr>
        <p:txBody>
          <a:bodyPr vert="horz" wrap="square" lIns="91440" tIns="45720" rIns="91440" bIns="45720" anchor="b" anchorCtr="0"/>
          <a:p>
            <a:pPr eaLnBrk="1" hangingPunct="1"/>
            <a:r>
              <a:rPr lang="en-US" altLang="zh-CN" b="1" dirty="0"/>
              <a:t> </a:t>
            </a:r>
            <a:r>
              <a:rPr lang="zh-CN" altLang="en-US" b="1" dirty="0"/>
              <a:t>套接字基础</a:t>
            </a:r>
            <a:endParaRPr lang="zh-CN" altLang="en-US" b="1" dirty="0"/>
          </a:p>
        </p:txBody>
      </p:sp>
    </p:spTree>
  </p:cSld>
  <p:clrMapOvr>
    <a:masterClrMapping/>
  </p:clrMapOvr>
  <p:transition>
    <p:rand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2"/>
          <p:cNvSpPr>
            <a:spLocks noGrp="1"/>
          </p:cNvSpPr>
          <p:nvPr>
            <p:ph type="title"/>
          </p:nvPr>
        </p:nvSpPr>
        <p:spPr>
          <a:xfrm>
            <a:off x="900113" y="641350"/>
            <a:ext cx="7793037" cy="484188"/>
          </a:xfrm>
        </p:spPr>
        <p:txBody>
          <a:bodyPr vert="horz" wrap="square" lIns="91440" tIns="45720" rIns="91440" bIns="45720" anchor="b" anchorCtr="0"/>
          <a:p>
            <a:pPr eaLnBrk="1" hangingPunct="1"/>
            <a:r>
              <a:rPr lang="en-US" altLang="zh-CN" b="1" dirty="0"/>
              <a:t> </a:t>
            </a:r>
            <a:r>
              <a:rPr lang="zh-CN" altLang="en-US" b="1" dirty="0"/>
              <a:t>套接字基础</a:t>
            </a:r>
            <a:endParaRPr lang="zh-CN" altLang="en-US" b="1" dirty="0"/>
          </a:p>
        </p:txBody>
      </p:sp>
      <p:pic>
        <p:nvPicPr>
          <p:cNvPr id="15363" name="Picture 1" descr="C:\Users\admin\AppData\Roaming\Tencent\Users\275129963\QQ\WinTemp\RichOle\BNKUC[KKM0}D}IHD6J[~2T4.png"/>
          <p:cNvPicPr>
            <a:picLocks noChangeAspect="1"/>
          </p:cNvPicPr>
          <p:nvPr/>
        </p:nvPicPr>
        <p:blipFill>
          <a:blip r:embed="rId1"/>
          <a:stretch>
            <a:fillRect/>
          </a:stretch>
        </p:blipFill>
        <p:spPr>
          <a:xfrm>
            <a:off x="2124075" y="1412875"/>
            <a:ext cx="5191125" cy="3990975"/>
          </a:xfrm>
          <a:prstGeom prst="rect">
            <a:avLst/>
          </a:prstGeom>
          <a:noFill/>
          <a:ln w="9525">
            <a:noFill/>
          </a:ln>
        </p:spPr>
      </p:pic>
      <p:sp>
        <p:nvSpPr>
          <p:cNvPr id="15364" name="矩形 4"/>
          <p:cNvSpPr/>
          <p:nvPr/>
        </p:nvSpPr>
        <p:spPr>
          <a:xfrm>
            <a:off x="1108075" y="5391150"/>
            <a:ext cx="7345363" cy="1200150"/>
          </a:xfrm>
          <a:prstGeom prst="rect">
            <a:avLst/>
          </a:prstGeom>
          <a:noFill/>
          <a:ln w="9525">
            <a:noFill/>
          </a:ln>
        </p:spPr>
        <p:txBody>
          <a:bodyPr>
            <a:spAutoFit/>
          </a:bodyPr>
          <a:p>
            <a:pPr eaLnBrk="1" hangingPunct="1"/>
            <a:r>
              <a:rPr lang="zh-CN" altLang="en-US" b="0" dirty="0">
                <a:latin typeface="Tahoma" panose="020B0604030504040204" pitchFamily="34" charset="0"/>
              </a:rPr>
              <a:t>为了区别不同的应用程序进程和连接，计算机操作系统为应用程序与</a:t>
            </a:r>
            <a:r>
              <a:rPr lang="en-US" altLang="zh-CN" b="0" dirty="0">
                <a:latin typeface="Tahoma" panose="020B0604030504040204" pitchFamily="34" charset="0"/>
              </a:rPr>
              <a:t>TCP</a:t>
            </a:r>
            <a:r>
              <a:rPr lang="zh-CN" altLang="en-US" b="0" dirty="0">
                <a:latin typeface="Tahoma" panose="020B0604030504040204" pitchFamily="34" charset="0"/>
              </a:rPr>
              <a:t>／</a:t>
            </a:r>
            <a:r>
              <a:rPr lang="en-US" altLang="zh-CN" b="0" dirty="0">
                <a:latin typeface="Tahoma" panose="020B0604030504040204" pitchFamily="34" charset="0"/>
              </a:rPr>
              <a:t>IP</a:t>
            </a:r>
            <a:r>
              <a:rPr lang="zh-CN" altLang="en-US" b="0" dirty="0">
                <a:latin typeface="Tahoma" panose="020B0604030504040204" pitchFamily="34" charset="0"/>
              </a:rPr>
              <a:t>协议交互提供了称为套接字</a:t>
            </a:r>
            <a:r>
              <a:rPr lang="en-US" altLang="zh-CN" b="0" dirty="0">
                <a:latin typeface="Tahoma" panose="020B0604030504040204" pitchFamily="34" charset="0"/>
              </a:rPr>
              <a:t>(Socket)</a:t>
            </a:r>
            <a:r>
              <a:rPr lang="zh-CN" altLang="en-US" b="0" dirty="0">
                <a:latin typeface="Tahoma" panose="020B0604030504040204" pitchFamily="34" charset="0"/>
              </a:rPr>
              <a:t>的接口。</a:t>
            </a:r>
            <a:endParaRPr lang="zh-CN" altLang="en-US" b="0" dirty="0">
              <a:latin typeface="Tahoma" panose="020B0604030504040204" pitchFamily="34" charset="0"/>
            </a:endParaRPr>
          </a:p>
        </p:txBody>
      </p:sp>
    </p:spTree>
  </p:cSld>
  <p:clrMapOvr>
    <a:masterClrMapping/>
  </p:clrMapOvr>
  <p:transition>
    <p:rand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6386" name="Group 4"/>
          <p:cNvGrpSpPr/>
          <p:nvPr/>
        </p:nvGrpSpPr>
        <p:grpSpPr>
          <a:xfrm>
            <a:off x="641350" y="1346200"/>
            <a:ext cx="8240713" cy="2894013"/>
            <a:chOff x="197" y="1787"/>
            <a:chExt cx="5191" cy="1823"/>
          </a:xfrm>
        </p:grpSpPr>
        <p:graphicFrame>
          <p:nvGraphicFramePr>
            <p:cNvPr id="16388" name="Object 5"/>
            <p:cNvGraphicFramePr>
              <a:graphicFrameLocks noChangeAspect="1"/>
            </p:cNvGraphicFramePr>
            <p:nvPr/>
          </p:nvGraphicFramePr>
          <p:xfrm>
            <a:off x="1306" y="1853"/>
            <a:ext cx="708" cy="562"/>
          </p:xfrm>
          <a:graphic>
            <a:graphicData uri="http://schemas.openxmlformats.org/presentationml/2006/ole">
              <mc:AlternateContent xmlns:mc="http://schemas.openxmlformats.org/markup-compatibility/2006">
                <mc:Choice xmlns:v="urn:schemas-microsoft-com:vml" Requires="v">
                  <p:oleObj spid="_x0000_s3078" name="" r:id="rId1" imgW="1307465" imgH="1083945" progId="MS_ClipArt_Gallery.2">
                    <p:embed/>
                  </p:oleObj>
                </mc:Choice>
                <mc:Fallback>
                  <p:oleObj name="" r:id="rId1" imgW="1307465" imgH="1083945" progId="MS_ClipArt_Gallery.2">
                    <p:embed/>
                    <p:pic>
                      <p:nvPicPr>
                        <p:cNvPr id="0" name="图片 3077"/>
                        <p:cNvPicPr/>
                        <p:nvPr/>
                      </p:nvPicPr>
                      <p:blipFill>
                        <a:blip r:embed="rId2"/>
                        <a:stretch>
                          <a:fillRect/>
                        </a:stretch>
                      </p:blipFill>
                      <p:spPr>
                        <a:xfrm>
                          <a:off x="1306" y="1853"/>
                          <a:ext cx="708" cy="562"/>
                        </a:xfrm>
                        <a:prstGeom prst="rect">
                          <a:avLst/>
                        </a:prstGeom>
                        <a:noFill/>
                        <a:ln w="38100">
                          <a:noFill/>
                          <a:miter/>
                        </a:ln>
                      </p:spPr>
                    </p:pic>
                  </p:oleObj>
                </mc:Fallback>
              </mc:AlternateContent>
            </a:graphicData>
          </a:graphic>
        </p:graphicFrame>
        <p:grpSp>
          <p:nvGrpSpPr>
            <p:cNvPr id="16389" name="Group 6"/>
            <p:cNvGrpSpPr/>
            <p:nvPr/>
          </p:nvGrpSpPr>
          <p:grpSpPr>
            <a:xfrm>
              <a:off x="1333" y="2068"/>
              <a:ext cx="716" cy="998"/>
              <a:chOff x="649" y="2260"/>
              <a:chExt cx="716" cy="998"/>
            </a:xfrm>
          </p:grpSpPr>
          <p:sp>
            <p:nvSpPr>
              <p:cNvPr id="16413" name="Rectangle 7"/>
              <p:cNvSpPr/>
              <p:nvPr/>
            </p:nvSpPr>
            <p:spPr>
              <a:xfrm>
                <a:off x="678" y="2280"/>
                <a:ext cx="642" cy="288"/>
              </a:xfrm>
              <a:prstGeom prst="rect">
                <a:avLst/>
              </a:prstGeom>
              <a:solidFill>
                <a:schemeClr val="bg1"/>
              </a:solidFill>
              <a:ln w="28575" cap="flat" cmpd="sng">
                <a:solidFill>
                  <a:schemeClr val="tx1"/>
                </a:solidFill>
                <a:prstDash val="solid"/>
                <a:miter/>
                <a:headEnd type="none" w="med" len="med"/>
                <a:tailEnd type="none" w="med" len="med"/>
              </a:ln>
            </p:spPr>
            <p:txBody>
              <a:bodyPr wrap="none" anchor="ctr" anchorCtr="0"/>
              <a:p>
                <a:pPr algn="ctr"/>
                <a:endParaRPr lang="zh-CN" altLang="zh-CN" b="0" dirty="0">
                  <a:solidFill>
                    <a:schemeClr val="bg1"/>
                  </a:solidFill>
                  <a:latin typeface="Times New Roman" panose="02020603050405020304" pitchFamily="18" charset="0"/>
                </a:endParaRPr>
              </a:p>
            </p:txBody>
          </p:sp>
          <p:sp>
            <p:nvSpPr>
              <p:cNvPr id="16414" name="Text Box 8"/>
              <p:cNvSpPr txBox="1"/>
              <p:nvPr/>
            </p:nvSpPr>
            <p:spPr>
              <a:xfrm>
                <a:off x="694" y="2260"/>
                <a:ext cx="631" cy="231"/>
              </a:xfrm>
              <a:prstGeom prst="rect">
                <a:avLst/>
              </a:prstGeom>
              <a:noFill/>
              <a:ln w="9525">
                <a:noFill/>
              </a:ln>
            </p:spPr>
            <p:txBody>
              <a:bodyPr wrap="none" anchor="ctr" anchorCtr="0">
                <a:spAutoFit/>
              </a:bodyPr>
              <a:p>
                <a:pPr algn="ctr"/>
                <a:r>
                  <a:rPr lang="en-US" altLang="zh-CN" sz="1800" b="0" dirty="0">
                    <a:latin typeface="Comic Sans MS" panose="030F0702030302020204" pitchFamily="66" charset="0"/>
                  </a:rPr>
                  <a:t>process</a:t>
                </a:r>
                <a:endParaRPr lang="en-US" altLang="zh-CN" sz="1800" b="0" dirty="0">
                  <a:latin typeface="Times New Roman" panose="02020603050405020304" pitchFamily="18" charset="0"/>
                </a:endParaRPr>
              </a:p>
            </p:txBody>
          </p:sp>
          <p:grpSp>
            <p:nvGrpSpPr>
              <p:cNvPr id="16415" name="Group 9"/>
              <p:cNvGrpSpPr/>
              <p:nvPr/>
            </p:nvGrpSpPr>
            <p:grpSpPr>
              <a:xfrm>
                <a:off x="649" y="2628"/>
                <a:ext cx="716" cy="630"/>
                <a:chOff x="637" y="2610"/>
                <a:chExt cx="716" cy="630"/>
              </a:xfrm>
            </p:grpSpPr>
            <p:sp>
              <p:nvSpPr>
                <p:cNvPr id="16419" name="Text Box 10"/>
                <p:cNvSpPr txBox="1"/>
                <p:nvPr/>
              </p:nvSpPr>
              <p:spPr>
                <a:xfrm>
                  <a:off x="637" y="2658"/>
                  <a:ext cx="716" cy="577"/>
                </a:xfrm>
                <a:prstGeom prst="rect">
                  <a:avLst/>
                </a:prstGeom>
                <a:noFill/>
                <a:ln w="9525">
                  <a:noFill/>
                </a:ln>
              </p:spPr>
              <p:txBody>
                <a:bodyPr wrap="none" anchor="ctr" anchorCtr="0">
                  <a:spAutoFit/>
                </a:bodyPr>
                <a:p>
                  <a:pPr algn="ctr"/>
                  <a:r>
                    <a:rPr lang="en-US" altLang="zh-CN" sz="1800" b="0" dirty="0">
                      <a:latin typeface="Comic Sans MS" panose="030F0702030302020204" pitchFamily="66" charset="0"/>
                    </a:rPr>
                    <a:t>TCP with</a:t>
                  </a:r>
                  <a:endParaRPr lang="en-US" altLang="zh-CN" sz="1800" b="0" dirty="0">
                    <a:latin typeface="Comic Sans MS" panose="030F0702030302020204" pitchFamily="66" charset="0"/>
                  </a:endParaRPr>
                </a:p>
                <a:p>
                  <a:pPr algn="ctr"/>
                  <a:r>
                    <a:rPr lang="en-US" altLang="zh-CN" sz="1800" b="0" dirty="0">
                      <a:latin typeface="Comic Sans MS" panose="030F0702030302020204" pitchFamily="66" charset="0"/>
                    </a:rPr>
                    <a:t>buffers,</a:t>
                  </a:r>
                  <a:endParaRPr lang="en-US" altLang="zh-CN" sz="1800" b="0" dirty="0">
                    <a:latin typeface="Comic Sans MS" panose="030F0702030302020204" pitchFamily="66" charset="0"/>
                  </a:endParaRPr>
                </a:p>
                <a:p>
                  <a:pPr algn="ctr"/>
                  <a:r>
                    <a:rPr lang="en-US" altLang="zh-CN" sz="1800" b="0" dirty="0">
                      <a:latin typeface="Comic Sans MS" panose="030F0702030302020204" pitchFamily="66" charset="0"/>
                    </a:rPr>
                    <a:t>variables</a:t>
                  </a:r>
                  <a:endParaRPr lang="en-US" altLang="zh-CN" sz="1800" b="0" dirty="0">
                    <a:latin typeface="Times New Roman" panose="02020603050405020304" pitchFamily="18" charset="0"/>
                  </a:endParaRPr>
                </a:p>
              </p:txBody>
            </p:sp>
            <p:sp>
              <p:nvSpPr>
                <p:cNvPr id="16420" name="Rectangle 11"/>
                <p:cNvSpPr/>
                <p:nvPr/>
              </p:nvSpPr>
              <p:spPr>
                <a:xfrm>
                  <a:off x="672" y="2610"/>
                  <a:ext cx="642" cy="630"/>
                </a:xfrm>
                <a:prstGeom prst="rect">
                  <a:avLst/>
                </a:prstGeom>
                <a:noFill/>
                <a:ln w="2857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Tahoma" panose="020B0604030504040204" pitchFamily="34" charset="0"/>
                  </a:endParaRPr>
                </a:p>
              </p:txBody>
            </p:sp>
          </p:grpSp>
          <p:grpSp>
            <p:nvGrpSpPr>
              <p:cNvPr id="16416" name="Group 12"/>
              <p:cNvGrpSpPr/>
              <p:nvPr/>
            </p:nvGrpSpPr>
            <p:grpSpPr>
              <a:xfrm>
                <a:off x="741" y="2500"/>
                <a:ext cx="561" cy="231"/>
                <a:chOff x="897" y="3736"/>
                <a:chExt cx="561" cy="231"/>
              </a:xfrm>
            </p:grpSpPr>
            <p:sp>
              <p:nvSpPr>
                <p:cNvPr id="16417" name="Rectangle 13"/>
                <p:cNvSpPr/>
                <p:nvPr/>
              </p:nvSpPr>
              <p:spPr>
                <a:xfrm>
                  <a:off x="924" y="3774"/>
                  <a:ext cx="492" cy="156"/>
                </a:xfrm>
                <a:prstGeom prst="rect">
                  <a:avLst/>
                </a:prstGeom>
                <a:solidFill>
                  <a:srgbClr val="FF0000"/>
                </a:solidFill>
                <a:ln w="9525">
                  <a:noFill/>
                </a:ln>
              </p:spPr>
              <p:txBody>
                <a:bodyPr wrap="none" anchor="ctr" anchorCtr="0"/>
                <a:p>
                  <a:pPr eaLnBrk="1" hangingPunct="1"/>
                  <a:endParaRPr lang="zh-CN" altLang="en-US" dirty="0">
                    <a:latin typeface="Tahoma" panose="020B0604030504040204" pitchFamily="34" charset="0"/>
                  </a:endParaRPr>
                </a:p>
              </p:txBody>
            </p:sp>
            <p:sp>
              <p:nvSpPr>
                <p:cNvPr id="16418" name="Text Box 14"/>
                <p:cNvSpPr txBox="1"/>
                <p:nvPr/>
              </p:nvSpPr>
              <p:spPr>
                <a:xfrm>
                  <a:off x="897" y="3736"/>
                  <a:ext cx="561" cy="231"/>
                </a:xfrm>
                <a:prstGeom prst="rect">
                  <a:avLst/>
                </a:prstGeom>
                <a:noFill/>
                <a:ln w="9525">
                  <a:noFill/>
                </a:ln>
              </p:spPr>
              <p:txBody>
                <a:bodyPr wrap="none" anchor="ctr" anchorCtr="0">
                  <a:spAutoFit/>
                </a:bodyPr>
                <a:p>
                  <a:pPr algn="ctr"/>
                  <a:r>
                    <a:rPr lang="en-US" altLang="zh-CN" sz="1800" b="0" dirty="0">
                      <a:solidFill>
                        <a:schemeClr val="bg1"/>
                      </a:solidFill>
                      <a:latin typeface="Comic Sans MS" panose="030F0702030302020204" pitchFamily="66" charset="0"/>
                    </a:rPr>
                    <a:t>socket</a:t>
                  </a:r>
                  <a:endParaRPr lang="en-US" altLang="zh-CN" b="0" dirty="0">
                    <a:latin typeface="Times New Roman" panose="02020603050405020304" pitchFamily="18" charset="0"/>
                  </a:endParaRPr>
                </a:p>
              </p:txBody>
            </p:sp>
          </p:grpSp>
        </p:grpSp>
        <p:sp>
          <p:nvSpPr>
            <p:cNvPr id="16390" name="Text Box 15"/>
            <p:cNvSpPr txBox="1"/>
            <p:nvPr/>
          </p:nvSpPr>
          <p:spPr>
            <a:xfrm>
              <a:off x="471" y="2036"/>
              <a:ext cx="756" cy="366"/>
            </a:xfrm>
            <a:prstGeom prst="rect">
              <a:avLst/>
            </a:prstGeom>
            <a:noFill/>
            <a:ln w="9525">
              <a:noFill/>
            </a:ln>
          </p:spPr>
          <p:txBody>
            <a:bodyPr wrap="none" anchor="ctr" anchorCtr="0">
              <a:spAutoFit/>
            </a:bodyPr>
            <a:p>
              <a:pPr algn="r"/>
              <a:r>
                <a:rPr lang="zh-CN" altLang="en-US" sz="1600" dirty="0">
                  <a:latin typeface="Comic Sans MS" panose="030F0702030302020204" pitchFamily="66" charset="0"/>
                </a:rPr>
                <a:t>由应用程序</a:t>
              </a:r>
              <a:endParaRPr lang="zh-CN" altLang="en-US" sz="1600" dirty="0">
                <a:latin typeface="Comic Sans MS" panose="030F0702030302020204" pitchFamily="66" charset="0"/>
              </a:endParaRPr>
            </a:p>
            <a:p>
              <a:pPr algn="r"/>
              <a:r>
                <a:rPr lang="zh-CN" altLang="en-US" sz="1600" dirty="0">
                  <a:latin typeface="Comic Sans MS" panose="030F0702030302020204" pitchFamily="66" charset="0"/>
                </a:rPr>
                <a:t>开发者控制</a:t>
              </a:r>
              <a:endParaRPr lang="zh-CN" altLang="en-US" dirty="0">
                <a:latin typeface="Times New Roman" panose="02020603050405020304" pitchFamily="18" charset="0"/>
              </a:endParaRPr>
            </a:p>
          </p:txBody>
        </p:sp>
        <p:sp>
          <p:nvSpPr>
            <p:cNvPr id="16391" name="Text Box 16"/>
            <p:cNvSpPr txBox="1"/>
            <p:nvPr/>
          </p:nvSpPr>
          <p:spPr>
            <a:xfrm>
              <a:off x="197" y="2659"/>
              <a:ext cx="1012" cy="212"/>
            </a:xfrm>
            <a:prstGeom prst="rect">
              <a:avLst/>
            </a:prstGeom>
            <a:noFill/>
            <a:ln w="9525">
              <a:noFill/>
            </a:ln>
          </p:spPr>
          <p:txBody>
            <a:bodyPr wrap="none" anchor="ctr" anchorCtr="0">
              <a:spAutoFit/>
            </a:bodyPr>
            <a:p>
              <a:pPr algn="r"/>
              <a:r>
                <a:rPr lang="zh-CN" altLang="en-US" sz="1600" dirty="0">
                  <a:latin typeface="Comic Sans MS" panose="030F0702030302020204" pitchFamily="66" charset="0"/>
                </a:rPr>
                <a:t>由操作系统控制</a:t>
              </a:r>
              <a:endParaRPr lang="zh-CN" altLang="en-US" dirty="0">
                <a:latin typeface="Times New Roman" panose="02020603050405020304" pitchFamily="18" charset="0"/>
              </a:endParaRPr>
            </a:p>
          </p:txBody>
        </p:sp>
        <p:sp>
          <p:nvSpPr>
            <p:cNvPr id="16392" name="Line 17"/>
            <p:cNvSpPr/>
            <p:nvPr/>
          </p:nvSpPr>
          <p:spPr>
            <a:xfrm flipV="1">
              <a:off x="1224" y="2094"/>
              <a:ext cx="0" cy="306"/>
            </a:xfrm>
            <a:prstGeom prst="line">
              <a:avLst/>
            </a:prstGeom>
            <a:ln w="28575" cap="flat" cmpd="sng">
              <a:solidFill>
                <a:schemeClr val="tx1"/>
              </a:solidFill>
              <a:prstDash val="solid"/>
              <a:headEnd type="triangle" w="med" len="med"/>
              <a:tailEnd type="triangle" w="med" len="med"/>
            </a:ln>
          </p:spPr>
        </p:sp>
        <p:sp>
          <p:nvSpPr>
            <p:cNvPr id="16393" name="Line 18"/>
            <p:cNvSpPr/>
            <p:nvPr/>
          </p:nvSpPr>
          <p:spPr>
            <a:xfrm flipH="1" flipV="1">
              <a:off x="1218" y="2460"/>
              <a:ext cx="0" cy="630"/>
            </a:xfrm>
            <a:prstGeom prst="line">
              <a:avLst/>
            </a:prstGeom>
            <a:ln w="28575" cap="flat" cmpd="sng">
              <a:solidFill>
                <a:schemeClr val="tx1"/>
              </a:solidFill>
              <a:prstDash val="solid"/>
              <a:headEnd type="triangle" w="med" len="med"/>
              <a:tailEnd type="triangle" w="med" len="med"/>
            </a:ln>
          </p:spPr>
        </p:sp>
        <p:sp>
          <p:nvSpPr>
            <p:cNvPr id="16394" name="Text Box 19"/>
            <p:cNvSpPr txBox="1"/>
            <p:nvPr/>
          </p:nvSpPr>
          <p:spPr>
            <a:xfrm>
              <a:off x="1359" y="3168"/>
              <a:ext cx="654" cy="442"/>
            </a:xfrm>
            <a:prstGeom prst="rect">
              <a:avLst/>
            </a:prstGeom>
            <a:noFill/>
            <a:ln w="9525">
              <a:noFill/>
            </a:ln>
          </p:spPr>
          <p:txBody>
            <a:bodyPr wrap="none" anchor="ctr" anchorCtr="0">
              <a:spAutoFit/>
            </a:bodyPr>
            <a:p>
              <a:pPr algn="ctr"/>
              <a:r>
                <a:rPr lang="en-US" altLang="zh-CN" sz="2000" b="0" dirty="0">
                  <a:latin typeface="Comic Sans MS" panose="030F0702030302020204" pitchFamily="66" charset="0"/>
                </a:rPr>
                <a:t>host or</a:t>
              </a:r>
              <a:endParaRPr lang="en-US" altLang="zh-CN" sz="2000" b="0" dirty="0">
                <a:latin typeface="Comic Sans MS" panose="030F0702030302020204" pitchFamily="66" charset="0"/>
              </a:endParaRPr>
            </a:p>
            <a:p>
              <a:pPr algn="ctr"/>
              <a:r>
                <a:rPr lang="en-US" altLang="zh-CN" sz="2000" b="0" dirty="0">
                  <a:latin typeface="Comic Sans MS" panose="030F0702030302020204" pitchFamily="66" charset="0"/>
                </a:rPr>
                <a:t>server</a:t>
              </a:r>
              <a:endParaRPr lang="en-US" altLang="zh-CN" b="0" dirty="0">
                <a:latin typeface="Times New Roman" panose="02020603050405020304" pitchFamily="18" charset="0"/>
              </a:endParaRPr>
            </a:p>
          </p:txBody>
        </p:sp>
        <p:graphicFrame>
          <p:nvGraphicFramePr>
            <p:cNvPr id="16395" name="Object 20"/>
            <p:cNvGraphicFramePr>
              <a:graphicFrameLocks noChangeAspect="1"/>
            </p:cNvGraphicFramePr>
            <p:nvPr/>
          </p:nvGraphicFramePr>
          <p:xfrm>
            <a:off x="3610" y="1787"/>
            <a:ext cx="708" cy="562"/>
          </p:xfrm>
          <a:graphic>
            <a:graphicData uri="http://schemas.openxmlformats.org/presentationml/2006/ole">
              <mc:AlternateContent xmlns:mc="http://schemas.openxmlformats.org/markup-compatibility/2006">
                <mc:Choice xmlns:v="urn:schemas-microsoft-com:vml" Requires="v">
                  <p:oleObj spid="_x0000_s3077" name="" r:id="rId3" imgW="1307465" imgH="1083945" progId="MS_ClipArt_Gallery.2">
                    <p:embed/>
                  </p:oleObj>
                </mc:Choice>
                <mc:Fallback>
                  <p:oleObj name="" r:id="rId3" imgW="1307465" imgH="1083945" progId="MS_ClipArt_Gallery.2">
                    <p:embed/>
                    <p:pic>
                      <p:nvPicPr>
                        <p:cNvPr id="0" name="图片 3076"/>
                        <p:cNvPicPr/>
                        <p:nvPr/>
                      </p:nvPicPr>
                      <p:blipFill>
                        <a:blip r:embed="rId2"/>
                        <a:stretch>
                          <a:fillRect/>
                        </a:stretch>
                      </p:blipFill>
                      <p:spPr>
                        <a:xfrm>
                          <a:off x="3610" y="1787"/>
                          <a:ext cx="708" cy="562"/>
                        </a:xfrm>
                        <a:prstGeom prst="rect">
                          <a:avLst/>
                        </a:prstGeom>
                        <a:noFill/>
                        <a:ln w="38100">
                          <a:noFill/>
                          <a:miter/>
                        </a:ln>
                      </p:spPr>
                    </p:pic>
                  </p:oleObj>
                </mc:Fallback>
              </mc:AlternateContent>
            </a:graphicData>
          </a:graphic>
        </p:graphicFrame>
        <p:grpSp>
          <p:nvGrpSpPr>
            <p:cNvPr id="16396" name="Group 21"/>
            <p:cNvGrpSpPr/>
            <p:nvPr/>
          </p:nvGrpSpPr>
          <p:grpSpPr>
            <a:xfrm>
              <a:off x="3637" y="2002"/>
              <a:ext cx="716" cy="998"/>
              <a:chOff x="649" y="2260"/>
              <a:chExt cx="716" cy="998"/>
            </a:xfrm>
          </p:grpSpPr>
          <p:sp>
            <p:nvSpPr>
              <p:cNvPr id="16405" name="Rectangle 22"/>
              <p:cNvSpPr/>
              <p:nvPr/>
            </p:nvSpPr>
            <p:spPr>
              <a:xfrm>
                <a:off x="678" y="2280"/>
                <a:ext cx="642" cy="288"/>
              </a:xfrm>
              <a:prstGeom prst="rect">
                <a:avLst/>
              </a:prstGeom>
              <a:solidFill>
                <a:schemeClr val="bg1"/>
              </a:solidFill>
              <a:ln w="28575" cap="flat" cmpd="sng">
                <a:solidFill>
                  <a:schemeClr val="tx1"/>
                </a:solidFill>
                <a:prstDash val="solid"/>
                <a:miter/>
                <a:headEnd type="none" w="med" len="med"/>
                <a:tailEnd type="none" w="med" len="med"/>
              </a:ln>
            </p:spPr>
            <p:txBody>
              <a:bodyPr wrap="none" anchor="ctr" anchorCtr="0"/>
              <a:p>
                <a:pPr algn="ctr"/>
                <a:endParaRPr lang="zh-CN" altLang="zh-CN" b="0" dirty="0">
                  <a:solidFill>
                    <a:schemeClr val="bg1"/>
                  </a:solidFill>
                  <a:latin typeface="Times New Roman" panose="02020603050405020304" pitchFamily="18" charset="0"/>
                </a:endParaRPr>
              </a:p>
            </p:txBody>
          </p:sp>
          <p:sp>
            <p:nvSpPr>
              <p:cNvPr id="16406" name="Text Box 23"/>
              <p:cNvSpPr txBox="1"/>
              <p:nvPr/>
            </p:nvSpPr>
            <p:spPr>
              <a:xfrm>
                <a:off x="694" y="2260"/>
                <a:ext cx="631" cy="231"/>
              </a:xfrm>
              <a:prstGeom prst="rect">
                <a:avLst/>
              </a:prstGeom>
              <a:noFill/>
              <a:ln w="9525">
                <a:noFill/>
              </a:ln>
            </p:spPr>
            <p:txBody>
              <a:bodyPr wrap="none" anchor="ctr" anchorCtr="0">
                <a:spAutoFit/>
              </a:bodyPr>
              <a:p>
                <a:pPr algn="ctr"/>
                <a:r>
                  <a:rPr lang="en-US" altLang="zh-CN" sz="1800" b="0" dirty="0">
                    <a:latin typeface="Comic Sans MS" panose="030F0702030302020204" pitchFamily="66" charset="0"/>
                  </a:rPr>
                  <a:t>process</a:t>
                </a:r>
                <a:endParaRPr lang="en-US" altLang="zh-CN" sz="1800" b="0" dirty="0">
                  <a:latin typeface="Times New Roman" panose="02020603050405020304" pitchFamily="18" charset="0"/>
                </a:endParaRPr>
              </a:p>
            </p:txBody>
          </p:sp>
          <p:grpSp>
            <p:nvGrpSpPr>
              <p:cNvPr id="16407" name="Group 24"/>
              <p:cNvGrpSpPr/>
              <p:nvPr/>
            </p:nvGrpSpPr>
            <p:grpSpPr>
              <a:xfrm>
                <a:off x="649" y="2628"/>
                <a:ext cx="716" cy="630"/>
                <a:chOff x="637" y="2610"/>
                <a:chExt cx="716" cy="630"/>
              </a:xfrm>
            </p:grpSpPr>
            <p:sp>
              <p:nvSpPr>
                <p:cNvPr id="16411" name="Text Box 25"/>
                <p:cNvSpPr txBox="1"/>
                <p:nvPr/>
              </p:nvSpPr>
              <p:spPr>
                <a:xfrm>
                  <a:off x="637" y="2658"/>
                  <a:ext cx="716" cy="577"/>
                </a:xfrm>
                <a:prstGeom prst="rect">
                  <a:avLst/>
                </a:prstGeom>
                <a:noFill/>
                <a:ln w="9525">
                  <a:noFill/>
                </a:ln>
              </p:spPr>
              <p:txBody>
                <a:bodyPr wrap="none" anchor="ctr" anchorCtr="0">
                  <a:spAutoFit/>
                </a:bodyPr>
                <a:p>
                  <a:pPr algn="ctr"/>
                  <a:r>
                    <a:rPr lang="en-US" altLang="zh-CN" sz="1800" b="0" dirty="0">
                      <a:latin typeface="Comic Sans MS" panose="030F0702030302020204" pitchFamily="66" charset="0"/>
                    </a:rPr>
                    <a:t>TCP with</a:t>
                  </a:r>
                  <a:endParaRPr lang="en-US" altLang="zh-CN" sz="1800" b="0" dirty="0">
                    <a:latin typeface="Comic Sans MS" panose="030F0702030302020204" pitchFamily="66" charset="0"/>
                  </a:endParaRPr>
                </a:p>
                <a:p>
                  <a:pPr algn="ctr"/>
                  <a:r>
                    <a:rPr lang="en-US" altLang="zh-CN" sz="1800" b="0" dirty="0">
                      <a:latin typeface="Comic Sans MS" panose="030F0702030302020204" pitchFamily="66" charset="0"/>
                    </a:rPr>
                    <a:t>buffers,</a:t>
                  </a:r>
                  <a:endParaRPr lang="en-US" altLang="zh-CN" sz="1800" b="0" dirty="0">
                    <a:latin typeface="Comic Sans MS" panose="030F0702030302020204" pitchFamily="66" charset="0"/>
                  </a:endParaRPr>
                </a:p>
                <a:p>
                  <a:pPr algn="ctr"/>
                  <a:r>
                    <a:rPr lang="en-US" altLang="zh-CN" sz="1800" b="0" dirty="0">
                      <a:latin typeface="Comic Sans MS" panose="030F0702030302020204" pitchFamily="66" charset="0"/>
                    </a:rPr>
                    <a:t>variables</a:t>
                  </a:r>
                  <a:endParaRPr lang="en-US" altLang="zh-CN" sz="1800" b="0" dirty="0">
                    <a:latin typeface="Times New Roman" panose="02020603050405020304" pitchFamily="18" charset="0"/>
                  </a:endParaRPr>
                </a:p>
              </p:txBody>
            </p:sp>
            <p:sp>
              <p:nvSpPr>
                <p:cNvPr id="16412" name="Rectangle 26"/>
                <p:cNvSpPr/>
                <p:nvPr/>
              </p:nvSpPr>
              <p:spPr>
                <a:xfrm>
                  <a:off x="672" y="2610"/>
                  <a:ext cx="642" cy="630"/>
                </a:xfrm>
                <a:prstGeom prst="rect">
                  <a:avLst/>
                </a:prstGeom>
                <a:noFill/>
                <a:ln w="2857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Tahoma" panose="020B0604030504040204" pitchFamily="34" charset="0"/>
                  </a:endParaRPr>
                </a:p>
              </p:txBody>
            </p:sp>
          </p:grpSp>
          <p:grpSp>
            <p:nvGrpSpPr>
              <p:cNvPr id="16408" name="Group 27"/>
              <p:cNvGrpSpPr/>
              <p:nvPr/>
            </p:nvGrpSpPr>
            <p:grpSpPr>
              <a:xfrm>
                <a:off x="741" y="2500"/>
                <a:ext cx="561" cy="231"/>
                <a:chOff x="897" y="3736"/>
                <a:chExt cx="561" cy="231"/>
              </a:xfrm>
            </p:grpSpPr>
            <p:sp>
              <p:nvSpPr>
                <p:cNvPr id="16409" name="Rectangle 28"/>
                <p:cNvSpPr/>
                <p:nvPr/>
              </p:nvSpPr>
              <p:spPr>
                <a:xfrm>
                  <a:off x="924" y="3774"/>
                  <a:ext cx="492" cy="156"/>
                </a:xfrm>
                <a:prstGeom prst="rect">
                  <a:avLst/>
                </a:prstGeom>
                <a:solidFill>
                  <a:srgbClr val="FF0000"/>
                </a:solidFill>
                <a:ln w="9525">
                  <a:noFill/>
                </a:ln>
              </p:spPr>
              <p:txBody>
                <a:bodyPr wrap="none" anchor="ctr" anchorCtr="0"/>
                <a:p>
                  <a:pPr eaLnBrk="1" hangingPunct="1"/>
                  <a:endParaRPr lang="zh-CN" altLang="en-US" dirty="0">
                    <a:latin typeface="Tahoma" panose="020B0604030504040204" pitchFamily="34" charset="0"/>
                  </a:endParaRPr>
                </a:p>
              </p:txBody>
            </p:sp>
            <p:sp>
              <p:nvSpPr>
                <p:cNvPr id="16410" name="Text Box 29"/>
                <p:cNvSpPr txBox="1"/>
                <p:nvPr/>
              </p:nvSpPr>
              <p:spPr>
                <a:xfrm>
                  <a:off x="897" y="3736"/>
                  <a:ext cx="561" cy="231"/>
                </a:xfrm>
                <a:prstGeom prst="rect">
                  <a:avLst/>
                </a:prstGeom>
                <a:noFill/>
                <a:ln w="9525">
                  <a:noFill/>
                </a:ln>
              </p:spPr>
              <p:txBody>
                <a:bodyPr wrap="none" anchor="ctr" anchorCtr="0">
                  <a:spAutoFit/>
                </a:bodyPr>
                <a:p>
                  <a:pPr algn="ctr"/>
                  <a:r>
                    <a:rPr lang="en-US" altLang="zh-CN" sz="1800" b="0" dirty="0">
                      <a:solidFill>
                        <a:schemeClr val="bg1"/>
                      </a:solidFill>
                      <a:latin typeface="Comic Sans MS" panose="030F0702030302020204" pitchFamily="66" charset="0"/>
                    </a:rPr>
                    <a:t>socket</a:t>
                  </a:r>
                  <a:endParaRPr lang="en-US" altLang="zh-CN" b="0" dirty="0">
                    <a:latin typeface="Times New Roman" panose="02020603050405020304" pitchFamily="18" charset="0"/>
                  </a:endParaRPr>
                </a:p>
              </p:txBody>
            </p:sp>
          </p:grpSp>
        </p:grpSp>
        <p:sp>
          <p:nvSpPr>
            <p:cNvPr id="16397" name="Text Box 30"/>
            <p:cNvSpPr txBox="1"/>
            <p:nvPr/>
          </p:nvSpPr>
          <p:spPr>
            <a:xfrm>
              <a:off x="4484" y="1857"/>
              <a:ext cx="901" cy="520"/>
            </a:xfrm>
            <a:prstGeom prst="rect">
              <a:avLst/>
            </a:prstGeom>
            <a:noFill/>
            <a:ln w="9525">
              <a:noFill/>
            </a:ln>
          </p:spPr>
          <p:txBody>
            <a:bodyPr wrap="none" anchor="ctr" anchorCtr="0">
              <a:spAutoFit/>
            </a:bodyPr>
            <a:p>
              <a:r>
                <a:rPr lang="en-US" altLang="zh-CN" sz="1600" b="0" dirty="0">
                  <a:latin typeface="Comic Sans MS" panose="030F0702030302020204" pitchFamily="66" charset="0"/>
                </a:rPr>
                <a:t>controlled by</a:t>
              </a:r>
              <a:endParaRPr lang="en-US" altLang="zh-CN" sz="1600" b="0" dirty="0">
                <a:latin typeface="Comic Sans MS" panose="030F0702030302020204" pitchFamily="66" charset="0"/>
              </a:endParaRPr>
            </a:p>
            <a:p>
              <a:r>
                <a:rPr lang="en-US" altLang="zh-CN" sz="1600" b="0" dirty="0">
                  <a:latin typeface="Comic Sans MS" panose="030F0702030302020204" pitchFamily="66" charset="0"/>
                </a:rPr>
                <a:t>application</a:t>
              </a:r>
              <a:endParaRPr lang="en-US" altLang="zh-CN" sz="1600" b="0" dirty="0">
                <a:latin typeface="Comic Sans MS" panose="030F0702030302020204" pitchFamily="66" charset="0"/>
              </a:endParaRPr>
            </a:p>
            <a:p>
              <a:r>
                <a:rPr lang="en-US" altLang="zh-CN" sz="1600" b="0" dirty="0">
                  <a:latin typeface="Comic Sans MS" panose="030F0702030302020204" pitchFamily="66" charset="0"/>
                </a:rPr>
                <a:t>developer</a:t>
              </a:r>
              <a:endParaRPr lang="en-US" altLang="zh-CN" b="0" dirty="0">
                <a:latin typeface="Times New Roman" panose="02020603050405020304" pitchFamily="18" charset="0"/>
              </a:endParaRPr>
            </a:p>
          </p:txBody>
        </p:sp>
        <p:sp>
          <p:nvSpPr>
            <p:cNvPr id="16398" name="Text Box 31"/>
            <p:cNvSpPr txBox="1"/>
            <p:nvPr/>
          </p:nvSpPr>
          <p:spPr>
            <a:xfrm>
              <a:off x="4487" y="2433"/>
              <a:ext cx="901" cy="520"/>
            </a:xfrm>
            <a:prstGeom prst="rect">
              <a:avLst/>
            </a:prstGeom>
            <a:noFill/>
            <a:ln w="9525">
              <a:noFill/>
            </a:ln>
          </p:spPr>
          <p:txBody>
            <a:bodyPr wrap="none" anchor="ctr" anchorCtr="0">
              <a:spAutoFit/>
            </a:bodyPr>
            <a:p>
              <a:r>
                <a:rPr lang="en-US" altLang="zh-CN" sz="1600" b="0" dirty="0">
                  <a:latin typeface="Comic Sans MS" panose="030F0702030302020204" pitchFamily="66" charset="0"/>
                </a:rPr>
                <a:t>controlled by</a:t>
              </a:r>
              <a:endParaRPr lang="en-US" altLang="zh-CN" sz="1600" b="0" dirty="0">
                <a:latin typeface="Comic Sans MS" panose="030F0702030302020204" pitchFamily="66" charset="0"/>
              </a:endParaRPr>
            </a:p>
            <a:p>
              <a:r>
                <a:rPr lang="en-US" altLang="zh-CN" sz="1600" b="0" dirty="0">
                  <a:latin typeface="Comic Sans MS" panose="030F0702030302020204" pitchFamily="66" charset="0"/>
                </a:rPr>
                <a:t>operating</a:t>
              </a:r>
              <a:endParaRPr lang="en-US" altLang="zh-CN" sz="1600" b="0" dirty="0">
                <a:latin typeface="Comic Sans MS" panose="030F0702030302020204" pitchFamily="66" charset="0"/>
              </a:endParaRPr>
            </a:p>
            <a:p>
              <a:r>
                <a:rPr lang="en-US" altLang="zh-CN" sz="1600" b="0" dirty="0">
                  <a:latin typeface="Comic Sans MS" panose="030F0702030302020204" pitchFamily="66" charset="0"/>
                </a:rPr>
                <a:t>system</a:t>
              </a:r>
              <a:endParaRPr lang="en-US" altLang="zh-CN" b="0" dirty="0">
                <a:latin typeface="Times New Roman" panose="02020603050405020304" pitchFamily="18" charset="0"/>
              </a:endParaRPr>
            </a:p>
          </p:txBody>
        </p:sp>
        <p:sp>
          <p:nvSpPr>
            <p:cNvPr id="16399" name="Line 32"/>
            <p:cNvSpPr/>
            <p:nvPr/>
          </p:nvSpPr>
          <p:spPr>
            <a:xfrm flipV="1">
              <a:off x="4428" y="2010"/>
              <a:ext cx="0" cy="306"/>
            </a:xfrm>
            <a:prstGeom prst="line">
              <a:avLst/>
            </a:prstGeom>
            <a:ln w="28575" cap="flat" cmpd="sng">
              <a:solidFill>
                <a:schemeClr val="tx1"/>
              </a:solidFill>
              <a:prstDash val="solid"/>
              <a:headEnd type="triangle" w="med" len="med"/>
              <a:tailEnd type="triangle" w="med" len="med"/>
            </a:ln>
          </p:spPr>
        </p:sp>
        <p:sp>
          <p:nvSpPr>
            <p:cNvPr id="16400" name="Line 33"/>
            <p:cNvSpPr/>
            <p:nvPr/>
          </p:nvSpPr>
          <p:spPr>
            <a:xfrm flipH="1" flipV="1">
              <a:off x="4422" y="2376"/>
              <a:ext cx="0" cy="630"/>
            </a:xfrm>
            <a:prstGeom prst="line">
              <a:avLst/>
            </a:prstGeom>
            <a:ln w="28575" cap="flat" cmpd="sng">
              <a:solidFill>
                <a:schemeClr val="tx1"/>
              </a:solidFill>
              <a:prstDash val="solid"/>
              <a:headEnd type="triangle" w="med" len="med"/>
              <a:tailEnd type="triangle" w="med" len="med"/>
            </a:ln>
          </p:spPr>
        </p:sp>
        <p:sp>
          <p:nvSpPr>
            <p:cNvPr id="16401" name="Text Box 34"/>
            <p:cNvSpPr txBox="1"/>
            <p:nvPr/>
          </p:nvSpPr>
          <p:spPr>
            <a:xfrm>
              <a:off x="3663" y="3102"/>
              <a:ext cx="654" cy="442"/>
            </a:xfrm>
            <a:prstGeom prst="rect">
              <a:avLst/>
            </a:prstGeom>
            <a:noFill/>
            <a:ln w="9525">
              <a:noFill/>
            </a:ln>
          </p:spPr>
          <p:txBody>
            <a:bodyPr wrap="none" anchor="ctr" anchorCtr="0">
              <a:spAutoFit/>
            </a:bodyPr>
            <a:p>
              <a:pPr algn="ctr"/>
              <a:r>
                <a:rPr lang="en-US" altLang="zh-CN" sz="2000" b="0" dirty="0">
                  <a:latin typeface="Comic Sans MS" panose="030F0702030302020204" pitchFamily="66" charset="0"/>
                </a:rPr>
                <a:t>host or</a:t>
              </a:r>
              <a:endParaRPr lang="en-US" altLang="zh-CN" sz="2000" b="0" dirty="0">
                <a:latin typeface="Comic Sans MS" panose="030F0702030302020204" pitchFamily="66" charset="0"/>
              </a:endParaRPr>
            </a:p>
            <a:p>
              <a:pPr algn="ctr"/>
              <a:r>
                <a:rPr lang="en-US" altLang="zh-CN" sz="2000" b="0" dirty="0">
                  <a:latin typeface="Comic Sans MS" panose="030F0702030302020204" pitchFamily="66" charset="0"/>
                </a:rPr>
                <a:t>server</a:t>
              </a:r>
              <a:endParaRPr lang="en-US" altLang="zh-CN" b="0" dirty="0">
                <a:latin typeface="Times New Roman" panose="02020603050405020304" pitchFamily="18" charset="0"/>
              </a:endParaRPr>
            </a:p>
          </p:txBody>
        </p:sp>
        <p:sp>
          <p:nvSpPr>
            <p:cNvPr id="16402" name="Freeform 35"/>
            <p:cNvSpPr/>
            <p:nvPr/>
          </p:nvSpPr>
          <p:spPr>
            <a:xfrm>
              <a:off x="2266" y="2304"/>
              <a:ext cx="1133" cy="1055"/>
            </a:xfrm>
            <a:custGeom>
              <a:avLst/>
              <a:gdLst/>
              <a:ahLst/>
              <a:cxnLst>
                <a:cxn ang="0">
                  <a:pos x="210" y="6"/>
                </a:cxn>
                <a:cxn ang="0">
                  <a:pos x="31" y="132"/>
                </a:cxn>
                <a:cxn ang="0">
                  <a:pos x="25" y="440"/>
                </a:cxn>
                <a:cxn ang="0">
                  <a:pos x="46" y="697"/>
                </a:cxn>
                <a:cxn ang="0">
                  <a:pos x="215" y="732"/>
                </a:cxn>
                <a:cxn ang="0">
                  <a:pos x="567" y="949"/>
                </a:cxn>
                <a:cxn ang="0">
                  <a:pos x="873" y="1040"/>
                </a:cxn>
                <a:cxn ang="0">
                  <a:pos x="1051" y="858"/>
                </a:cxn>
                <a:cxn ang="0">
                  <a:pos x="1115" y="374"/>
                </a:cxn>
                <a:cxn ang="0">
                  <a:pos x="1057" y="177"/>
                </a:cxn>
                <a:cxn ang="0">
                  <a:pos x="657" y="97"/>
                </a:cxn>
                <a:cxn ang="0">
                  <a:pos x="210" y="6"/>
                </a:cxn>
              </a:cxnLst>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CCFFFF">
                <a:alpha val="100000"/>
              </a:srgbClr>
            </a:solidFill>
            <a:ln w="9525">
              <a:noFill/>
            </a:ln>
          </p:spPr>
          <p:txBody>
            <a:bodyPr/>
            <a:p>
              <a:endParaRPr lang="zh-CN" altLang="en-US"/>
            </a:p>
          </p:txBody>
        </p:sp>
        <p:sp>
          <p:nvSpPr>
            <p:cNvPr id="16403" name="Text Box 36"/>
            <p:cNvSpPr txBox="1"/>
            <p:nvPr/>
          </p:nvSpPr>
          <p:spPr>
            <a:xfrm>
              <a:off x="2479" y="2688"/>
              <a:ext cx="732" cy="250"/>
            </a:xfrm>
            <a:prstGeom prst="rect">
              <a:avLst/>
            </a:prstGeom>
            <a:noFill/>
            <a:ln w="9525">
              <a:noFill/>
            </a:ln>
          </p:spPr>
          <p:txBody>
            <a:bodyPr wrap="none" anchor="ctr" anchorCtr="0">
              <a:spAutoFit/>
            </a:bodyPr>
            <a:p>
              <a:pPr algn="ctr"/>
              <a:r>
                <a:rPr lang="en-US" altLang="zh-CN" sz="2000" b="0" dirty="0">
                  <a:latin typeface="Comic Sans MS" panose="030F0702030302020204" pitchFamily="66" charset="0"/>
                </a:rPr>
                <a:t>internet</a:t>
              </a:r>
              <a:endParaRPr lang="en-US" altLang="zh-CN" b="0" dirty="0">
                <a:latin typeface="Times New Roman" panose="02020603050405020304" pitchFamily="18" charset="0"/>
              </a:endParaRPr>
            </a:p>
          </p:txBody>
        </p:sp>
        <p:sp>
          <p:nvSpPr>
            <p:cNvPr id="16404" name="Line 37"/>
            <p:cNvSpPr/>
            <p:nvPr/>
          </p:nvSpPr>
          <p:spPr>
            <a:xfrm flipH="1">
              <a:off x="2034" y="2622"/>
              <a:ext cx="1596" cy="6"/>
            </a:xfrm>
            <a:prstGeom prst="line">
              <a:avLst/>
            </a:prstGeom>
            <a:ln w="38100" cap="flat" cmpd="sng">
              <a:solidFill>
                <a:srgbClr val="FF0000"/>
              </a:solidFill>
              <a:prstDash val="solid"/>
              <a:headEnd type="triangle" w="med" len="med"/>
              <a:tailEnd type="triangle" w="med" len="med"/>
            </a:ln>
          </p:spPr>
        </p:sp>
      </p:grpSp>
      <p:sp>
        <p:nvSpPr>
          <p:cNvPr id="16387" name="Text Box 38"/>
          <p:cNvSpPr txBox="1"/>
          <p:nvPr/>
        </p:nvSpPr>
        <p:spPr>
          <a:xfrm>
            <a:off x="539750" y="4170363"/>
            <a:ext cx="7921625" cy="2308225"/>
          </a:xfrm>
          <a:prstGeom prst="rect">
            <a:avLst/>
          </a:prstGeom>
          <a:noFill/>
          <a:ln w="9525">
            <a:noFill/>
          </a:ln>
        </p:spPr>
        <p:txBody>
          <a:bodyPr anchor="ctr" anchorCtr="0">
            <a:spAutoFit/>
          </a:bodyPr>
          <a:p>
            <a:r>
              <a:rPr lang="en-US" altLang="zh-CN" dirty="0">
                <a:solidFill>
                  <a:srgbClr val="6600CC"/>
                </a:solidFill>
                <a:latin typeface="Comic Sans MS" panose="030F0702030302020204" pitchFamily="66" charset="0"/>
              </a:rPr>
              <a:t>1. </a:t>
            </a:r>
            <a:r>
              <a:rPr lang="zh-CN" altLang="en-US" dirty="0">
                <a:solidFill>
                  <a:srgbClr val="6600CC"/>
                </a:solidFill>
                <a:latin typeface="Comic Sans MS" panose="030F0702030302020204" pitchFamily="66" charset="0"/>
              </a:rPr>
              <a:t>套接字是</a:t>
            </a:r>
            <a:r>
              <a:rPr lang="zh-CN" altLang="en-US" b="0" dirty="0">
                <a:latin typeface="Tahoma" panose="020B0604030504040204" pitchFamily="34" charset="0"/>
              </a:rPr>
              <a:t>是网络编程的入口，</a:t>
            </a:r>
            <a:r>
              <a:rPr lang="zh-CN" altLang="en-US" dirty="0">
                <a:solidFill>
                  <a:srgbClr val="6600CC"/>
                </a:solidFill>
                <a:latin typeface="Comic Sans MS" panose="030F0702030302020204" pitchFamily="66" charset="0"/>
              </a:rPr>
              <a:t>是本地应用程序所创建的</a:t>
            </a:r>
            <a:r>
              <a:rPr lang="en-US" altLang="zh-CN" dirty="0">
                <a:solidFill>
                  <a:srgbClr val="6600CC"/>
                </a:solidFill>
                <a:latin typeface="Comic Sans MS" panose="030F0702030302020204" pitchFamily="66" charset="0"/>
              </a:rPr>
              <a:t>, </a:t>
            </a:r>
            <a:r>
              <a:rPr lang="zh-CN" altLang="en-US" dirty="0">
                <a:solidFill>
                  <a:srgbClr val="6600CC"/>
                </a:solidFill>
                <a:latin typeface="Comic Sans MS" panose="030F0702030302020204" pitchFamily="66" charset="0"/>
              </a:rPr>
              <a:t>为操作系统所控制的接口 ，</a:t>
            </a:r>
            <a:r>
              <a:rPr lang="zh-CN" altLang="en-US" b="0" dirty="0">
                <a:latin typeface="Tahoma" panose="020B0604030504040204" pitchFamily="34" charset="0"/>
              </a:rPr>
              <a:t>它提供了大量的系统调用，构成了网络程序的主体。</a:t>
            </a:r>
            <a:endParaRPr lang="en-US" altLang="zh-CN" b="0" dirty="0">
              <a:latin typeface="Tahoma" panose="020B0604030504040204" pitchFamily="34" charset="0"/>
            </a:endParaRPr>
          </a:p>
          <a:p>
            <a:r>
              <a:rPr lang="en-US" altLang="zh-CN" dirty="0">
                <a:solidFill>
                  <a:srgbClr val="6600CC"/>
                </a:solidFill>
                <a:latin typeface="Comic Sans MS" panose="030F0702030302020204" pitchFamily="66" charset="0"/>
              </a:rPr>
              <a:t>2. </a:t>
            </a:r>
            <a:r>
              <a:rPr lang="zh-CN" altLang="en-US" dirty="0">
                <a:solidFill>
                  <a:srgbClr val="6600CC"/>
                </a:solidFill>
                <a:latin typeface="Comic Sans MS" panose="030F0702030302020204" pitchFamily="66" charset="0"/>
              </a:rPr>
              <a:t>进程通过调用套接字接口来实现相互之间的通信，而套接字接口又利用下层的网络通信协议功能和系统调用实现实际的通信工作</a:t>
            </a:r>
            <a:endParaRPr lang="zh-CN" altLang="en-US" dirty="0">
              <a:solidFill>
                <a:srgbClr val="6600CC"/>
              </a:solidFill>
              <a:latin typeface="Arial" panose="020B0604020202020204" pitchFamily="34" charset="0"/>
            </a:endParaRPr>
          </a:p>
        </p:txBody>
      </p:sp>
    </p:spTree>
  </p:cSld>
  <p:clrMapOvr>
    <a:masterClrMapping/>
  </p:clrMapOvr>
  <p:transition>
    <p:rand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Rectangle 2"/>
          <p:cNvSpPr>
            <a:spLocks noGrp="1"/>
          </p:cNvSpPr>
          <p:nvPr>
            <p:ph type="title"/>
          </p:nvPr>
        </p:nvSpPr>
        <p:spPr/>
        <p:txBody>
          <a:bodyPr vert="horz" wrap="square" lIns="91440" tIns="45720" rIns="91440" bIns="45720" anchor="b" anchorCtr="0"/>
          <a:p>
            <a:pPr eaLnBrk="1" hangingPunct="1"/>
            <a:endParaRPr lang="zh-CN" altLang="zh-CN" dirty="0"/>
          </a:p>
        </p:txBody>
      </p:sp>
      <p:sp>
        <p:nvSpPr>
          <p:cNvPr id="17411" name="Rectangle 3"/>
          <p:cNvSpPr>
            <a:spLocks noGrp="1"/>
          </p:cNvSpPr>
          <p:nvPr>
            <p:ph idx="1"/>
          </p:nvPr>
        </p:nvSpPr>
        <p:spPr/>
        <p:txBody>
          <a:bodyPr vert="horz" wrap="square" lIns="91440" tIns="45720" rIns="91440" bIns="45720" anchor="t" anchorCtr="0"/>
          <a:p>
            <a:pPr eaLnBrk="1" hangingPunct="1"/>
            <a:r>
              <a:rPr lang="en-US" altLang="zh-CN" sz="2600" dirty="0"/>
              <a:t>Socket</a:t>
            </a:r>
            <a:r>
              <a:rPr lang="zh-CN" altLang="en-US" sz="2600" dirty="0"/>
              <a:t>原意是</a:t>
            </a:r>
            <a:r>
              <a:rPr lang="zh-CN" altLang="en-US" sz="2600" dirty="0">
                <a:latin typeface="Arial" panose="020B0604020202020204" pitchFamily="34" charset="0"/>
              </a:rPr>
              <a:t>“</a:t>
            </a:r>
            <a:r>
              <a:rPr lang="zh-CN" altLang="en-US" sz="2600" dirty="0"/>
              <a:t>插座</a:t>
            </a:r>
            <a:r>
              <a:rPr lang="zh-CN" altLang="en-US" sz="2600" dirty="0">
                <a:latin typeface="Arial" panose="020B0604020202020204" pitchFamily="34" charset="0"/>
              </a:rPr>
              <a:t>”</a:t>
            </a:r>
            <a:r>
              <a:rPr lang="zh-CN" altLang="en-US" sz="2600" dirty="0"/>
              <a:t>。区分不同应用程序间的网络通信和连接，主要有</a:t>
            </a:r>
            <a:r>
              <a:rPr lang="en-US" altLang="zh-CN" sz="2600" dirty="0"/>
              <a:t>3</a:t>
            </a:r>
            <a:r>
              <a:rPr lang="zh-CN" altLang="en-US" sz="2600" dirty="0"/>
              <a:t>个参数：通信的</a:t>
            </a:r>
            <a:r>
              <a:rPr lang="zh-CN" altLang="en-US" sz="2600" b="1" dirty="0">
                <a:solidFill>
                  <a:srgbClr val="FF0000"/>
                </a:solidFill>
              </a:rPr>
              <a:t>目的</a:t>
            </a:r>
            <a:r>
              <a:rPr lang="en-US" altLang="zh-CN" sz="2600" b="1" dirty="0">
                <a:solidFill>
                  <a:srgbClr val="FF0000"/>
                </a:solidFill>
              </a:rPr>
              <a:t>IP</a:t>
            </a:r>
            <a:r>
              <a:rPr lang="zh-CN" altLang="en-US" sz="2600" b="1" dirty="0">
                <a:solidFill>
                  <a:srgbClr val="FF0000"/>
                </a:solidFill>
              </a:rPr>
              <a:t>地址</a:t>
            </a:r>
            <a:r>
              <a:rPr lang="zh-CN" altLang="en-US" sz="2600" dirty="0"/>
              <a:t>、使用的传输层协议</a:t>
            </a:r>
            <a:r>
              <a:rPr lang="en-US" altLang="zh-CN" sz="2600" dirty="0"/>
              <a:t>(</a:t>
            </a:r>
            <a:r>
              <a:rPr lang="en-US" altLang="zh-CN" sz="2600" b="1" dirty="0">
                <a:solidFill>
                  <a:srgbClr val="FF0000"/>
                </a:solidFill>
              </a:rPr>
              <a:t>TCP</a:t>
            </a:r>
            <a:r>
              <a:rPr lang="zh-CN" altLang="en-US" sz="2600" b="1" dirty="0">
                <a:solidFill>
                  <a:srgbClr val="FF0000"/>
                </a:solidFill>
              </a:rPr>
              <a:t>或</a:t>
            </a:r>
            <a:r>
              <a:rPr lang="en-US" altLang="zh-CN" sz="2600" b="1" dirty="0">
                <a:solidFill>
                  <a:srgbClr val="FF0000"/>
                </a:solidFill>
              </a:rPr>
              <a:t>UDP</a:t>
            </a:r>
            <a:r>
              <a:rPr lang="en-US" altLang="zh-CN" sz="2600" dirty="0"/>
              <a:t>)</a:t>
            </a:r>
            <a:r>
              <a:rPr lang="zh-CN" altLang="en-US" sz="2600" dirty="0"/>
              <a:t>和使用的</a:t>
            </a:r>
            <a:r>
              <a:rPr lang="zh-CN" altLang="en-US" sz="2600" b="1" dirty="0">
                <a:solidFill>
                  <a:srgbClr val="FF0000"/>
                </a:solidFill>
              </a:rPr>
              <a:t>端口号</a:t>
            </a:r>
            <a:r>
              <a:rPr lang="zh-CN" altLang="en-US" sz="2600" dirty="0"/>
              <a:t>。通过将这</a:t>
            </a:r>
            <a:r>
              <a:rPr lang="en-US" altLang="zh-CN" sz="2600" dirty="0"/>
              <a:t>3</a:t>
            </a:r>
            <a:r>
              <a:rPr lang="zh-CN" altLang="en-US" sz="2600" dirty="0"/>
              <a:t>个参数结合起来，与一个</a:t>
            </a:r>
            <a:r>
              <a:rPr lang="zh-CN" altLang="en-US" sz="2600" dirty="0">
                <a:latin typeface="Arial" panose="020B0604020202020204" pitchFamily="34" charset="0"/>
              </a:rPr>
              <a:t>“</a:t>
            </a:r>
            <a:r>
              <a:rPr lang="zh-CN" altLang="en-US" sz="2600" dirty="0"/>
              <a:t>插座</a:t>
            </a:r>
            <a:r>
              <a:rPr lang="zh-CN" altLang="en-US" sz="2600" dirty="0">
                <a:latin typeface="Arial" panose="020B0604020202020204" pitchFamily="34" charset="0"/>
              </a:rPr>
              <a:t>”</a:t>
            </a:r>
            <a:r>
              <a:rPr lang="en-US" altLang="zh-CN" sz="2600" dirty="0"/>
              <a:t>Socket</a:t>
            </a:r>
            <a:r>
              <a:rPr lang="zh-CN" altLang="en-US" sz="2600" dirty="0"/>
              <a:t>绑定，应用层就可以和传输层通过套接字接口，区分来自不同应用程序进程或网络连接的通信，实现数据传输的并发服务。</a:t>
            </a:r>
            <a:endParaRPr lang="zh-CN" altLang="en-US" sz="2600" dirty="0"/>
          </a:p>
          <a:p>
            <a:pPr eaLnBrk="1" hangingPunct="1"/>
            <a:r>
              <a:rPr lang="zh-CN" altLang="en-US" sz="2600" dirty="0"/>
              <a:t>套接字是一种网络</a:t>
            </a:r>
            <a:r>
              <a:rPr lang="en-US" altLang="zh-CN" sz="2600" dirty="0"/>
              <a:t>API</a:t>
            </a:r>
            <a:r>
              <a:rPr lang="zh-CN" altLang="en-US" sz="2600" dirty="0"/>
              <a:t>，程序员可以用之开发网络程序。套接字接口本意在于提供一种进程间通信的方法，使得在相同或不同的主机上的进程能以相同的规范进行双向信息传送。</a:t>
            </a:r>
            <a:endParaRPr lang="zh-CN" altLang="en-US" sz="2600" dirty="0"/>
          </a:p>
        </p:txBody>
      </p:sp>
    </p:spTree>
  </p:cSld>
  <p:clrMapOvr>
    <a:masterClrMapping/>
  </p:clrMapOvr>
  <p:transition>
    <p:rand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2"/>
          <p:cNvSpPr>
            <a:spLocks noGrp="1"/>
          </p:cNvSpPr>
          <p:nvPr>
            <p:ph type="title"/>
          </p:nvPr>
        </p:nvSpPr>
        <p:spPr/>
        <p:txBody>
          <a:bodyPr vert="horz" wrap="square" lIns="91440" tIns="45720" rIns="91440" bIns="45720" anchor="b" anchorCtr="0"/>
          <a:p>
            <a:pPr eaLnBrk="1" hangingPunct="1"/>
            <a:r>
              <a:rPr lang="zh-CN" altLang="en-US" b="1" dirty="0"/>
              <a:t>套接字</a:t>
            </a:r>
            <a:r>
              <a:rPr lang="en-US" altLang="zh-CN" b="1" dirty="0"/>
              <a:t>(</a:t>
            </a:r>
            <a:r>
              <a:rPr lang="zh-CN" altLang="en-US" b="1" dirty="0"/>
              <a:t>套接口</a:t>
            </a:r>
            <a:r>
              <a:rPr lang="en-US" altLang="zh-CN" b="1" dirty="0"/>
              <a:t>)</a:t>
            </a:r>
            <a:endParaRPr lang="en-US" altLang="zh-CN" b="1" dirty="0"/>
          </a:p>
        </p:txBody>
      </p:sp>
      <p:graphicFrame>
        <p:nvGraphicFramePr>
          <p:cNvPr id="18435" name="Object 3"/>
          <p:cNvGraphicFramePr>
            <a:graphicFrameLocks noChangeAspect="1"/>
          </p:cNvGraphicFramePr>
          <p:nvPr>
            <p:ph idx="1"/>
          </p:nvPr>
        </p:nvGraphicFramePr>
        <p:xfrm>
          <a:off x="2051050" y="3789363"/>
          <a:ext cx="5400675" cy="2568575"/>
        </p:xfrm>
        <a:graphic>
          <a:graphicData uri="http://schemas.openxmlformats.org/presentationml/2006/ole">
            <mc:AlternateContent xmlns:mc="http://schemas.openxmlformats.org/markup-compatibility/2006">
              <mc:Choice xmlns:v="urn:schemas-microsoft-com:vml" Requires="v">
                <p:oleObj spid="_x0000_s3076" name="" r:id="rId1" imgW="5816600" imgH="2768600" progId="Visio.Drawing.11">
                  <p:embed/>
                </p:oleObj>
              </mc:Choice>
              <mc:Fallback>
                <p:oleObj name="" r:id="rId1" imgW="5816600" imgH="2768600" progId="Visio.Drawing.11">
                  <p:embed/>
                  <p:pic>
                    <p:nvPicPr>
                      <p:cNvPr id="0" name="图片 3075"/>
                      <p:cNvPicPr/>
                      <p:nvPr/>
                    </p:nvPicPr>
                    <p:blipFill>
                      <a:blip r:embed="rId2"/>
                      <a:srcRect/>
                      <a:stretch>
                        <a:fillRect/>
                      </a:stretch>
                    </p:blipFill>
                    <p:spPr>
                      <a:xfrm>
                        <a:off x="2051050" y="3789363"/>
                        <a:ext cx="5400675" cy="2568575"/>
                      </a:xfrm>
                      <a:prstGeom prst="rect">
                        <a:avLst/>
                      </a:prstGeom>
                      <a:noFill/>
                      <a:ln w="38100">
                        <a:miter/>
                      </a:ln>
                    </p:spPr>
                  </p:pic>
                </p:oleObj>
              </mc:Fallback>
            </mc:AlternateContent>
          </a:graphicData>
        </a:graphic>
      </p:graphicFrame>
      <p:sp>
        <p:nvSpPr>
          <p:cNvPr id="18436" name="Rectangle 5"/>
          <p:cNvSpPr/>
          <p:nvPr/>
        </p:nvSpPr>
        <p:spPr>
          <a:xfrm>
            <a:off x="971550" y="1628775"/>
            <a:ext cx="7772400" cy="2376488"/>
          </a:xfrm>
          <a:prstGeom prst="rect">
            <a:avLst/>
          </a:prstGeom>
          <a:noFill/>
          <a:ln w="9525">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stStyle>
          <a:p>
            <a:pPr marL="342900" lvl="0" indent="-342900" eaLnBrk="1" hangingPunct="1">
              <a:lnSpc>
                <a:spcPct val="80000"/>
              </a:lnSpc>
              <a:buNone/>
            </a:pPr>
            <a:r>
              <a:rPr lang="en-US" altLang="zh-CN" sz="2800" dirty="0"/>
              <a:t>   A</a:t>
            </a:r>
            <a:r>
              <a:rPr lang="zh-CN" altLang="en-US" sz="2800" dirty="0"/>
              <a:t>首先调用数据发送函数，将要发送的信息写入其</a:t>
            </a:r>
            <a:r>
              <a:rPr lang="en-US" altLang="zh-CN" sz="2800" dirty="0"/>
              <a:t>Socket</a:t>
            </a:r>
            <a:r>
              <a:rPr lang="zh-CN" altLang="en-US" sz="2800" dirty="0"/>
              <a:t>中，</a:t>
            </a:r>
            <a:r>
              <a:rPr lang="en-US" altLang="zh-CN" sz="2800" dirty="0"/>
              <a:t>Socket</a:t>
            </a:r>
            <a:r>
              <a:rPr lang="zh-CN" altLang="en-US" sz="2800" dirty="0"/>
              <a:t>中的内容通过</a:t>
            </a:r>
            <a:r>
              <a:rPr lang="en-US" altLang="zh-CN" sz="2800" dirty="0"/>
              <a:t>A</a:t>
            </a:r>
            <a:r>
              <a:rPr lang="zh-CN" altLang="en-US" sz="2800" dirty="0"/>
              <a:t>的网络管理软件将这段信息由</a:t>
            </a:r>
            <a:r>
              <a:rPr lang="en-US" altLang="zh-CN" sz="2800" dirty="0"/>
              <a:t>A</a:t>
            </a:r>
            <a:r>
              <a:rPr lang="zh-CN" altLang="en-US" sz="2800" dirty="0"/>
              <a:t>的网络接口卡发送的</a:t>
            </a:r>
            <a:r>
              <a:rPr lang="en-US" altLang="zh-CN" sz="2800" dirty="0"/>
              <a:t>B</a:t>
            </a:r>
            <a:r>
              <a:rPr lang="zh-CN" altLang="en-US" sz="2800" dirty="0"/>
              <a:t>，</a:t>
            </a:r>
            <a:r>
              <a:rPr lang="en-US" altLang="zh-CN" sz="2800" dirty="0"/>
              <a:t>B</a:t>
            </a:r>
            <a:r>
              <a:rPr lang="zh-CN" altLang="en-US" sz="2800" dirty="0"/>
              <a:t>的网络接口卡接收到信息并传送给</a:t>
            </a:r>
            <a:r>
              <a:rPr lang="en-US" altLang="zh-CN" sz="2800" dirty="0"/>
              <a:t>B</a:t>
            </a:r>
            <a:r>
              <a:rPr lang="zh-CN" altLang="en-US" sz="2800" dirty="0"/>
              <a:t>的网络接口软件，接口软件再将信息送给</a:t>
            </a:r>
            <a:r>
              <a:rPr lang="en-US" altLang="zh-CN" sz="2800" dirty="0"/>
              <a:t>B</a:t>
            </a:r>
            <a:r>
              <a:rPr lang="zh-CN" altLang="en-US" sz="2800" dirty="0"/>
              <a:t>的</a:t>
            </a:r>
            <a:r>
              <a:rPr lang="en-US" altLang="zh-CN" sz="2800" dirty="0"/>
              <a:t>Socket,</a:t>
            </a:r>
            <a:r>
              <a:rPr lang="zh-CN" altLang="en-US" sz="2800" dirty="0"/>
              <a:t>然后程序</a:t>
            </a:r>
            <a:r>
              <a:rPr lang="en-US" altLang="zh-CN" sz="2800" dirty="0"/>
              <a:t>B</a:t>
            </a:r>
            <a:r>
              <a:rPr lang="zh-CN" altLang="en-US" sz="2800" dirty="0"/>
              <a:t>就可以使用这段信息。</a:t>
            </a:r>
            <a:endParaRPr lang="zh-CN" altLang="en-US" sz="2800" dirty="0"/>
          </a:p>
        </p:txBody>
      </p:sp>
    </p:spTree>
  </p:cSld>
  <p:clrMapOvr>
    <a:masterClrMapping/>
  </p:clrMapOvr>
  <p:transition>
    <p:rand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Rectangle 2"/>
          <p:cNvSpPr>
            <a:spLocks noGrp="1"/>
          </p:cNvSpPr>
          <p:nvPr>
            <p:ph type="title"/>
          </p:nvPr>
        </p:nvSpPr>
        <p:spPr/>
        <p:txBody>
          <a:bodyPr vert="horz" wrap="square" lIns="91440" tIns="45720" rIns="91440" bIns="45720" anchor="b" anchorCtr="0"/>
          <a:p>
            <a:pPr eaLnBrk="1" hangingPunct="1"/>
            <a:r>
              <a:rPr lang="zh-CN" altLang="en-US" b="1" dirty="0"/>
              <a:t>套接字</a:t>
            </a:r>
            <a:r>
              <a:rPr lang="en-US" altLang="zh-CN" b="1" dirty="0"/>
              <a:t>(</a:t>
            </a:r>
            <a:r>
              <a:rPr lang="zh-CN" altLang="en-US" b="1" dirty="0"/>
              <a:t>套接口</a:t>
            </a:r>
            <a:r>
              <a:rPr lang="en-US" altLang="zh-CN" b="1" dirty="0"/>
              <a:t>)</a:t>
            </a:r>
            <a:endParaRPr lang="en-US" altLang="zh-CN" b="1" dirty="0"/>
          </a:p>
        </p:txBody>
      </p:sp>
      <p:sp>
        <p:nvSpPr>
          <p:cNvPr id="20483" name="Rectangle 3"/>
          <p:cNvSpPr>
            <a:spLocks noGrp="1"/>
          </p:cNvSpPr>
          <p:nvPr>
            <p:ph idx="1"/>
          </p:nvPr>
        </p:nvSpPr>
        <p:spPr/>
        <p:txBody>
          <a:bodyPr vert="horz" wrap="square" lIns="91440" tIns="45720" rIns="91440" bIns="45720" anchor="t" anchorCtr="0"/>
          <a:p>
            <a:pPr eaLnBrk="1" hangingPunct="1"/>
            <a:r>
              <a:rPr lang="zh-CN" altLang="en-US" dirty="0"/>
              <a:t>套接口还可以看成是两个网络应用程序进行通信时，各自通信连接中的一个端点，双方首先必须各自创建一个端点，否则是没有办法建立联系并相互通信的。</a:t>
            </a:r>
            <a:endParaRPr lang="zh-CN" altLang="en-US" dirty="0"/>
          </a:p>
          <a:p>
            <a:pPr eaLnBrk="1" hangingPunct="1"/>
            <a:r>
              <a:rPr lang="zh-CN" altLang="en-US" dirty="0"/>
              <a:t>其本质是通信过程中所要使用的一些缓冲区及其一些相关的数据结构。</a:t>
            </a:r>
            <a:endParaRPr lang="zh-CN" altLang="en-US" dirty="0"/>
          </a:p>
        </p:txBody>
      </p:sp>
    </p:spTree>
  </p:cSld>
  <p:clrMapOvr>
    <a:masterClrMapping/>
  </p:clrMapOvr>
  <p:transition>
    <p:rand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Rectangle 2"/>
          <p:cNvSpPr>
            <a:spLocks noGrp="1"/>
          </p:cNvSpPr>
          <p:nvPr>
            <p:ph type="title"/>
          </p:nvPr>
        </p:nvSpPr>
        <p:spPr>
          <a:xfrm>
            <a:off x="304800" y="533400"/>
            <a:ext cx="7467600" cy="762000"/>
          </a:xfrm>
        </p:spPr>
        <p:txBody>
          <a:bodyPr vert="horz" wrap="square" lIns="91440" tIns="45720" rIns="91440" bIns="45720" anchor="b" anchorCtr="0"/>
          <a:p>
            <a:pPr eaLnBrk="1" hangingPunct="1"/>
            <a:r>
              <a:rPr lang="zh-CN" altLang="en-US" b="1" dirty="0"/>
              <a:t>套接字类型</a:t>
            </a:r>
            <a:endParaRPr lang="zh-CN" altLang="en-US" b="1" dirty="0"/>
          </a:p>
        </p:txBody>
      </p:sp>
      <p:sp>
        <p:nvSpPr>
          <p:cNvPr id="21507" name="Rectangle 3"/>
          <p:cNvSpPr>
            <a:spLocks noGrp="1"/>
          </p:cNvSpPr>
          <p:nvPr>
            <p:ph idx="1"/>
          </p:nvPr>
        </p:nvSpPr>
        <p:spPr>
          <a:xfrm>
            <a:off x="0" y="1557338"/>
            <a:ext cx="9144000" cy="5759450"/>
          </a:xfrm>
          <a:solidFill>
            <a:schemeClr val="bg1">
              <a:alpha val="100000"/>
            </a:schemeClr>
          </a:solidFill>
        </p:spPr>
        <p:txBody>
          <a:bodyPr vert="horz" wrap="square" lIns="91440" tIns="45720" rIns="91440" bIns="45720" anchor="t" anchorCtr="0"/>
          <a:p>
            <a:pPr eaLnBrk="1" hangingPunct="1"/>
            <a:r>
              <a:rPr lang="zh-CN" altLang="en-US" sz="3600" dirty="0"/>
              <a:t>套接字存在于特定的通信协议（地址族）中，套接字支持多种地址族：</a:t>
            </a:r>
            <a:endParaRPr lang="zh-CN" altLang="en-US" sz="3600" dirty="0"/>
          </a:p>
          <a:p>
            <a:pPr lvl="1" eaLnBrk="1" hangingPunct="1"/>
            <a:r>
              <a:rPr lang="en-US" altLang="zh-CN" dirty="0"/>
              <a:t>AF_LOCAL</a:t>
            </a:r>
            <a:r>
              <a:rPr lang="zh-CN" altLang="en-US" dirty="0"/>
              <a:t>：</a:t>
            </a:r>
            <a:r>
              <a:rPr lang="en-US" altLang="zh-CN" dirty="0"/>
              <a:t>Unix </a:t>
            </a:r>
            <a:r>
              <a:rPr lang="zh-CN" altLang="en-US" dirty="0"/>
              <a:t>系统本地通信</a:t>
            </a:r>
            <a:endParaRPr lang="en-US" altLang="zh-CN" dirty="0"/>
          </a:p>
          <a:p>
            <a:pPr lvl="1" eaLnBrk="1" hangingPunct="1"/>
            <a:r>
              <a:rPr lang="en-US" altLang="zh-CN" dirty="0"/>
              <a:t>AF_INET</a:t>
            </a:r>
            <a:r>
              <a:rPr lang="zh-CN" altLang="en-US" dirty="0"/>
              <a:t>：</a:t>
            </a:r>
            <a:r>
              <a:rPr lang="en-US" altLang="zh-CN" dirty="0"/>
              <a:t>IP</a:t>
            </a:r>
            <a:r>
              <a:rPr lang="zh-CN" altLang="en-US" dirty="0"/>
              <a:t>版本</a:t>
            </a:r>
            <a:r>
              <a:rPr lang="en-US" altLang="zh-CN" dirty="0"/>
              <a:t>4</a:t>
            </a:r>
            <a:endParaRPr lang="en-US" altLang="zh-CN" dirty="0"/>
          </a:p>
          <a:p>
            <a:pPr lvl="1" eaLnBrk="1" hangingPunct="1"/>
            <a:r>
              <a:rPr lang="en-US" altLang="zh-CN" dirty="0"/>
              <a:t>AF_INET6</a:t>
            </a:r>
            <a:r>
              <a:rPr lang="zh-CN" altLang="en-US" dirty="0"/>
              <a:t>：</a:t>
            </a:r>
            <a:r>
              <a:rPr lang="en-US" altLang="zh-CN" dirty="0"/>
              <a:t>IP</a:t>
            </a:r>
            <a:r>
              <a:rPr lang="zh-CN" altLang="en-US" dirty="0"/>
              <a:t>版本</a:t>
            </a:r>
            <a:r>
              <a:rPr lang="en-US" altLang="zh-CN" dirty="0"/>
              <a:t>6</a:t>
            </a:r>
            <a:endParaRPr lang="en-US" altLang="zh-CN" dirty="0"/>
          </a:p>
        </p:txBody>
      </p:sp>
    </p:spTree>
  </p:cSld>
  <p:clrMapOvr>
    <a:masterClrMapping/>
  </p:clrMapOvr>
  <p:transition>
    <p:rand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Rectangle 2"/>
          <p:cNvSpPr>
            <a:spLocks noGrp="1"/>
          </p:cNvSpPr>
          <p:nvPr>
            <p:ph type="title"/>
          </p:nvPr>
        </p:nvSpPr>
        <p:spPr/>
        <p:txBody>
          <a:bodyPr vert="horz" wrap="square" lIns="91440" tIns="45720" rIns="91440" bIns="45720" anchor="b" anchorCtr="0"/>
          <a:p>
            <a:pPr eaLnBrk="1" hangingPunct="1"/>
            <a:endParaRPr lang="zh-CN" altLang="zh-CN" dirty="0"/>
          </a:p>
        </p:txBody>
      </p:sp>
      <p:sp>
        <p:nvSpPr>
          <p:cNvPr id="23555" name="Rectangle 3"/>
          <p:cNvSpPr>
            <a:spLocks noGrp="1"/>
          </p:cNvSpPr>
          <p:nvPr>
            <p:ph idx="1"/>
          </p:nvPr>
        </p:nvSpPr>
        <p:spPr>
          <a:xfrm>
            <a:off x="971550" y="1628775"/>
            <a:ext cx="7772400" cy="5229225"/>
          </a:xfrm>
        </p:spPr>
        <p:txBody>
          <a:bodyPr vert="horz" wrap="square" lIns="91440" tIns="45720" rIns="91440" bIns="45720" anchor="t" anchorCtr="0"/>
          <a:p>
            <a:pPr eaLnBrk="1" hangingPunct="1"/>
            <a:r>
              <a:rPr lang="en-US" altLang="zh-CN" dirty="0"/>
              <a:t>Linux</a:t>
            </a:r>
            <a:r>
              <a:rPr lang="zh-CN" altLang="en-US" dirty="0"/>
              <a:t>支持多种套接字类型，</a:t>
            </a:r>
            <a:r>
              <a:rPr lang="zh-CN" altLang="en-US" dirty="0">
                <a:solidFill>
                  <a:srgbClr val="CC3300"/>
                </a:solidFill>
              </a:rPr>
              <a:t>套接字类型：是指创建套接字的应用程序所希望的通信服务类型。</a:t>
            </a:r>
            <a:r>
              <a:rPr lang="zh-CN" altLang="en-US" dirty="0"/>
              <a:t> </a:t>
            </a:r>
            <a:endParaRPr lang="zh-CN" altLang="en-US" dirty="0"/>
          </a:p>
          <a:p>
            <a:pPr lvl="1" eaLnBrk="1" hangingPunct="1"/>
            <a:r>
              <a:rPr lang="en-US" altLang="zh-CN" dirty="0"/>
              <a:t>SOCK_STREAM</a:t>
            </a:r>
            <a:r>
              <a:rPr lang="zh-CN" altLang="en-US" dirty="0"/>
              <a:t>：双向可靠数据流，流式套接字，对应</a:t>
            </a:r>
            <a:r>
              <a:rPr lang="en-US" altLang="zh-CN" dirty="0"/>
              <a:t>TCP</a:t>
            </a:r>
            <a:endParaRPr lang="en-US" altLang="zh-CN" dirty="0"/>
          </a:p>
          <a:p>
            <a:pPr lvl="1" eaLnBrk="1" hangingPunct="1"/>
            <a:r>
              <a:rPr lang="en-US" altLang="zh-CN" dirty="0"/>
              <a:t>SOCK_DGRAM</a:t>
            </a:r>
            <a:r>
              <a:rPr lang="zh-CN" altLang="en-US" dirty="0"/>
              <a:t>：双向不可靠数据报，数据包套接字，对应</a:t>
            </a:r>
            <a:r>
              <a:rPr lang="en-US" altLang="zh-CN" dirty="0"/>
              <a:t>UDP</a:t>
            </a:r>
            <a:endParaRPr lang="en-US" altLang="zh-CN" dirty="0"/>
          </a:p>
          <a:p>
            <a:pPr lvl="1" eaLnBrk="1" hangingPunct="1"/>
            <a:r>
              <a:rPr lang="en-US" altLang="zh-CN" dirty="0"/>
              <a:t>SOCK_RAW</a:t>
            </a:r>
            <a:r>
              <a:rPr lang="zh-CN" altLang="en-US" dirty="0"/>
              <a:t>：是低于传输层的低级协议或物理网络直接访问，可以访问内部网络接口。原始套接字，例如接收和发送</a:t>
            </a:r>
            <a:r>
              <a:rPr lang="en-US" altLang="zh-CN" dirty="0"/>
              <a:t>ICMP</a:t>
            </a:r>
            <a:r>
              <a:rPr lang="zh-CN" altLang="en-US" dirty="0"/>
              <a:t>报。</a:t>
            </a:r>
            <a:endParaRPr lang="zh-CN" altLang="en-US" dirty="0"/>
          </a:p>
          <a:p>
            <a:pPr eaLnBrk="1" hangingPunct="1"/>
            <a:endParaRPr lang="en-US" altLang="zh-CN" dirty="0"/>
          </a:p>
        </p:txBody>
      </p:sp>
    </p:spTree>
  </p:cSld>
  <p:clrMapOvr>
    <a:masterClrMapping/>
  </p:clrMapOvr>
  <p:transition>
    <p:rand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Rectangle 2"/>
          <p:cNvSpPr>
            <a:spLocks noGrp="1"/>
          </p:cNvSpPr>
          <p:nvPr>
            <p:ph type="title"/>
          </p:nvPr>
        </p:nvSpPr>
        <p:spPr/>
        <p:txBody>
          <a:bodyPr vert="horz" wrap="square" lIns="91440" tIns="45720" rIns="91440" bIns="45720" anchor="b" anchorCtr="0"/>
          <a:p>
            <a:pPr eaLnBrk="1" hangingPunct="1"/>
            <a:r>
              <a:rPr lang="zh-CN" altLang="en-US" dirty="0"/>
              <a:t>套接字地址结构（</a:t>
            </a:r>
            <a:r>
              <a:rPr lang="en-US" altLang="zh-CN" dirty="0"/>
              <a:t>IPv4)</a:t>
            </a:r>
            <a:endParaRPr lang="en-US" altLang="zh-CN" dirty="0"/>
          </a:p>
        </p:txBody>
      </p:sp>
      <p:sp>
        <p:nvSpPr>
          <p:cNvPr id="24579" name="Rectangle 3"/>
          <p:cNvSpPr>
            <a:spLocks noGrp="1"/>
          </p:cNvSpPr>
          <p:nvPr>
            <p:ph idx="1"/>
          </p:nvPr>
        </p:nvSpPr>
        <p:spPr>
          <a:xfrm>
            <a:off x="468313" y="1628775"/>
            <a:ext cx="8420100" cy="1773238"/>
          </a:xfrm>
        </p:spPr>
        <p:txBody>
          <a:bodyPr vert="horz" wrap="square" lIns="91440" tIns="45720" rIns="91440" bIns="45720" anchor="t" anchorCtr="0"/>
          <a:p>
            <a:pPr eaLnBrk="1" hangingPunct="1"/>
            <a:r>
              <a:rPr lang="zh-CN" altLang="en-US" sz="2800" dirty="0"/>
              <a:t>大多数套接字函数需要一个指向套接字地址结构的参数，每个协议族都定义它自己的套接字地址结构，一般以</a:t>
            </a:r>
            <a:r>
              <a:rPr lang="zh-CN" altLang="en-US" sz="2800" dirty="0">
                <a:latin typeface="Arial" panose="020B0604020202020204" pitchFamily="34" charset="0"/>
              </a:rPr>
              <a:t>”</a:t>
            </a:r>
            <a:r>
              <a:rPr lang="en-US" altLang="zh-CN" sz="2800" dirty="0"/>
              <a:t>sockaddr_</a:t>
            </a:r>
            <a:r>
              <a:rPr lang="en-US" altLang="zh-CN" sz="2800" dirty="0">
                <a:latin typeface="Arial" panose="020B0604020202020204" pitchFamily="34" charset="0"/>
              </a:rPr>
              <a:t>”</a:t>
            </a:r>
            <a:r>
              <a:rPr lang="zh-CN" altLang="en-US" sz="2800" dirty="0"/>
              <a:t>开头，并以协议簇为后缀。（</a:t>
            </a:r>
            <a:r>
              <a:rPr lang="en-US" altLang="zh-CN" sz="2800" dirty="0"/>
              <a:t>netinet/in.h</a:t>
            </a:r>
            <a:r>
              <a:rPr lang="zh-CN" altLang="en-US" sz="2800" dirty="0"/>
              <a:t>）</a:t>
            </a:r>
            <a:endParaRPr lang="zh-CN" altLang="en-US" sz="2800" dirty="0"/>
          </a:p>
        </p:txBody>
      </p:sp>
      <p:sp>
        <p:nvSpPr>
          <p:cNvPr id="24580" name="Text Box 4"/>
          <p:cNvSpPr txBox="1"/>
          <p:nvPr/>
        </p:nvSpPr>
        <p:spPr>
          <a:xfrm>
            <a:off x="2047875" y="3716338"/>
            <a:ext cx="5619750" cy="2235200"/>
          </a:xfrm>
          <a:prstGeom prst="rect">
            <a:avLst/>
          </a:prstGeom>
          <a:noFill/>
          <a:ln w="9525" cap="flat" cmpd="sng">
            <a:solidFill>
              <a:srgbClr val="080808"/>
            </a:solidFill>
            <a:prstDash val="dash"/>
            <a:miter/>
            <a:headEnd type="none" w="med" len="med"/>
            <a:tailEnd type="none" w="med" len="med"/>
          </a:ln>
        </p:spPr>
        <p:txBody>
          <a:bodyPr>
            <a:spAutoFit/>
          </a:bodyPr>
          <a:p>
            <a:pPr eaLnBrk="1" hangingPunct="1"/>
            <a:r>
              <a:rPr lang="en-US" altLang="zh-CN" sz="2000" b="0" dirty="0">
                <a:latin typeface="Arial" panose="020B0604020202020204" pitchFamily="34" charset="0"/>
              </a:rPr>
              <a:t>typedef  uint32_t  in_addr_t;</a:t>
            </a:r>
            <a:endParaRPr lang="en-US" altLang="zh-CN" sz="2000" b="0" dirty="0">
              <a:latin typeface="Arial" panose="020B0604020202020204" pitchFamily="34" charset="0"/>
            </a:endParaRPr>
          </a:p>
          <a:p>
            <a:pPr eaLnBrk="1" hangingPunct="1"/>
            <a:r>
              <a:rPr lang="en-US" altLang="zh-CN" sz="2000" b="0" dirty="0">
                <a:latin typeface="Arial" panose="020B0604020202020204" pitchFamily="34" charset="0"/>
              </a:rPr>
              <a:t>typedef  uint16_t  in_port_t;</a:t>
            </a:r>
            <a:endParaRPr lang="en-US" altLang="zh-CN" sz="2000" b="0" dirty="0">
              <a:latin typeface="Arial" panose="020B0604020202020204" pitchFamily="34" charset="0"/>
            </a:endParaRPr>
          </a:p>
          <a:p>
            <a:pPr eaLnBrk="1" hangingPunct="1"/>
            <a:r>
              <a:rPr lang="en-US" altLang="zh-CN" sz="2000" b="0" dirty="0">
                <a:latin typeface="Arial" panose="020B0604020202020204" pitchFamily="34" charset="0"/>
              </a:rPr>
              <a:t>typedef  unsigned short  sa_family_t;</a:t>
            </a:r>
            <a:endParaRPr lang="en-US" altLang="zh-CN" sz="2000" b="0" dirty="0">
              <a:latin typeface="Arial" panose="020B0604020202020204" pitchFamily="34" charset="0"/>
            </a:endParaRPr>
          </a:p>
          <a:p>
            <a:pPr eaLnBrk="1" hangingPunct="1"/>
            <a:endParaRPr lang="en-US" altLang="zh-CN" sz="2000" b="0" dirty="0">
              <a:latin typeface="Arial" panose="020B0604020202020204" pitchFamily="34" charset="0"/>
            </a:endParaRPr>
          </a:p>
          <a:p>
            <a:pPr eaLnBrk="1" hangingPunct="1"/>
            <a:r>
              <a:rPr lang="en-US" altLang="zh-CN" sz="2000" b="0" dirty="0">
                <a:latin typeface="Arial" panose="020B0604020202020204" pitchFamily="34" charset="0"/>
              </a:rPr>
              <a:t>struct  in_addr{</a:t>
            </a:r>
            <a:endParaRPr lang="en-US" altLang="zh-CN" sz="2000" b="0" dirty="0">
              <a:latin typeface="Arial" panose="020B0604020202020204" pitchFamily="34" charset="0"/>
            </a:endParaRPr>
          </a:p>
          <a:p>
            <a:pPr eaLnBrk="1" hangingPunct="1"/>
            <a:r>
              <a:rPr lang="en-US" altLang="zh-CN" sz="2000" b="0" dirty="0">
                <a:latin typeface="Arial" panose="020B0604020202020204" pitchFamily="34" charset="0"/>
              </a:rPr>
              <a:t>   in_addr_t  s_addr;//32</a:t>
            </a:r>
            <a:r>
              <a:rPr lang="zh-CN" altLang="en-US" sz="2000" b="0" dirty="0">
                <a:latin typeface="Arial" panose="020B0604020202020204" pitchFamily="34" charset="0"/>
              </a:rPr>
              <a:t>位</a:t>
            </a:r>
            <a:r>
              <a:rPr lang="en-US" altLang="zh-CN" sz="2000" b="0" dirty="0">
                <a:latin typeface="Arial" panose="020B0604020202020204" pitchFamily="34" charset="0"/>
              </a:rPr>
              <a:t>IP</a:t>
            </a:r>
            <a:r>
              <a:rPr lang="zh-CN" altLang="en-US" sz="2000" b="0" dirty="0">
                <a:latin typeface="Arial" panose="020B0604020202020204" pitchFamily="34" charset="0"/>
              </a:rPr>
              <a:t>地址，网络字节序</a:t>
            </a:r>
            <a:endParaRPr lang="zh-CN" altLang="en-US" sz="2000" b="0" dirty="0">
              <a:latin typeface="Arial" panose="020B0604020202020204" pitchFamily="34" charset="0"/>
            </a:endParaRPr>
          </a:p>
          <a:p>
            <a:pPr eaLnBrk="1" hangingPunct="1"/>
            <a:r>
              <a:rPr lang="en-US" altLang="zh-CN" sz="2000" b="0" dirty="0">
                <a:latin typeface="Arial" panose="020B0604020202020204" pitchFamily="34" charset="0"/>
              </a:rPr>
              <a:t>};</a:t>
            </a:r>
            <a:endParaRPr lang="en-US" altLang="zh-CN" sz="2000" b="0" dirty="0">
              <a:latin typeface="Arial" panose="020B0604020202020204" pitchFamily="34" charset="0"/>
            </a:endParaRPr>
          </a:p>
        </p:txBody>
      </p:sp>
      <p:sp>
        <p:nvSpPr>
          <p:cNvPr id="193542" name="Text Box 6"/>
          <p:cNvSpPr txBox="1">
            <a:spLocks noChangeArrowheads="1"/>
          </p:cNvSpPr>
          <p:nvPr/>
        </p:nvSpPr>
        <p:spPr bwMode="auto">
          <a:xfrm>
            <a:off x="1908175" y="5981700"/>
            <a:ext cx="5060950" cy="457200"/>
          </a:xfrm>
          <a:prstGeom prst="rect">
            <a:avLst/>
          </a:prstGeom>
          <a:noFill/>
          <a:ln>
            <a:noFill/>
          </a:ln>
          <a:effectLst/>
        </p:spPr>
        <p:txBody>
          <a:bodyPr wrap="none">
            <a:spAutoFit/>
          </a:bodyPr>
          <a:lstStyle/>
          <a:p>
            <a:pPr marR="0" defTabSz="914400" eaLnBrk="1" hangingPunct="1">
              <a:buClrTx/>
              <a:buSzTx/>
              <a:buFontTx/>
              <a:buNone/>
              <a:defRPr/>
            </a:pPr>
            <a:r>
              <a:rPr kumimoji="0" lang="zh-CN" altLang="en-US" b="0" kern="1200" cap="none" spc="0" normalizeH="0" baseline="0" noProof="0">
                <a:solidFill>
                  <a:schemeClr val="tx2"/>
                </a:solidFill>
                <a:effectLst>
                  <a:outerShdw blurRad="38100" dist="38100" dir="2700000" algn="tl">
                    <a:srgbClr val="C0C0C0"/>
                  </a:outerShdw>
                </a:effectLst>
                <a:latin typeface="Arial" panose="020B0604020202020204" pitchFamily="34" charset="0"/>
                <a:ea typeface="方正剪纸简体" pitchFamily="65" charset="-122"/>
                <a:cs typeface="+mn-cs"/>
              </a:rPr>
              <a:t>这些结构在不同的系统上都有所不同</a:t>
            </a:r>
            <a:endParaRPr kumimoji="0" lang="zh-CN" altLang="en-US" b="0" kern="1200" cap="none" spc="0" normalizeH="0" baseline="0" noProof="0">
              <a:solidFill>
                <a:schemeClr val="tx2"/>
              </a:solidFill>
              <a:effectLst>
                <a:outerShdw blurRad="38100" dist="38100" dir="2700000" algn="tl">
                  <a:srgbClr val="C0C0C0"/>
                </a:outerShdw>
              </a:effectLst>
              <a:latin typeface="Arial" panose="020B0604020202020204" pitchFamily="34" charset="0"/>
              <a:ea typeface="方正剪纸简体" pitchFamily="65" charset="-122"/>
              <a:cs typeface="+mn-cs"/>
            </a:endParaRPr>
          </a:p>
        </p:txBody>
      </p:sp>
      <p:sp>
        <p:nvSpPr>
          <p:cNvPr id="24582" name="AutoShape 7">
            <a:hlinkClick r:id="rId1" action="ppaction://hlinksldjump"/>
          </p:cNvPr>
          <p:cNvSpPr/>
          <p:nvPr/>
        </p:nvSpPr>
        <p:spPr>
          <a:xfrm>
            <a:off x="7812088" y="6165850"/>
            <a:ext cx="792162" cy="431800"/>
          </a:xfrm>
          <a:prstGeom prst="actionButtonForwardNext">
            <a:avLst/>
          </a:prstGeom>
          <a:solidFill>
            <a:srgbClr val="C0C0C0"/>
          </a:solidFill>
          <a:ln w="9525">
            <a:noFill/>
          </a:ln>
        </p:spPr>
        <p:txBody>
          <a:bodyPr wrap="none" anchor="ctr" anchorCtr="0"/>
          <a:p>
            <a:pPr eaLnBrk="1" hangingPunct="1"/>
            <a:endParaRPr lang="zh-CN" altLang="en-US" dirty="0">
              <a:latin typeface="Tahoma" panose="020B0604030504040204" pitchFamily="34" charset="0"/>
            </a:endParaRPr>
          </a:p>
        </p:txBody>
      </p:sp>
    </p:spTree>
  </p:cSld>
  <p:clrMapOvr>
    <a:masterClrMapping/>
  </p:clrMapOvr>
  <p:transition>
    <p:rand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Rectangle 2"/>
          <p:cNvSpPr>
            <a:spLocks noGrp="1"/>
          </p:cNvSpPr>
          <p:nvPr>
            <p:ph type="title"/>
          </p:nvPr>
        </p:nvSpPr>
        <p:spPr/>
        <p:txBody>
          <a:bodyPr vert="horz" wrap="square" lIns="91440" tIns="45720" rIns="91440" bIns="45720" anchor="b" anchorCtr="0"/>
          <a:p>
            <a:pPr eaLnBrk="1" hangingPunct="1"/>
            <a:endParaRPr lang="zh-CN" altLang="zh-CN" dirty="0"/>
          </a:p>
        </p:txBody>
      </p:sp>
      <p:sp>
        <p:nvSpPr>
          <p:cNvPr id="26627" name="Rectangle 5"/>
          <p:cNvSpPr>
            <a:spLocks noGrp="1"/>
          </p:cNvSpPr>
          <p:nvPr>
            <p:ph idx="1"/>
          </p:nvPr>
        </p:nvSpPr>
        <p:spPr>
          <a:xfrm>
            <a:off x="454025" y="1196975"/>
            <a:ext cx="8689975" cy="5016500"/>
          </a:xfrm>
        </p:spPr>
        <p:txBody>
          <a:bodyPr vert="horz" wrap="square" lIns="92075" tIns="46038" rIns="92075" bIns="46038" anchor="t" anchorCtr="0"/>
          <a:p>
            <a:pPr marL="0" indent="0" eaLnBrk="1" hangingPunct="1">
              <a:lnSpc>
                <a:spcPct val="90000"/>
              </a:lnSpc>
            </a:pPr>
            <a:endParaRPr lang="en-US" altLang="zh-CN" dirty="0"/>
          </a:p>
          <a:p>
            <a:pPr marL="0" indent="0" eaLnBrk="1" hangingPunct="1">
              <a:lnSpc>
                <a:spcPct val="90000"/>
              </a:lnSpc>
            </a:pPr>
            <a:endParaRPr lang="en-US" altLang="zh-CN" dirty="0"/>
          </a:p>
          <a:p>
            <a:pPr marL="0" indent="0" eaLnBrk="1" hangingPunct="1">
              <a:lnSpc>
                <a:spcPct val="90000"/>
              </a:lnSpc>
            </a:pPr>
            <a:r>
              <a:rPr lang="en-US" altLang="zh-CN" dirty="0"/>
              <a:t>struct sockaddr_in{</a:t>
            </a:r>
            <a:endParaRPr lang="en-US" altLang="zh-CN" dirty="0"/>
          </a:p>
          <a:p>
            <a:pPr marL="1008380" lvl="2" indent="-8255" eaLnBrk="1" hangingPunct="1">
              <a:lnSpc>
                <a:spcPct val="90000"/>
              </a:lnSpc>
            </a:pPr>
            <a:r>
              <a:rPr lang="en-US" altLang="zh-CN" dirty="0"/>
              <a:t>  unsigned short int sin_len;  /* IPv4</a:t>
            </a:r>
            <a:r>
              <a:rPr lang="zh-CN" altLang="en-US" dirty="0"/>
              <a:t>地址长度 *</a:t>
            </a:r>
            <a:r>
              <a:rPr lang="en-US" altLang="zh-CN" dirty="0"/>
              <a:t>/</a:t>
            </a:r>
            <a:endParaRPr lang="en-US" altLang="zh-CN" dirty="0"/>
          </a:p>
          <a:p>
            <a:pPr marL="1008380" lvl="2" indent="-8255" eaLnBrk="1" hangingPunct="1">
              <a:lnSpc>
                <a:spcPct val="90000"/>
              </a:lnSpc>
            </a:pPr>
            <a:r>
              <a:rPr lang="en-US" altLang="zh-CN" dirty="0"/>
              <a:t>  short int sin_family; /* </a:t>
            </a:r>
            <a:r>
              <a:rPr lang="zh-CN" altLang="en-US" dirty="0"/>
              <a:t>地址类型 *</a:t>
            </a:r>
            <a:r>
              <a:rPr lang="en-US" altLang="zh-CN" dirty="0"/>
              <a:t>/</a:t>
            </a:r>
            <a:endParaRPr lang="en-US" altLang="zh-CN" dirty="0"/>
          </a:p>
          <a:p>
            <a:pPr marL="1008380" lvl="2" indent="-8255" eaLnBrk="1" hangingPunct="1">
              <a:lnSpc>
                <a:spcPct val="90000"/>
              </a:lnSpc>
            </a:pPr>
            <a:r>
              <a:rPr lang="en-US" altLang="zh-CN" dirty="0"/>
              <a:t>  unsigned short int sin_port; /* </a:t>
            </a:r>
            <a:r>
              <a:rPr lang="zh-CN" altLang="en-US" dirty="0"/>
              <a:t>存储端口号 *</a:t>
            </a:r>
            <a:r>
              <a:rPr lang="en-US" altLang="zh-CN" dirty="0"/>
              <a:t>/</a:t>
            </a:r>
            <a:endParaRPr lang="en-US" altLang="zh-CN" dirty="0"/>
          </a:p>
          <a:p>
            <a:pPr marL="1008380" lvl="2" indent="-8255" eaLnBrk="1" hangingPunct="1">
              <a:lnSpc>
                <a:spcPct val="90000"/>
              </a:lnSpc>
            </a:pPr>
            <a:r>
              <a:rPr lang="en-US" altLang="zh-CN" dirty="0"/>
              <a:t>  struct in_addr sin_addr;  /*</a:t>
            </a:r>
            <a:r>
              <a:rPr lang="zh-CN" altLang="en-US" dirty="0"/>
              <a:t>存储</a:t>
            </a:r>
            <a:r>
              <a:rPr lang="en-US" altLang="zh-CN" dirty="0"/>
              <a:t>IP</a:t>
            </a:r>
            <a:r>
              <a:rPr lang="zh-CN" altLang="en-US" dirty="0"/>
              <a:t>地址 *</a:t>
            </a:r>
            <a:r>
              <a:rPr lang="en-US" altLang="zh-CN" dirty="0"/>
              <a:t>/</a:t>
            </a:r>
            <a:endParaRPr lang="en-US" altLang="zh-CN" dirty="0"/>
          </a:p>
          <a:p>
            <a:pPr marL="1008380" lvl="2" indent="-8255" eaLnBrk="1" hangingPunct="1">
              <a:lnSpc>
                <a:spcPct val="90000"/>
              </a:lnSpc>
            </a:pPr>
            <a:r>
              <a:rPr lang="en-US" altLang="zh-CN" dirty="0"/>
              <a:t>  unsigned char sin_zero[8];  /* </a:t>
            </a:r>
            <a:r>
              <a:rPr lang="zh-CN" altLang="en-US" dirty="0"/>
              <a:t>空字节 *</a:t>
            </a:r>
            <a:r>
              <a:rPr lang="en-US" altLang="zh-CN" dirty="0"/>
              <a:t>/</a:t>
            </a:r>
            <a:endParaRPr lang="en-US" altLang="zh-CN" dirty="0"/>
          </a:p>
          <a:p>
            <a:pPr marL="1008380" lvl="2" indent="-8255" eaLnBrk="1" hangingPunct="1">
              <a:lnSpc>
                <a:spcPct val="90000"/>
              </a:lnSpc>
            </a:pPr>
            <a:r>
              <a:rPr lang="en-US" altLang="zh-CN" dirty="0"/>
              <a:t>}</a:t>
            </a:r>
            <a:r>
              <a:rPr lang="zh-CN" altLang="en-US" dirty="0"/>
              <a:t>；</a:t>
            </a:r>
            <a:endParaRPr lang="zh-CN" altLang="en-US" dirty="0"/>
          </a:p>
          <a:p>
            <a:pPr marL="0" indent="0" eaLnBrk="1" hangingPunct="1">
              <a:lnSpc>
                <a:spcPct val="90000"/>
              </a:lnSpc>
            </a:pPr>
            <a:r>
              <a:rPr lang="zh-CN" altLang="en-US" dirty="0"/>
              <a:t>在编程中大多数是使用</a:t>
            </a:r>
            <a:r>
              <a:rPr lang="en-US" altLang="zh-CN" dirty="0"/>
              <a:t>sockaddr_in</a:t>
            </a:r>
            <a:r>
              <a:rPr lang="zh-CN" altLang="en-US" dirty="0"/>
              <a:t>这个结构来设置</a:t>
            </a:r>
            <a:r>
              <a:rPr lang="en-US" altLang="zh-CN" dirty="0"/>
              <a:t>/</a:t>
            </a:r>
            <a:r>
              <a:rPr lang="zh-CN" altLang="en-US" dirty="0"/>
              <a:t>获取地址信息。</a:t>
            </a:r>
            <a:endParaRPr lang="zh-CN" altLang="en-US" dirty="0"/>
          </a:p>
        </p:txBody>
      </p:sp>
      <p:sp>
        <p:nvSpPr>
          <p:cNvPr id="394246" name="AutoShape 6"/>
          <p:cNvSpPr>
            <a:spLocks noChangeArrowheads="1"/>
          </p:cNvSpPr>
          <p:nvPr/>
        </p:nvSpPr>
        <p:spPr bwMode="auto">
          <a:xfrm>
            <a:off x="250825" y="5157788"/>
            <a:ext cx="8572500" cy="939800"/>
          </a:xfrm>
          <a:prstGeom prst="wedgeRoundRectCallout">
            <a:avLst>
              <a:gd name="adj1" fmla="val -15296"/>
              <a:gd name="adj2" fmla="val -215204"/>
              <a:gd name="adj3" fmla="val 16667"/>
            </a:avLst>
          </a:prstGeom>
          <a:solidFill>
            <a:schemeClr val="bg1"/>
          </a:solidFill>
          <a:ln w="9525" algn="ctr">
            <a:solidFill>
              <a:schemeClr val="tx1"/>
            </a:solidFill>
            <a:miter lim="800000"/>
          </a:ln>
          <a:effectLst/>
        </p:spPr>
        <p:txBody>
          <a:bodyPr lIns="92075" tIns="46038" rIns="92075" bIns="46038"/>
          <a:lstStyle>
            <a:lvl1pPr>
              <a:defRPr>
                <a:solidFill>
                  <a:schemeClr val="tx1"/>
                </a:solidFill>
                <a:latin typeface="Arial" panose="020B0604020202020204" pitchFamily="34" charset="0"/>
                <a:ea typeface="宋体" panose="02010600030101010101" pitchFamily="2" charset="-122"/>
              </a:defRPr>
            </a:lvl1pPr>
            <a:lvl2pPr marL="922655">
              <a:defRPr>
                <a:solidFill>
                  <a:schemeClr val="tx1"/>
                </a:solidFill>
                <a:latin typeface="Arial" panose="020B0604020202020204" pitchFamily="34" charset="0"/>
                <a:ea typeface="宋体" panose="02010600030101010101" pitchFamily="2" charset="-122"/>
              </a:defRPr>
            </a:lvl2pPr>
            <a:lvl3pPr marL="1101725">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90000"/>
              </a:lnSpc>
              <a:spcBef>
                <a:spcPct val="15000"/>
              </a:spcBef>
              <a:spcAft>
                <a:spcPct val="0"/>
              </a:spcAft>
              <a:buClrTx/>
              <a:buSzTx/>
              <a:buFontTx/>
              <a:buNone/>
              <a:defRPr/>
            </a:pPr>
            <a:r>
              <a:rPr kumimoji="1" lang="en-US" altLang="zh-CN" sz="2400" b="1" i="0" u="none" strike="noStrike" kern="1200" cap="none" spc="0" normalizeH="0" baseline="0" noProof="0">
                <a:ln>
                  <a:noFill/>
                </a:ln>
                <a:solidFill>
                  <a:srgbClr val="339933"/>
                </a:solidFill>
                <a:effectLst>
                  <a:outerShdw blurRad="38100" dist="38100" dir="2700000" algn="tl">
                    <a:srgbClr val="C0C0C0"/>
                  </a:outerShdw>
                </a:effectLst>
                <a:uLnTx/>
                <a:uFillTx/>
                <a:latin typeface="Comic Sans MS" panose="030F0702030302020204" pitchFamily="66" charset="0"/>
                <a:ea typeface="黑体" panose="02010609060101010101" pitchFamily="49" charset="-122"/>
                <a:cs typeface="+mn-cs"/>
              </a:rPr>
              <a:t>sin_family</a:t>
            </a:r>
            <a:r>
              <a:rPr kumimoji="1" lang="zh-CN" altLang="en-US" sz="2400" b="1" i="0" u="none" strike="noStrike" kern="1200" cap="none" spc="0" normalizeH="0" baseline="0" noProof="0">
                <a:ln>
                  <a:noFill/>
                </a:ln>
                <a:solidFill>
                  <a:srgbClr val="339933"/>
                </a:solidFill>
                <a:effectLst>
                  <a:outerShdw blurRad="38100" dist="38100" dir="2700000" algn="tl">
                    <a:srgbClr val="C0C0C0"/>
                  </a:outerShdw>
                </a:effectLst>
                <a:uLnTx/>
                <a:uFillTx/>
                <a:latin typeface="Comic Sans MS" panose="030F0702030302020204" pitchFamily="66" charset="0"/>
                <a:ea typeface="黑体" panose="02010609060101010101" pitchFamily="49" charset="-122"/>
                <a:cs typeface="+mn-cs"/>
              </a:rPr>
              <a:t>指代协议族，在</a:t>
            </a:r>
            <a:r>
              <a:rPr kumimoji="1" lang="en-US" altLang="zh-CN" sz="2400" b="1" i="0" u="none" strike="noStrike" kern="1200" cap="none" spc="0" normalizeH="0" baseline="0" noProof="0">
                <a:ln>
                  <a:noFill/>
                </a:ln>
                <a:solidFill>
                  <a:srgbClr val="339933"/>
                </a:solidFill>
                <a:effectLst>
                  <a:outerShdw blurRad="38100" dist="38100" dir="2700000" algn="tl">
                    <a:srgbClr val="C0C0C0"/>
                  </a:outerShdw>
                </a:effectLst>
                <a:uLnTx/>
                <a:uFillTx/>
                <a:latin typeface="Comic Sans MS" panose="030F0702030302020204" pitchFamily="66" charset="0"/>
                <a:ea typeface="黑体" panose="02010609060101010101" pitchFamily="49" charset="-122"/>
                <a:cs typeface="+mn-cs"/>
              </a:rPr>
              <a:t>TCP</a:t>
            </a:r>
            <a:r>
              <a:rPr kumimoji="1" lang="zh-CN" altLang="en-US" sz="2400" b="1" i="0" u="none" strike="noStrike" kern="1200" cap="none" spc="0" normalizeH="0" baseline="0" noProof="0">
                <a:ln>
                  <a:noFill/>
                </a:ln>
                <a:solidFill>
                  <a:srgbClr val="339933"/>
                </a:solidFill>
                <a:effectLst>
                  <a:outerShdw blurRad="38100" dist="38100" dir="2700000" algn="tl">
                    <a:srgbClr val="C0C0C0"/>
                  </a:outerShdw>
                </a:effectLst>
                <a:uLnTx/>
                <a:uFillTx/>
                <a:latin typeface="Comic Sans MS" panose="030F0702030302020204" pitchFamily="66" charset="0"/>
                <a:ea typeface="黑体" panose="02010609060101010101" pitchFamily="49" charset="-122"/>
                <a:cs typeface="+mn-cs"/>
              </a:rPr>
              <a:t>套接字编程中只能是</a:t>
            </a:r>
            <a:r>
              <a:rPr kumimoji="1" lang="en-US" altLang="zh-CN" sz="2400" b="1" i="0" u="none" strike="noStrike" kern="1200" cap="none" spc="0" normalizeH="0" baseline="0" noProof="0">
                <a:ln>
                  <a:noFill/>
                </a:ln>
                <a:solidFill>
                  <a:srgbClr val="339933"/>
                </a:solidFill>
                <a:effectLst>
                  <a:outerShdw blurRad="38100" dist="38100" dir="2700000" algn="tl">
                    <a:srgbClr val="C0C0C0"/>
                  </a:outerShdw>
                </a:effectLst>
                <a:uLnTx/>
                <a:uFillTx/>
                <a:latin typeface="Comic Sans MS" panose="030F0702030302020204" pitchFamily="66" charset="0"/>
                <a:ea typeface="黑体" panose="02010609060101010101" pitchFamily="49" charset="-122"/>
                <a:cs typeface="+mn-cs"/>
              </a:rPr>
              <a:t>AF_INET;</a:t>
            </a:r>
            <a:endParaRPr kumimoji="1" lang="en-US" altLang="zh-CN" sz="2400" b="1" i="0" u="none" strike="noStrike" kern="1200" cap="none" spc="0" normalizeH="0" baseline="0" noProof="0">
              <a:ln>
                <a:noFill/>
              </a:ln>
              <a:solidFill>
                <a:srgbClr val="339933"/>
              </a:solidFill>
              <a:effectLst>
                <a:outerShdw blurRad="38100" dist="38100" dir="2700000" algn="tl">
                  <a:srgbClr val="C0C0C0"/>
                </a:outerShdw>
              </a:effectLst>
              <a:uLnTx/>
              <a:uFillTx/>
              <a:latin typeface="Comic Sans MS" panose="030F0702030302020204" pitchFamily="66" charset="0"/>
              <a:ea typeface="黑体" panose="02010609060101010101" pitchFamily="49" charset="-122"/>
              <a:cs typeface="+mn-cs"/>
            </a:endParaRPr>
          </a:p>
        </p:txBody>
      </p:sp>
      <p:sp>
        <p:nvSpPr>
          <p:cNvPr id="394247" name="AutoShape 7"/>
          <p:cNvSpPr>
            <a:spLocks noChangeArrowheads="1"/>
          </p:cNvSpPr>
          <p:nvPr/>
        </p:nvSpPr>
        <p:spPr bwMode="auto">
          <a:xfrm>
            <a:off x="203200" y="5194300"/>
            <a:ext cx="8712200" cy="1079500"/>
          </a:xfrm>
          <a:prstGeom prst="wedgeRoundRectCallout">
            <a:avLst>
              <a:gd name="adj1" fmla="val -2204"/>
              <a:gd name="adj2" fmla="val -157796"/>
              <a:gd name="adj3" fmla="val 16667"/>
            </a:avLst>
          </a:prstGeom>
          <a:solidFill>
            <a:schemeClr val="bg1"/>
          </a:solidFill>
          <a:ln w="9525" algn="ctr">
            <a:solidFill>
              <a:schemeClr val="tx1"/>
            </a:solidFill>
            <a:miter lim="800000"/>
          </a:ln>
          <a:effectLst/>
        </p:spPr>
        <p:txBody>
          <a:bodyPr lIns="92075" tIns="46038" rIns="92075" bIns="46038"/>
          <a:lstStyle>
            <a:lvl1pPr>
              <a:defRPr>
                <a:solidFill>
                  <a:schemeClr val="tx1"/>
                </a:solidFill>
                <a:latin typeface="Arial" panose="020B0604020202020204" pitchFamily="34" charset="0"/>
                <a:ea typeface="宋体" panose="02010600030101010101" pitchFamily="2" charset="-122"/>
              </a:defRPr>
            </a:lvl1pPr>
            <a:lvl2pPr marL="922655">
              <a:defRPr>
                <a:solidFill>
                  <a:schemeClr val="tx1"/>
                </a:solidFill>
                <a:latin typeface="Arial" panose="020B0604020202020204" pitchFamily="34" charset="0"/>
                <a:ea typeface="宋体" panose="02010600030101010101" pitchFamily="2" charset="-122"/>
              </a:defRPr>
            </a:lvl2pPr>
            <a:lvl3pPr marL="1101725">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90000"/>
              </a:lnSpc>
              <a:spcBef>
                <a:spcPct val="15000"/>
              </a:spcBef>
              <a:spcAft>
                <a:spcPct val="0"/>
              </a:spcAft>
              <a:buClrTx/>
              <a:buSzTx/>
              <a:buFontTx/>
              <a:buNone/>
              <a:defRPr/>
            </a:pPr>
            <a:r>
              <a:rPr kumimoji="1" lang="en-US" altLang="zh-CN" sz="2400" b="1" i="0" u="none" strike="noStrike" kern="1200" cap="none" spc="0" normalizeH="0" baseline="0" noProof="0">
                <a:ln>
                  <a:noFill/>
                </a:ln>
                <a:solidFill>
                  <a:srgbClr val="339933"/>
                </a:solidFill>
                <a:effectLst>
                  <a:outerShdw blurRad="38100" dist="38100" dir="2700000" algn="tl">
                    <a:srgbClr val="C0C0C0"/>
                  </a:outerShdw>
                </a:effectLst>
                <a:uLnTx/>
                <a:uFillTx/>
                <a:latin typeface="Comic Sans MS" panose="030F0702030302020204" pitchFamily="66" charset="0"/>
                <a:ea typeface="黑体" panose="02010609060101010101" pitchFamily="49" charset="-122"/>
                <a:cs typeface="+mn-cs"/>
              </a:rPr>
              <a:t>sin_port</a:t>
            </a:r>
            <a:r>
              <a:rPr kumimoji="1" lang="zh-CN" altLang="en-US" sz="2400" b="1" i="0" u="none" strike="noStrike" kern="1200" cap="none" spc="0" normalizeH="0" baseline="0" noProof="0">
                <a:ln>
                  <a:noFill/>
                </a:ln>
                <a:solidFill>
                  <a:srgbClr val="339933"/>
                </a:solidFill>
                <a:effectLst>
                  <a:outerShdw blurRad="38100" dist="38100" dir="2700000" algn="tl">
                    <a:srgbClr val="C0C0C0"/>
                  </a:outerShdw>
                </a:effectLst>
                <a:uLnTx/>
                <a:uFillTx/>
                <a:latin typeface="Comic Sans MS" panose="030F0702030302020204" pitchFamily="66" charset="0"/>
                <a:ea typeface="黑体" panose="02010609060101010101" pitchFamily="49" charset="-122"/>
                <a:cs typeface="+mn-cs"/>
              </a:rPr>
              <a:t>存储端口号（使用网络字节顺序），数据类型是一个</a:t>
            </a:r>
            <a:r>
              <a:rPr kumimoji="1" lang="en-US" altLang="zh-CN" sz="2400" b="1" i="0" u="none" strike="noStrike" kern="1200" cap="none" spc="0" normalizeH="0" baseline="0" noProof="0">
                <a:ln>
                  <a:noFill/>
                </a:ln>
                <a:solidFill>
                  <a:srgbClr val="339933"/>
                </a:solidFill>
                <a:effectLst>
                  <a:outerShdw blurRad="38100" dist="38100" dir="2700000" algn="tl">
                    <a:srgbClr val="C0C0C0"/>
                  </a:outerShdw>
                </a:effectLst>
                <a:uLnTx/>
                <a:uFillTx/>
                <a:latin typeface="Comic Sans MS" panose="030F0702030302020204" pitchFamily="66" charset="0"/>
                <a:ea typeface="黑体" panose="02010609060101010101" pitchFamily="49" charset="-122"/>
                <a:cs typeface="+mn-cs"/>
              </a:rPr>
              <a:t>16</a:t>
            </a:r>
            <a:r>
              <a:rPr kumimoji="1" lang="zh-CN" altLang="en-US" sz="2400" b="1" i="0" u="none" strike="noStrike" kern="1200" cap="none" spc="0" normalizeH="0" baseline="0" noProof="0">
                <a:ln>
                  <a:noFill/>
                </a:ln>
                <a:solidFill>
                  <a:srgbClr val="339933"/>
                </a:solidFill>
                <a:effectLst>
                  <a:outerShdw blurRad="38100" dist="38100" dir="2700000" algn="tl">
                    <a:srgbClr val="C0C0C0"/>
                  </a:outerShdw>
                </a:effectLst>
                <a:uLnTx/>
                <a:uFillTx/>
                <a:latin typeface="Comic Sans MS" panose="030F0702030302020204" pitchFamily="66" charset="0"/>
                <a:ea typeface="黑体" panose="02010609060101010101" pitchFamily="49" charset="-122"/>
                <a:cs typeface="+mn-cs"/>
              </a:rPr>
              <a:t>位的无符号整数类型；</a:t>
            </a:r>
            <a:endParaRPr kumimoji="1" lang="zh-CN" altLang="en-US" sz="2400" b="1" i="0" u="none" strike="noStrike" kern="1200" cap="none" spc="0" normalizeH="0" baseline="0" noProof="0">
              <a:ln>
                <a:noFill/>
              </a:ln>
              <a:solidFill>
                <a:srgbClr val="339933"/>
              </a:solidFill>
              <a:effectLst>
                <a:outerShdw blurRad="38100" dist="38100" dir="2700000" algn="tl">
                  <a:srgbClr val="C0C0C0"/>
                </a:outerShdw>
              </a:effectLst>
              <a:uLnTx/>
              <a:uFillTx/>
              <a:latin typeface="Comic Sans MS" panose="030F0702030302020204" pitchFamily="66" charset="0"/>
              <a:ea typeface="黑体" panose="02010609060101010101" pitchFamily="49" charset="-122"/>
              <a:cs typeface="+mn-cs"/>
            </a:endParaRPr>
          </a:p>
        </p:txBody>
      </p:sp>
      <p:sp>
        <p:nvSpPr>
          <p:cNvPr id="394248" name="AutoShape 8"/>
          <p:cNvSpPr>
            <a:spLocks noChangeArrowheads="1"/>
          </p:cNvSpPr>
          <p:nvPr/>
        </p:nvSpPr>
        <p:spPr bwMode="auto">
          <a:xfrm>
            <a:off x="203200" y="5181600"/>
            <a:ext cx="8763000" cy="1435100"/>
          </a:xfrm>
          <a:prstGeom prst="wedgeRoundRectCallout">
            <a:avLst>
              <a:gd name="adj1" fmla="val -3171"/>
              <a:gd name="adj2" fmla="val -106083"/>
              <a:gd name="adj3" fmla="val 16667"/>
            </a:avLst>
          </a:prstGeom>
          <a:solidFill>
            <a:schemeClr val="bg1"/>
          </a:solidFill>
          <a:ln w="9525" algn="ctr">
            <a:solidFill>
              <a:schemeClr val="tx1"/>
            </a:solidFill>
            <a:miter lim="800000"/>
          </a:ln>
          <a:effectLst/>
        </p:spPr>
        <p:txBody>
          <a:bodyPr lIns="92075" tIns="46038" rIns="92075" bIns="46038"/>
          <a:lstStyle>
            <a:lvl1pPr>
              <a:defRPr>
                <a:solidFill>
                  <a:schemeClr val="tx1"/>
                </a:solidFill>
                <a:latin typeface="Arial" panose="020B0604020202020204" pitchFamily="34" charset="0"/>
                <a:ea typeface="宋体" panose="02010600030101010101" pitchFamily="2" charset="-122"/>
              </a:defRPr>
            </a:lvl1pPr>
            <a:lvl2pPr marL="922655">
              <a:defRPr>
                <a:solidFill>
                  <a:schemeClr val="tx1"/>
                </a:solidFill>
                <a:latin typeface="Arial" panose="020B0604020202020204" pitchFamily="34" charset="0"/>
                <a:ea typeface="宋体" panose="02010600030101010101" pitchFamily="2" charset="-122"/>
              </a:defRPr>
            </a:lvl2pPr>
            <a:lvl3pPr marL="1101725">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90000"/>
              </a:lnSpc>
              <a:spcBef>
                <a:spcPct val="15000"/>
              </a:spcBef>
              <a:spcAft>
                <a:spcPct val="0"/>
              </a:spcAft>
              <a:buClrTx/>
              <a:buSzTx/>
              <a:buFontTx/>
              <a:buNone/>
              <a:defRPr/>
            </a:pPr>
            <a:r>
              <a:rPr kumimoji="1" lang="en-US" altLang="zh-CN" sz="2000" b="0" i="0" u="none" strike="noStrike" kern="1200" cap="none" spc="0" normalizeH="0" baseline="0" noProof="0">
                <a:ln>
                  <a:noFill/>
                </a:ln>
                <a:solidFill>
                  <a:srgbClr val="339933"/>
                </a:solidFill>
                <a:effectLst>
                  <a:outerShdw blurRad="38100" dist="38100" dir="2700000" algn="tl">
                    <a:srgbClr val="C0C0C0"/>
                  </a:outerShdw>
                </a:effectLst>
                <a:uLnTx/>
                <a:uFillTx/>
                <a:latin typeface="Comic Sans MS" panose="030F0702030302020204" pitchFamily="66" charset="0"/>
                <a:ea typeface="黑体" panose="02010609060101010101" pitchFamily="49" charset="-122"/>
                <a:cs typeface="+mn-cs"/>
              </a:rPr>
              <a:t>sin_addr</a:t>
            </a:r>
            <a:r>
              <a:rPr kumimoji="1" lang="zh-CN" altLang="en-US" sz="2000" b="0" i="0" u="none" strike="noStrike" kern="1200" cap="none" spc="0" normalizeH="0" baseline="0" noProof="0">
                <a:ln>
                  <a:noFill/>
                </a:ln>
                <a:solidFill>
                  <a:srgbClr val="339933"/>
                </a:solidFill>
                <a:effectLst>
                  <a:outerShdw blurRad="38100" dist="38100" dir="2700000" algn="tl">
                    <a:srgbClr val="C0C0C0"/>
                  </a:outerShdw>
                </a:effectLst>
                <a:uLnTx/>
                <a:uFillTx/>
                <a:latin typeface="Comic Sans MS" panose="030F0702030302020204" pitchFamily="66" charset="0"/>
                <a:ea typeface="黑体" panose="02010609060101010101" pitchFamily="49" charset="-122"/>
                <a:cs typeface="+mn-cs"/>
              </a:rPr>
              <a:t>存储</a:t>
            </a:r>
            <a:r>
              <a:rPr kumimoji="1" lang="en-US" altLang="zh-CN" sz="2000" b="0" i="0" u="none" strike="noStrike" kern="1200" cap="none" spc="0" normalizeH="0" baseline="0" noProof="0">
                <a:ln>
                  <a:noFill/>
                </a:ln>
                <a:solidFill>
                  <a:srgbClr val="339933"/>
                </a:solidFill>
                <a:effectLst>
                  <a:outerShdw blurRad="38100" dist="38100" dir="2700000" algn="tl">
                    <a:srgbClr val="C0C0C0"/>
                  </a:outerShdw>
                </a:effectLst>
                <a:uLnTx/>
                <a:uFillTx/>
                <a:latin typeface="Comic Sans MS" panose="030F0702030302020204" pitchFamily="66" charset="0"/>
                <a:ea typeface="黑体" panose="02010609060101010101" pitchFamily="49" charset="-122"/>
                <a:cs typeface="+mn-cs"/>
              </a:rPr>
              <a:t>IP</a:t>
            </a:r>
            <a:r>
              <a:rPr kumimoji="1" lang="zh-CN" altLang="en-US" sz="2000" b="0" i="0" u="none" strike="noStrike" kern="1200" cap="none" spc="0" normalizeH="0" baseline="0" noProof="0">
                <a:ln>
                  <a:noFill/>
                </a:ln>
                <a:solidFill>
                  <a:srgbClr val="339933"/>
                </a:solidFill>
                <a:effectLst>
                  <a:outerShdw blurRad="38100" dist="38100" dir="2700000" algn="tl">
                    <a:srgbClr val="C0C0C0"/>
                  </a:outerShdw>
                </a:effectLst>
                <a:uLnTx/>
                <a:uFillTx/>
                <a:latin typeface="Comic Sans MS" panose="030F0702030302020204" pitchFamily="66" charset="0"/>
                <a:ea typeface="黑体" panose="02010609060101010101" pitchFamily="49" charset="-122"/>
                <a:cs typeface="+mn-cs"/>
              </a:rPr>
              <a:t>地址，</a:t>
            </a:r>
            <a:r>
              <a:rPr kumimoji="1" lang="en-US" altLang="zh-CN" sz="2000" b="0" i="0" u="none" strike="noStrike" kern="1200" cap="none" spc="0" normalizeH="0" baseline="0" noProof="0">
                <a:ln>
                  <a:noFill/>
                </a:ln>
                <a:solidFill>
                  <a:srgbClr val="339933"/>
                </a:solidFill>
                <a:effectLst>
                  <a:outerShdw blurRad="38100" dist="38100" dir="2700000" algn="tl">
                    <a:srgbClr val="C0C0C0"/>
                  </a:outerShdw>
                </a:effectLst>
                <a:uLnTx/>
                <a:uFillTx/>
                <a:latin typeface="Comic Sans MS" panose="030F0702030302020204" pitchFamily="66" charset="0"/>
                <a:ea typeface="黑体" panose="02010609060101010101" pitchFamily="49" charset="-122"/>
                <a:cs typeface="+mn-cs"/>
              </a:rPr>
              <a:t>IP</a:t>
            </a:r>
            <a:r>
              <a:rPr kumimoji="1" lang="zh-CN" altLang="en-US" sz="2000" b="0" i="0" u="none" strike="noStrike" kern="1200" cap="none" spc="0" normalizeH="0" baseline="0" noProof="0">
                <a:ln>
                  <a:noFill/>
                </a:ln>
                <a:solidFill>
                  <a:srgbClr val="339933"/>
                </a:solidFill>
                <a:effectLst>
                  <a:outerShdw blurRad="38100" dist="38100" dir="2700000" algn="tl">
                    <a:srgbClr val="C0C0C0"/>
                  </a:outerShdw>
                </a:effectLst>
                <a:uLnTx/>
                <a:uFillTx/>
                <a:latin typeface="Comic Sans MS" panose="030F0702030302020204" pitchFamily="66" charset="0"/>
                <a:ea typeface="黑体" panose="02010609060101010101" pitchFamily="49" charset="-122"/>
                <a:cs typeface="+mn-cs"/>
              </a:rPr>
              <a:t>地址使用</a:t>
            </a:r>
            <a:r>
              <a:rPr kumimoji="1" lang="en-US" altLang="zh-CN" sz="2000" b="0" i="0" u="none" strike="noStrike" kern="1200" cap="none" spc="0" normalizeH="0" baseline="0" noProof="0">
                <a:ln>
                  <a:noFill/>
                </a:ln>
                <a:solidFill>
                  <a:srgbClr val="339933"/>
                </a:solidFill>
                <a:effectLst>
                  <a:outerShdw blurRad="38100" dist="38100" dir="2700000" algn="tl">
                    <a:srgbClr val="C0C0C0"/>
                  </a:outerShdw>
                </a:effectLst>
                <a:uLnTx/>
                <a:uFillTx/>
                <a:latin typeface="Comic Sans MS" panose="030F0702030302020204" pitchFamily="66" charset="0"/>
                <a:ea typeface="黑体" panose="02010609060101010101" pitchFamily="49" charset="-122"/>
                <a:cs typeface="+mn-cs"/>
              </a:rPr>
              <a:t>in_addr</a:t>
            </a:r>
            <a:r>
              <a:rPr kumimoji="1" lang="zh-CN" altLang="en-US" sz="2000" b="0" i="0" u="none" strike="noStrike" kern="1200" cap="none" spc="0" normalizeH="0" baseline="0" noProof="0">
                <a:ln>
                  <a:noFill/>
                </a:ln>
                <a:solidFill>
                  <a:srgbClr val="339933"/>
                </a:solidFill>
                <a:effectLst>
                  <a:outerShdw blurRad="38100" dist="38100" dir="2700000" algn="tl">
                    <a:srgbClr val="C0C0C0"/>
                  </a:outerShdw>
                </a:effectLst>
                <a:uLnTx/>
                <a:uFillTx/>
                <a:latin typeface="Comic Sans MS" panose="030F0702030302020204" pitchFamily="66" charset="0"/>
                <a:ea typeface="黑体" panose="02010609060101010101" pitchFamily="49" charset="-122"/>
                <a:cs typeface="+mn-cs"/>
              </a:rPr>
              <a:t>这个数据结构：</a:t>
            </a:r>
            <a:endParaRPr kumimoji="1" lang="zh-CN" altLang="en-US" sz="2000" b="0" i="0" u="none" strike="noStrike" kern="1200" cap="none" spc="0" normalizeH="0" baseline="0" noProof="0">
              <a:ln>
                <a:noFill/>
              </a:ln>
              <a:solidFill>
                <a:srgbClr val="339933"/>
              </a:solidFill>
              <a:effectLst>
                <a:outerShdw blurRad="38100" dist="38100" dir="2700000" algn="tl">
                  <a:srgbClr val="C0C0C0"/>
                </a:outerShdw>
              </a:effectLst>
              <a:uLnTx/>
              <a:uFillTx/>
              <a:latin typeface="Comic Sans MS" panose="030F0702030302020204" pitchFamily="66" charset="0"/>
              <a:ea typeface="黑体" panose="02010609060101010101" pitchFamily="49" charset="-122"/>
              <a:cs typeface="+mn-cs"/>
            </a:endParaRPr>
          </a:p>
          <a:p>
            <a:pPr marL="0" marR="0" lvl="0" indent="0" algn="l" defTabSz="914400" rtl="0" eaLnBrk="1" fontAlgn="base" latinLnBrk="0" hangingPunct="1">
              <a:lnSpc>
                <a:spcPct val="90000"/>
              </a:lnSpc>
              <a:spcBef>
                <a:spcPct val="15000"/>
              </a:spcBef>
              <a:spcAft>
                <a:spcPct val="0"/>
              </a:spcAft>
              <a:buClrTx/>
              <a:buSzTx/>
              <a:buFontTx/>
              <a:buNone/>
              <a:defRPr/>
            </a:pPr>
            <a:r>
              <a:rPr kumimoji="1" lang="zh-CN" altLang="en-US" sz="2000" b="0" i="0" u="none" strike="noStrike" kern="1200" cap="none" spc="0" normalizeH="0" baseline="0" noProof="0">
                <a:ln>
                  <a:noFill/>
                </a:ln>
                <a:solidFill>
                  <a:srgbClr val="339933"/>
                </a:solidFill>
                <a:effectLst>
                  <a:outerShdw blurRad="38100" dist="38100" dir="2700000" algn="tl">
                    <a:srgbClr val="C0C0C0"/>
                  </a:outerShdw>
                </a:effectLst>
                <a:uLnTx/>
                <a:uFillTx/>
                <a:latin typeface="Comic Sans MS" panose="030F0702030302020204" pitchFamily="66" charset="0"/>
                <a:ea typeface="黑体" panose="02010609060101010101" pitchFamily="49" charset="-122"/>
                <a:cs typeface="+mn-cs"/>
              </a:rPr>
              <a:t>   </a:t>
            </a:r>
            <a:r>
              <a:rPr kumimoji="1" lang="en-US" altLang="zh-CN" sz="2000" b="0" i="0" u="none" strike="noStrike" kern="1200" cap="none" spc="0" normalizeH="0" baseline="0" noProof="0">
                <a:ln>
                  <a:noFill/>
                </a:ln>
                <a:solidFill>
                  <a:srgbClr val="339933"/>
                </a:solidFill>
                <a:effectLst>
                  <a:outerShdw blurRad="38100" dist="38100" dir="2700000" algn="tl">
                    <a:srgbClr val="C0C0C0"/>
                  </a:outerShdw>
                </a:effectLst>
                <a:uLnTx/>
                <a:uFillTx/>
                <a:latin typeface="Comic Sans MS" panose="030F0702030302020204" pitchFamily="66" charset="0"/>
                <a:ea typeface="黑体" panose="02010609060101010101" pitchFamily="49" charset="-122"/>
                <a:cs typeface="+mn-cs"/>
              </a:rPr>
              <a:t>struct in_addr{  unsigned long s_addr;  };</a:t>
            </a:r>
            <a:endParaRPr kumimoji="1" lang="en-US" altLang="zh-CN" sz="2000" b="0" i="0" u="none" strike="noStrike" kern="1200" cap="none" spc="0" normalizeH="0" baseline="0" noProof="0">
              <a:ln>
                <a:noFill/>
              </a:ln>
              <a:solidFill>
                <a:srgbClr val="339933"/>
              </a:solidFill>
              <a:effectLst>
                <a:outerShdw blurRad="38100" dist="38100" dir="2700000" algn="tl">
                  <a:srgbClr val="C0C0C0"/>
                </a:outerShdw>
              </a:effectLst>
              <a:uLnTx/>
              <a:uFillTx/>
              <a:latin typeface="Comic Sans MS" panose="030F0702030302020204" pitchFamily="66" charset="0"/>
              <a:ea typeface="黑体" panose="02010609060101010101" pitchFamily="49" charset="-122"/>
              <a:cs typeface="+mn-cs"/>
            </a:endParaRPr>
          </a:p>
          <a:p>
            <a:pPr marL="0" marR="0" lvl="0" indent="0" algn="l" defTabSz="914400" rtl="0" eaLnBrk="1" fontAlgn="base" latinLnBrk="0" hangingPunct="1">
              <a:lnSpc>
                <a:spcPct val="90000"/>
              </a:lnSpc>
              <a:spcBef>
                <a:spcPct val="15000"/>
              </a:spcBef>
              <a:spcAft>
                <a:spcPct val="0"/>
              </a:spcAft>
              <a:buClrTx/>
              <a:buSzTx/>
              <a:buFontTx/>
              <a:buNone/>
              <a:defRPr/>
            </a:pPr>
            <a:r>
              <a:rPr kumimoji="1" lang="zh-CN" altLang="en-US" sz="2000" b="0" i="0" u="none" strike="noStrike" kern="1200" cap="none" spc="0" normalizeH="0" baseline="0" noProof="0">
                <a:ln>
                  <a:noFill/>
                </a:ln>
                <a:solidFill>
                  <a:srgbClr val="339933"/>
                </a:solidFill>
                <a:effectLst>
                  <a:outerShdw blurRad="38100" dist="38100" dir="2700000" algn="tl">
                    <a:srgbClr val="C0C0C0"/>
                  </a:outerShdw>
                </a:effectLst>
                <a:uLnTx/>
                <a:uFillTx/>
                <a:latin typeface="Comic Sans MS" panose="030F0702030302020204" pitchFamily="66" charset="0"/>
                <a:ea typeface="黑体" panose="02010609060101010101" pitchFamily="49" charset="-122"/>
                <a:cs typeface="+mn-cs"/>
              </a:rPr>
              <a:t>这个数据结构是由于历史原因保留下来，主要用作与以前的格式兼容。这里的</a:t>
            </a:r>
            <a:r>
              <a:rPr kumimoji="1" lang="en-US" altLang="zh-CN" sz="2000" b="0" i="0" u="none" strike="noStrike" kern="1200" cap="none" spc="0" normalizeH="0" baseline="0" noProof="0">
                <a:ln>
                  <a:noFill/>
                </a:ln>
                <a:solidFill>
                  <a:srgbClr val="339933"/>
                </a:solidFill>
                <a:effectLst>
                  <a:outerShdw blurRad="38100" dist="38100" dir="2700000" algn="tl">
                    <a:srgbClr val="C0C0C0"/>
                  </a:outerShdw>
                </a:effectLst>
                <a:uLnTx/>
                <a:uFillTx/>
                <a:latin typeface="Comic Sans MS" panose="030F0702030302020204" pitchFamily="66" charset="0"/>
                <a:ea typeface="黑体" panose="02010609060101010101" pitchFamily="49" charset="-122"/>
                <a:cs typeface="+mn-cs"/>
              </a:rPr>
              <a:t>s_addr</a:t>
            </a:r>
            <a:r>
              <a:rPr kumimoji="1" lang="zh-CN" altLang="en-US" sz="2000" b="0" i="0" u="none" strike="noStrike" kern="1200" cap="none" spc="0" normalizeH="0" baseline="0" noProof="0">
                <a:ln>
                  <a:noFill/>
                </a:ln>
                <a:solidFill>
                  <a:srgbClr val="339933"/>
                </a:solidFill>
                <a:effectLst>
                  <a:outerShdw blurRad="38100" dist="38100" dir="2700000" algn="tl">
                    <a:srgbClr val="C0C0C0"/>
                  </a:outerShdw>
                </a:effectLst>
                <a:uLnTx/>
                <a:uFillTx/>
                <a:latin typeface="Comic Sans MS" panose="030F0702030302020204" pitchFamily="66" charset="0"/>
                <a:ea typeface="黑体" panose="02010609060101010101" pitchFamily="49" charset="-122"/>
                <a:cs typeface="+mn-cs"/>
              </a:rPr>
              <a:t>按照网络字节顺序存储</a:t>
            </a:r>
            <a:r>
              <a:rPr kumimoji="1" lang="en-US" altLang="zh-CN" sz="2000" b="0" i="0" u="none" strike="noStrike" kern="1200" cap="none" spc="0" normalizeH="0" baseline="0" noProof="0">
                <a:ln>
                  <a:noFill/>
                </a:ln>
                <a:solidFill>
                  <a:srgbClr val="339933"/>
                </a:solidFill>
                <a:effectLst>
                  <a:outerShdw blurRad="38100" dist="38100" dir="2700000" algn="tl">
                    <a:srgbClr val="C0C0C0"/>
                  </a:outerShdw>
                </a:effectLst>
                <a:uLnTx/>
                <a:uFillTx/>
                <a:latin typeface="Comic Sans MS" panose="030F0702030302020204" pitchFamily="66" charset="0"/>
                <a:ea typeface="黑体" panose="02010609060101010101" pitchFamily="49" charset="-122"/>
                <a:cs typeface="+mn-cs"/>
              </a:rPr>
              <a:t>IP</a:t>
            </a:r>
            <a:r>
              <a:rPr kumimoji="1" lang="zh-CN" altLang="en-US" sz="2000" b="0" i="0" u="none" strike="noStrike" kern="1200" cap="none" spc="0" normalizeH="0" baseline="0" noProof="0">
                <a:ln>
                  <a:noFill/>
                </a:ln>
                <a:solidFill>
                  <a:srgbClr val="339933"/>
                </a:solidFill>
                <a:effectLst>
                  <a:outerShdw blurRad="38100" dist="38100" dir="2700000" algn="tl">
                    <a:srgbClr val="C0C0C0"/>
                  </a:outerShdw>
                </a:effectLst>
                <a:uLnTx/>
                <a:uFillTx/>
                <a:latin typeface="Comic Sans MS" panose="030F0702030302020204" pitchFamily="66" charset="0"/>
                <a:ea typeface="黑体" panose="02010609060101010101" pitchFamily="49" charset="-122"/>
                <a:cs typeface="+mn-cs"/>
              </a:rPr>
              <a:t>地址。</a:t>
            </a:r>
            <a:endParaRPr kumimoji="1" lang="zh-CN" altLang="en-US" sz="2000" b="0" i="0" u="none" strike="noStrike" kern="1200" cap="none" spc="0" normalizeH="0" baseline="0" noProof="0">
              <a:ln>
                <a:noFill/>
              </a:ln>
              <a:solidFill>
                <a:srgbClr val="339933"/>
              </a:solidFill>
              <a:effectLst>
                <a:outerShdw blurRad="38100" dist="38100" dir="2700000" algn="tl">
                  <a:srgbClr val="C0C0C0"/>
                </a:outerShdw>
              </a:effectLst>
              <a:uLnTx/>
              <a:uFillTx/>
              <a:latin typeface="Comic Sans MS" panose="030F0702030302020204" pitchFamily="66" charset="0"/>
              <a:ea typeface="黑体" panose="02010609060101010101" pitchFamily="49" charset="-122"/>
              <a:cs typeface="+mn-cs"/>
            </a:endParaRPr>
          </a:p>
        </p:txBody>
      </p:sp>
      <p:sp>
        <p:nvSpPr>
          <p:cNvPr id="394249" name="AutoShape 9"/>
          <p:cNvSpPr>
            <a:spLocks noChangeArrowheads="1"/>
          </p:cNvSpPr>
          <p:nvPr/>
        </p:nvSpPr>
        <p:spPr bwMode="auto">
          <a:xfrm>
            <a:off x="179388" y="5229225"/>
            <a:ext cx="8763000" cy="1308100"/>
          </a:xfrm>
          <a:prstGeom prst="wedgeRoundRectCallout">
            <a:avLst>
              <a:gd name="adj1" fmla="val -2880"/>
              <a:gd name="adj2" fmla="val -90171"/>
              <a:gd name="adj3" fmla="val 16667"/>
            </a:avLst>
          </a:prstGeom>
          <a:solidFill>
            <a:schemeClr val="bg1"/>
          </a:solidFill>
          <a:ln w="9525" algn="ctr">
            <a:solidFill>
              <a:schemeClr val="tx1"/>
            </a:solidFill>
            <a:miter lim="800000"/>
          </a:ln>
          <a:effectLst/>
        </p:spPr>
        <p:txBody>
          <a:bodyPr lIns="92075" tIns="46038" rIns="92075" bIns="46038"/>
          <a:lstStyle>
            <a:lvl1pPr>
              <a:defRPr>
                <a:solidFill>
                  <a:schemeClr val="tx1"/>
                </a:solidFill>
                <a:latin typeface="Arial" panose="020B0604020202020204" pitchFamily="34" charset="0"/>
                <a:ea typeface="宋体" panose="02010600030101010101" pitchFamily="2" charset="-122"/>
              </a:defRPr>
            </a:lvl1pPr>
            <a:lvl2pPr marL="922655">
              <a:defRPr>
                <a:solidFill>
                  <a:schemeClr val="tx1"/>
                </a:solidFill>
                <a:latin typeface="Arial" panose="020B0604020202020204" pitchFamily="34" charset="0"/>
                <a:ea typeface="宋体" panose="02010600030101010101" pitchFamily="2" charset="-122"/>
              </a:defRPr>
            </a:lvl2pPr>
            <a:lvl3pPr marL="1101725">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90000"/>
              </a:lnSpc>
              <a:spcBef>
                <a:spcPct val="15000"/>
              </a:spcBef>
              <a:spcAft>
                <a:spcPct val="0"/>
              </a:spcAft>
              <a:buClrTx/>
              <a:buSzTx/>
              <a:buFontTx/>
              <a:buNone/>
              <a:defRPr/>
            </a:pPr>
            <a:r>
              <a:rPr kumimoji="1" lang="en-US" altLang="zh-CN" sz="2400" b="1" i="0" u="none" strike="noStrike" kern="1200" cap="none" spc="0" normalizeH="0" baseline="0" noProof="0">
                <a:ln>
                  <a:noFill/>
                </a:ln>
                <a:solidFill>
                  <a:srgbClr val="339933"/>
                </a:solidFill>
                <a:effectLst>
                  <a:outerShdw blurRad="38100" dist="38100" dir="2700000" algn="tl">
                    <a:srgbClr val="C0C0C0"/>
                  </a:outerShdw>
                </a:effectLst>
                <a:uLnTx/>
                <a:uFillTx/>
                <a:latin typeface="Comic Sans MS" panose="030F0702030302020204" pitchFamily="66" charset="0"/>
                <a:ea typeface="黑体" panose="02010609060101010101" pitchFamily="49" charset="-122"/>
                <a:cs typeface="+mn-cs"/>
              </a:rPr>
              <a:t>sin_zero</a:t>
            </a:r>
            <a:r>
              <a:rPr kumimoji="1" lang="zh-CN" altLang="en-US" sz="2400" b="1" i="0" u="none" strike="noStrike" kern="1200" cap="none" spc="0" normalizeH="0" baseline="0" noProof="0">
                <a:ln>
                  <a:noFill/>
                </a:ln>
                <a:solidFill>
                  <a:srgbClr val="339933"/>
                </a:solidFill>
                <a:effectLst>
                  <a:outerShdw blurRad="38100" dist="38100" dir="2700000" algn="tl">
                    <a:srgbClr val="C0C0C0"/>
                  </a:outerShdw>
                </a:effectLst>
                <a:uLnTx/>
                <a:uFillTx/>
                <a:latin typeface="Comic Sans MS" panose="030F0702030302020204" pitchFamily="66" charset="0"/>
                <a:ea typeface="黑体" panose="02010609060101010101" pitchFamily="49" charset="-122"/>
                <a:cs typeface="+mn-cs"/>
              </a:rPr>
              <a:t>是为了让</a:t>
            </a:r>
            <a:r>
              <a:rPr kumimoji="1" lang="en-US" altLang="zh-CN" sz="2400" b="1" i="0" u="none" strike="noStrike" kern="1200" cap="none" spc="0" normalizeH="0" baseline="0" noProof="0">
                <a:ln>
                  <a:noFill/>
                </a:ln>
                <a:solidFill>
                  <a:srgbClr val="339933"/>
                </a:solidFill>
                <a:effectLst>
                  <a:outerShdw blurRad="38100" dist="38100" dir="2700000" algn="tl">
                    <a:srgbClr val="C0C0C0"/>
                  </a:outerShdw>
                </a:effectLst>
                <a:uLnTx/>
                <a:uFillTx/>
                <a:latin typeface="Comic Sans MS" panose="030F0702030302020204" pitchFamily="66" charset="0"/>
                <a:ea typeface="黑体" panose="02010609060101010101" pitchFamily="49" charset="-122"/>
                <a:cs typeface="+mn-cs"/>
              </a:rPr>
              <a:t>sockaddr</a:t>
            </a:r>
            <a:r>
              <a:rPr kumimoji="1" lang="zh-CN" altLang="en-US" sz="2400" b="1" i="0" u="none" strike="noStrike" kern="1200" cap="none" spc="0" normalizeH="0" baseline="0" noProof="0">
                <a:ln>
                  <a:noFill/>
                </a:ln>
                <a:solidFill>
                  <a:srgbClr val="339933"/>
                </a:solidFill>
                <a:effectLst>
                  <a:outerShdw blurRad="38100" dist="38100" dir="2700000" algn="tl">
                    <a:srgbClr val="C0C0C0"/>
                  </a:outerShdw>
                </a:effectLst>
                <a:uLnTx/>
                <a:uFillTx/>
                <a:latin typeface="Comic Sans MS" panose="030F0702030302020204" pitchFamily="66" charset="0"/>
                <a:ea typeface="黑体" panose="02010609060101010101" pitchFamily="49" charset="-122"/>
                <a:cs typeface="+mn-cs"/>
              </a:rPr>
              <a:t>与</a:t>
            </a:r>
            <a:r>
              <a:rPr kumimoji="1" lang="en-US" altLang="zh-CN" sz="2400" b="1" i="0" u="none" strike="noStrike" kern="1200" cap="none" spc="0" normalizeH="0" baseline="0" noProof="0">
                <a:ln>
                  <a:noFill/>
                </a:ln>
                <a:solidFill>
                  <a:srgbClr val="339933"/>
                </a:solidFill>
                <a:effectLst>
                  <a:outerShdw blurRad="38100" dist="38100" dir="2700000" algn="tl">
                    <a:srgbClr val="C0C0C0"/>
                  </a:outerShdw>
                </a:effectLst>
                <a:uLnTx/>
                <a:uFillTx/>
                <a:latin typeface="Comic Sans MS" panose="030F0702030302020204" pitchFamily="66" charset="0"/>
                <a:ea typeface="黑体" panose="02010609060101010101" pitchFamily="49" charset="-122"/>
                <a:cs typeface="+mn-cs"/>
              </a:rPr>
              <a:t>sockaddr_in</a:t>
            </a:r>
            <a:r>
              <a:rPr kumimoji="1" lang="zh-CN" altLang="en-US" sz="2400" b="1" i="0" u="none" strike="noStrike" kern="1200" cap="none" spc="0" normalizeH="0" baseline="0" noProof="0">
                <a:ln>
                  <a:noFill/>
                </a:ln>
                <a:solidFill>
                  <a:srgbClr val="339933"/>
                </a:solidFill>
                <a:effectLst>
                  <a:outerShdw blurRad="38100" dist="38100" dir="2700000" algn="tl">
                    <a:srgbClr val="C0C0C0"/>
                  </a:outerShdw>
                </a:effectLst>
                <a:uLnTx/>
                <a:uFillTx/>
                <a:latin typeface="Comic Sans MS" panose="030F0702030302020204" pitchFamily="66" charset="0"/>
                <a:ea typeface="黑体" panose="02010609060101010101" pitchFamily="49" charset="-122"/>
                <a:cs typeface="+mn-cs"/>
              </a:rPr>
              <a:t>两个数据结构保持大小相同而保留的空字节。</a:t>
            </a:r>
            <a:endParaRPr kumimoji="1" lang="zh-CN" altLang="en-US" sz="2400" b="1" i="0" u="none" strike="noStrike" kern="1200" cap="none" spc="0" normalizeH="0" baseline="0" noProof="0">
              <a:ln>
                <a:noFill/>
              </a:ln>
              <a:solidFill>
                <a:srgbClr val="339933"/>
              </a:solidFill>
              <a:effectLst>
                <a:outerShdw blurRad="38100" dist="38100" dir="2700000" algn="tl">
                  <a:srgbClr val="C0C0C0"/>
                </a:outerShdw>
              </a:effectLst>
              <a:uLnTx/>
              <a:uFillTx/>
              <a:latin typeface="Comic Sans MS" panose="030F0702030302020204" pitchFamily="66" charset="0"/>
              <a:ea typeface="黑体" panose="02010609060101010101" pitchFamily="49"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94246"/>
                                        </p:tgtEl>
                                        <p:attrNameLst>
                                          <p:attrName>style.visibility</p:attrName>
                                        </p:attrNameLst>
                                      </p:cBhvr>
                                      <p:to>
                                        <p:strVal val="visible"/>
                                      </p:to>
                                    </p:set>
                                    <p:animEffect transition="in" filter="blinds(horizontal)">
                                      <p:cBhvr>
                                        <p:cTn id="7" dur="500"/>
                                        <p:tgtEl>
                                          <p:spTgt spid="39424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xit" presetSubtype="10" fill="hold" grpId="1" nodeType="clickEffect">
                                  <p:stCondLst>
                                    <p:cond delay="0"/>
                                  </p:stCondLst>
                                  <p:childTnLst>
                                    <p:animEffect transition="out" filter="blinds(horizontal)">
                                      <p:cBhvr>
                                        <p:cTn id="11" dur="500"/>
                                        <p:tgtEl>
                                          <p:spTgt spid="394246"/>
                                        </p:tgtEl>
                                      </p:cBhvr>
                                    </p:animEffect>
                                    <p:set>
                                      <p:cBhvr>
                                        <p:cTn id="12" dur="1" fill="hold">
                                          <p:stCondLst>
                                            <p:cond delay="499"/>
                                          </p:stCondLst>
                                        </p:cTn>
                                        <p:tgtEl>
                                          <p:spTgt spid="394246"/>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94247"/>
                                        </p:tgtEl>
                                        <p:attrNameLst>
                                          <p:attrName>style.visibility</p:attrName>
                                        </p:attrNameLst>
                                      </p:cBhvr>
                                      <p:to>
                                        <p:strVal val="visible"/>
                                      </p:to>
                                    </p:set>
                                    <p:animEffect transition="in" filter="blinds(horizontal)">
                                      <p:cBhvr>
                                        <p:cTn id="17" dur="500"/>
                                        <p:tgtEl>
                                          <p:spTgt spid="39424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xit" presetSubtype="10" fill="hold" grpId="1" nodeType="clickEffect">
                                  <p:stCondLst>
                                    <p:cond delay="0"/>
                                  </p:stCondLst>
                                  <p:childTnLst>
                                    <p:animEffect transition="out" filter="blinds(horizontal)">
                                      <p:cBhvr>
                                        <p:cTn id="21" dur="500"/>
                                        <p:tgtEl>
                                          <p:spTgt spid="394247"/>
                                        </p:tgtEl>
                                      </p:cBhvr>
                                    </p:animEffect>
                                    <p:set>
                                      <p:cBhvr>
                                        <p:cTn id="22" dur="1" fill="hold">
                                          <p:stCondLst>
                                            <p:cond delay="499"/>
                                          </p:stCondLst>
                                        </p:cTn>
                                        <p:tgtEl>
                                          <p:spTgt spid="394247"/>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94248"/>
                                        </p:tgtEl>
                                        <p:attrNameLst>
                                          <p:attrName>style.visibility</p:attrName>
                                        </p:attrNameLst>
                                      </p:cBhvr>
                                      <p:to>
                                        <p:strVal val="visible"/>
                                      </p:to>
                                    </p:set>
                                    <p:animEffect transition="in" filter="blinds(horizontal)">
                                      <p:cBhvr>
                                        <p:cTn id="27" dur="500"/>
                                        <p:tgtEl>
                                          <p:spTgt spid="394248"/>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xit" presetSubtype="10" fill="hold" grpId="1" nodeType="clickEffect">
                                  <p:stCondLst>
                                    <p:cond delay="0"/>
                                  </p:stCondLst>
                                  <p:childTnLst>
                                    <p:animEffect transition="out" filter="blinds(horizontal)">
                                      <p:cBhvr>
                                        <p:cTn id="31" dur="500"/>
                                        <p:tgtEl>
                                          <p:spTgt spid="394248"/>
                                        </p:tgtEl>
                                      </p:cBhvr>
                                    </p:animEffect>
                                    <p:set>
                                      <p:cBhvr>
                                        <p:cTn id="32" dur="1" fill="hold">
                                          <p:stCondLst>
                                            <p:cond delay="499"/>
                                          </p:stCondLst>
                                        </p:cTn>
                                        <p:tgtEl>
                                          <p:spTgt spid="394248"/>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94249"/>
                                        </p:tgtEl>
                                        <p:attrNameLst>
                                          <p:attrName>style.visibility</p:attrName>
                                        </p:attrNameLst>
                                      </p:cBhvr>
                                      <p:to>
                                        <p:strVal val="visible"/>
                                      </p:to>
                                    </p:set>
                                    <p:animEffect transition="in" filter="blinds(horizontal)">
                                      <p:cBhvr>
                                        <p:cTn id="37" dur="500"/>
                                        <p:tgtEl>
                                          <p:spTgt spid="394249"/>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xit" presetSubtype="10" fill="hold" grpId="1" nodeType="clickEffect">
                                  <p:stCondLst>
                                    <p:cond delay="0"/>
                                  </p:stCondLst>
                                  <p:childTnLst>
                                    <p:animEffect transition="out" filter="blinds(horizontal)">
                                      <p:cBhvr>
                                        <p:cTn id="41" dur="500"/>
                                        <p:tgtEl>
                                          <p:spTgt spid="394249"/>
                                        </p:tgtEl>
                                      </p:cBhvr>
                                    </p:animEffect>
                                    <p:set>
                                      <p:cBhvr>
                                        <p:cTn id="42" dur="1" fill="hold">
                                          <p:stCondLst>
                                            <p:cond delay="499"/>
                                          </p:stCondLst>
                                        </p:cTn>
                                        <p:tgtEl>
                                          <p:spTgt spid="39424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4246" grpId="0" animBg="1"/>
      <p:bldP spid="394246" grpId="1" animBg="1"/>
      <p:bldP spid="394247" grpId="0" animBg="1"/>
      <p:bldP spid="394247" grpId="1" animBg="1"/>
      <p:bldP spid="394248" grpId="0" animBg="1"/>
      <p:bldP spid="394248" grpId="1" animBg="1"/>
      <p:bldP spid="394249" grpId="0" animBg="1"/>
      <p:bldP spid="394249" grpId="1"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Rectangle 2"/>
          <p:cNvSpPr>
            <a:spLocks noGrp="1"/>
          </p:cNvSpPr>
          <p:nvPr>
            <p:ph type="title"/>
          </p:nvPr>
        </p:nvSpPr>
        <p:spPr>
          <a:xfrm>
            <a:off x="533400" y="404813"/>
            <a:ext cx="7467600" cy="762000"/>
          </a:xfrm>
        </p:spPr>
        <p:txBody>
          <a:bodyPr vert="horz" wrap="square" lIns="91440" tIns="45720" rIns="91440" bIns="45720" anchor="b" anchorCtr="0"/>
          <a:p>
            <a:pPr eaLnBrk="1" hangingPunct="1"/>
            <a:r>
              <a:rPr lang="zh-CN" altLang="en-US" b="1" dirty="0"/>
              <a:t>通用套接字地址结构</a:t>
            </a:r>
            <a:endParaRPr lang="zh-CN" altLang="en-US" b="1" dirty="0"/>
          </a:p>
        </p:txBody>
      </p:sp>
      <p:sp>
        <p:nvSpPr>
          <p:cNvPr id="196611" name="Rectangle 3"/>
          <p:cNvSpPr>
            <a:spLocks noGrp="1" noChangeArrowheads="1"/>
          </p:cNvSpPr>
          <p:nvPr>
            <p:ph idx="1"/>
          </p:nvPr>
        </p:nvSpPr>
        <p:spPr>
          <a:xfrm>
            <a:off x="304800" y="1412875"/>
            <a:ext cx="8540750" cy="1800225"/>
          </a:xfrm>
          <a:solidFill>
            <a:schemeClr val="bg1"/>
          </a:solidFill>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r>
              <a:rPr kumimoji="0" lang="zh-CN" altLang="en-US" sz="2800" b="0" i="0" u="none" strike="noStrike" kern="0" cap="none" spc="0" normalizeH="0" baseline="0" noProof="0">
                <a:ln>
                  <a:noFill/>
                </a:ln>
                <a:solidFill>
                  <a:schemeClr val="tx1"/>
                </a:solidFill>
                <a:effectLst/>
                <a:uLnTx/>
                <a:uFillTx/>
                <a:latin typeface="+mn-lt"/>
                <a:ea typeface="+mn-ea"/>
                <a:cs typeface="+mn-cs"/>
              </a:rPr>
              <a:t>由于</a:t>
            </a:r>
            <a:r>
              <a:rPr kumimoji="0" lang="zh-CN" altLang="en-US" sz="2800" b="0" i="0" u="none" strike="noStrike" kern="0" cap="none" spc="0" normalizeH="0" baseline="0" noProof="0">
                <a:ln>
                  <a:noFill/>
                </a:ln>
                <a:solidFill>
                  <a:schemeClr val="hlink"/>
                </a:solidFill>
                <a:effectLst/>
                <a:uLnTx/>
                <a:uFillTx/>
                <a:latin typeface="+mn-lt"/>
                <a:ea typeface="+mn-ea"/>
                <a:cs typeface="+mn-cs"/>
              </a:rPr>
              <a:t>套接字函数需接收来自不同协议的地址结构</a:t>
            </a:r>
            <a:r>
              <a:rPr kumimoji="0" lang="zh-CN" altLang="en-US" sz="2800" b="0" i="0" u="none" strike="noStrike" kern="0" cap="none" spc="0" normalizeH="0" baseline="0" noProof="0">
                <a:ln>
                  <a:noFill/>
                </a:ln>
                <a:solidFill>
                  <a:schemeClr val="tx1"/>
                </a:solidFill>
                <a:effectLst/>
                <a:uLnTx/>
                <a:uFillTx/>
                <a:latin typeface="+mn-lt"/>
                <a:ea typeface="+mn-ea"/>
                <a:cs typeface="+mn-cs"/>
              </a:rPr>
              <a:t>，</a:t>
            </a:r>
            <a:r>
              <a:rPr kumimoji="0" lang="en-US" altLang="zh-CN" sz="2800" b="0" i="0" u="none" strike="noStrike" kern="0" cap="none" spc="0" normalizeH="0" baseline="0" noProof="0">
                <a:ln>
                  <a:noFill/>
                </a:ln>
                <a:solidFill>
                  <a:schemeClr val="tx1"/>
                </a:solidFill>
                <a:effectLst/>
                <a:uLnTx/>
                <a:uFillTx/>
                <a:latin typeface="+mn-lt"/>
                <a:ea typeface="+mn-ea"/>
                <a:cs typeface="+mn-cs"/>
              </a:rPr>
              <a:t>ANSI</a:t>
            </a:r>
            <a:r>
              <a:rPr kumimoji="0" lang="zh-CN" altLang="en-US" sz="2800" b="0" i="0" u="none" strike="noStrike" kern="0" cap="none" spc="0" normalizeH="0" baseline="0" noProof="0">
                <a:ln>
                  <a:noFill/>
                </a:ln>
                <a:solidFill>
                  <a:schemeClr val="tx1"/>
                </a:solidFill>
                <a:effectLst/>
                <a:uLnTx/>
                <a:uFillTx/>
                <a:latin typeface="+mn-lt"/>
                <a:ea typeface="+mn-ea"/>
                <a:cs typeface="+mn-cs"/>
              </a:rPr>
              <a:t>的办法是使用通用的指针类型，即（</a:t>
            </a:r>
            <a:r>
              <a:rPr kumimoji="0" lang="en-US" altLang="zh-CN" sz="2800" b="0" i="0" u="none" strike="noStrike" kern="0" cap="none" spc="0" normalizeH="0" baseline="0" noProof="0">
                <a:ln>
                  <a:noFill/>
                </a:ln>
                <a:solidFill>
                  <a:schemeClr val="tx1"/>
                </a:solidFill>
                <a:effectLst/>
                <a:uLnTx/>
                <a:uFillTx/>
                <a:latin typeface="+mn-lt"/>
                <a:ea typeface="+mn-ea"/>
                <a:cs typeface="+mn-cs"/>
              </a:rPr>
              <a:t>void *</a:t>
            </a:r>
            <a:r>
              <a:rPr kumimoji="0" lang="zh-CN" altLang="en-US" sz="2800" b="0" i="0" u="none" strike="noStrike" kern="0" cap="none" spc="0" normalizeH="0" baseline="0" noProof="0">
                <a:ln>
                  <a:noFill/>
                </a:ln>
                <a:solidFill>
                  <a:schemeClr val="tx1"/>
                </a:solidFill>
                <a:effectLst/>
                <a:uLnTx/>
                <a:uFillTx/>
                <a:latin typeface="+mn-lt"/>
                <a:ea typeface="+mn-ea"/>
                <a:cs typeface="+mn-cs"/>
              </a:rPr>
              <a:t>）</a:t>
            </a:r>
            <a:r>
              <a:rPr kumimoji="0" lang="en-US" altLang="zh-CN" sz="2800" b="0" i="0" u="none" strike="noStrike" kern="0" cap="none" spc="0" normalizeH="0" baseline="0" noProof="0">
                <a:ln>
                  <a:noFill/>
                </a:ln>
                <a:solidFill>
                  <a:schemeClr val="tx1"/>
                </a:solidFill>
                <a:effectLst/>
                <a:uLnTx/>
                <a:uFillTx/>
                <a:latin typeface="+mn-lt"/>
                <a:ea typeface="+mn-ea"/>
                <a:cs typeface="+mn-cs"/>
              </a:rPr>
              <a:t>.</a:t>
            </a:r>
            <a:r>
              <a:rPr kumimoji="0" lang="zh-CN" altLang="en-US" sz="2800" b="0" i="0" u="none" strike="noStrike" kern="0" cap="none" spc="0" normalizeH="0" baseline="0" noProof="0">
                <a:ln>
                  <a:noFill/>
                </a:ln>
                <a:solidFill>
                  <a:schemeClr val="tx1"/>
                </a:solidFill>
                <a:effectLst/>
                <a:uLnTx/>
                <a:uFillTx/>
                <a:latin typeface="+mn-lt"/>
                <a:ea typeface="+mn-ea"/>
                <a:cs typeface="+mn-cs"/>
              </a:rPr>
              <a:t>套接字函数方法是定义一个通用的套接字地址结构。</a:t>
            </a:r>
            <a:r>
              <a:rPr kumimoji="0" lang="en-US" altLang="zh-CN" sz="2800" b="0" i="0" u="none" strike="noStrike" kern="0" cap="none" spc="0" normalizeH="0" baseline="0" noProof="0">
                <a:ln>
                  <a:noFill/>
                </a:ln>
                <a:solidFill>
                  <a:schemeClr val="tx1"/>
                </a:solidFill>
                <a:effectLst/>
                <a:uLnTx/>
                <a:uFillTx/>
                <a:latin typeface="+mn-lt"/>
                <a:ea typeface="+mn-ea"/>
                <a:cs typeface="+mn-cs"/>
              </a:rPr>
              <a:t>&lt;</a:t>
            </a:r>
            <a:r>
              <a:rPr kumimoji="0" lang="en-US" altLang="zh-CN" sz="28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sys/socket.h</a:t>
            </a:r>
            <a:r>
              <a:rPr kumimoji="0" lang="en-US" altLang="zh-CN" sz="2800" b="0" i="0" u="none" strike="noStrike" kern="0" cap="none" spc="0" normalizeH="0" baseline="0" noProof="0">
                <a:ln>
                  <a:noFill/>
                </a:ln>
                <a:solidFill>
                  <a:schemeClr val="tx1"/>
                </a:solidFill>
                <a:effectLst/>
                <a:uLnTx/>
                <a:uFillTx/>
                <a:latin typeface="+mn-lt"/>
                <a:ea typeface="+mn-ea"/>
                <a:cs typeface="+mn-cs"/>
              </a:rPr>
              <a:t>&gt;</a:t>
            </a:r>
            <a:endParaRPr kumimoji="0" lang="en-US" altLang="zh-CN" sz="2800" b="0" i="0" u="none" strike="noStrike" kern="0" cap="none" spc="0" normalizeH="0" baseline="0" noProof="0">
              <a:ln>
                <a:noFill/>
              </a:ln>
              <a:solidFill>
                <a:schemeClr val="tx1"/>
              </a:solidFill>
              <a:effectLst/>
              <a:uLnTx/>
              <a:uFillTx/>
              <a:latin typeface="+mn-lt"/>
              <a:ea typeface="+mn-ea"/>
              <a:cs typeface="+mn-cs"/>
            </a:endParaRPr>
          </a:p>
        </p:txBody>
      </p:sp>
      <p:sp>
        <p:nvSpPr>
          <p:cNvPr id="28676" name="Text Box 4"/>
          <p:cNvSpPr txBox="1"/>
          <p:nvPr/>
        </p:nvSpPr>
        <p:spPr>
          <a:xfrm>
            <a:off x="2700338" y="3178175"/>
            <a:ext cx="4032250" cy="1474788"/>
          </a:xfrm>
          <a:prstGeom prst="rect">
            <a:avLst/>
          </a:prstGeom>
          <a:noFill/>
          <a:ln w="9525" cap="flat" cmpd="sng">
            <a:solidFill>
              <a:srgbClr val="080808"/>
            </a:solidFill>
            <a:prstDash val="dash"/>
            <a:miter/>
            <a:headEnd type="none" w="med" len="med"/>
            <a:tailEnd type="none" w="med" len="med"/>
          </a:ln>
        </p:spPr>
        <p:txBody>
          <a:bodyPr>
            <a:spAutoFit/>
          </a:bodyPr>
          <a:p>
            <a:pPr eaLnBrk="1" hangingPunct="1"/>
            <a:r>
              <a:rPr lang="en-US" altLang="zh-CN" sz="1800" dirty="0">
                <a:latin typeface="Arial" panose="020B0604020202020204" pitchFamily="34" charset="0"/>
              </a:rPr>
              <a:t>struct  sockaddr{</a:t>
            </a:r>
            <a:endParaRPr lang="en-US" altLang="zh-CN" sz="1800" dirty="0">
              <a:latin typeface="Arial" panose="020B0604020202020204" pitchFamily="34" charset="0"/>
            </a:endParaRPr>
          </a:p>
          <a:p>
            <a:pPr eaLnBrk="1" hangingPunct="1"/>
            <a:r>
              <a:rPr lang="en-US" altLang="zh-CN" sz="1800" dirty="0">
                <a:latin typeface="Arial" panose="020B0604020202020204" pitchFamily="34" charset="0"/>
              </a:rPr>
              <a:t>   </a:t>
            </a:r>
            <a:r>
              <a:rPr lang="en-US" altLang="zh-CN" sz="1800" dirty="0">
                <a:solidFill>
                  <a:schemeClr val="hlink"/>
                </a:solidFill>
                <a:latin typeface="Arial" panose="020B0604020202020204" pitchFamily="34" charset="0"/>
              </a:rPr>
              <a:t>uint8_t  	  sa_len;</a:t>
            </a:r>
            <a:endParaRPr lang="en-US" altLang="zh-CN" sz="1800" dirty="0">
              <a:solidFill>
                <a:schemeClr val="hlink"/>
              </a:solidFill>
              <a:latin typeface="Arial" panose="020B0604020202020204" pitchFamily="34" charset="0"/>
            </a:endParaRPr>
          </a:p>
          <a:p>
            <a:pPr eaLnBrk="1" hangingPunct="1"/>
            <a:r>
              <a:rPr lang="en-US" altLang="zh-CN" sz="1800" dirty="0">
                <a:latin typeface="Arial" panose="020B0604020202020204" pitchFamily="34" charset="0"/>
              </a:rPr>
              <a:t>   sa_family_t	  sa_family;</a:t>
            </a:r>
            <a:endParaRPr lang="en-US" altLang="zh-CN" sz="1800" dirty="0">
              <a:latin typeface="Arial" panose="020B0604020202020204" pitchFamily="34" charset="0"/>
            </a:endParaRPr>
          </a:p>
          <a:p>
            <a:pPr eaLnBrk="1" hangingPunct="1"/>
            <a:r>
              <a:rPr lang="en-US" altLang="zh-CN" sz="1800" dirty="0">
                <a:solidFill>
                  <a:schemeClr val="hlink"/>
                </a:solidFill>
                <a:latin typeface="Arial" panose="020B0604020202020204" pitchFamily="34" charset="0"/>
              </a:rPr>
              <a:t>   char		  sa_data[14];</a:t>
            </a:r>
            <a:endParaRPr lang="en-US" altLang="zh-CN" sz="1800" dirty="0">
              <a:solidFill>
                <a:schemeClr val="hlink"/>
              </a:solidFill>
              <a:latin typeface="Arial" panose="020B0604020202020204" pitchFamily="34" charset="0"/>
            </a:endParaRPr>
          </a:p>
          <a:p>
            <a:pPr eaLnBrk="1" hangingPunct="1"/>
            <a:r>
              <a:rPr lang="en-US" altLang="zh-CN" sz="1800" dirty="0">
                <a:latin typeface="Arial" panose="020B0604020202020204" pitchFamily="34" charset="0"/>
              </a:rPr>
              <a:t>};</a:t>
            </a:r>
            <a:endParaRPr lang="en-US" altLang="zh-CN" sz="1800" dirty="0">
              <a:latin typeface="Arial" panose="020B0604020202020204" pitchFamily="34" charset="0"/>
            </a:endParaRPr>
          </a:p>
        </p:txBody>
      </p:sp>
      <p:sp>
        <p:nvSpPr>
          <p:cNvPr id="28677" name="Rectangle 5"/>
          <p:cNvSpPr>
            <a:spLocks noRot="1"/>
          </p:cNvSpPr>
          <p:nvPr/>
        </p:nvSpPr>
        <p:spPr>
          <a:xfrm>
            <a:off x="250825" y="5373688"/>
            <a:ext cx="8540750" cy="935037"/>
          </a:xfrm>
          <a:prstGeom prst="rect">
            <a:avLst/>
          </a:prstGeom>
          <a:noFill/>
          <a:ln w="9525">
            <a:noFill/>
          </a:ln>
        </p:spPr>
        <p:txBody>
          <a:bodyPr/>
          <a:p>
            <a:pPr eaLnBrk="1" hangingPunct="1"/>
            <a:endParaRPr lang="zh-CN" altLang="zh-CN" b="0" dirty="0">
              <a:latin typeface="Times New Roman" panose="02020603050405020304" pitchFamily="18" charset="0"/>
            </a:endParaRPr>
          </a:p>
        </p:txBody>
      </p:sp>
      <p:sp>
        <p:nvSpPr>
          <p:cNvPr id="196614" name="Rectangle 6"/>
          <p:cNvSpPr>
            <a:spLocks noRot="1"/>
          </p:cNvSpPr>
          <p:nvPr/>
        </p:nvSpPr>
        <p:spPr>
          <a:xfrm>
            <a:off x="179388" y="4724400"/>
            <a:ext cx="8964612" cy="1728788"/>
          </a:xfrm>
          <a:prstGeom prst="rect">
            <a:avLst/>
          </a:prstGeom>
          <a:solidFill>
            <a:schemeClr val="bg1"/>
          </a:solidFill>
          <a:ln w="9525">
            <a:noFill/>
          </a:ln>
        </p:spPr>
        <p:txBody>
          <a:bodyPr/>
          <a:p>
            <a:pPr eaLnBrk="1" hangingPunct="1"/>
            <a:r>
              <a:rPr lang="zh-CN" altLang="en-US" sz="2800" b="0" dirty="0">
                <a:latin typeface="Times New Roman" panose="02020603050405020304" pitchFamily="18" charset="0"/>
              </a:rPr>
              <a:t>这就要求调用套接字函数时，需将指向特定于协议的地址结构的指针类型转换成指向通用的地址结构的指针，</a:t>
            </a:r>
            <a:endParaRPr lang="zh-CN" altLang="en-US" sz="2800" b="0" dirty="0">
              <a:latin typeface="Times New Roman" panose="02020603050405020304" pitchFamily="18" charset="0"/>
            </a:endParaRPr>
          </a:p>
          <a:p>
            <a:pPr eaLnBrk="1" hangingPunct="1"/>
            <a:r>
              <a:rPr lang="zh-CN" altLang="en-US" sz="1800" b="0" dirty="0">
                <a:latin typeface="Times New Roman" panose="02020603050405020304" pitchFamily="18" charset="0"/>
              </a:rPr>
              <a:t>     如：      </a:t>
            </a:r>
            <a:r>
              <a:rPr lang="en-US" altLang="zh-CN" sz="1800" dirty="0">
                <a:latin typeface="Times New Roman" panose="02020603050405020304" pitchFamily="18" charset="0"/>
              </a:rPr>
              <a:t>struct sockaddr_in  serv</a:t>
            </a:r>
            <a:endParaRPr lang="en-US" altLang="zh-CN" sz="1800" dirty="0">
              <a:latin typeface="Times New Roman" panose="02020603050405020304" pitchFamily="18" charset="0"/>
            </a:endParaRPr>
          </a:p>
          <a:p>
            <a:pPr eaLnBrk="1" hangingPunct="1"/>
            <a:r>
              <a:rPr lang="en-US" altLang="zh-CN" dirty="0">
                <a:latin typeface="Times New Roman" panose="02020603050405020304" pitchFamily="18" charset="0"/>
              </a:rPr>
              <a:t>          </a:t>
            </a:r>
            <a:r>
              <a:rPr lang="en-US" altLang="zh-CN" sz="1800" dirty="0">
                <a:latin typeface="Times New Roman" panose="02020603050405020304" pitchFamily="18" charset="0"/>
              </a:rPr>
              <a:t>bind(sockfd, </a:t>
            </a:r>
            <a:r>
              <a:rPr lang="en-US" altLang="zh-CN" sz="1800" dirty="0">
                <a:solidFill>
                  <a:srgbClr val="FF0000"/>
                </a:solidFill>
                <a:latin typeface="Times New Roman" panose="02020603050405020304" pitchFamily="18" charset="0"/>
              </a:rPr>
              <a:t>(struct sockaddr *)&amp;serv</a:t>
            </a:r>
            <a:r>
              <a:rPr lang="en-US" altLang="zh-CN" sz="1800" dirty="0">
                <a:latin typeface="Times New Roman" panose="02020603050405020304" pitchFamily="18" charset="0"/>
              </a:rPr>
              <a:t>,sizeof(serv));</a:t>
            </a:r>
            <a:endParaRPr lang="en-US" altLang="zh-CN" sz="1800" dirty="0">
              <a:latin typeface="Times New Roman" panose="02020603050405020304" pitchFamily="18" charset="0"/>
            </a:endParaRPr>
          </a:p>
        </p:txBody>
      </p:sp>
      <p:sp>
        <p:nvSpPr>
          <p:cNvPr id="196615" name="Line 7"/>
          <p:cNvSpPr/>
          <p:nvPr/>
        </p:nvSpPr>
        <p:spPr>
          <a:xfrm>
            <a:off x="323850" y="5229225"/>
            <a:ext cx="8424863" cy="0"/>
          </a:xfrm>
          <a:prstGeom prst="line">
            <a:avLst/>
          </a:prstGeom>
          <a:ln w="9525" cap="flat" cmpd="sng">
            <a:solidFill>
              <a:schemeClr val="hlink"/>
            </a:solidFill>
            <a:prstDash val="solid"/>
            <a:headEnd type="none" w="med" len="med"/>
            <a:tailEnd type="none" w="med" len="med"/>
          </a:ln>
        </p:spPr>
      </p:sp>
      <p:sp>
        <p:nvSpPr>
          <p:cNvPr id="196616" name="Line 8"/>
          <p:cNvSpPr/>
          <p:nvPr/>
        </p:nvSpPr>
        <p:spPr>
          <a:xfrm>
            <a:off x="323850" y="5589588"/>
            <a:ext cx="8351838" cy="0"/>
          </a:xfrm>
          <a:prstGeom prst="line">
            <a:avLst/>
          </a:prstGeom>
          <a:ln w="9525" cap="flat" cmpd="sng">
            <a:solidFill>
              <a:schemeClr val="hlink"/>
            </a:solidFill>
            <a:prstDash val="solid"/>
            <a:headEnd type="none" w="med" len="med"/>
            <a:tailEnd type="none" w="med" len="med"/>
          </a:ln>
        </p:spPr>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196615"/>
                                        </p:tgtEl>
                                        <p:attrNameLst>
                                          <p:attrName>style.visibility</p:attrName>
                                        </p:attrNameLst>
                                      </p:cBhvr>
                                      <p:to>
                                        <p:strVal val="visible"/>
                                      </p:to>
                                    </p:set>
                                    <p:animEffect transition="in" filter="slide(fromBottom)">
                                      <p:cBhvr>
                                        <p:cTn id="7" dur="500"/>
                                        <p:tgtEl>
                                          <p:spTgt spid="196615"/>
                                        </p:tgtEl>
                                      </p:cBhvr>
                                    </p:animEffect>
                                  </p:childTnLst>
                                </p:cTn>
                              </p:par>
                              <p:par>
                                <p:cTn id="8" presetID="12" presetClass="entr" presetSubtype="4" fill="hold" nodeType="withEffect">
                                  <p:stCondLst>
                                    <p:cond delay="0"/>
                                  </p:stCondLst>
                                  <p:childTnLst>
                                    <p:set>
                                      <p:cBhvr>
                                        <p:cTn id="9" dur="1" fill="hold">
                                          <p:stCondLst>
                                            <p:cond delay="0"/>
                                          </p:stCondLst>
                                        </p:cTn>
                                        <p:tgtEl>
                                          <p:spTgt spid="196616"/>
                                        </p:tgtEl>
                                        <p:attrNameLst>
                                          <p:attrName>style.visibility</p:attrName>
                                        </p:attrNameLst>
                                      </p:cBhvr>
                                      <p:to>
                                        <p:strVal val="visible"/>
                                      </p:to>
                                    </p:set>
                                    <p:animEffect transition="in" filter="slide(fromBottom)">
                                      <p:cBhvr>
                                        <p:cTn id="10" dur="500"/>
                                        <p:tgtEl>
                                          <p:spTgt spid="196616"/>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196614">
                                            <p:txEl>
                                              <p:charRg st="49" end="87"/>
                                            </p:txEl>
                                          </p:spTgt>
                                        </p:tgtEl>
                                        <p:attrNameLst>
                                          <p:attrName>style.visibility</p:attrName>
                                        </p:attrNameLst>
                                      </p:cBhvr>
                                      <p:to>
                                        <p:strVal val="visible"/>
                                      </p:to>
                                    </p:set>
                                    <p:animEffect transition="in" filter="blinds(horizontal)">
                                      <p:cBhvr>
                                        <p:cTn id="15" dur="500"/>
                                        <p:tgtEl>
                                          <p:spTgt spid="196614">
                                            <p:txEl>
                                              <p:charRg st="49" end="87"/>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196614">
                                            <p:txEl>
                                              <p:charRg st="87" end="150"/>
                                            </p:txEl>
                                          </p:spTgt>
                                        </p:tgtEl>
                                        <p:attrNameLst>
                                          <p:attrName>style.visibility</p:attrName>
                                        </p:attrNameLst>
                                      </p:cBhvr>
                                      <p:to>
                                        <p:strVal val="visible"/>
                                      </p:to>
                                    </p:set>
                                    <p:animEffect transition="in" filter="blinds(horizontal)">
                                      <p:cBhvr>
                                        <p:cTn id="18" dur="500"/>
                                        <p:tgtEl>
                                          <p:spTgt spid="196614">
                                            <p:txEl>
                                              <p:charRg st="87" end="15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Rectangle 2"/>
          <p:cNvSpPr>
            <a:spLocks noGrp="1"/>
          </p:cNvSpPr>
          <p:nvPr>
            <p:ph type="title"/>
          </p:nvPr>
        </p:nvSpPr>
        <p:spPr/>
        <p:txBody>
          <a:bodyPr vert="horz" wrap="square" lIns="91440" tIns="45720" rIns="91440" bIns="45720" anchor="b" anchorCtr="0"/>
          <a:p>
            <a:pPr eaLnBrk="1" hangingPunct="1"/>
            <a:endParaRPr lang="zh-CN" altLang="zh-CN" dirty="0"/>
          </a:p>
        </p:txBody>
      </p:sp>
      <p:sp>
        <p:nvSpPr>
          <p:cNvPr id="30723" name="Rectangle 3"/>
          <p:cNvSpPr>
            <a:spLocks noGrp="1"/>
          </p:cNvSpPr>
          <p:nvPr>
            <p:ph idx="1"/>
          </p:nvPr>
        </p:nvSpPr>
        <p:spPr>
          <a:xfrm>
            <a:off x="1116013" y="1844675"/>
            <a:ext cx="7596187" cy="4679950"/>
          </a:xfrm>
        </p:spPr>
        <p:txBody>
          <a:bodyPr vert="horz" wrap="square" lIns="91440" tIns="45720" rIns="91440" bIns="45720" anchor="t" anchorCtr="0"/>
          <a:p>
            <a:pPr eaLnBrk="1" hangingPunct="1">
              <a:buNone/>
            </a:pPr>
            <a:r>
              <a:rPr lang="en-US" altLang="zh-CN" sz="2400" dirty="0"/>
              <a:t>struct sockaddr_in server;</a:t>
            </a:r>
            <a:endParaRPr lang="en-US" altLang="zh-CN" sz="2400" dirty="0"/>
          </a:p>
          <a:p>
            <a:pPr eaLnBrk="1" hangingPunct="1">
              <a:buNone/>
            </a:pPr>
            <a:r>
              <a:rPr lang="en-US" altLang="zh-CN" sz="2400" dirty="0">
                <a:latin typeface="Arial" panose="020B0604020202020204" pitchFamily="34" charset="0"/>
              </a:rPr>
              <a:t>……</a:t>
            </a:r>
            <a:endParaRPr lang="en-US" altLang="zh-CN" sz="2400" dirty="0"/>
          </a:p>
          <a:p>
            <a:pPr eaLnBrk="1" hangingPunct="1">
              <a:buNone/>
            </a:pPr>
            <a:r>
              <a:rPr lang="en-US" altLang="zh-CN" sz="2400" dirty="0"/>
              <a:t>bzero(&amp;server,sizeof(server)); </a:t>
            </a:r>
            <a:r>
              <a:rPr lang="en-US" altLang="zh-CN" sz="2400" dirty="0">
                <a:solidFill>
                  <a:srgbClr val="00B050"/>
                </a:solidFill>
              </a:rPr>
              <a:t>//</a:t>
            </a:r>
            <a:r>
              <a:rPr lang="zh-CN" altLang="en-US" sz="2400" dirty="0">
                <a:solidFill>
                  <a:srgbClr val="00B050"/>
                </a:solidFill>
              </a:rPr>
              <a:t>置</a:t>
            </a:r>
            <a:r>
              <a:rPr lang="en-US" altLang="zh-CN" sz="2400" dirty="0">
                <a:solidFill>
                  <a:srgbClr val="00B050"/>
                </a:solidFill>
              </a:rPr>
              <a:t>0</a:t>
            </a:r>
            <a:endParaRPr lang="en-US" altLang="zh-CN" sz="2400" dirty="0">
              <a:solidFill>
                <a:srgbClr val="00B050"/>
              </a:solidFill>
            </a:endParaRPr>
          </a:p>
          <a:p>
            <a:pPr eaLnBrk="1" hangingPunct="1">
              <a:buNone/>
            </a:pPr>
            <a:r>
              <a:rPr lang="en-US" altLang="zh-CN" sz="2400" dirty="0"/>
              <a:t>server.sin_family=AF_INET; </a:t>
            </a:r>
            <a:endParaRPr lang="en-US" altLang="zh-CN" sz="2400" dirty="0"/>
          </a:p>
          <a:p>
            <a:pPr eaLnBrk="1" hangingPunct="1">
              <a:buNone/>
            </a:pPr>
            <a:r>
              <a:rPr lang="en-US" altLang="zh-CN" sz="2400" dirty="0"/>
              <a:t>server.sin_port=htons(PORT); </a:t>
            </a:r>
            <a:endParaRPr lang="en-US" altLang="zh-CN" sz="2400" dirty="0"/>
          </a:p>
          <a:p>
            <a:pPr eaLnBrk="1" hangingPunct="1">
              <a:buNone/>
            </a:pPr>
            <a:r>
              <a:rPr lang="en-US" altLang="zh-CN" sz="2400" dirty="0"/>
              <a:t>server.sin_addr.s_addr = htonl(INADDR_ANY);</a:t>
            </a:r>
            <a:endParaRPr lang="en-US" altLang="zh-CN" sz="2400" dirty="0"/>
          </a:p>
          <a:p>
            <a:pPr eaLnBrk="1" hangingPunct="1">
              <a:buNone/>
            </a:pPr>
            <a:r>
              <a:rPr lang="en-US" altLang="zh-CN" sz="2400" dirty="0">
                <a:latin typeface="Arial" panose="020B0604020202020204" pitchFamily="34" charset="0"/>
              </a:rPr>
              <a:t>……</a:t>
            </a:r>
            <a:r>
              <a:rPr lang="en-US" altLang="zh-CN" sz="2400" dirty="0"/>
              <a:t>.</a:t>
            </a:r>
            <a:endParaRPr lang="en-US" altLang="zh-CN" sz="2400" dirty="0"/>
          </a:p>
        </p:txBody>
      </p:sp>
    </p:spTree>
  </p:cSld>
  <p:clrMapOvr>
    <a:masterClrMapping/>
  </p:clrMapOvr>
  <p:transition>
    <p:rand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Rectangle 4"/>
          <p:cNvSpPr/>
          <p:nvPr/>
        </p:nvSpPr>
        <p:spPr>
          <a:xfrm>
            <a:off x="1042988" y="1484313"/>
            <a:ext cx="7777162" cy="4894262"/>
          </a:xfrm>
          <a:prstGeom prst="rect">
            <a:avLst/>
          </a:prstGeom>
          <a:noFill/>
          <a:ln w="9525">
            <a:noFill/>
          </a:ln>
        </p:spPr>
        <p:txBody>
          <a:bodyPr>
            <a:spAutoFit/>
          </a:bodyPr>
          <a:p>
            <a:pPr eaLnBrk="1" hangingPunct="1">
              <a:buNone/>
            </a:pPr>
            <a:r>
              <a:rPr lang="zh-CN" altLang="en-US" dirty="0">
                <a:solidFill>
                  <a:srgbClr val="000099"/>
                </a:solidFill>
                <a:latin typeface="Tahoma" panose="020B0604030504040204" pitchFamily="34" charset="0"/>
              </a:rPr>
              <a:t>设置地址信息的实例（</a:t>
            </a:r>
            <a:r>
              <a:rPr lang="en-US" altLang="zh-CN" dirty="0">
                <a:solidFill>
                  <a:srgbClr val="000099"/>
                </a:solidFill>
                <a:latin typeface="Tahoma" panose="020B0604030504040204" pitchFamily="34" charset="0"/>
              </a:rPr>
              <a:t>IPv4</a:t>
            </a:r>
            <a:r>
              <a:rPr lang="zh-CN" altLang="en-US" dirty="0">
                <a:solidFill>
                  <a:srgbClr val="000099"/>
                </a:solidFill>
                <a:latin typeface="Tahoma" panose="020B0604030504040204" pitchFamily="34" charset="0"/>
              </a:rPr>
              <a:t>）</a:t>
            </a:r>
            <a:endParaRPr lang="zh-CN" altLang="en-US" dirty="0">
              <a:solidFill>
                <a:srgbClr val="000099"/>
              </a:solidFill>
              <a:latin typeface="Tahoma" panose="020B0604030504040204" pitchFamily="34" charset="0"/>
            </a:endParaRPr>
          </a:p>
          <a:p>
            <a:pPr lvl="2" eaLnBrk="1" hangingPunct="1">
              <a:buNone/>
            </a:pPr>
            <a:r>
              <a:rPr lang="en-US" altLang="zh-CN" dirty="0">
                <a:solidFill>
                  <a:srgbClr val="000000"/>
                </a:solidFill>
                <a:latin typeface="Tahoma" panose="020B0604030504040204" pitchFamily="34" charset="0"/>
              </a:rPr>
              <a:t>struct sockaddr_in mysock; </a:t>
            </a:r>
            <a:r>
              <a:rPr lang="en-US" altLang="zh-CN" b="0" dirty="0">
                <a:solidFill>
                  <a:srgbClr val="00B050"/>
                </a:solidFill>
                <a:latin typeface="Tahoma" panose="020B0604030504040204" pitchFamily="34" charset="0"/>
              </a:rPr>
              <a:t>/*</a:t>
            </a:r>
            <a:r>
              <a:rPr lang="zh-CN" altLang="en-US" b="0" dirty="0">
                <a:solidFill>
                  <a:srgbClr val="00B050"/>
                </a:solidFill>
                <a:latin typeface="Tahoma" panose="020B0604030504040204" pitchFamily="34" charset="0"/>
              </a:rPr>
              <a:t>设置</a:t>
            </a:r>
            <a:r>
              <a:rPr lang="en-US" altLang="zh-CN" b="0" dirty="0">
                <a:solidFill>
                  <a:srgbClr val="00B050"/>
                </a:solidFill>
                <a:latin typeface="Tahoma" panose="020B0604030504040204" pitchFamily="34" charset="0"/>
              </a:rPr>
              <a:t>sockaddr_in</a:t>
            </a:r>
            <a:r>
              <a:rPr lang="zh-CN" altLang="en-US" b="0" dirty="0">
                <a:solidFill>
                  <a:srgbClr val="00B050"/>
                </a:solidFill>
                <a:latin typeface="Tahoma" panose="020B0604030504040204" pitchFamily="34" charset="0"/>
              </a:rPr>
              <a:t>的结构体变量</a:t>
            </a:r>
            <a:r>
              <a:rPr lang="en-US" altLang="zh-CN" b="0" dirty="0">
                <a:solidFill>
                  <a:srgbClr val="00B050"/>
                </a:solidFill>
                <a:latin typeface="Tahoma" panose="020B0604030504040204" pitchFamily="34" charset="0"/>
              </a:rPr>
              <a:t>mysock */</a:t>
            </a:r>
            <a:endParaRPr lang="en-US" altLang="zh-CN" b="0" dirty="0">
              <a:solidFill>
                <a:srgbClr val="00B050"/>
              </a:solidFill>
              <a:latin typeface="Tahoma" panose="020B0604030504040204" pitchFamily="34" charset="0"/>
            </a:endParaRPr>
          </a:p>
          <a:p>
            <a:pPr lvl="2" eaLnBrk="1" hangingPunct="1">
              <a:buNone/>
            </a:pPr>
            <a:r>
              <a:rPr lang="en-US" altLang="zh-CN" dirty="0">
                <a:solidFill>
                  <a:srgbClr val="000000"/>
                </a:solidFill>
                <a:latin typeface="Tahoma" panose="020B0604030504040204" pitchFamily="34" charset="0"/>
              </a:rPr>
              <a:t>mysock.sin_family=AF_INET; </a:t>
            </a:r>
            <a:r>
              <a:rPr lang="en-US" altLang="zh-CN" b="0" dirty="0">
                <a:solidFill>
                  <a:srgbClr val="00B050"/>
                </a:solidFill>
                <a:latin typeface="Tahoma" panose="020B0604030504040204" pitchFamily="34" charset="0"/>
              </a:rPr>
              <a:t>/*</a:t>
            </a:r>
            <a:r>
              <a:rPr lang="zh-CN" altLang="en-US" b="0" dirty="0">
                <a:solidFill>
                  <a:srgbClr val="00B050"/>
                </a:solidFill>
                <a:latin typeface="Tahoma" panose="020B0604030504040204" pitchFamily="34" charset="0"/>
              </a:rPr>
              <a:t>地址族*</a:t>
            </a:r>
            <a:r>
              <a:rPr lang="en-US" altLang="zh-CN" b="0" dirty="0">
                <a:solidFill>
                  <a:srgbClr val="00B050"/>
                </a:solidFill>
                <a:latin typeface="Tahoma" panose="020B0604030504040204" pitchFamily="34" charset="0"/>
              </a:rPr>
              <a:t>/</a:t>
            </a:r>
            <a:endParaRPr lang="en-US" altLang="zh-CN" b="0" dirty="0">
              <a:solidFill>
                <a:srgbClr val="00B050"/>
              </a:solidFill>
              <a:latin typeface="Tahoma" panose="020B0604030504040204" pitchFamily="34" charset="0"/>
            </a:endParaRPr>
          </a:p>
          <a:p>
            <a:pPr lvl="2" eaLnBrk="1" hangingPunct="1">
              <a:buNone/>
            </a:pPr>
            <a:r>
              <a:rPr lang="en-US" altLang="zh-CN" dirty="0">
                <a:solidFill>
                  <a:srgbClr val="000000"/>
                </a:solidFill>
                <a:latin typeface="Tahoma" panose="020B0604030504040204" pitchFamily="34" charset="0"/>
              </a:rPr>
              <a:t>mysock.sin_port=htons(3490); mysock.sin_addr.s_addr=inet_addr(</a:t>
            </a:r>
            <a:r>
              <a:rPr lang="en-US" altLang="zh-CN" dirty="0">
                <a:solidFill>
                  <a:srgbClr val="000000"/>
                </a:solidFill>
                <a:latin typeface="Arial" panose="020B0604020202020204" pitchFamily="34" charset="0"/>
              </a:rPr>
              <a:t>“</a:t>
            </a:r>
            <a:r>
              <a:rPr lang="en-US" altLang="zh-CN" dirty="0">
                <a:solidFill>
                  <a:srgbClr val="000000"/>
                </a:solidFill>
                <a:latin typeface="Tahoma" panose="020B0604030504040204" pitchFamily="34" charset="0"/>
              </a:rPr>
              <a:t>192.168.1.221</a:t>
            </a:r>
            <a:r>
              <a:rPr lang="en-US" altLang="zh-CN" dirty="0">
                <a:solidFill>
                  <a:srgbClr val="000000"/>
                </a:solidFill>
                <a:latin typeface="Arial" panose="020B0604020202020204" pitchFamily="34" charset="0"/>
              </a:rPr>
              <a:t>”</a:t>
            </a:r>
            <a:r>
              <a:rPr lang="en-US" altLang="zh-CN" dirty="0">
                <a:solidFill>
                  <a:srgbClr val="000000"/>
                </a:solidFill>
                <a:latin typeface="Tahoma" panose="020B0604030504040204" pitchFamily="34" charset="0"/>
              </a:rPr>
              <a:t>);</a:t>
            </a:r>
            <a:r>
              <a:rPr lang="en-US" altLang="zh-CN" dirty="0">
                <a:solidFill>
                  <a:schemeClr val="accent1"/>
                </a:solidFill>
                <a:latin typeface="Tahoma" panose="020B0604030504040204" pitchFamily="34" charset="0"/>
              </a:rPr>
              <a:t> </a:t>
            </a:r>
            <a:r>
              <a:rPr lang="en-US" altLang="zh-CN" b="0" dirty="0">
                <a:solidFill>
                  <a:srgbClr val="00B050"/>
                </a:solidFill>
                <a:latin typeface="Tahoma" panose="020B0604030504040204" pitchFamily="34" charset="0"/>
              </a:rPr>
              <a:t>/*</a:t>
            </a:r>
            <a:r>
              <a:rPr lang="zh-CN" altLang="en-US" b="0" dirty="0">
                <a:solidFill>
                  <a:srgbClr val="00B050"/>
                </a:solidFill>
                <a:latin typeface="Tahoma" panose="020B0604030504040204" pitchFamily="34" charset="0"/>
              </a:rPr>
              <a:t>设置地址为</a:t>
            </a:r>
            <a:r>
              <a:rPr lang="en-US" altLang="zh-CN" b="0" dirty="0">
                <a:solidFill>
                  <a:srgbClr val="00B050"/>
                </a:solidFill>
                <a:latin typeface="Tahoma" panose="020B0604030504040204" pitchFamily="34" charset="0"/>
              </a:rPr>
              <a:t>192.168.1.221*/</a:t>
            </a:r>
            <a:endParaRPr lang="en-US" altLang="zh-CN" b="0" dirty="0">
              <a:solidFill>
                <a:srgbClr val="00B050"/>
              </a:solidFill>
              <a:latin typeface="Tahoma" panose="020B0604030504040204" pitchFamily="34" charset="0"/>
            </a:endParaRPr>
          </a:p>
          <a:p>
            <a:pPr lvl="2" eaLnBrk="1" hangingPunct="1">
              <a:buNone/>
            </a:pPr>
            <a:r>
              <a:rPr lang="en-US" altLang="zh-CN" dirty="0">
                <a:solidFill>
                  <a:srgbClr val="000000"/>
                </a:solidFill>
                <a:latin typeface="Tahoma" panose="020B0604030504040204" pitchFamily="34" charset="0"/>
              </a:rPr>
              <a:t>bzero(&amp;(mysock.sin_zero),8); </a:t>
            </a:r>
            <a:r>
              <a:rPr lang="en-US" altLang="zh-CN" b="0" dirty="0">
                <a:solidFill>
                  <a:srgbClr val="00B050"/>
                </a:solidFill>
                <a:latin typeface="Tahoma" panose="020B0604030504040204" pitchFamily="34" charset="0"/>
              </a:rPr>
              <a:t>/*</a:t>
            </a:r>
            <a:r>
              <a:rPr lang="zh-CN" altLang="en-US" b="0" dirty="0">
                <a:solidFill>
                  <a:srgbClr val="00B050"/>
                </a:solidFill>
                <a:latin typeface="Tahoma" panose="020B0604030504040204" pitchFamily="34" charset="0"/>
              </a:rPr>
              <a:t>设置</a:t>
            </a:r>
            <a:r>
              <a:rPr lang="en-US" altLang="zh-CN" b="0" dirty="0">
                <a:solidFill>
                  <a:srgbClr val="00B050"/>
                </a:solidFill>
                <a:latin typeface="Tahoma" panose="020B0604030504040204" pitchFamily="34" charset="0"/>
              </a:rPr>
              <a:t>sin_zero</a:t>
            </a:r>
            <a:r>
              <a:rPr lang="zh-CN" altLang="en-US" b="0" dirty="0">
                <a:solidFill>
                  <a:srgbClr val="00B050"/>
                </a:solidFill>
                <a:latin typeface="Tahoma" panose="020B0604030504040204" pitchFamily="34" charset="0"/>
              </a:rPr>
              <a:t>为</a:t>
            </a:r>
            <a:r>
              <a:rPr lang="en-US" altLang="zh-CN" b="0" dirty="0">
                <a:solidFill>
                  <a:srgbClr val="00B050"/>
                </a:solidFill>
                <a:latin typeface="Tahoma" panose="020B0604030504040204" pitchFamily="34" charset="0"/>
              </a:rPr>
              <a:t>8</a:t>
            </a:r>
            <a:r>
              <a:rPr lang="zh-CN" altLang="en-US" b="0" dirty="0">
                <a:solidFill>
                  <a:srgbClr val="00B050"/>
                </a:solidFill>
                <a:latin typeface="Tahoma" panose="020B0604030504040204" pitchFamily="34" charset="0"/>
              </a:rPr>
              <a:t>位保留字节*</a:t>
            </a:r>
            <a:r>
              <a:rPr lang="en-US" altLang="zh-CN" b="0" dirty="0">
                <a:solidFill>
                  <a:srgbClr val="00B050"/>
                </a:solidFill>
                <a:latin typeface="Tahoma" panose="020B0604030504040204" pitchFamily="34" charset="0"/>
              </a:rPr>
              <a:t>/</a:t>
            </a:r>
            <a:endParaRPr lang="en-US" altLang="zh-CN" b="0" dirty="0">
              <a:solidFill>
                <a:srgbClr val="00B050"/>
              </a:solidFill>
              <a:latin typeface="Tahoma" panose="020B0604030504040204" pitchFamily="34" charset="0"/>
            </a:endParaRPr>
          </a:p>
          <a:p>
            <a:pPr lvl="2" eaLnBrk="1" hangingPunct="1">
              <a:buNone/>
            </a:pPr>
            <a:endParaRPr lang="en-US" altLang="zh-CN" b="0" dirty="0">
              <a:solidFill>
                <a:srgbClr val="00B050"/>
              </a:solidFill>
              <a:latin typeface="Tahoma" panose="020B0604030504040204" pitchFamily="34" charset="0"/>
            </a:endParaRPr>
          </a:p>
          <a:p>
            <a:pPr eaLnBrk="1" hangingPunct="1">
              <a:buNone/>
            </a:pPr>
            <a:r>
              <a:rPr lang="zh-CN" altLang="en-US" dirty="0">
                <a:solidFill>
                  <a:srgbClr val="CC3300"/>
                </a:solidFill>
                <a:latin typeface="Tahoma" panose="020B0604030504040204" pitchFamily="34" charset="0"/>
              </a:rPr>
              <a:t>注意：</a:t>
            </a:r>
            <a:r>
              <a:rPr lang="zh-CN" altLang="en-US" dirty="0">
                <a:solidFill>
                  <a:schemeClr val="tx2"/>
                </a:solidFill>
                <a:latin typeface="Tahoma" panose="020B0604030504040204" pitchFamily="34" charset="0"/>
              </a:rPr>
              <a:t>如果</a:t>
            </a:r>
            <a:r>
              <a:rPr lang="en-US" altLang="zh-CN" dirty="0">
                <a:solidFill>
                  <a:schemeClr val="tx2"/>
                </a:solidFill>
                <a:latin typeface="Tahoma" panose="020B0604030504040204" pitchFamily="34" charset="0"/>
              </a:rPr>
              <a:t>mysock.sin_addr.s_addr=INADDR_ANY,</a:t>
            </a:r>
            <a:r>
              <a:rPr lang="zh-CN" altLang="en-US" dirty="0">
                <a:solidFill>
                  <a:schemeClr val="tx2"/>
                </a:solidFill>
                <a:latin typeface="Tahoma" panose="020B0604030504040204" pitchFamily="34" charset="0"/>
              </a:rPr>
              <a:t>则不指定</a:t>
            </a:r>
            <a:r>
              <a:rPr lang="en-US" altLang="zh-CN" dirty="0">
                <a:solidFill>
                  <a:schemeClr val="tx2"/>
                </a:solidFill>
                <a:latin typeface="Tahoma" panose="020B0604030504040204" pitchFamily="34" charset="0"/>
              </a:rPr>
              <a:t>IP</a:t>
            </a:r>
            <a:r>
              <a:rPr lang="zh-CN" altLang="en-US" dirty="0">
                <a:solidFill>
                  <a:schemeClr val="tx2"/>
                </a:solidFill>
                <a:latin typeface="Tahoma" panose="020B0604030504040204" pitchFamily="34" charset="0"/>
              </a:rPr>
              <a:t>地址（用于</a:t>
            </a:r>
            <a:r>
              <a:rPr lang="en-US" altLang="zh-CN" dirty="0">
                <a:solidFill>
                  <a:schemeClr val="tx2"/>
                </a:solidFill>
                <a:latin typeface="Tahoma" panose="020B0604030504040204" pitchFamily="34" charset="0"/>
              </a:rPr>
              <a:t>server</a:t>
            </a:r>
            <a:r>
              <a:rPr lang="zh-CN" altLang="en-US" dirty="0">
                <a:solidFill>
                  <a:schemeClr val="tx2"/>
                </a:solidFill>
                <a:latin typeface="Tahoma" panose="020B0604030504040204" pitchFamily="34" charset="0"/>
              </a:rPr>
              <a:t>程序）。</a:t>
            </a:r>
            <a:endParaRPr lang="zh-CN" altLang="en-US" dirty="0">
              <a:solidFill>
                <a:schemeClr val="tx2"/>
              </a:solidFill>
              <a:latin typeface="Tahoma" panose="020B0604030504040204" pitchFamily="34" charset="0"/>
            </a:endParaRPr>
          </a:p>
        </p:txBody>
      </p:sp>
    </p:spTree>
  </p:cSld>
  <p:clrMapOvr>
    <a:masterClrMapping/>
  </p:clrMapOvr>
  <p:transition>
    <p:rand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Rectangle 2"/>
          <p:cNvSpPr>
            <a:spLocks noGrp="1"/>
          </p:cNvSpPr>
          <p:nvPr>
            <p:ph type="title"/>
          </p:nvPr>
        </p:nvSpPr>
        <p:spPr>
          <a:xfrm>
            <a:off x="827088" y="692150"/>
            <a:ext cx="7793037" cy="485775"/>
          </a:xfrm>
        </p:spPr>
        <p:txBody>
          <a:bodyPr vert="horz" wrap="square" lIns="91440" tIns="45720" rIns="91440" bIns="45720" anchor="b" anchorCtr="0"/>
          <a:p>
            <a:pPr eaLnBrk="1" hangingPunct="1"/>
            <a:r>
              <a:rPr lang="zh-CN" altLang="en-US" dirty="0"/>
              <a:t>字节排序函数</a:t>
            </a:r>
            <a:endParaRPr lang="zh-CN" altLang="en-US" dirty="0"/>
          </a:p>
        </p:txBody>
      </p:sp>
      <p:sp>
        <p:nvSpPr>
          <p:cNvPr id="34819" name="Rectangle 21"/>
          <p:cNvSpPr>
            <a:spLocks noGrp="1"/>
          </p:cNvSpPr>
          <p:nvPr>
            <p:ph idx="1"/>
          </p:nvPr>
        </p:nvSpPr>
        <p:spPr>
          <a:xfrm>
            <a:off x="419100" y="1628775"/>
            <a:ext cx="8689975" cy="5016500"/>
          </a:xfrm>
        </p:spPr>
        <p:txBody>
          <a:bodyPr vert="horz" wrap="square" lIns="92075" tIns="46038" rIns="92075" bIns="46038" anchor="t" anchorCtr="0"/>
          <a:p>
            <a:pPr eaLnBrk="1" hangingPunct="1"/>
            <a:r>
              <a:rPr lang="zh-CN" altLang="en-US" dirty="0"/>
              <a:t>网络中存在多种类型的机器，这些不同类型的机器表示数据的字节顺序是不同的。</a:t>
            </a:r>
            <a:endParaRPr lang="zh-CN" altLang="en-US" dirty="0"/>
          </a:p>
          <a:p>
            <a:pPr lvl="1" eaLnBrk="1" hangingPunct="1"/>
            <a:r>
              <a:rPr lang="zh-CN" altLang="en-US" dirty="0"/>
              <a:t>以</a:t>
            </a:r>
            <a:r>
              <a:rPr lang="en-US" altLang="zh-CN" dirty="0"/>
              <a:t>16</a:t>
            </a:r>
            <a:r>
              <a:rPr lang="zh-CN" altLang="en-US" dirty="0"/>
              <a:t>进制数</a:t>
            </a:r>
            <a:r>
              <a:rPr lang="en-US" altLang="zh-CN" dirty="0"/>
              <a:t>0x308A</a:t>
            </a:r>
            <a:r>
              <a:rPr lang="zh-CN" altLang="en-US" dirty="0"/>
              <a:t>，在内存地址</a:t>
            </a:r>
            <a:r>
              <a:rPr lang="en-US" altLang="zh-CN" dirty="0"/>
              <a:t>0x1000</a:t>
            </a:r>
            <a:r>
              <a:rPr lang="zh-CN" altLang="en-US" dirty="0"/>
              <a:t>的存储为例</a:t>
            </a:r>
            <a:r>
              <a:rPr lang="en-US" altLang="zh-CN" dirty="0"/>
              <a:t>:</a:t>
            </a:r>
            <a:endParaRPr lang="zh-CN" altLang="en-US" dirty="0"/>
          </a:p>
        </p:txBody>
      </p:sp>
      <p:sp>
        <p:nvSpPr>
          <p:cNvPr id="197654" name="Rectangle 22"/>
          <p:cNvSpPr>
            <a:spLocks noChangeArrowheads="1"/>
          </p:cNvSpPr>
          <p:nvPr/>
        </p:nvSpPr>
        <p:spPr bwMode="auto">
          <a:xfrm>
            <a:off x="2555875" y="3635375"/>
            <a:ext cx="1308100" cy="660400"/>
          </a:xfrm>
          <a:prstGeom prst="rect">
            <a:avLst/>
          </a:prstGeom>
          <a:noFill/>
          <a:ln w="9525" algn="ctr">
            <a:solidFill>
              <a:schemeClr val="tx1"/>
            </a:solidFill>
            <a:miter lim="800000"/>
          </a:ln>
          <a:effectLst/>
        </p:spPr>
        <p:txBody>
          <a:bodyPr wrap="none" lIns="92075" tIns="46038" rIns="92075" bIns="46038" anchor="ctr"/>
          <a:lstStyle>
            <a:lvl1pPr marL="285750" indent="-28575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285750" marR="0" lvl="0" indent="-285750" algn="ctr" defTabSz="914400" rtl="0" eaLnBrk="1" fontAlgn="base" latinLnBrk="0" hangingPunct="1">
              <a:lnSpc>
                <a:spcPct val="90000"/>
              </a:lnSpc>
              <a:spcBef>
                <a:spcPct val="15000"/>
              </a:spcBef>
              <a:spcAft>
                <a:spcPct val="0"/>
              </a:spcAft>
              <a:buClrTx/>
              <a:buSzTx/>
              <a:buFontTx/>
              <a:buNone/>
              <a:defRPr/>
            </a:pPr>
            <a:r>
              <a:rPr kumimoji="1" lang="en-US" altLang="zh-CN" sz="2400" b="1" i="0" u="none" strike="noStrike" kern="1200" cap="none" spc="0" normalizeH="0" baseline="0" noProof="0">
                <a:ln>
                  <a:noFill/>
                </a:ln>
                <a:solidFill>
                  <a:srgbClr val="339933"/>
                </a:solidFill>
                <a:effectLst>
                  <a:outerShdw blurRad="38100" dist="38100" dir="2700000" algn="tl">
                    <a:srgbClr val="C0C0C0"/>
                  </a:outerShdw>
                </a:effectLst>
                <a:uLnTx/>
                <a:uFillTx/>
                <a:latin typeface="Comic Sans MS" panose="030F0702030302020204" pitchFamily="66" charset="0"/>
                <a:ea typeface="黑体" panose="02010609060101010101" pitchFamily="49" charset="-122"/>
                <a:cs typeface="+mn-cs"/>
              </a:rPr>
              <a:t>30</a:t>
            </a:r>
            <a:endParaRPr kumimoji="1" lang="en-US" altLang="zh-CN" sz="2400" b="1" i="0" u="none" strike="noStrike" kern="1200" cap="none" spc="0" normalizeH="0" baseline="0" noProof="0">
              <a:ln>
                <a:noFill/>
              </a:ln>
              <a:solidFill>
                <a:srgbClr val="339933"/>
              </a:solidFill>
              <a:effectLst>
                <a:outerShdw blurRad="38100" dist="38100" dir="2700000" algn="tl">
                  <a:srgbClr val="C0C0C0"/>
                </a:outerShdw>
              </a:effectLst>
              <a:uLnTx/>
              <a:uFillTx/>
              <a:latin typeface="Comic Sans MS" panose="030F0702030302020204" pitchFamily="66" charset="0"/>
              <a:ea typeface="黑体" panose="02010609060101010101" pitchFamily="49" charset="-122"/>
              <a:cs typeface="+mn-cs"/>
            </a:endParaRPr>
          </a:p>
        </p:txBody>
      </p:sp>
      <p:sp>
        <p:nvSpPr>
          <p:cNvPr id="197655" name="Rectangle 23"/>
          <p:cNvSpPr>
            <a:spLocks noChangeArrowheads="1"/>
          </p:cNvSpPr>
          <p:nvPr/>
        </p:nvSpPr>
        <p:spPr bwMode="auto">
          <a:xfrm>
            <a:off x="2555875" y="4295775"/>
            <a:ext cx="1308100" cy="660400"/>
          </a:xfrm>
          <a:prstGeom prst="rect">
            <a:avLst/>
          </a:prstGeom>
          <a:noFill/>
          <a:ln w="9525" algn="ctr">
            <a:solidFill>
              <a:schemeClr val="tx1"/>
            </a:solidFill>
            <a:miter lim="800000"/>
          </a:ln>
          <a:effectLst/>
        </p:spPr>
        <p:txBody>
          <a:bodyPr wrap="none" lIns="92075" tIns="46038" rIns="92075" bIns="46038" anchor="ctr"/>
          <a:lstStyle>
            <a:lvl1pPr marL="285750" indent="-28575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285750" marR="0" lvl="0" indent="-285750" algn="ctr" defTabSz="914400" rtl="0" eaLnBrk="1" fontAlgn="base" latinLnBrk="0" hangingPunct="1">
              <a:lnSpc>
                <a:spcPct val="90000"/>
              </a:lnSpc>
              <a:spcBef>
                <a:spcPct val="15000"/>
              </a:spcBef>
              <a:spcAft>
                <a:spcPct val="0"/>
              </a:spcAft>
              <a:buClrTx/>
              <a:buSzTx/>
              <a:buFontTx/>
              <a:buNone/>
              <a:defRPr/>
            </a:pPr>
            <a:r>
              <a:rPr kumimoji="1" lang="en-US" altLang="zh-CN" sz="2400" b="1" i="0" u="none" strike="noStrike" kern="1200" cap="none" spc="0" normalizeH="0" baseline="0" noProof="0">
                <a:ln>
                  <a:noFill/>
                </a:ln>
                <a:solidFill>
                  <a:srgbClr val="339933"/>
                </a:solidFill>
                <a:effectLst>
                  <a:outerShdw blurRad="38100" dist="38100" dir="2700000" algn="tl">
                    <a:srgbClr val="C0C0C0"/>
                  </a:outerShdw>
                </a:effectLst>
                <a:uLnTx/>
                <a:uFillTx/>
                <a:latin typeface="Comic Sans MS" panose="030F0702030302020204" pitchFamily="66" charset="0"/>
                <a:ea typeface="黑体" panose="02010609060101010101" pitchFamily="49" charset="-122"/>
                <a:cs typeface="+mn-cs"/>
              </a:rPr>
              <a:t>8A</a:t>
            </a:r>
            <a:endParaRPr kumimoji="1" lang="en-US" altLang="zh-CN" sz="2400" b="1" i="0" u="none" strike="noStrike" kern="1200" cap="none" spc="0" normalizeH="0" baseline="0" noProof="0">
              <a:ln>
                <a:noFill/>
              </a:ln>
              <a:solidFill>
                <a:srgbClr val="339933"/>
              </a:solidFill>
              <a:effectLst>
                <a:outerShdw blurRad="38100" dist="38100" dir="2700000" algn="tl">
                  <a:srgbClr val="C0C0C0"/>
                </a:outerShdw>
              </a:effectLst>
              <a:uLnTx/>
              <a:uFillTx/>
              <a:latin typeface="Comic Sans MS" panose="030F0702030302020204" pitchFamily="66" charset="0"/>
              <a:ea typeface="黑体" panose="02010609060101010101" pitchFamily="49" charset="-122"/>
              <a:cs typeface="+mn-cs"/>
            </a:endParaRPr>
          </a:p>
        </p:txBody>
      </p:sp>
      <p:sp>
        <p:nvSpPr>
          <p:cNvPr id="197656" name="Rectangle 24"/>
          <p:cNvSpPr>
            <a:spLocks noChangeArrowheads="1"/>
          </p:cNvSpPr>
          <p:nvPr/>
        </p:nvSpPr>
        <p:spPr bwMode="auto">
          <a:xfrm>
            <a:off x="6264275" y="4295775"/>
            <a:ext cx="1308100" cy="660400"/>
          </a:xfrm>
          <a:prstGeom prst="rect">
            <a:avLst/>
          </a:prstGeom>
          <a:noFill/>
          <a:ln w="9525" algn="ctr">
            <a:solidFill>
              <a:schemeClr val="tx1"/>
            </a:solidFill>
            <a:miter lim="800000"/>
          </a:ln>
          <a:effectLst/>
        </p:spPr>
        <p:txBody>
          <a:bodyPr wrap="none" lIns="92075" tIns="46038" rIns="92075" bIns="46038" anchor="ctr"/>
          <a:lstStyle>
            <a:lvl1pPr marL="285750" indent="-28575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285750" marR="0" lvl="0" indent="-285750" algn="ctr" defTabSz="914400" rtl="0" eaLnBrk="1" fontAlgn="base" latinLnBrk="0" hangingPunct="1">
              <a:lnSpc>
                <a:spcPct val="90000"/>
              </a:lnSpc>
              <a:spcBef>
                <a:spcPct val="15000"/>
              </a:spcBef>
              <a:spcAft>
                <a:spcPct val="0"/>
              </a:spcAft>
              <a:buClrTx/>
              <a:buSzTx/>
              <a:buFontTx/>
              <a:buNone/>
              <a:defRPr/>
            </a:pPr>
            <a:r>
              <a:rPr kumimoji="1" lang="en-US" altLang="zh-CN" sz="2400" b="1" i="0" u="none" strike="noStrike" kern="1200" cap="none" spc="0" normalizeH="0" baseline="0" noProof="0">
                <a:ln>
                  <a:noFill/>
                </a:ln>
                <a:solidFill>
                  <a:srgbClr val="339933"/>
                </a:solidFill>
                <a:effectLst>
                  <a:outerShdw blurRad="38100" dist="38100" dir="2700000" algn="tl">
                    <a:srgbClr val="C0C0C0"/>
                  </a:outerShdw>
                </a:effectLst>
                <a:uLnTx/>
                <a:uFillTx/>
                <a:latin typeface="Comic Sans MS" panose="030F0702030302020204" pitchFamily="66" charset="0"/>
                <a:ea typeface="黑体" panose="02010609060101010101" pitchFamily="49" charset="-122"/>
                <a:cs typeface="+mn-cs"/>
              </a:rPr>
              <a:t>30</a:t>
            </a:r>
            <a:endParaRPr kumimoji="1" lang="en-US" altLang="zh-CN" sz="2400" b="1" i="0" u="none" strike="noStrike" kern="1200" cap="none" spc="0" normalizeH="0" baseline="0" noProof="0">
              <a:ln>
                <a:noFill/>
              </a:ln>
              <a:solidFill>
                <a:srgbClr val="339933"/>
              </a:solidFill>
              <a:effectLst>
                <a:outerShdw blurRad="38100" dist="38100" dir="2700000" algn="tl">
                  <a:srgbClr val="C0C0C0"/>
                </a:outerShdw>
              </a:effectLst>
              <a:uLnTx/>
              <a:uFillTx/>
              <a:latin typeface="Comic Sans MS" panose="030F0702030302020204" pitchFamily="66" charset="0"/>
              <a:ea typeface="黑体" panose="02010609060101010101" pitchFamily="49" charset="-122"/>
              <a:cs typeface="+mn-cs"/>
            </a:endParaRPr>
          </a:p>
        </p:txBody>
      </p:sp>
      <p:sp>
        <p:nvSpPr>
          <p:cNvPr id="197657" name="Rectangle 25"/>
          <p:cNvSpPr>
            <a:spLocks noChangeArrowheads="1"/>
          </p:cNvSpPr>
          <p:nvPr/>
        </p:nvSpPr>
        <p:spPr bwMode="auto">
          <a:xfrm>
            <a:off x="6264275" y="3635375"/>
            <a:ext cx="1308100" cy="660400"/>
          </a:xfrm>
          <a:prstGeom prst="rect">
            <a:avLst/>
          </a:prstGeom>
          <a:noFill/>
          <a:ln w="9525" algn="ctr">
            <a:solidFill>
              <a:schemeClr val="tx1"/>
            </a:solidFill>
            <a:miter lim="800000"/>
          </a:ln>
          <a:effectLst/>
        </p:spPr>
        <p:txBody>
          <a:bodyPr wrap="none" lIns="92075" tIns="46038" rIns="92075" bIns="46038" anchor="ctr"/>
          <a:lstStyle>
            <a:lvl1pPr marL="285750" indent="-28575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285750" marR="0" lvl="0" indent="-285750" algn="ctr" defTabSz="914400" rtl="0" eaLnBrk="1" fontAlgn="base" latinLnBrk="0" hangingPunct="1">
              <a:lnSpc>
                <a:spcPct val="90000"/>
              </a:lnSpc>
              <a:spcBef>
                <a:spcPct val="15000"/>
              </a:spcBef>
              <a:spcAft>
                <a:spcPct val="0"/>
              </a:spcAft>
              <a:buClrTx/>
              <a:buSzTx/>
              <a:buFontTx/>
              <a:buNone/>
              <a:defRPr/>
            </a:pPr>
            <a:r>
              <a:rPr kumimoji="1" lang="en-US" altLang="zh-CN" sz="2400" b="1" i="0" u="none" strike="noStrike" kern="1200" cap="none" spc="0" normalizeH="0" baseline="0" noProof="0">
                <a:ln>
                  <a:noFill/>
                </a:ln>
                <a:solidFill>
                  <a:srgbClr val="339933"/>
                </a:solidFill>
                <a:effectLst>
                  <a:outerShdw blurRad="38100" dist="38100" dir="2700000" algn="tl">
                    <a:srgbClr val="C0C0C0"/>
                  </a:outerShdw>
                </a:effectLst>
                <a:uLnTx/>
                <a:uFillTx/>
                <a:latin typeface="Comic Sans MS" panose="030F0702030302020204" pitchFamily="66" charset="0"/>
                <a:ea typeface="黑体" panose="02010609060101010101" pitchFamily="49" charset="-122"/>
                <a:cs typeface="+mn-cs"/>
              </a:rPr>
              <a:t>8A</a:t>
            </a:r>
            <a:endParaRPr kumimoji="1" lang="en-US" altLang="zh-CN" sz="2400" b="1" i="0" u="none" strike="noStrike" kern="1200" cap="none" spc="0" normalizeH="0" baseline="0" noProof="0">
              <a:ln>
                <a:noFill/>
              </a:ln>
              <a:solidFill>
                <a:srgbClr val="339933"/>
              </a:solidFill>
              <a:effectLst>
                <a:outerShdw blurRad="38100" dist="38100" dir="2700000" algn="tl">
                  <a:srgbClr val="C0C0C0"/>
                </a:outerShdw>
              </a:effectLst>
              <a:uLnTx/>
              <a:uFillTx/>
              <a:latin typeface="Comic Sans MS" panose="030F0702030302020204" pitchFamily="66" charset="0"/>
              <a:ea typeface="黑体" panose="02010609060101010101" pitchFamily="49" charset="-122"/>
              <a:cs typeface="+mn-cs"/>
            </a:endParaRPr>
          </a:p>
        </p:txBody>
      </p:sp>
      <p:sp>
        <p:nvSpPr>
          <p:cNvPr id="197658" name="Text Box 26"/>
          <p:cNvSpPr txBox="1">
            <a:spLocks noChangeArrowheads="1"/>
          </p:cNvSpPr>
          <p:nvPr/>
        </p:nvSpPr>
        <p:spPr bwMode="auto">
          <a:xfrm>
            <a:off x="1193800" y="4446588"/>
            <a:ext cx="1503363" cy="420688"/>
          </a:xfrm>
          <a:prstGeom prst="rect">
            <a:avLst/>
          </a:prstGeom>
          <a:noFill/>
          <a:ln>
            <a:noFill/>
          </a:ln>
          <a:effectLst/>
        </p:spPr>
        <p:txBody>
          <a:bodyPr lIns="92075" tIns="46038" rIns="92075" bIns="46038">
            <a:spAutoFit/>
          </a:bodyPr>
          <a:lstStyle>
            <a:lvl1pPr>
              <a:defRPr>
                <a:solidFill>
                  <a:schemeClr val="tx1"/>
                </a:solidFill>
                <a:latin typeface="Arial" panose="020B0604020202020204" pitchFamily="34" charset="0"/>
                <a:ea typeface="宋体" panose="02010600030101010101" pitchFamily="2" charset="-122"/>
              </a:defRPr>
            </a:lvl1pPr>
            <a:lvl2pPr marL="922655">
              <a:defRPr>
                <a:solidFill>
                  <a:schemeClr val="tx1"/>
                </a:solidFill>
                <a:latin typeface="Arial" panose="020B0604020202020204" pitchFamily="34" charset="0"/>
                <a:ea typeface="宋体" panose="02010600030101010101" pitchFamily="2" charset="-122"/>
              </a:defRPr>
            </a:lvl2pPr>
            <a:lvl3pPr marL="1101725">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90000"/>
              </a:lnSpc>
              <a:spcBef>
                <a:spcPct val="15000"/>
              </a:spcBef>
              <a:spcAft>
                <a:spcPct val="0"/>
              </a:spcAft>
              <a:buClrTx/>
              <a:buSzTx/>
              <a:buFontTx/>
              <a:buNone/>
              <a:defRPr/>
            </a:pPr>
            <a:r>
              <a:rPr kumimoji="1" lang="en-US" altLang="zh-CN" sz="2400" b="1" i="0" u="none" strike="noStrike" kern="1200" cap="none" spc="0" normalizeH="0" baseline="0" noProof="0">
                <a:ln>
                  <a:noFill/>
                </a:ln>
                <a:solidFill>
                  <a:srgbClr val="000099"/>
                </a:solidFill>
                <a:effectLst>
                  <a:outerShdw blurRad="38100" dist="38100" dir="2700000" algn="tl">
                    <a:srgbClr val="C0C0C0"/>
                  </a:outerShdw>
                </a:effectLst>
                <a:uLnTx/>
                <a:uFillTx/>
                <a:latin typeface="Comic Sans MS" panose="030F0702030302020204" pitchFamily="66" charset="0"/>
                <a:ea typeface="黑体" panose="02010609060101010101" pitchFamily="49" charset="-122"/>
                <a:cs typeface="+mn-cs"/>
              </a:rPr>
              <a:t>0x1000</a:t>
            </a:r>
            <a:endParaRPr kumimoji="1" lang="en-US" altLang="zh-CN" sz="2400" b="1" i="0" u="none" strike="noStrike" kern="1200" cap="none" spc="0" normalizeH="0" baseline="0" noProof="0">
              <a:ln>
                <a:noFill/>
              </a:ln>
              <a:solidFill>
                <a:srgbClr val="000099"/>
              </a:solidFill>
              <a:effectLst>
                <a:outerShdw blurRad="38100" dist="38100" dir="2700000" algn="tl">
                  <a:srgbClr val="C0C0C0"/>
                </a:outerShdw>
              </a:effectLst>
              <a:uLnTx/>
              <a:uFillTx/>
              <a:latin typeface="Comic Sans MS" panose="030F0702030302020204" pitchFamily="66" charset="0"/>
              <a:ea typeface="黑体" panose="02010609060101010101" pitchFamily="49" charset="-122"/>
              <a:cs typeface="+mn-cs"/>
            </a:endParaRPr>
          </a:p>
        </p:txBody>
      </p:sp>
      <p:sp>
        <p:nvSpPr>
          <p:cNvPr id="197659" name="Text Box 27"/>
          <p:cNvSpPr txBox="1">
            <a:spLocks noChangeArrowheads="1"/>
          </p:cNvSpPr>
          <p:nvPr/>
        </p:nvSpPr>
        <p:spPr bwMode="auto">
          <a:xfrm>
            <a:off x="4940300" y="4408488"/>
            <a:ext cx="1503363" cy="420688"/>
          </a:xfrm>
          <a:prstGeom prst="rect">
            <a:avLst/>
          </a:prstGeom>
          <a:noFill/>
          <a:ln>
            <a:noFill/>
          </a:ln>
          <a:effectLst/>
        </p:spPr>
        <p:txBody>
          <a:bodyPr lIns="92075" tIns="46038" rIns="92075" bIns="46038">
            <a:spAutoFit/>
          </a:bodyPr>
          <a:lstStyle>
            <a:lvl1pPr>
              <a:defRPr>
                <a:solidFill>
                  <a:schemeClr val="tx1"/>
                </a:solidFill>
                <a:latin typeface="Arial" panose="020B0604020202020204" pitchFamily="34" charset="0"/>
                <a:ea typeface="宋体" panose="02010600030101010101" pitchFamily="2" charset="-122"/>
              </a:defRPr>
            </a:lvl1pPr>
            <a:lvl2pPr marL="922655">
              <a:defRPr>
                <a:solidFill>
                  <a:schemeClr val="tx1"/>
                </a:solidFill>
                <a:latin typeface="Arial" panose="020B0604020202020204" pitchFamily="34" charset="0"/>
                <a:ea typeface="宋体" panose="02010600030101010101" pitchFamily="2" charset="-122"/>
              </a:defRPr>
            </a:lvl2pPr>
            <a:lvl3pPr marL="1101725">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90000"/>
              </a:lnSpc>
              <a:spcBef>
                <a:spcPct val="15000"/>
              </a:spcBef>
              <a:spcAft>
                <a:spcPct val="0"/>
              </a:spcAft>
              <a:buClrTx/>
              <a:buSzTx/>
              <a:buFontTx/>
              <a:buNone/>
              <a:defRPr/>
            </a:pPr>
            <a:r>
              <a:rPr kumimoji="1" lang="en-US" altLang="zh-CN" sz="2400" b="1" i="0" u="none" strike="noStrike" kern="1200" cap="none" spc="0" normalizeH="0" baseline="0" noProof="0">
                <a:ln>
                  <a:noFill/>
                </a:ln>
                <a:solidFill>
                  <a:srgbClr val="000099"/>
                </a:solidFill>
                <a:effectLst>
                  <a:outerShdw blurRad="38100" dist="38100" dir="2700000" algn="tl">
                    <a:srgbClr val="C0C0C0"/>
                  </a:outerShdw>
                </a:effectLst>
                <a:uLnTx/>
                <a:uFillTx/>
                <a:latin typeface="Comic Sans MS" panose="030F0702030302020204" pitchFamily="66" charset="0"/>
                <a:ea typeface="黑体" panose="02010609060101010101" pitchFamily="49" charset="-122"/>
                <a:cs typeface="+mn-cs"/>
              </a:rPr>
              <a:t>0x1000</a:t>
            </a:r>
            <a:endParaRPr kumimoji="1" lang="en-US" altLang="zh-CN" sz="2400" b="1" i="0" u="none" strike="noStrike" kern="1200" cap="none" spc="0" normalizeH="0" baseline="0" noProof="0">
              <a:ln>
                <a:noFill/>
              </a:ln>
              <a:solidFill>
                <a:srgbClr val="000099"/>
              </a:solidFill>
              <a:effectLst>
                <a:outerShdw blurRad="38100" dist="38100" dir="2700000" algn="tl">
                  <a:srgbClr val="C0C0C0"/>
                </a:outerShdw>
              </a:effectLst>
              <a:uLnTx/>
              <a:uFillTx/>
              <a:latin typeface="Comic Sans MS" panose="030F0702030302020204" pitchFamily="66" charset="0"/>
              <a:ea typeface="黑体" panose="02010609060101010101" pitchFamily="49" charset="-122"/>
              <a:cs typeface="+mn-cs"/>
            </a:endParaRPr>
          </a:p>
        </p:txBody>
      </p:sp>
      <p:sp>
        <p:nvSpPr>
          <p:cNvPr id="197660" name="Text Box 28"/>
          <p:cNvSpPr txBox="1">
            <a:spLocks noChangeArrowheads="1"/>
          </p:cNvSpPr>
          <p:nvPr/>
        </p:nvSpPr>
        <p:spPr bwMode="auto">
          <a:xfrm>
            <a:off x="1181100" y="3786188"/>
            <a:ext cx="1503363" cy="420688"/>
          </a:xfrm>
          <a:prstGeom prst="rect">
            <a:avLst/>
          </a:prstGeom>
          <a:noFill/>
          <a:ln>
            <a:noFill/>
          </a:ln>
          <a:effectLst/>
        </p:spPr>
        <p:txBody>
          <a:bodyPr lIns="92075" tIns="46038" rIns="92075" bIns="46038">
            <a:spAutoFit/>
          </a:bodyPr>
          <a:lstStyle>
            <a:lvl1pPr>
              <a:defRPr>
                <a:solidFill>
                  <a:schemeClr val="tx1"/>
                </a:solidFill>
                <a:latin typeface="Arial" panose="020B0604020202020204" pitchFamily="34" charset="0"/>
                <a:ea typeface="宋体" panose="02010600030101010101" pitchFamily="2" charset="-122"/>
              </a:defRPr>
            </a:lvl1pPr>
            <a:lvl2pPr marL="922655">
              <a:defRPr>
                <a:solidFill>
                  <a:schemeClr val="tx1"/>
                </a:solidFill>
                <a:latin typeface="Arial" panose="020B0604020202020204" pitchFamily="34" charset="0"/>
                <a:ea typeface="宋体" panose="02010600030101010101" pitchFamily="2" charset="-122"/>
              </a:defRPr>
            </a:lvl2pPr>
            <a:lvl3pPr marL="1101725">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90000"/>
              </a:lnSpc>
              <a:spcBef>
                <a:spcPct val="15000"/>
              </a:spcBef>
              <a:spcAft>
                <a:spcPct val="0"/>
              </a:spcAft>
              <a:buClrTx/>
              <a:buSzTx/>
              <a:buFontTx/>
              <a:buNone/>
              <a:defRPr/>
            </a:pPr>
            <a:r>
              <a:rPr kumimoji="1" lang="en-US" altLang="zh-CN" sz="2400" b="1" i="0" u="none" strike="noStrike" kern="1200" cap="none" spc="0" normalizeH="0" baseline="0" noProof="0">
                <a:ln>
                  <a:noFill/>
                </a:ln>
                <a:solidFill>
                  <a:srgbClr val="000099"/>
                </a:solidFill>
                <a:effectLst>
                  <a:outerShdw blurRad="38100" dist="38100" dir="2700000" algn="tl">
                    <a:srgbClr val="C0C0C0"/>
                  </a:outerShdw>
                </a:effectLst>
                <a:uLnTx/>
                <a:uFillTx/>
                <a:latin typeface="Comic Sans MS" panose="030F0702030302020204" pitchFamily="66" charset="0"/>
                <a:ea typeface="黑体" panose="02010609060101010101" pitchFamily="49" charset="-122"/>
                <a:cs typeface="+mn-cs"/>
              </a:rPr>
              <a:t>0x1001</a:t>
            </a:r>
            <a:endParaRPr kumimoji="1" lang="en-US" altLang="zh-CN" sz="2400" b="1" i="0" u="none" strike="noStrike" kern="1200" cap="none" spc="0" normalizeH="0" baseline="0" noProof="0">
              <a:ln>
                <a:noFill/>
              </a:ln>
              <a:solidFill>
                <a:srgbClr val="000099"/>
              </a:solidFill>
              <a:effectLst>
                <a:outerShdw blurRad="38100" dist="38100" dir="2700000" algn="tl">
                  <a:srgbClr val="C0C0C0"/>
                </a:outerShdw>
              </a:effectLst>
              <a:uLnTx/>
              <a:uFillTx/>
              <a:latin typeface="Comic Sans MS" panose="030F0702030302020204" pitchFamily="66" charset="0"/>
              <a:ea typeface="黑体" panose="02010609060101010101" pitchFamily="49" charset="-122"/>
              <a:cs typeface="+mn-cs"/>
            </a:endParaRPr>
          </a:p>
        </p:txBody>
      </p:sp>
      <p:sp>
        <p:nvSpPr>
          <p:cNvPr id="197661" name="Text Box 29"/>
          <p:cNvSpPr txBox="1">
            <a:spLocks noChangeArrowheads="1"/>
          </p:cNvSpPr>
          <p:nvPr/>
        </p:nvSpPr>
        <p:spPr bwMode="auto">
          <a:xfrm>
            <a:off x="4927600" y="3824288"/>
            <a:ext cx="1503363" cy="420688"/>
          </a:xfrm>
          <a:prstGeom prst="rect">
            <a:avLst/>
          </a:prstGeom>
          <a:noFill/>
          <a:ln>
            <a:noFill/>
          </a:ln>
          <a:effectLst/>
        </p:spPr>
        <p:txBody>
          <a:bodyPr lIns="92075" tIns="46038" rIns="92075" bIns="46038">
            <a:spAutoFit/>
          </a:bodyPr>
          <a:lstStyle>
            <a:lvl1pPr>
              <a:defRPr>
                <a:solidFill>
                  <a:schemeClr val="tx1"/>
                </a:solidFill>
                <a:latin typeface="Arial" panose="020B0604020202020204" pitchFamily="34" charset="0"/>
                <a:ea typeface="宋体" panose="02010600030101010101" pitchFamily="2" charset="-122"/>
              </a:defRPr>
            </a:lvl1pPr>
            <a:lvl2pPr marL="922655">
              <a:defRPr>
                <a:solidFill>
                  <a:schemeClr val="tx1"/>
                </a:solidFill>
                <a:latin typeface="Arial" panose="020B0604020202020204" pitchFamily="34" charset="0"/>
                <a:ea typeface="宋体" panose="02010600030101010101" pitchFamily="2" charset="-122"/>
              </a:defRPr>
            </a:lvl2pPr>
            <a:lvl3pPr marL="1101725">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90000"/>
              </a:lnSpc>
              <a:spcBef>
                <a:spcPct val="15000"/>
              </a:spcBef>
              <a:spcAft>
                <a:spcPct val="0"/>
              </a:spcAft>
              <a:buClrTx/>
              <a:buSzTx/>
              <a:buFontTx/>
              <a:buNone/>
              <a:defRPr/>
            </a:pPr>
            <a:r>
              <a:rPr kumimoji="1" lang="en-US" altLang="zh-CN" sz="2400" b="1" i="0" u="none" strike="noStrike" kern="1200" cap="none" spc="0" normalizeH="0" baseline="0" noProof="0">
                <a:ln>
                  <a:noFill/>
                </a:ln>
                <a:solidFill>
                  <a:srgbClr val="000099"/>
                </a:solidFill>
                <a:effectLst>
                  <a:outerShdw blurRad="38100" dist="38100" dir="2700000" algn="tl">
                    <a:srgbClr val="C0C0C0"/>
                  </a:outerShdw>
                </a:effectLst>
                <a:uLnTx/>
                <a:uFillTx/>
                <a:latin typeface="Comic Sans MS" panose="030F0702030302020204" pitchFamily="66" charset="0"/>
                <a:ea typeface="黑体" panose="02010609060101010101" pitchFamily="49" charset="-122"/>
                <a:cs typeface="+mn-cs"/>
              </a:rPr>
              <a:t>0x1001</a:t>
            </a:r>
            <a:endParaRPr kumimoji="1" lang="en-US" altLang="zh-CN" sz="2400" b="1" i="0" u="none" strike="noStrike" kern="1200" cap="none" spc="0" normalizeH="0" baseline="0" noProof="0">
              <a:ln>
                <a:noFill/>
              </a:ln>
              <a:solidFill>
                <a:srgbClr val="000099"/>
              </a:solidFill>
              <a:effectLst>
                <a:outerShdw blurRad="38100" dist="38100" dir="2700000" algn="tl">
                  <a:srgbClr val="C0C0C0"/>
                </a:outerShdw>
              </a:effectLst>
              <a:uLnTx/>
              <a:uFillTx/>
              <a:latin typeface="Comic Sans MS" panose="030F0702030302020204" pitchFamily="66" charset="0"/>
              <a:ea typeface="黑体" panose="02010609060101010101" pitchFamily="49" charset="-122"/>
              <a:cs typeface="+mn-cs"/>
            </a:endParaRPr>
          </a:p>
        </p:txBody>
      </p:sp>
      <p:sp>
        <p:nvSpPr>
          <p:cNvPr id="197662" name="Text Box 30"/>
          <p:cNvSpPr txBox="1">
            <a:spLocks noChangeArrowheads="1"/>
          </p:cNvSpPr>
          <p:nvPr/>
        </p:nvSpPr>
        <p:spPr bwMode="auto">
          <a:xfrm>
            <a:off x="1727200" y="5072063"/>
            <a:ext cx="1716088" cy="420688"/>
          </a:xfrm>
          <a:prstGeom prst="rect">
            <a:avLst/>
          </a:prstGeom>
          <a:noFill/>
          <a:ln>
            <a:noFill/>
          </a:ln>
          <a:effectLst/>
        </p:spPr>
        <p:txBody>
          <a:bodyPr wrap="none" lIns="92075" tIns="46038" rIns="92075" bIns="46038">
            <a:spAutoFit/>
          </a:bodyPr>
          <a:lstStyle>
            <a:lvl1pPr marL="285750" indent="-28575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285750" marR="0" lvl="0" indent="-285750" algn="l" defTabSz="914400" rtl="0" eaLnBrk="1" fontAlgn="base" latinLnBrk="0" hangingPunct="1">
              <a:lnSpc>
                <a:spcPct val="90000"/>
              </a:lnSpc>
              <a:spcBef>
                <a:spcPct val="15000"/>
              </a:spcBef>
              <a:spcAft>
                <a:spcPct val="0"/>
              </a:spcAft>
              <a:buClrTx/>
              <a:buSzTx/>
              <a:buFontTx/>
              <a:buNone/>
              <a:defRPr/>
            </a:pPr>
            <a:r>
              <a:rPr kumimoji="1" lang="zh-CN" altLang="en-US" sz="2400" b="1" i="0" u="none" strike="noStrike" kern="1200" cap="none" spc="0" normalizeH="0" baseline="0" noProof="0">
                <a:ln>
                  <a:noFill/>
                </a:ln>
                <a:solidFill>
                  <a:srgbClr val="339933"/>
                </a:solidFill>
                <a:effectLst>
                  <a:outerShdw blurRad="38100" dist="38100" dir="2700000" algn="tl">
                    <a:srgbClr val="C0C0C0"/>
                  </a:outerShdw>
                </a:effectLst>
                <a:uLnTx/>
                <a:uFillTx/>
                <a:latin typeface="Comic Sans MS" panose="030F0702030302020204" pitchFamily="66" charset="0"/>
                <a:ea typeface="黑体" panose="02010609060101010101" pitchFamily="49" charset="-122"/>
                <a:cs typeface="+mn-cs"/>
              </a:rPr>
              <a:t>小端字节序</a:t>
            </a:r>
            <a:endParaRPr kumimoji="1" lang="zh-CN" altLang="en-US" sz="2400" b="1" i="0" u="none" strike="noStrike" kern="1200" cap="none" spc="0" normalizeH="0" baseline="0" noProof="0">
              <a:ln>
                <a:noFill/>
              </a:ln>
              <a:solidFill>
                <a:srgbClr val="339933"/>
              </a:solidFill>
              <a:effectLst>
                <a:outerShdw blurRad="38100" dist="38100" dir="2700000" algn="tl">
                  <a:srgbClr val="C0C0C0"/>
                </a:outerShdw>
              </a:effectLst>
              <a:uLnTx/>
              <a:uFillTx/>
              <a:latin typeface="Comic Sans MS" panose="030F0702030302020204" pitchFamily="66" charset="0"/>
              <a:ea typeface="黑体" panose="02010609060101010101" pitchFamily="49" charset="-122"/>
              <a:cs typeface="+mn-cs"/>
            </a:endParaRPr>
          </a:p>
        </p:txBody>
      </p:sp>
      <p:sp>
        <p:nvSpPr>
          <p:cNvPr id="197663" name="Text Box 31"/>
          <p:cNvSpPr txBox="1">
            <a:spLocks noChangeArrowheads="1"/>
          </p:cNvSpPr>
          <p:nvPr/>
        </p:nvSpPr>
        <p:spPr bwMode="auto">
          <a:xfrm>
            <a:off x="5308600" y="5084763"/>
            <a:ext cx="1716088" cy="420688"/>
          </a:xfrm>
          <a:prstGeom prst="rect">
            <a:avLst/>
          </a:prstGeom>
          <a:noFill/>
          <a:ln>
            <a:noFill/>
          </a:ln>
          <a:effectLst/>
        </p:spPr>
        <p:txBody>
          <a:bodyPr wrap="none" lIns="92075" tIns="46038" rIns="92075" bIns="46038">
            <a:spAutoFit/>
          </a:bodyPr>
          <a:lstStyle>
            <a:lvl1pPr marL="285750" indent="-28575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285750" marR="0" lvl="0" indent="-285750" algn="l" defTabSz="914400" rtl="0" eaLnBrk="1" fontAlgn="base" latinLnBrk="0" hangingPunct="1">
              <a:lnSpc>
                <a:spcPct val="90000"/>
              </a:lnSpc>
              <a:spcBef>
                <a:spcPct val="15000"/>
              </a:spcBef>
              <a:spcAft>
                <a:spcPct val="0"/>
              </a:spcAft>
              <a:buClrTx/>
              <a:buSzTx/>
              <a:buFontTx/>
              <a:buNone/>
              <a:defRPr/>
            </a:pPr>
            <a:r>
              <a:rPr kumimoji="1" lang="zh-CN" altLang="en-US" sz="2400" b="1" i="0" u="none" strike="noStrike" kern="1200" cap="none" spc="0" normalizeH="0" baseline="0" noProof="0">
                <a:ln>
                  <a:noFill/>
                </a:ln>
                <a:solidFill>
                  <a:srgbClr val="339933"/>
                </a:solidFill>
                <a:effectLst>
                  <a:outerShdw blurRad="38100" dist="38100" dir="2700000" algn="tl">
                    <a:srgbClr val="C0C0C0"/>
                  </a:outerShdw>
                </a:effectLst>
                <a:uLnTx/>
                <a:uFillTx/>
                <a:latin typeface="Comic Sans MS" panose="030F0702030302020204" pitchFamily="66" charset="0"/>
                <a:ea typeface="黑体" panose="02010609060101010101" pitchFamily="49" charset="-122"/>
                <a:cs typeface="+mn-cs"/>
              </a:rPr>
              <a:t>大端字节序</a:t>
            </a:r>
            <a:endParaRPr kumimoji="1" lang="zh-CN" altLang="en-US" sz="2400" b="1" i="0" u="none" strike="noStrike" kern="1200" cap="none" spc="0" normalizeH="0" baseline="0" noProof="0">
              <a:ln>
                <a:noFill/>
              </a:ln>
              <a:solidFill>
                <a:srgbClr val="339933"/>
              </a:solidFill>
              <a:effectLst>
                <a:outerShdw blurRad="38100" dist="38100" dir="2700000" algn="tl">
                  <a:srgbClr val="C0C0C0"/>
                </a:outerShdw>
              </a:effectLst>
              <a:uLnTx/>
              <a:uFillTx/>
              <a:latin typeface="Comic Sans MS" panose="030F0702030302020204" pitchFamily="66" charset="0"/>
              <a:ea typeface="黑体" panose="02010609060101010101" pitchFamily="49" charset="-122"/>
              <a:cs typeface="+mn-cs"/>
            </a:endParaRPr>
          </a:p>
        </p:txBody>
      </p:sp>
      <p:sp>
        <p:nvSpPr>
          <p:cNvPr id="34830" name="Text Box 32"/>
          <p:cNvSpPr txBox="1"/>
          <p:nvPr/>
        </p:nvSpPr>
        <p:spPr>
          <a:xfrm>
            <a:off x="800100" y="5783263"/>
            <a:ext cx="8070850" cy="915987"/>
          </a:xfrm>
          <a:prstGeom prst="rect">
            <a:avLst/>
          </a:prstGeom>
          <a:noFill/>
          <a:ln w="9525">
            <a:noFill/>
          </a:ln>
        </p:spPr>
        <p:txBody>
          <a:bodyPr lIns="92075" tIns="46038" rIns="92075" bIns="46038">
            <a:spAutoFit/>
          </a:bodyPr>
          <a:p>
            <a:pPr eaLnBrk="1" hangingPunct="1">
              <a:lnSpc>
                <a:spcPct val="90000"/>
              </a:lnSpc>
              <a:spcBef>
                <a:spcPct val="15000"/>
              </a:spcBef>
              <a:buNone/>
            </a:pPr>
            <a:r>
              <a:rPr lang="zh-CN" altLang="en-US" sz="2000" dirty="0">
                <a:solidFill>
                  <a:srgbClr val="339933"/>
                </a:solidFill>
                <a:latin typeface="Comic Sans MS" panose="030F0702030302020204" pitchFamily="66" charset="0"/>
                <a:ea typeface="黑体" panose="02010609060101010101" pitchFamily="49" charset="-122"/>
              </a:rPr>
              <a:t>网络协议中的数据采用统一的网络字节顺序，因为只有采用统一的字节顺序，才能在不同类型的硬件设备之间正确的发送和接收数据。</a:t>
            </a:r>
            <a:r>
              <a:rPr lang="zh-CN" altLang="en-US" sz="2000" dirty="0">
                <a:solidFill>
                  <a:srgbClr val="CC3300"/>
                </a:solidFill>
                <a:latin typeface="Comic Sans MS" panose="030F0702030302020204" pitchFamily="66" charset="0"/>
                <a:ea typeface="黑体" panose="02010609060101010101" pitchFamily="49" charset="-122"/>
              </a:rPr>
              <a:t>广域网规定的网络字节顺序采用大端字节顺序方式。</a:t>
            </a:r>
            <a:endParaRPr lang="zh-CN" altLang="en-US" sz="2000" dirty="0">
              <a:solidFill>
                <a:srgbClr val="CC3300"/>
              </a:solidFill>
              <a:latin typeface="Comic Sans MS" panose="030F0702030302020204" pitchFamily="66" charset="0"/>
              <a:ea typeface="黑体" panose="02010609060101010101"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97655">
                                            <p:txEl>
                                              <p:charRg st="0" end="3"/>
                                            </p:txEl>
                                          </p:spTgt>
                                        </p:tgtEl>
                                        <p:attrNameLst>
                                          <p:attrName>style.visibility</p:attrName>
                                        </p:attrNameLst>
                                      </p:cBhvr>
                                      <p:to>
                                        <p:strVal val="visible"/>
                                      </p:to>
                                    </p:set>
                                    <p:animEffect transition="in" filter="blinds(horizontal)">
                                      <p:cBhvr>
                                        <p:cTn id="7" dur="500"/>
                                        <p:tgtEl>
                                          <p:spTgt spid="197655">
                                            <p:txEl>
                                              <p:charRg st="0"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97654">
                                            <p:txEl>
                                              <p:charRg st="0" end="3"/>
                                            </p:txEl>
                                          </p:spTgt>
                                        </p:tgtEl>
                                        <p:attrNameLst>
                                          <p:attrName>style.visibility</p:attrName>
                                        </p:attrNameLst>
                                      </p:cBhvr>
                                      <p:to>
                                        <p:strVal val="visible"/>
                                      </p:to>
                                    </p:set>
                                    <p:animEffect transition="in" filter="blinds(horizontal)">
                                      <p:cBhvr>
                                        <p:cTn id="12" dur="500"/>
                                        <p:tgtEl>
                                          <p:spTgt spid="197654">
                                            <p:txEl>
                                              <p:charRg st="0"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97656">
                                            <p:txEl>
                                              <p:charRg st="0" end="3"/>
                                            </p:txEl>
                                          </p:spTgt>
                                        </p:tgtEl>
                                        <p:attrNameLst>
                                          <p:attrName>style.visibility</p:attrName>
                                        </p:attrNameLst>
                                      </p:cBhvr>
                                      <p:to>
                                        <p:strVal val="visible"/>
                                      </p:to>
                                    </p:set>
                                    <p:animEffect transition="in" filter="blinds(horizontal)">
                                      <p:cBhvr>
                                        <p:cTn id="17" dur="500"/>
                                        <p:tgtEl>
                                          <p:spTgt spid="197656">
                                            <p:txEl>
                                              <p:charRg st="0"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97657">
                                            <p:txEl>
                                              <p:charRg st="0" end="3"/>
                                            </p:txEl>
                                          </p:spTgt>
                                        </p:tgtEl>
                                        <p:attrNameLst>
                                          <p:attrName>style.visibility</p:attrName>
                                        </p:attrNameLst>
                                      </p:cBhvr>
                                      <p:to>
                                        <p:strVal val="visible"/>
                                      </p:to>
                                    </p:set>
                                    <p:animEffect transition="in" filter="blinds(horizontal)">
                                      <p:cBhvr>
                                        <p:cTn id="22" dur="500"/>
                                        <p:tgtEl>
                                          <p:spTgt spid="197657">
                                            <p:txEl>
                                              <p:charRg st="0"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97662"/>
                                        </p:tgtEl>
                                        <p:attrNameLst>
                                          <p:attrName>style.visibility</p:attrName>
                                        </p:attrNameLst>
                                      </p:cBhvr>
                                      <p:to>
                                        <p:strVal val="visible"/>
                                      </p:to>
                                    </p:set>
                                    <p:animEffect transition="in" filter="blinds(horizontal)">
                                      <p:cBhvr>
                                        <p:cTn id="27" dur="500"/>
                                        <p:tgtEl>
                                          <p:spTgt spid="197662"/>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97663"/>
                                        </p:tgtEl>
                                        <p:attrNameLst>
                                          <p:attrName>style.visibility</p:attrName>
                                        </p:attrNameLst>
                                      </p:cBhvr>
                                      <p:to>
                                        <p:strVal val="visible"/>
                                      </p:to>
                                    </p:set>
                                    <p:animEffect transition="in" filter="blinds(horizontal)">
                                      <p:cBhvr>
                                        <p:cTn id="32" dur="500"/>
                                        <p:tgtEl>
                                          <p:spTgt spid="1976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7662" grpId="0"/>
      <p:bldP spid="19766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Rectangle 2"/>
          <p:cNvSpPr>
            <a:spLocks noGrp="1"/>
          </p:cNvSpPr>
          <p:nvPr>
            <p:ph type="title"/>
          </p:nvPr>
        </p:nvSpPr>
        <p:spPr>
          <a:xfrm>
            <a:off x="827088" y="692150"/>
            <a:ext cx="7793037" cy="485775"/>
          </a:xfrm>
        </p:spPr>
        <p:txBody>
          <a:bodyPr vert="horz" wrap="square" lIns="91440" tIns="45720" rIns="91440" bIns="45720" anchor="b" anchorCtr="0"/>
          <a:p>
            <a:pPr eaLnBrk="1" hangingPunct="1"/>
            <a:r>
              <a:rPr lang="zh-CN" altLang="en-US" dirty="0"/>
              <a:t>字节排序函数</a:t>
            </a:r>
            <a:endParaRPr lang="zh-CN" altLang="en-US" dirty="0"/>
          </a:p>
        </p:txBody>
      </p:sp>
      <p:pic>
        <p:nvPicPr>
          <p:cNvPr id="36867" name="图片 2"/>
          <p:cNvPicPr>
            <a:picLocks noChangeAspect="1"/>
          </p:cNvPicPr>
          <p:nvPr/>
        </p:nvPicPr>
        <p:blipFill>
          <a:blip r:embed="rId1"/>
          <a:stretch>
            <a:fillRect/>
          </a:stretch>
        </p:blipFill>
        <p:spPr>
          <a:xfrm>
            <a:off x="1101725" y="1700213"/>
            <a:ext cx="6940550" cy="4968875"/>
          </a:xfrm>
          <a:prstGeom prst="rect">
            <a:avLst/>
          </a:prstGeom>
          <a:noFill/>
          <a:ln w="9525">
            <a:noFill/>
          </a:ln>
        </p:spPr>
      </p:pic>
      <p:pic>
        <p:nvPicPr>
          <p:cNvPr id="4" name="图片 3"/>
          <p:cNvPicPr>
            <a:picLocks noChangeAspect="1"/>
          </p:cNvPicPr>
          <p:nvPr/>
        </p:nvPicPr>
        <p:blipFill>
          <a:blip r:embed="rId2"/>
          <a:stretch>
            <a:fillRect/>
          </a:stretch>
        </p:blipFill>
        <p:spPr>
          <a:xfrm>
            <a:off x="4140200" y="1628775"/>
            <a:ext cx="4343400" cy="1165225"/>
          </a:xfrm>
          <a:prstGeom prst="rect">
            <a:avLst/>
          </a:prstGeom>
          <a:noFill/>
          <a:ln w="9525">
            <a:noFill/>
          </a:ln>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Rectangle 2"/>
          <p:cNvSpPr>
            <a:spLocks noGrp="1"/>
          </p:cNvSpPr>
          <p:nvPr>
            <p:ph type="title"/>
          </p:nvPr>
        </p:nvSpPr>
        <p:spPr>
          <a:xfrm>
            <a:off x="1116013" y="333375"/>
            <a:ext cx="7092950" cy="911225"/>
          </a:xfrm>
        </p:spPr>
        <p:txBody>
          <a:bodyPr vert="horz" wrap="square" lIns="91440" tIns="45720" rIns="91440" bIns="45720" anchor="b" anchorCtr="0"/>
          <a:p>
            <a:pPr eaLnBrk="1" hangingPunct="1"/>
            <a:r>
              <a:rPr lang="zh-CN" altLang="en-US" dirty="0"/>
              <a:t>字节排序函数（</a:t>
            </a:r>
            <a:r>
              <a:rPr lang="en-US" altLang="zh-CN" dirty="0"/>
              <a:t>cont.</a:t>
            </a:r>
            <a:r>
              <a:rPr lang="zh-CN" altLang="en-US" dirty="0"/>
              <a:t>）</a:t>
            </a:r>
            <a:endParaRPr lang="zh-CN" altLang="en-US" dirty="0"/>
          </a:p>
        </p:txBody>
      </p:sp>
      <p:sp>
        <p:nvSpPr>
          <p:cNvPr id="198659" name="Rectangle 3"/>
          <p:cNvSpPr>
            <a:spLocks noGrp="1"/>
          </p:cNvSpPr>
          <p:nvPr>
            <p:ph idx="1"/>
          </p:nvPr>
        </p:nvSpPr>
        <p:spPr>
          <a:xfrm>
            <a:off x="971550" y="1628775"/>
            <a:ext cx="7772400" cy="4895850"/>
          </a:xfrm>
        </p:spPr>
        <p:txBody>
          <a:bodyPr vert="horz" wrap="square" lIns="91440" tIns="45720" rIns="91440" bIns="45720" anchor="t" anchorCtr="0"/>
          <a:p>
            <a:pPr eaLnBrk="1" hangingPunct="1"/>
            <a:r>
              <a:rPr lang="zh-CN" altLang="en-US" sz="2800" dirty="0"/>
              <a:t>系统提供</a:t>
            </a:r>
            <a:r>
              <a:rPr lang="en-US" altLang="zh-CN" sz="2800" dirty="0"/>
              <a:t>4</a:t>
            </a:r>
            <a:r>
              <a:rPr lang="zh-CN" altLang="en-US" sz="2800" dirty="0"/>
              <a:t>个函数来进行字节顺序转换：</a:t>
            </a:r>
            <a:endParaRPr lang="zh-CN" altLang="en-US" sz="2800" dirty="0"/>
          </a:p>
          <a:p>
            <a:pPr lvl="1" eaLnBrk="1" hangingPunct="1">
              <a:buNone/>
            </a:pPr>
            <a:r>
              <a:rPr lang="en-US" altLang="zh-CN" sz="2000" b="1" dirty="0"/>
              <a:t>#include </a:t>
            </a:r>
            <a:r>
              <a:rPr lang="en-US" altLang="zh-CN" sz="2000" b="1" dirty="0">
                <a:latin typeface="Arial" panose="020B0604020202020204" pitchFamily="34" charset="0"/>
              </a:rPr>
              <a:t>“</a:t>
            </a:r>
            <a:r>
              <a:rPr lang="en-US" altLang="zh-CN" sz="2000" b="1" dirty="0"/>
              <a:t>netinet/in.h</a:t>
            </a:r>
            <a:r>
              <a:rPr lang="en-US" altLang="zh-CN" sz="2000" b="1" dirty="0">
                <a:latin typeface="Arial" panose="020B0604020202020204" pitchFamily="34" charset="0"/>
              </a:rPr>
              <a:t>”</a:t>
            </a:r>
            <a:endParaRPr lang="en-US" altLang="zh-CN" sz="2000" b="1" dirty="0"/>
          </a:p>
          <a:p>
            <a:pPr lvl="1" eaLnBrk="1" hangingPunct="1">
              <a:buNone/>
            </a:pPr>
            <a:r>
              <a:rPr lang="en-US" altLang="zh-CN" sz="2000" b="1" dirty="0">
                <a:solidFill>
                  <a:srgbClr val="00B050"/>
                </a:solidFill>
              </a:rPr>
              <a:t>unsigned short int htons(unsigned short int </a:t>
            </a:r>
            <a:r>
              <a:rPr lang="en-US" altLang="zh-CN" sz="2000" b="1" i="1" dirty="0">
                <a:solidFill>
                  <a:srgbClr val="00B050"/>
                </a:solidFill>
              </a:rPr>
              <a:t>hostshort</a:t>
            </a:r>
            <a:r>
              <a:rPr lang="en-US" altLang="zh-CN" sz="2000" b="1" dirty="0">
                <a:solidFill>
                  <a:srgbClr val="00B050"/>
                </a:solidFill>
              </a:rPr>
              <a:t>); </a:t>
            </a:r>
            <a:endParaRPr lang="en-US" altLang="zh-CN" sz="2000" b="1" dirty="0">
              <a:solidFill>
                <a:srgbClr val="00B050"/>
              </a:solidFill>
            </a:endParaRPr>
          </a:p>
          <a:p>
            <a:pPr lvl="1" eaLnBrk="1" hangingPunct="1">
              <a:buNone/>
            </a:pPr>
            <a:r>
              <a:rPr lang="en-US" altLang="zh-CN" sz="2000" b="1" dirty="0">
                <a:solidFill>
                  <a:srgbClr val="00B050"/>
                </a:solidFill>
              </a:rPr>
              <a:t>unsigned long int htonl(unsigned long int </a:t>
            </a:r>
            <a:r>
              <a:rPr lang="en-US" altLang="zh-CN" sz="2000" b="1" i="1" dirty="0">
                <a:solidFill>
                  <a:srgbClr val="00B050"/>
                </a:solidFill>
              </a:rPr>
              <a:t>hostlong</a:t>
            </a:r>
            <a:r>
              <a:rPr lang="en-US" altLang="zh-CN" sz="2000" b="1" dirty="0">
                <a:solidFill>
                  <a:srgbClr val="00B050"/>
                </a:solidFill>
              </a:rPr>
              <a:t>);</a:t>
            </a:r>
            <a:endParaRPr lang="en-US" altLang="zh-CN" sz="2000" b="1" dirty="0">
              <a:solidFill>
                <a:srgbClr val="00B050"/>
              </a:solidFill>
            </a:endParaRPr>
          </a:p>
          <a:p>
            <a:pPr lvl="1" eaLnBrk="1" hangingPunct="1">
              <a:buNone/>
            </a:pPr>
            <a:r>
              <a:rPr lang="en-US" altLang="zh-CN" sz="2000" b="1" dirty="0"/>
              <a:t>unsigned short int ntohs(unsigned short int </a:t>
            </a:r>
            <a:r>
              <a:rPr lang="en-US" altLang="zh-CN" sz="2000" b="1" i="1" dirty="0"/>
              <a:t>netshort</a:t>
            </a:r>
            <a:r>
              <a:rPr lang="en-US" altLang="zh-CN" sz="2000" b="1" dirty="0"/>
              <a:t>);</a:t>
            </a:r>
            <a:endParaRPr lang="en-US" altLang="zh-CN" sz="2000" b="1" dirty="0"/>
          </a:p>
          <a:p>
            <a:pPr lvl="1" eaLnBrk="1" hangingPunct="1">
              <a:buNone/>
            </a:pPr>
            <a:r>
              <a:rPr lang="en-US" altLang="zh-CN" sz="2000" b="1" dirty="0"/>
              <a:t>unsigned long int ntohl(unsigned long int </a:t>
            </a:r>
            <a:r>
              <a:rPr lang="en-US" altLang="zh-CN" sz="2000" b="1" i="1" dirty="0"/>
              <a:t>netlong</a:t>
            </a:r>
            <a:r>
              <a:rPr lang="en-US" altLang="zh-CN" sz="2000" b="1" dirty="0"/>
              <a:t>);</a:t>
            </a:r>
            <a:endParaRPr lang="en-US" altLang="zh-CN" sz="2000" b="1" dirty="0"/>
          </a:p>
          <a:p>
            <a:pPr lvl="1" eaLnBrk="1" hangingPunct="1">
              <a:lnSpc>
                <a:spcPct val="120000"/>
              </a:lnSpc>
              <a:buNone/>
            </a:pPr>
            <a:r>
              <a:rPr lang="en-US" altLang="zh-CN" sz="2000" dirty="0"/>
              <a:t>h:</a:t>
            </a:r>
            <a:r>
              <a:rPr lang="zh-CN" altLang="en-US" sz="2000" dirty="0"/>
              <a:t>主机  </a:t>
            </a:r>
            <a:r>
              <a:rPr lang="en-US" altLang="zh-CN" sz="2000" dirty="0"/>
              <a:t>n:</a:t>
            </a:r>
            <a:r>
              <a:rPr lang="zh-CN" altLang="en-US" sz="2000" dirty="0"/>
              <a:t>网络  </a:t>
            </a:r>
            <a:r>
              <a:rPr lang="en-US" altLang="zh-CN" sz="2000" dirty="0"/>
              <a:t>s:</a:t>
            </a:r>
            <a:r>
              <a:rPr lang="zh-CN" altLang="en-US" sz="2000" dirty="0"/>
              <a:t>短整数   </a:t>
            </a:r>
            <a:r>
              <a:rPr lang="en-US" altLang="zh-CN" sz="2000" dirty="0"/>
              <a:t>l:</a:t>
            </a:r>
            <a:r>
              <a:rPr lang="zh-CN" altLang="en-US" sz="2000" dirty="0"/>
              <a:t>长整数</a:t>
            </a:r>
            <a:endParaRPr lang="zh-CN" altLang="en-US" sz="2000" b="1" dirty="0"/>
          </a:p>
          <a:p>
            <a:pPr lvl="1" eaLnBrk="1" hangingPunct="1">
              <a:lnSpc>
                <a:spcPct val="120000"/>
              </a:lnSpc>
              <a:buNone/>
            </a:pPr>
            <a:r>
              <a:rPr lang="zh-CN" altLang="en-US" sz="1800" b="1" dirty="0"/>
              <a:t>其中</a:t>
            </a:r>
            <a:r>
              <a:rPr lang="en-US" altLang="zh-CN" sz="1800" b="1" dirty="0"/>
              <a:t>:</a:t>
            </a:r>
            <a:r>
              <a:rPr lang="zh-CN" altLang="en-US" sz="1800" b="1" dirty="0"/>
              <a:t>前两个函数将主机字节顺序转换成网络字节顺序；后两个函数将网络字节顺序转换成主机字节顺序。</a:t>
            </a:r>
            <a:endParaRPr lang="zh-CN" altLang="en-US" sz="1800" b="1" dirty="0"/>
          </a:p>
          <a:p>
            <a:pPr lvl="1" eaLnBrk="1" hangingPunct="1">
              <a:lnSpc>
                <a:spcPct val="120000"/>
              </a:lnSpc>
              <a:buNone/>
            </a:pPr>
            <a:r>
              <a:rPr lang="zh-CN" altLang="en-US" sz="1800" b="1" dirty="0">
                <a:solidFill>
                  <a:schemeClr val="hlink"/>
                </a:solidFill>
              </a:rPr>
              <a:t>    </a:t>
            </a:r>
            <a:r>
              <a:rPr lang="zh-CN" altLang="en-US" sz="1800" b="1" dirty="0">
                <a:solidFill>
                  <a:schemeClr val="hlink"/>
                </a:solidFill>
                <a:latin typeface="微软雅黑" panose="020B0503020204020204" charset="-122"/>
                <a:ea typeface="微软雅黑" panose="020B0503020204020204" charset="-122"/>
              </a:rPr>
              <a:t>在使用这些函数时，我们不关心主机或网络顺序的真实值到底是大端还是小端，只需要调用适当的函数来对给定值（函数的整型参数）进行主机字节顺序和网络字节顺序的转换，它们的返回值就是经过转换以后的结果。</a:t>
            </a:r>
            <a:endParaRPr lang="zh-CN" altLang="en-US" sz="1800" b="1" dirty="0">
              <a:solidFill>
                <a:schemeClr val="hlink"/>
              </a:solidFill>
              <a:latin typeface="微软雅黑" panose="020B0503020204020204" charset="-122"/>
              <a:ea typeface="微软雅黑" panose="020B0503020204020204"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98659">
                                            <p:txEl>
                                              <p:charRg st="334" end="435"/>
                                            </p:txEl>
                                          </p:spTgt>
                                        </p:tgtEl>
                                        <p:attrNameLst>
                                          <p:attrName>style.visibility</p:attrName>
                                        </p:attrNameLst>
                                      </p:cBhvr>
                                      <p:to>
                                        <p:strVal val="visible"/>
                                      </p:to>
                                    </p:set>
                                    <p:animEffect transition="in" filter="blinds(horizontal)">
                                      <p:cBhvr>
                                        <p:cTn id="7" dur="500"/>
                                        <p:tgtEl>
                                          <p:spTgt spid="198659">
                                            <p:txEl>
                                              <p:charRg st="334" end="43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Rectangle 2"/>
          <p:cNvSpPr>
            <a:spLocks noGrp="1"/>
          </p:cNvSpPr>
          <p:nvPr>
            <p:ph type="title"/>
          </p:nvPr>
        </p:nvSpPr>
        <p:spPr>
          <a:xfrm>
            <a:off x="1116013" y="333375"/>
            <a:ext cx="7092950" cy="911225"/>
          </a:xfrm>
        </p:spPr>
        <p:txBody>
          <a:bodyPr vert="horz" wrap="square" lIns="91440" tIns="45720" rIns="91440" bIns="45720" anchor="b" anchorCtr="0"/>
          <a:p>
            <a:pPr eaLnBrk="1" hangingPunct="1"/>
            <a:r>
              <a:rPr lang="zh-CN" altLang="en-US" dirty="0"/>
              <a:t>字节排序函数（</a:t>
            </a:r>
            <a:r>
              <a:rPr lang="en-US" altLang="zh-CN" dirty="0"/>
              <a:t>cont.</a:t>
            </a:r>
            <a:r>
              <a:rPr lang="zh-CN" altLang="en-US" dirty="0"/>
              <a:t>）</a:t>
            </a:r>
            <a:endParaRPr lang="zh-CN" altLang="en-US" dirty="0"/>
          </a:p>
        </p:txBody>
      </p:sp>
      <p:sp>
        <p:nvSpPr>
          <p:cNvPr id="40963" name="Rectangle 3"/>
          <p:cNvSpPr>
            <a:spLocks noGrp="1"/>
          </p:cNvSpPr>
          <p:nvPr>
            <p:ph idx="1"/>
          </p:nvPr>
        </p:nvSpPr>
        <p:spPr>
          <a:xfrm>
            <a:off x="971550" y="1412875"/>
            <a:ext cx="7772400" cy="2736850"/>
          </a:xfrm>
        </p:spPr>
        <p:txBody>
          <a:bodyPr vert="horz" wrap="square" lIns="91440" tIns="45720" rIns="91440" bIns="45720" anchor="t" anchorCtr="0"/>
          <a:p>
            <a:pPr eaLnBrk="1" hangingPunct="1"/>
            <a:endParaRPr lang="zh-CN" altLang="en-US" sz="1800" b="1" u="sng" dirty="0">
              <a:solidFill>
                <a:schemeClr val="hlink"/>
              </a:solidFill>
            </a:endParaRPr>
          </a:p>
        </p:txBody>
      </p:sp>
      <p:pic>
        <p:nvPicPr>
          <p:cNvPr id="40964" name="图片 1"/>
          <p:cNvPicPr>
            <a:picLocks noChangeAspect="1"/>
          </p:cNvPicPr>
          <p:nvPr/>
        </p:nvPicPr>
        <p:blipFill>
          <a:blip r:embed="rId1"/>
          <a:stretch>
            <a:fillRect/>
          </a:stretch>
        </p:blipFill>
        <p:spPr>
          <a:xfrm>
            <a:off x="1116013" y="1484313"/>
            <a:ext cx="7092950" cy="2665412"/>
          </a:xfrm>
          <a:prstGeom prst="rect">
            <a:avLst/>
          </a:prstGeom>
          <a:noFill/>
          <a:ln w="9525">
            <a:noFill/>
          </a:ln>
        </p:spPr>
      </p:pic>
      <p:sp>
        <p:nvSpPr>
          <p:cNvPr id="40965" name="文本框 2"/>
          <p:cNvSpPr txBox="1"/>
          <p:nvPr/>
        </p:nvSpPr>
        <p:spPr>
          <a:xfrm>
            <a:off x="900113" y="4437063"/>
            <a:ext cx="5588000" cy="1200150"/>
          </a:xfrm>
          <a:prstGeom prst="rect">
            <a:avLst/>
          </a:prstGeom>
          <a:noFill/>
          <a:ln w="9525">
            <a:noFill/>
          </a:ln>
        </p:spPr>
        <p:txBody>
          <a:bodyPr wrap="none">
            <a:spAutoFit/>
          </a:bodyPr>
          <a:p>
            <a:pPr eaLnBrk="1" hangingPunct="1"/>
            <a:r>
              <a:rPr lang="en-US" altLang="zh-CN" dirty="0">
                <a:latin typeface="Tahoma" panose="020B0604030504040204" pitchFamily="34" charset="0"/>
              </a:rPr>
              <a:t>PORT = 6193 = 0x</a:t>
            </a:r>
            <a:r>
              <a:rPr lang="en-US" altLang="zh-CN" dirty="0">
                <a:solidFill>
                  <a:schemeClr val="accent1"/>
                </a:solidFill>
                <a:latin typeface="Tahoma" panose="020B0604030504040204" pitchFamily="34" charset="0"/>
              </a:rPr>
              <a:t>18</a:t>
            </a:r>
            <a:r>
              <a:rPr lang="en-US" altLang="zh-CN" dirty="0">
                <a:solidFill>
                  <a:srgbClr val="FF0000"/>
                </a:solidFill>
                <a:latin typeface="Tahoma" panose="020B0604030504040204" pitchFamily="34" charset="0"/>
              </a:rPr>
              <a:t>31</a:t>
            </a:r>
            <a:endParaRPr lang="en-US" altLang="zh-CN" dirty="0">
              <a:solidFill>
                <a:srgbClr val="FF0000"/>
              </a:solidFill>
              <a:latin typeface="Tahoma" panose="020B0604030504040204" pitchFamily="34" charset="0"/>
            </a:endParaRPr>
          </a:p>
          <a:p>
            <a:pPr eaLnBrk="1" hangingPunct="1"/>
            <a:r>
              <a:rPr lang="zh-CN" altLang="en-US" dirty="0">
                <a:latin typeface="Tahoma" panose="020B0604030504040204" pitchFamily="34" charset="0"/>
              </a:rPr>
              <a:t>网络序：</a:t>
            </a:r>
            <a:r>
              <a:rPr lang="en-US" altLang="zh-CN" dirty="0">
                <a:latin typeface="Tahoma" panose="020B0604030504040204" pitchFamily="34" charset="0"/>
              </a:rPr>
              <a:t>netPort = 12568 = 0x</a:t>
            </a:r>
            <a:r>
              <a:rPr lang="en-US" altLang="zh-CN" dirty="0">
                <a:solidFill>
                  <a:srgbClr val="FF0000"/>
                </a:solidFill>
                <a:latin typeface="Tahoma" panose="020B0604030504040204" pitchFamily="34" charset="0"/>
              </a:rPr>
              <a:t>31</a:t>
            </a:r>
            <a:r>
              <a:rPr lang="en-US" altLang="zh-CN" dirty="0">
                <a:solidFill>
                  <a:schemeClr val="accent1"/>
                </a:solidFill>
                <a:latin typeface="Tahoma" panose="020B0604030504040204" pitchFamily="34" charset="0"/>
              </a:rPr>
              <a:t>18</a:t>
            </a:r>
            <a:endParaRPr lang="en-US" altLang="zh-CN" dirty="0">
              <a:latin typeface="Tahoma" panose="020B0604030504040204" pitchFamily="34" charset="0"/>
            </a:endParaRPr>
          </a:p>
          <a:p>
            <a:pPr eaLnBrk="1" hangingPunct="1"/>
            <a:r>
              <a:rPr lang="zh-CN" altLang="en-US" dirty="0">
                <a:latin typeface="Tahoma" panose="020B0604030504040204" pitchFamily="34" charset="0"/>
              </a:rPr>
              <a:t>主机序：</a:t>
            </a:r>
            <a:r>
              <a:rPr lang="en-US" altLang="zh-CN" dirty="0">
                <a:latin typeface="Tahoma" panose="020B0604030504040204" pitchFamily="34" charset="0"/>
              </a:rPr>
              <a:t>hostPort = 0x</a:t>
            </a:r>
            <a:r>
              <a:rPr lang="en-US" altLang="zh-CN" dirty="0">
                <a:solidFill>
                  <a:schemeClr val="accent1"/>
                </a:solidFill>
                <a:latin typeface="Tahoma" panose="020B0604030504040204" pitchFamily="34" charset="0"/>
              </a:rPr>
              <a:t>18</a:t>
            </a:r>
            <a:r>
              <a:rPr lang="en-US" altLang="zh-CN" dirty="0">
                <a:solidFill>
                  <a:srgbClr val="FF0000"/>
                </a:solidFill>
                <a:latin typeface="Tahoma" panose="020B0604030504040204" pitchFamily="34" charset="0"/>
              </a:rPr>
              <a:t>31</a:t>
            </a:r>
            <a:r>
              <a:rPr lang="en-US" altLang="zh-CN" dirty="0">
                <a:latin typeface="Tahoma" panose="020B0604030504040204" pitchFamily="34" charset="0"/>
              </a:rPr>
              <a:t> = 6193</a:t>
            </a:r>
            <a:endParaRPr lang="zh-CN" altLang="en-US" dirty="0">
              <a:latin typeface="Tahoma" panose="020B0604030504040204" pitchFamily="34" charset="0"/>
            </a:endParaRPr>
          </a:p>
        </p:txBody>
      </p:sp>
    </p:spTree>
  </p:cSld>
  <p:clrMapOvr>
    <a:masterClrMapping/>
  </p:clrMapOvr>
  <p:transition>
    <p:rand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Rectangle 2"/>
          <p:cNvSpPr>
            <a:spLocks noGrp="1"/>
          </p:cNvSpPr>
          <p:nvPr>
            <p:ph type="title"/>
          </p:nvPr>
        </p:nvSpPr>
        <p:spPr>
          <a:xfrm>
            <a:off x="1116013" y="333375"/>
            <a:ext cx="7092950" cy="911225"/>
          </a:xfrm>
        </p:spPr>
        <p:txBody>
          <a:bodyPr vert="horz" wrap="square" lIns="91440" tIns="45720" rIns="91440" bIns="45720" anchor="b" anchorCtr="0"/>
          <a:p>
            <a:pPr eaLnBrk="1" hangingPunct="1"/>
            <a:r>
              <a:rPr lang="zh-CN" altLang="en-US" dirty="0"/>
              <a:t>字节排序函数（</a:t>
            </a:r>
            <a:r>
              <a:rPr lang="en-US" altLang="zh-CN" dirty="0"/>
              <a:t>cont.</a:t>
            </a:r>
            <a:r>
              <a:rPr lang="zh-CN" altLang="en-US" dirty="0"/>
              <a:t>）</a:t>
            </a:r>
            <a:endParaRPr lang="zh-CN" altLang="en-US" dirty="0"/>
          </a:p>
        </p:txBody>
      </p:sp>
      <p:sp>
        <p:nvSpPr>
          <p:cNvPr id="43011" name="Rectangle 3"/>
          <p:cNvSpPr>
            <a:spLocks noGrp="1"/>
          </p:cNvSpPr>
          <p:nvPr>
            <p:ph idx="1"/>
          </p:nvPr>
        </p:nvSpPr>
        <p:spPr>
          <a:xfrm>
            <a:off x="971550" y="1412875"/>
            <a:ext cx="7772400" cy="2736850"/>
          </a:xfrm>
        </p:spPr>
        <p:txBody>
          <a:bodyPr vert="horz" wrap="square" lIns="91440" tIns="45720" rIns="91440" bIns="45720" anchor="t" anchorCtr="0"/>
          <a:p>
            <a:pPr eaLnBrk="1" hangingPunct="1"/>
            <a:endParaRPr lang="zh-CN" altLang="en-US" sz="1800" b="1" u="sng" dirty="0">
              <a:solidFill>
                <a:schemeClr val="hlink"/>
              </a:solidFill>
            </a:endParaRPr>
          </a:p>
        </p:txBody>
      </p:sp>
      <p:sp>
        <p:nvSpPr>
          <p:cNvPr id="3" name="文本框 2"/>
          <p:cNvSpPr txBox="1"/>
          <p:nvPr/>
        </p:nvSpPr>
        <p:spPr>
          <a:xfrm>
            <a:off x="539750" y="4652963"/>
            <a:ext cx="8007350" cy="1754188"/>
          </a:xfrm>
          <a:prstGeom prst="rect">
            <a:avLst/>
          </a:prstGeom>
          <a:noFill/>
        </p:spPr>
        <p:txBody>
          <a:bodyPr wrap="none">
            <a:spAutoFit/>
          </a:bodyPr>
          <a:lstStyle/>
          <a:p>
            <a:pPr marR="0" defTabSz="914400" eaLnBrk="1" hangingPunct="1">
              <a:lnSpc>
                <a:spcPct val="150000"/>
              </a:lnSpc>
              <a:buClrTx/>
              <a:buSzTx/>
              <a:buFontTx/>
              <a:buNone/>
              <a:defRPr/>
            </a:pPr>
            <a:r>
              <a:rPr kumimoji="0" lang="zh-CN" altLang="en-US" kern="1200" cap="none" spc="0" normalizeH="0" baseline="0" noProof="0">
                <a:latin typeface="Tahoma" panose="020B0604030504040204" pitchFamily="34" charset="0"/>
                <a:ea typeface="宋体" panose="02010600030101010101" pitchFamily="2" charset="-122"/>
                <a:cs typeface="+mn-cs"/>
              </a:rPr>
              <a:t>小端序：</a:t>
            </a:r>
            <a:r>
              <a:rPr kumimoji="0" lang="en-US" altLang="zh-CN" kern="1200" cap="none" spc="0" normalizeH="0" baseline="0" noProof="0" err="1">
                <a:latin typeface="Tahoma" panose="020B0604030504040204" pitchFamily="34" charset="0"/>
                <a:ea typeface="宋体" panose="02010600030101010101" pitchFamily="2" charset="-122"/>
                <a:cs typeface="+mn-cs"/>
              </a:rPr>
              <a:t>ori_addr</a:t>
            </a:r>
            <a:r>
              <a:rPr kumimoji="0" lang="en-US" altLang="zh-CN" kern="1200" cap="none" spc="0" normalizeH="0" baseline="0" noProof="0">
                <a:latin typeface="Tahoma" panose="020B0604030504040204" pitchFamily="34" charset="0"/>
                <a:ea typeface="宋体" panose="02010600030101010101" pitchFamily="2" charset="-122"/>
                <a:cs typeface="+mn-cs"/>
              </a:rPr>
              <a:t> = 0x </a:t>
            </a:r>
            <a:r>
              <a:rPr kumimoji="0" lang="en-US" altLang="zh-CN" kern="1200" cap="none" spc="0" normalizeH="0" baseline="0" noProof="0">
                <a:solidFill>
                  <a:srgbClr val="FF0000"/>
                </a:solidFill>
                <a:latin typeface="Tahoma" panose="020B0604030504040204" pitchFamily="34" charset="0"/>
                <a:ea typeface="宋体" panose="02010600030101010101" pitchFamily="2" charset="-122"/>
                <a:cs typeface="+mn-cs"/>
              </a:rPr>
              <a:t>C0</a:t>
            </a:r>
            <a:r>
              <a:rPr kumimoji="0" lang="en-US" altLang="zh-CN" kern="1200" cap="none" spc="0" normalizeH="0" baseline="0" noProof="0">
                <a:solidFill>
                  <a:schemeClr val="tx2">
                    <a:lumMod val="60000"/>
                    <a:lumOff val="40000"/>
                  </a:schemeClr>
                </a:solidFill>
                <a:latin typeface="Tahoma" panose="020B0604030504040204" pitchFamily="34" charset="0"/>
                <a:ea typeface="宋体" panose="02010600030101010101" pitchFamily="2" charset="-122"/>
                <a:cs typeface="+mn-cs"/>
              </a:rPr>
              <a:t>A8 </a:t>
            </a:r>
            <a:r>
              <a:rPr kumimoji="0" lang="en-US" altLang="zh-CN" kern="1200" cap="none" spc="0" normalizeH="0" baseline="0" noProof="0">
                <a:solidFill>
                  <a:schemeClr val="accent6">
                    <a:lumMod val="50000"/>
                  </a:schemeClr>
                </a:solidFill>
                <a:latin typeface="Tahoma" panose="020B0604030504040204" pitchFamily="34" charset="0"/>
                <a:ea typeface="宋体" panose="02010600030101010101" pitchFamily="2" charset="-122"/>
                <a:cs typeface="+mn-cs"/>
              </a:rPr>
              <a:t>65</a:t>
            </a:r>
            <a:r>
              <a:rPr kumimoji="0" lang="en-US" altLang="zh-CN" kern="1200" cap="none" spc="0" normalizeH="0" baseline="0" noProof="0">
                <a:solidFill>
                  <a:srgbClr val="00B050"/>
                </a:solidFill>
                <a:latin typeface="Tahoma" panose="020B0604030504040204" pitchFamily="34" charset="0"/>
                <a:ea typeface="宋体" panose="02010600030101010101" pitchFamily="2" charset="-122"/>
                <a:cs typeface="+mn-cs"/>
              </a:rPr>
              <a:t>42</a:t>
            </a:r>
            <a:r>
              <a:rPr kumimoji="0" lang="en-US" altLang="zh-CN" kern="1200" cap="none" spc="0" normalizeH="0" baseline="0" noProof="0">
                <a:latin typeface="Tahoma" panose="020B0604030504040204" pitchFamily="34" charset="0"/>
                <a:ea typeface="宋体" panose="02010600030101010101" pitchFamily="2" charset="-122"/>
                <a:cs typeface="+mn-cs"/>
              </a:rPr>
              <a:t> =</a:t>
            </a:r>
            <a:r>
              <a:rPr kumimoji="0" lang="en-US" altLang="zh-CN" kern="1200" cap="none" spc="0" normalizeH="0" baseline="0" noProof="0">
                <a:solidFill>
                  <a:srgbClr val="00B050"/>
                </a:solidFill>
                <a:latin typeface="Tahoma" panose="020B0604030504040204" pitchFamily="34" charset="0"/>
                <a:ea typeface="宋体" panose="02010600030101010101" pitchFamily="2" charset="-122"/>
                <a:cs typeface="+mn-cs"/>
              </a:rPr>
              <a:t> </a:t>
            </a:r>
            <a:r>
              <a:rPr kumimoji="0" lang="en-US" altLang="zh-CN" kern="1200" cap="none" spc="0" normalizeH="0" baseline="0" noProof="0">
                <a:latin typeface="Tahoma" panose="020B0604030504040204" pitchFamily="34" charset="0"/>
                <a:ea typeface="宋体" panose="02010600030101010101" pitchFamily="2" charset="-122"/>
                <a:cs typeface="+mn-cs"/>
              </a:rPr>
              <a:t>3,232,261,442</a:t>
            </a:r>
            <a:endParaRPr kumimoji="0" lang="en-US" altLang="zh-CN" kern="1200" cap="none" spc="0" normalizeH="0" baseline="0" noProof="0">
              <a:solidFill>
                <a:srgbClr val="00B050"/>
              </a:solidFill>
              <a:latin typeface="Tahoma" panose="020B0604030504040204" pitchFamily="34" charset="0"/>
              <a:ea typeface="宋体" panose="02010600030101010101" pitchFamily="2" charset="-122"/>
              <a:cs typeface="+mn-cs"/>
            </a:endParaRPr>
          </a:p>
          <a:p>
            <a:pPr marR="0" defTabSz="914400" eaLnBrk="1" hangingPunct="1">
              <a:lnSpc>
                <a:spcPct val="150000"/>
              </a:lnSpc>
              <a:buClrTx/>
              <a:buSzTx/>
              <a:buFontTx/>
              <a:buNone/>
              <a:defRPr/>
            </a:pPr>
            <a:r>
              <a:rPr kumimoji="0" lang="zh-CN" altLang="en-US" kern="1200" cap="none" spc="0" normalizeH="0" baseline="0" noProof="0">
                <a:latin typeface="Tahoma" panose="020B0604030504040204" pitchFamily="34" charset="0"/>
                <a:ea typeface="宋体" panose="02010600030101010101" pitchFamily="2" charset="-122"/>
                <a:cs typeface="+mn-cs"/>
              </a:rPr>
              <a:t>网络序：</a:t>
            </a:r>
            <a:r>
              <a:rPr kumimoji="0" lang="en-US" altLang="zh-CN" kern="1200" cap="none" spc="0" normalizeH="0" baseline="0" noProof="0" err="1">
                <a:latin typeface="Tahoma" panose="020B0604030504040204" pitchFamily="34" charset="0"/>
                <a:ea typeface="宋体" panose="02010600030101010101" pitchFamily="2" charset="-122"/>
                <a:cs typeface="+mn-cs"/>
              </a:rPr>
              <a:t>netPort</a:t>
            </a:r>
            <a:r>
              <a:rPr kumimoji="0" lang="en-US" altLang="zh-CN" kern="1200" cap="none" spc="0" normalizeH="0" baseline="0" noProof="0">
                <a:latin typeface="Tahoma" panose="020B0604030504040204" pitchFamily="34" charset="0"/>
                <a:ea typeface="宋体" panose="02010600030101010101" pitchFamily="2" charset="-122"/>
                <a:cs typeface="+mn-cs"/>
              </a:rPr>
              <a:t> = 1,113,958,592 = 0x</a:t>
            </a:r>
            <a:r>
              <a:rPr kumimoji="0" lang="en-US" altLang="zh-CN" kern="1200" cap="none" spc="0" normalizeH="0" baseline="0" noProof="0">
                <a:solidFill>
                  <a:srgbClr val="00B050"/>
                </a:solidFill>
                <a:latin typeface="Tahoma" panose="020B0604030504040204" pitchFamily="34" charset="0"/>
                <a:ea typeface="宋体" panose="02010600030101010101" pitchFamily="2" charset="-122"/>
                <a:cs typeface="+mn-cs"/>
              </a:rPr>
              <a:t>42</a:t>
            </a:r>
            <a:r>
              <a:rPr kumimoji="0" lang="en-US" altLang="zh-CN" kern="1200" cap="none" spc="0" normalizeH="0" baseline="0" noProof="0">
                <a:solidFill>
                  <a:schemeClr val="accent6">
                    <a:lumMod val="50000"/>
                  </a:schemeClr>
                </a:solidFill>
                <a:latin typeface="Tahoma" panose="020B0604030504040204" pitchFamily="34" charset="0"/>
                <a:ea typeface="宋体" panose="02010600030101010101" pitchFamily="2" charset="-122"/>
                <a:cs typeface="+mn-cs"/>
              </a:rPr>
              <a:t>65</a:t>
            </a:r>
            <a:r>
              <a:rPr kumimoji="0" lang="en-US" altLang="zh-CN" kern="1200" cap="none" spc="0" normalizeH="0" baseline="0" noProof="0">
                <a:latin typeface="Tahoma" panose="020B0604030504040204" pitchFamily="34" charset="0"/>
                <a:ea typeface="宋体" panose="02010600030101010101" pitchFamily="2" charset="-122"/>
                <a:cs typeface="+mn-cs"/>
              </a:rPr>
              <a:t> </a:t>
            </a:r>
            <a:r>
              <a:rPr kumimoji="0" lang="en-US" altLang="zh-CN" kern="1200" cap="none" spc="0" normalizeH="0" baseline="0" noProof="0">
                <a:solidFill>
                  <a:schemeClr val="tx2">
                    <a:lumMod val="60000"/>
                    <a:lumOff val="40000"/>
                  </a:schemeClr>
                </a:solidFill>
                <a:latin typeface="Tahoma" panose="020B0604030504040204" pitchFamily="34" charset="0"/>
                <a:ea typeface="宋体" panose="02010600030101010101" pitchFamily="2" charset="-122"/>
                <a:cs typeface="+mn-cs"/>
              </a:rPr>
              <a:t>A8</a:t>
            </a:r>
            <a:r>
              <a:rPr kumimoji="0" lang="en-US" altLang="zh-CN" kern="1200" cap="none" spc="0" normalizeH="0" baseline="0" noProof="0">
                <a:solidFill>
                  <a:srgbClr val="FF0000"/>
                </a:solidFill>
                <a:latin typeface="Tahoma" panose="020B0604030504040204" pitchFamily="34" charset="0"/>
                <a:ea typeface="宋体" panose="02010600030101010101" pitchFamily="2" charset="-122"/>
                <a:cs typeface="+mn-cs"/>
              </a:rPr>
              <a:t>C0</a:t>
            </a:r>
            <a:endParaRPr kumimoji="0" lang="en-US" altLang="zh-CN" kern="1200" cap="none" spc="0" normalizeH="0" baseline="0" noProof="0">
              <a:latin typeface="Tahoma" panose="020B0604030504040204" pitchFamily="34" charset="0"/>
              <a:ea typeface="宋体" panose="02010600030101010101" pitchFamily="2" charset="-122"/>
              <a:cs typeface="+mn-cs"/>
            </a:endParaRPr>
          </a:p>
          <a:p>
            <a:pPr marR="0" defTabSz="914400" eaLnBrk="1" hangingPunct="1">
              <a:lnSpc>
                <a:spcPct val="150000"/>
              </a:lnSpc>
              <a:buClrTx/>
              <a:buSzTx/>
              <a:buFontTx/>
              <a:buNone/>
              <a:defRPr/>
            </a:pPr>
            <a:r>
              <a:rPr kumimoji="0" lang="zh-CN" altLang="en-US" kern="1200" cap="none" spc="0" normalizeH="0" baseline="0" noProof="0">
                <a:latin typeface="Tahoma" panose="020B0604030504040204" pitchFamily="34" charset="0"/>
                <a:ea typeface="宋体" panose="02010600030101010101" pitchFamily="2" charset="-122"/>
                <a:cs typeface="+mn-cs"/>
              </a:rPr>
              <a:t>主机序：</a:t>
            </a:r>
            <a:r>
              <a:rPr kumimoji="0" lang="en-US" altLang="zh-CN" kern="1200" cap="none" spc="0" normalizeH="0" baseline="0" noProof="0" err="1">
                <a:latin typeface="Tahoma" panose="020B0604030504040204" pitchFamily="34" charset="0"/>
                <a:ea typeface="宋体" panose="02010600030101010101" pitchFamily="2" charset="-122"/>
                <a:cs typeface="+mn-cs"/>
              </a:rPr>
              <a:t>hostPort</a:t>
            </a:r>
            <a:r>
              <a:rPr kumimoji="0" lang="en-US" altLang="zh-CN" kern="1200" cap="none" spc="0" normalizeH="0" baseline="0" noProof="0">
                <a:latin typeface="Tahoma" panose="020B0604030504040204" pitchFamily="34" charset="0"/>
                <a:ea typeface="宋体" panose="02010600030101010101" pitchFamily="2" charset="-122"/>
                <a:cs typeface="+mn-cs"/>
              </a:rPr>
              <a:t> = 0x </a:t>
            </a:r>
            <a:r>
              <a:rPr kumimoji="0" lang="en-US" altLang="zh-CN" kern="1200" cap="none" spc="0" normalizeH="0" baseline="0" noProof="0">
                <a:solidFill>
                  <a:srgbClr val="FF0000"/>
                </a:solidFill>
                <a:latin typeface="Tahoma" panose="020B0604030504040204" pitchFamily="34" charset="0"/>
                <a:ea typeface="宋体" panose="02010600030101010101" pitchFamily="2" charset="-122"/>
                <a:cs typeface="+mn-cs"/>
              </a:rPr>
              <a:t>C0</a:t>
            </a:r>
            <a:r>
              <a:rPr kumimoji="0" lang="en-US" altLang="zh-CN" kern="1200" cap="none" spc="0" normalizeH="0" baseline="0" noProof="0">
                <a:solidFill>
                  <a:schemeClr val="tx2">
                    <a:lumMod val="60000"/>
                    <a:lumOff val="40000"/>
                  </a:schemeClr>
                </a:solidFill>
                <a:latin typeface="Tahoma" panose="020B0604030504040204" pitchFamily="34" charset="0"/>
                <a:ea typeface="宋体" panose="02010600030101010101" pitchFamily="2" charset="-122"/>
                <a:cs typeface="+mn-cs"/>
              </a:rPr>
              <a:t>A8</a:t>
            </a:r>
            <a:r>
              <a:rPr kumimoji="0" lang="en-US" altLang="zh-CN" kern="1200" cap="none" spc="0" normalizeH="0" baseline="0" noProof="0">
                <a:latin typeface="Tahoma" panose="020B0604030504040204" pitchFamily="34" charset="0"/>
                <a:ea typeface="宋体" panose="02010600030101010101" pitchFamily="2" charset="-122"/>
                <a:cs typeface="+mn-cs"/>
              </a:rPr>
              <a:t> </a:t>
            </a:r>
            <a:r>
              <a:rPr kumimoji="0" lang="en-US" altLang="zh-CN" kern="1200" cap="none" spc="0" normalizeH="0" baseline="0" noProof="0">
                <a:solidFill>
                  <a:schemeClr val="accent6">
                    <a:lumMod val="50000"/>
                  </a:schemeClr>
                </a:solidFill>
                <a:latin typeface="Tahoma" panose="020B0604030504040204" pitchFamily="34" charset="0"/>
                <a:ea typeface="宋体" panose="02010600030101010101" pitchFamily="2" charset="-122"/>
                <a:cs typeface="+mn-cs"/>
              </a:rPr>
              <a:t>65</a:t>
            </a:r>
            <a:r>
              <a:rPr kumimoji="0" lang="en-US" altLang="zh-CN" kern="1200" cap="none" spc="0" normalizeH="0" baseline="0" noProof="0">
                <a:solidFill>
                  <a:srgbClr val="00B050"/>
                </a:solidFill>
                <a:latin typeface="Tahoma" panose="020B0604030504040204" pitchFamily="34" charset="0"/>
                <a:ea typeface="宋体" panose="02010600030101010101" pitchFamily="2" charset="-122"/>
                <a:cs typeface="+mn-cs"/>
              </a:rPr>
              <a:t>42</a:t>
            </a:r>
            <a:r>
              <a:rPr kumimoji="0" lang="en-US" altLang="zh-CN" kern="1200" cap="none" spc="0" normalizeH="0" baseline="0" noProof="0">
                <a:latin typeface="Tahoma" panose="020B0604030504040204" pitchFamily="34" charset="0"/>
                <a:ea typeface="宋体" panose="02010600030101010101" pitchFamily="2" charset="-122"/>
                <a:cs typeface="+mn-cs"/>
              </a:rPr>
              <a:t> = 3,232,261,442</a:t>
            </a:r>
            <a:endParaRPr kumimoji="0" lang="zh-CN" altLang="en-US" kern="1200" cap="none" spc="0" normalizeH="0" baseline="0" noProof="0">
              <a:latin typeface="Tahoma" panose="020B0604030504040204" pitchFamily="34" charset="0"/>
              <a:ea typeface="宋体" panose="02010600030101010101" pitchFamily="2" charset="-122"/>
              <a:cs typeface="+mn-cs"/>
            </a:endParaRPr>
          </a:p>
        </p:txBody>
      </p:sp>
      <p:pic>
        <p:nvPicPr>
          <p:cNvPr id="43013" name="图片 3"/>
          <p:cNvPicPr>
            <a:picLocks noChangeAspect="1"/>
          </p:cNvPicPr>
          <p:nvPr/>
        </p:nvPicPr>
        <p:blipFill>
          <a:blip r:embed="rId1"/>
          <a:stretch>
            <a:fillRect/>
          </a:stretch>
        </p:blipFill>
        <p:spPr>
          <a:xfrm>
            <a:off x="906463" y="1412875"/>
            <a:ext cx="7331075" cy="2957513"/>
          </a:xfrm>
          <a:prstGeom prst="rect">
            <a:avLst/>
          </a:prstGeom>
          <a:noFill/>
          <a:ln w="9525">
            <a:noFill/>
          </a:ln>
        </p:spPr>
      </p:pic>
    </p:spTree>
  </p:cSld>
  <p:clrMapOvr>
    <a:masterClrMapping/>
  </p:clrMapOvr>
  <p:transition>
    <p:rand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Rectangle 2"/>
          <p:cNvSpPr>
            <a:spLocks noGrp="1"/>
          </p:cNvSpPr>
          <p:nvPr>
            <p:ph type="title"/>
          </p:nvPr>
        </p:nvSpPr>
        <p:spPr>
          <a:xfrm>
            <a:off x="323850" y="549275"/>
            <a:ext cx="7467600" cy="762000"/>
          </a:xfrm>
        </p:spPr>
        <p:txBody>
          <a:bodyPr vert="horz" wrap="square" lIns="91440" tIns="45720" rIns="91440" bIns="45720" anchor="b" anchorCtr="0"/>
          <a:p>
            <a:pPr eaLnBrk="1" hangingPunct="1"/>
            <a:r>
              <a:rPr lang="zh-CN" altLang="en-US" dirty="0"/>
              <a:t>字节操纵函数</a:t>
            </a:r>
            <a:endParaRPr lang="zh-CN" altLang="en-US" dirty="0"/>
          </a:p>
        </p:txBody>
      </p:sp>
      <p:sp>
        <p:nvSpPr>
          <p:cNvPr id="45059" name="Rectangle 3"/>
          <p:cNvSpPr>
            <a:spLocks noGrp="1"/>
          </p:cNvSpPr>
          <p:nvPr>
            <p:ph idx="1"/>
          </p:nvPr>
        </p:nvSpPr>
        <p:spPr>
          <a:xfrm>
            <a:off x="468313" y="1673225"/>
            <a:ext cx="8458200" cy="5184775"/>
          </a:xfrm>
          <a:solidFill>
            <a:schemeClr val="bg1">
              <a:alpha val="100000"/>
            </a:schemeClr>
          </a:solidFill>
        </p:spPr>
        <p:txBody>
          <a:bodyPr vert="horz" wrap="square" lIns="91440" tIns="45720" rIns="91440" bIns="45720" anchor="t" anchorCtr="0"/>
          <a:p>
            <a:pPr eaLnBrk="1" hangingPunct="1">
              <a:lnSpc>
                <a:spcPct val="80000"/>
              </a:lnSpc>
            </a:pPr>
            <a:r>
              <a:rPr lang="zh-CN" altLang="en-US" sz="2400" dirty="0"/>
              <a:t>系统提供两组函数来处理多字节数据，一组函数是以</a:t>
            </a:r>
            <a:r>
              <a:rPr lang="en-US" altLang="zh-CN" sz="2400" dirty="0"/>
              <a:t>b</a:t>
            </a:r>
            <a:r>
              <a:rPr lang="zh-CN" altLang="en-US" sz="2400" dirty="0"/>
              <a:t>（</a:t>
            </a:r>
            <a:r>
              <a:rPr lang="en-US" altLang="zh-CN" sz="2400" dirty="0"/>
              <a:t>byte</a:t>
            </a:r>
            <a:r>
              <a:rPr lang="zh-CN" altLang="en-US" sz="2400" dirty="0"/>
              <a:t>）开头，和</a:t>
            </a:r>
            <a:r>
              <a:rPr lang="en-US" altLang="zh-CN" sz="2400" dirty="0"/>
              <a:t>BSD</a:t>
            </a:r>
            <a:r>
              <a:rPr lang="zh-CN" altLang="en-US" sz="2400" dirty="0"/>
              <a:t>系统兼容的函数；另一组是以</a:t>
            </a:r>
            <a:r>
              <a:rPr lang="en-US" altLang="zh-CN" sz="2400" dirty="0"/>
              <a:t>mem</a:t>
            </a:r>
            <a:r>
              <a:rPr lang="zh-CN" altLang="en-US" sz="2400" dirty="0"/>
              <a:t>开头，</a:t>
            </a:r>
            <a:r>
              <a:rPr lang="en-US" altLang="zh-CN" sz="2400" dirty="0"/>
              <a:t>ANSI C</a:t>
            </a:r>
            <a:r>
              <a:rPr lang="zh-CN" altLang="en-US" sz="2400" dirty="0"/>
              <a:t>所提供的函数。</a:t>
            </a:r>
            <a:endParaRPr lang="zh-CN" altLang="en-US" sz="2400" dirty="0"/>
          </a:p>
          <a:p>
            <a:pPr eaLnBrk="1" hangingPunct="1">
              <a:lnSpc>
                <a:spcPct val="80000"/>
              </a:lnSpc>
            </a:pPr>
            <a:r>
              <a:rPr lang="en-US" altLang="zh-CN" sz="2400" dirty="0"/>
              <a:t>#include &lt;string.h&gt;</a:t>
            </a:r>
            <a:endParaRPr lang="en-US" altLang="zh-CN" sz="2400" dirty="0"/>
          </a:p>
          <a:p>
            <a:pPr eaLnBrk="1" hangingPunct="1">
              <a:lnSpc>
                <a:spcPct val="80000"/>
              </a:lnSpc>
              <a:buNone/>
            </a:pPr>
            <a:r>
              <a:rPr lang="en-US" altLang="zh-CN" sz="2400" dirty="0"/>
              <a:t>void bzero(void *dest, size_t nbytes);</a:t>
            </a:r>
            <a:endParaRPr lang="en-US" altLang="zh-CN" sz="2400" dirty="0"/>
          </a:p>
          <a:p>
            <a:pPr eaLnBrk="1" hangingPunct="1">
              <a:lnSpc>
                <a:spcPct val="80000"/>
              </a:lnSpc>
              <a:buNone/>
            </a:pPr>
            <a:r>
              <a:rPr lang="en-US" altLang="zh-CN" sz="2400" dirty="0"/>
              <a:t>void bcopy(const void *src, void *dest, size_t nbytes);</a:t>
            </a:r>
            <a:endParaRPr lang="en-US" altLang="zh-CN" sz="2400" dirty="0"/>
          </a:p>
          <a:p>
            <a:pPr eaLnBrk="1" hangingPunct="1">
              <a:lnSpc>
                <a:spcPct val="80000"/>
              </a:lnSpc>
              <a:buNone/>
            </a:pPr>
            <a:r>
              <a:rPr lang="en-US" altLang="zh-CN" sz="2400" dirty="0"/>
              <a:t>int   bcmp(const void *src, void *dest, size_t nbytes); /*</a:t>
            </a:r>
            <a:r>
              <a:rPr lang="zh-CN" altLang="en-US" sz="2400" dirty="0"/>
              <a:t>返回</a:t>
            </a:r>
            <a:r>
              <a:rPr lang="en-US" altLang="zh-CN" sz="2400" dirty="0"/>
              <a:t>0</a:t>
            </a:r>
            <a:r>
              <a:rPr lang="zh-CN" altLang="en-US" sz="2400" dirty="0"/>
              <a:t>则相同，非</a:t>
            </a:r>
            <a:r>
              <a:rPr lang="en-US" altLang="zh-CN" sz="2400" dirty="0"/>
              <a:t>0</a:t>
            </a:r>
            <a:r>
              <a:rPr lang="zh-CN" altLang="en-US" sz="2400" dirty="0"/>
              <a:t>不相同*</a:t>
            </a:r>
            <a:r>
              <a:rPr lang="en-US" altLang="zh-CN" sz="2400" dirty="0"/>
              <a:t>/</a:t>
            </a:r>
            <a:endParaRPr lang="en-US" altLang="zh-CN" sz="2400" dirty="0"/>
          </a:p>
          <a:p>
            <a:pPr eaLnBrk="1" hangingPunct="1">
              <a:lnSpc>
                <a:spcPct val="80000"/>
              </a:lnSpc>
              <a:buNone/>
            </a:pPr>
            <a:r>
              <a:rPr lang="en-US" altLang="zh-CN" sz="2400" dirty="0"/>
              <a:t>                                             </a:t>
            </a:r>
            <a:r>
              <a:rPr lang="zh-CN" altLang="en-US" sz="2400" dirty="0"/>
              <a:t>上述三个函数源自</a:t>
            </a:r>
            <a:r>
              <a:rPr lang="en-US" altLang="zh-CN" sz="2400" dirty="0"/>
              <a:t>BSD</a:t>
            </a:r>
            <a:endParaRPr lang="en-US" altLang="zh-CN" sz="2400" dirty="0"/>
          </a:p>
          <a:p>
            <a:pPr eaLnBrk="1" hangingPunct="1">
              <a:lnSpc>
                <a:spcPct val="80000"/>
              </a:lnSpc>
              <a:buNone/>
            </a:pPr>
            <a:r>
              <a:rPr lang="en-US" altLang="zh-CN" sz="2400" dirty="0"/>
              <a:t>void *memset(void *dest, int c, size_t len);</a:t>
            </a:r>
            <a:endParaRPr lang="en-US" altLang="zh-CN" sz="2400" dirty="0"/>
          </a:p>
          <a:p>
            <a:pPr eaLnBrk="1" hangingPunct="1">
              <a:lnSpc>
                <a:spcPct val="80000"/>
              </a:lnSpc>
              <a:buNone/>
            </a:pPr>
            <a:r>
              <a:rPr lang="en-US" altLang="zh-CN" sz="2400" dirty="0"/>
              <a:t>void *memcpy(void *dest, const void *src, size_t nbytes);</a:t>
            </a:r>
            <a:endParaRPr lang="en-US" altLang="zh-CN" sz="2400" dirty="0"/>
          </a:p>
          <a:p>
            <a:pPr eaLnBrk="1" hangingPunct="1">
              <a:lnSpc>
                <a:spcPct val="80000"/>
              </a:lnSpc>
              <a:buNone/>
            </a:pPr>
            <a:r>
              <a:rPr lang="en-US" altLang="zh-CN" sz="2400" dirty="0"/>
              <a:t>int     memcmp(const void *ptr1, const void *ptr2, size_t nbytes)</a:t>
            </a:r>
            <a:endParaRPr lang="en-US" altLang="zh-CN" sz="2400" dirty="0"/>
          </a:p>
          <a:p>
            <a:pPr eaLnBrk="1" hangingPunct="1">
              <a:lnSpc>
                <a:spcPct val="80000"/>
              </a:lnSpc>
              <a:buNone/>
            </a:pPr>
            <a:r>
              <a:rPr lang="en-US" altLang="zh-CN" sz="2400" dirty="0"/>
              <a:t>					</a:t>
            </a:r>
            <a:r>
              <a:rPr lang="zh-CN" altLang="en-US" sz="2400" dirty="0"/>
              <a:t>上述三个函数属于</a:t>
            </a:r>
            <a:r>
              <a:rPr lang="en-US" altLang="zh-CN" sz="2400" dirty="0"/>
              <a:t>ANSI C</a:t>
            </a:r>
            <a:endParaRPr lang="en-US" altLang="zh-CN" sz="2400" dirty="0"/>
          </a:p>
        </p:txBody>
      </p:sp>
      <p:sp>
        <p:nvSpPr>
          <p:cNvPr id="199684" name="AutoShape 4"/>
          <p:cNvSpPr>
            <a:spLocks noChangeArrowheads="1"/>
          </p:cNvSpPr>
          <p:nvPr/>
        </p:nvSpPr>
        <p:spPr bwMode="auto">
          <a:xfrm>
            <a:off x="295275" y="4797425"/>
            <a:ext cx="8763000" cy="1308100"/>
          </a:xfrm>
          <a:prstGeom prst="wedgeRoundRectCallout">
            <a:avLst>
              <a:gd name="adj1" fmla="val -34528"/>
              <a:gd name="adj2" fmla="val -168810"/>
              <a:gd name="adj3" fmla="val 16667"/>
            </a:avLst>
          </a:prstGeom>
          <a:solidFill>
            <a:schemeClr val="bg1"/>
          </a:solidFill>
          <a:ln w="9525" algn="ctr">
            <a:solidFill>
              <a:schemeClr val="tx1"/>
            </a:solidFill>
            <a:miter lim="800000"/>
          </a:ln>
          <a:effectLst/>
        </p:spPr>
        <p:txBody>
          <a:bodyPr lIns="92075" tIns="46038" rIns="92075" bIns="46038"/>
          <a:lstStyle>
            <a:lvl1pPr>
              <a:defRPr>
                <a:solidFill>
                  <a:schemeClr val="tx1"/>
                </a:solidFill>
                <a:latin typeface="Arial" panose="020B0604020202020204" pitchFamily="34" charset="0"/>
                <a:ea typeface="宋体" panose="02010600030101010101" pitchFamily="2" charset="-122"/>
              </a:defRPr>
            </a:lvl1pPr>
            <a:lvl2pPr marL="922655">
              <a:defRPr>
                <a:solidFill>
                  <a:schemeClr val="tx1"/>
                </a:solidFill>
                <a:latin typeface="Arial" panose="020B0604020202020204" pitchFamily="34" charset="0"/>
                <a:ea typeface="宋体" panose="02010600030101010101" pitchFamily="2" charset="-122"/>
              </a:defRPr>
            </a:lvl2pPr>
            <a:lvl3pPr marL="1101725">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a:ln>
                  <a:noFill/>
                </a:ln>
                <a:solidFill>
                  <a:srgbClr val="000099"/>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mn-cs"/>
              </a:rPr>
              <a:t>bzero</a:t>
            </a:r>
            <a:r>
              <a:rPr kumimoji="1" lang="zh-CN" altLang="en-US" sz="2400" b="1" i="0" u="none" strike="noStrike" kern="1200" cap="none" spc="0" normalizeH="0" baseline="0" noProof="0">
                <a:ln>
                  <a:noFill/>
                </a:ln>
                <a:solidFill>
                  <a:srgbClr val="000099"/>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mn-cs"/>
              </a:rPr>
              <a:t>函数将目标中指定数目的字节置为</a:t>
            </a:r>
            <a:r>
              <a:rPr kumimoji="1" lang="en-US" altLang="zh-CN" sz="2400" b="1" i="0" u="none" strike="noStrike" kern="1200" cap="none" spc="0" normalizeH="0" baseline="0" noProof="0">
                <a:ln>
                  <a:noFill/>
                </a:ln>
                <a:solidFill>
                  <a:srgbClr val="000099"/>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mn-cs"/>
              </a:rPr>
              <a:t>0</a:t>
            </a:r>
            <a:r>
              <a:rPr kumimoji="1" lang="zh-CN" altLang="en-US" sz="2400" b="1" i="0" u="none" strike="noStrike" kern="1200" cap="none" spc="0" normalizeH="0" baseline="0" noProof="0">
                <a:ln>
                  <a:noFill/>
                </a:ln>
                <a:solidFill>
                  <a:srgbClr val="000099"/>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mn-cs"/>
              </a:rPr>
              <a:t>，这个函数经常用来把套接字地址结构初始化为</a:t>
            </a:r>
            <a:r>
              <a:rPr kumimoji="1" lang="en-US" altLang="zh-CN" sz="2400" b="1" i="0" u="none" strike="noStrike" kern="1200" cap="none" spc="0" normalizeH="0" baseline="0" noProof="0">
                <a:ln>
                  <a:noFill/>
                </a:ln>
                <a:solidFill>
                  <a:srgbClr val="000099"/>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mn-cs"/>
              </a:rPr>
              <a:t>0</a:t>
            </a:r>
            <a:r>
              <a:rPr kumimoji="1" lang="zh-CN" altLang="en-US" sz="2400" b="1" i="0" u="none" strike="noStrike" kern="1200" cap="none" spc="0" normalizeH="0" baseline="0" noProof="0">
                <a:ln>
                  <a:noFill/>
                </a:ln>
                <a:solidFill>
                  <a:srgbClr val="000099"/>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mn-cs"/>
              </a:rPr>
              <a:t>，如：</a:t>
            </a:r>
            <a:endParaRPr kumimoji="1" lang="zh-CN" altLang="en-US" sz="2400" b="1" i="0" u="none" strike="noStrike" kern="1200" cap="none" spc="0" normalizeH="0" baseline="0" noProof="0">
              <a:ln>
                <a:noFill/>
              </a:ln>
              <a:solidFill>
                <a:srgbClr val="000099"/>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mn-cs"/>
            </a:endParaRPr>
          </a:p>
          <a:p>
            <a:pPr marL="1101725" marR="0" lvl="2" indent="0" algn="l"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a:ln>
                  <a:noFill/>
                </a:ln>
                <a:solidFill>
                  <a:schemeClr val="accent1"/>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mn-cs"/>
              </a:rPr>
              <a:t>bzero(&amp;servaddr,sizeof(servaddr));</a:t>
            </a:r>
            <a:endParaRPr kumimoji="1" lang="en-US" altLang="zh-CN" sz="2400" b="1" i="0" u="none" strike="noStrike" kern="1200" cap="none" spc="0" normalizeH="0" baseline="0" noProof="0">
              <a:ln>
                <a:noFill/>
              </a:ln>
              <a:solidFill>
                <a:schemeClr val="accent1"/>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mn-cs"/>
            </a:endParaRPr>
          </a:p>
          <a:p>
            <a:pPr marL="1101725" marR="0" lvl="2" indent="0" algn="l" defTabSz="914400" rtl="0" eaLnBrk="1" fontAlgn="base" latinLnBrk="0" hangingPunct="1">
              <a:lnSpc>
                <a:spcPct val="90000"/>
              </a:lnSpc>
              <a:spcBef>
                <a:spcPct val="20000"/>
              </a:spcBef>
              <a:spcAft>
                <a:spcPct val="0"/>
              </a:spcAft>
              <a:buClrTx/>
              <a:buSzTx/>
              <a:buFontTx/>
              <a:buNone/>
              <a:defRPr/>
            </a:pPr>
            <a:endParaRPr kumimoji="1" lang="en-US" altLang="zh-CN" sz="2400" b="1" i="0" u="none" strike="noStrike" kern="1200" cap="none" spc="0" normalizeH="0" baseline="0" noProof="0">
              <a:ln>
                <a:noFill/>
              </a:ln>
              <a:solidFill>
                <a:srgbClr val="339933"/>
              </a:solidFill>
              <a:effectLst>
                <a:outerShdw blurRad="38100" dist="38100" dir="2700000" algn="tl">
                  <a:srgbClr val="C0C0C0"/>
                </a:outerShdw>
              </a:effectLst>
              <a:uLnTx/>
              <a:uFillTx/>
              <a:latin typeface="Comic Sans MS" panose="030F0702030302020204" pitchFamily="66" charset="0"/>
              <a:ea typeface="黑体" panose="02010609060101010101" pitchFamily="49" charset="-122"/>
              <a:cs typeface="+mn-cs"/>
            </a:endParaRPr>
          </a:p>
        </p:txBody>
      </p:sp>
      <p:sp>
        <p:nvSpPr>
          <p:cNvPr id="199685" name="AutoShape 5"/>
          <p:cNvSpPr>
            <a:spLocks noChangeArrowheads="1"/>
          </p:cNvSpPr>
          <p:nvPr/>
        </p:nvSpPr>
        <p:spPr bwMode="auto">
          <a:xfrm>
            <a:off x="273050" y="4797425"/>
            <a:ext cx="8763000" cy="1308100"/>
          </a:xfrm>
          <a:prstGeom prst="wedgeRoundRectCallout">
            <a:avLst>
              <a:gd name="adj1" fmla="val -34528"/>
              <a:gd name="adj2" fmla="val -142356"/>
              <a:gd name="adj3" fmla="val 16667"/>
            </a:avLst>
          </a:prstGeom>
          <a:solidFill>
            <a:schemeClr val="bg1"/>
          </a:solidFill>
          <a:ln w="9525" algn="ctr">
            <a:solidFill>
              <a:schemeClr val="tx1"/>
            </a:solidFill>
            <a:miter lim="800000"/>
          </a:ln>
          <a:effectLst/>
        </p:spPr>
        <p:txBody>
          <a:bodyPr lIns="92075" tIns="46038" rIns="92075" bIns="46038"/>
          <a:lstStyle>
            <a:lvl1pPr>
              <a:defRPr>
                <a:solidFill>
                  <a:schemeClr val="tx1"/>
                </a:solidFill>
                <a:latin typeface="Arial" panose="020B0604020202020204" pitchFamily="34" charset="0"/>
                <a:ea typeface="宋体" panose="02010600030101010101" pitchFamily="2" charset="-122"/>
              </a:defRPr>
            </a:lvl1pPr>
            <a:lvl2pPr marL="922655">
              <a:defRPr>
                <a:solidFill>
                  <a:schemeClr val="tx1"/>
                </a:solidFill>
                <a:latin typeface="Arial" panose="020B0604020202020204" pitchFamily="34" charset="0"/>
                <a:ea typeface="宋体" panose="02010600030101010101" pitchFamily="2" charset="-122"/>
              </a:defRPr>
            </a:lvl2pPr>
            <a:lvl3pPr marL="1101725">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90000"/>
              </a:lnSpc>
              <a:spcBef>
                <a:spcPct val="15000"/>
              </a:spcBef>
              <a:spcAft>
                <a:spcPct val="0"/>
              </a:spcAft>
              <a:buClrTx/>
              <a:buSzTx/>
              <a:buFontTx/>
              <a:buNone/>
              <a:defRPr/>
            </a:pPr>
            <a:r>
              <a:rPr kumimoji="1" lang="en-US" altLang="zh-CN" sz="2400" b="1" i="0" u="none" strike="noStrike" kern="1200" cap="none" spc="0" normalizeH="0" baseline="0" noProof="0">
                <a:ln>
                  <a:noFill/>
                </a:ln>
                <a:solidFill>
                  <a:srgbClr val="000099"/>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mn-cs"/>
              </a:rPr>
              <a:t>bcopy</a:t>
            </a:r>
            <a:r>
              <a:rPr kumimoji="1" lang="zh-CN" altLang="en-US" sz="2400" b="1" i="0" u="none" strike="noStrike" kern="1200" cap="none" spc="0" normalizeH="0" baseline="0" noProof="0">
                <a:ln>
                  <a:noFill/>
                </a:ln>
                <a:solidFill>
                  <a:srgbClr val="000099"/>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mn-cs"/>
              </a:rPr>
              <a:t>将指定数目的字节从源</a:t>
            </a:r>
            <a:r>
              <a:rPr kumimoji="1" lang="en-US" altLang="zh-CN" sz="2400" b="1" i="0" u="none" strike="noStrike" kern="1200" cap="none" spc="0" normalizeH="0" baseline="0" noProof="0">
                <a:ln>
                  <a:noFill/>
                </a:ln>
                <a:solidFill>
                  <a:srgbClr val="000099"/>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mn-cs"/>
              </a:rPr>
              <a:t>src</a:t>
            </a:r>
            <a:r>
              <a:rPr kumimoji="1" lang="zh-CN" altLang="en-US" sz="2400" b="1" i="0" u="none" strike="noStrike" kern="1200" cap="none" spc="0" normalizeH="0" baseline="0" noProof="0">
                <a:ln>
                  <a:noFill/>
                </a:ln>
                <a:solidFill>
                  <a:srgbClr val="000099"/>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mn-cs"/>
              </a:rPr>
              <a:t>移动到目标</a:t>
            </a:r>
            <a:r>
              <a:rPr kumimoji="1" lang="en-US" altLang="zh-CN" sz="2400" b="1" i="0" u="none" strike="noStrike" kern="1200" cap="none" spc="0" normalizeH="0" baseline="0" noProof="0">
                <a:ln>
                  <a:noFill/>
                </a:ln>
                <a:solidFill>
                  <a:srgbClr val="000099"/>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mn-cs"/>
              </a:rPr>
              <a:t>dest</a:t>
            </a:r>
            <a:r>
              <a:rPr kumimoji="1" lang="zh-CN" altLang="en-US" sz="2400" b="1" i="0" u="none" strike="noStrike" kern="1200" cap="none" spc="0" normalizeH="0" baseline="0" noProof="0">
                <a:ln>
                  <a:noFill/>
                </a:ln>
                <a:solidFill>
                  <a:srgbClr val="000099"/>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mn-cs"/>
              </a:rPr>
              <a:t>指定的内存区域；</a:t>
            </a:r>
            <a:endParaRPr kumimoji="1" lang="zh-CN" altLang="en-US" sz="2400" b="1" i="0" u="none" strike="noStrike" kern="1200" cap="none" spc="0" normalizeH="0" baseline="0" noProof="0">
              <a:ln>
                <a:noFill/>
              </a:ln>
              <a:solidFill>
                <a:schemeClr val="accent1"/>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mn-cs"/>
            </a:endParaRPr>
          </a:p>
          <a:p>
            <a:pPr marL="1101725" marR="0" lvl="2" indent="0" algn="l" defTabSz="914400" rtl="0" eaLnBrk="1" fontAlgn="base" latinLnBrk="0" hangingPunct="1">
              <a:lnSpc>
                <a:spcPct val="90000"/>
              </a:lnSpc>
              <a:spcBef>
                <a:spcPct val="20000"/>
              </a:spcBef>
              <a:spcAft>
                <a:spcPct val="0"/>
              </a:spcAft>
              <a:buClrTx/>
              <a:buSzTx/>
              <a:buFontTx/>
              <a:buNone/>
              <a:defRPr/>
            </a:pPr>
            <a:endParaRPr kumimoji="1" lang="en-US" altLang="zh-CN" sz="2400" b="1" i="0" u="none" strike="noStrike" kern="1200" cap="none" spc="0" normalizeH="0" baseline="0" noProof="0">
              <a:ln>
                <a:noFill/>
              </a:ln>
              <a:solidFill>
                <a:srgbClr val="339933"/>
              </a:solidFill>
              <a:effectLst>
                <a:outerShdw blurRad="38100" dist="38100" dir="2700000" algn="tl">
                  <a:srgbClr val="C0C0C0"/>
                </a:outerShdw>
              </a:effectLst>
              <a:uLnTx/>
              <a:uFillTx/>
              <a:latin typeface="Comic Sans MS" panose="030F0702030302020204" pitchFamily="66" charset="0"/>
              <a:ea typeface="黑体" panose="02010609060101010101" pitchFamily="49" charset="-122"/>
              <a:cs typeface="+mn-cs"/>
            </a:endParaRPr>
          </a:p>
        </p:txBody>
      </p:sp>
      <p:sp>
        <p:nvSpPr>
          <p:cNvPr id="199686" name="AutoShape 6"/>
          <p:cNvSpPr>
            <a:spLocks noChangeArrowheads="1"/>
          </p:cNvSpPr>
          <p:nvPr/>
        </p:nvSpPr>
        <p:spPr bwMode="auto">
          <a:xfrm>
            <a:off x="250825" y="4797425"/>
            <a:ext cx="8763000" cy="1308100"/>
          </a:xfrm>
          <a:prstGeom prst="wedgeRoundRectCallout">
            <a:avLst>
              <a:gd name="adj1" fmla="val -34856"/>
              <a:gd name="adj2" fmla="val -111653"/>
              <a:gd name="adj3" fmla="val 16667"/>
            </a:avLst>
          </a:prstGeom>
          <a:solidFill>
            <a:schemeClr val="bg1"/>
          </a:solidFill>
          <a:ln w="9525" algn="ctr">
            <a:solidFill>
              <a:schemeClr val="tx1"/>
            </a:solidFill>
            <a:miter lim="800000"/>
          </a:ln>
          <a:effectLst/>
        </p:spPr>
        <p:txBody>
          <a:bodyPr lIns="92075" tIns="46038" rIns="92075" bIns="46038"/>
          <a:lstStyle>
            <a:lvl1pPr>
              <a:defRPr>
                <a:solidFill>
                  <a:schemeClr val="tx1"/>
                </a:solidFill>
                <a:latin typeface="Arial" panose="020B0604020202020204" pitchFamily="34" charset="0"/>
                <a:ea typeface="宋体" panose="02010600030101010101" pitchFamily="2" charset="-122"/>
              </a:defRPr>
            </a:lvl1pPr>
            <a:lvl2pPr marL="922655">
              <a:defRPr>
                <a:solidFill>
                  <a:schemeClr val="tx1"/>
                </a:solidFill>
                <a:latin typeface="Arial" panose="020B0604020202020204" pitchFamily="34" charset="0"/>
                <a:ea typeface="宋体" panose="02010600030101010101" pitchFamily="2" charset="-122"/>
              </a:defRPr>
            </a:lvl2pPr>
            <a:lvl3pPr marL="1101725">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90000"/>
              </a:lnSpc>
              <a:spcBef>
                <a:spcPct val="15000"/>
              </a:spcBef>
              <a:spcAft>
                <a:spcPct val="0"/>
              </a:spcAft>
              <a:buClrTx/>
              <a:buSzTx/>
              <a:buFontTx/>
              <a:buChar char="–"/>
              <a:defRPr/>
            </a:pPr>
            <a:r>
              <a:rPr kumimoji="1" lang="en-US" altLang="zh-CN" sz="2400" b="1" i="0" u="none" strike="noStrike" kern="1200" cap="none" spc="0" normalizeH="0" baseline="0" noProof="0">
                <a:ln>
                  <a:noFill/>
                </a:ln>
                <a:solidFill>
                  <a:srgbClr val="000099"/>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mn-cs"/>
              </a:rPr>
              <a:t>bcmp</a:t>
            </a:r>
            <a:r>
              <a:rPr kumimoji="1" lang="zh-CN" altLang="en-US" sz="2400" b="1" i="0" u="none" strike="noStrike" kern="1200" cap="none" spc="0" normalizeH="0" baseline="0" noProof="0">
                <a:ln>
                  <a:noFill/>
                </a:ln>
                <a:solidFill>
                  <a:srgbClr val="000099"/>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mn-cs"/>
              </a:rPr>
              <a:t>比较任意两个内存区域，即</a:t>
            </a:r>
            <a:r>
              <a:rPr kumimoji="1" lang="en-US" altLang="zh-CN" sz="2400" b="1" i="0" u="none" strike="noStrike" kern="1200" cap="none" spc="0" normalizeH="0" baseline="0" noProof="0">
                <a:ln>
                  <a:noFill/>
                </a:ln>
                <a:solidFill>
                  <a:srgbClr val="000099"/>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mn-cs"/>
              </a:rPr>
              <a:t>s1</a:t>
            </a:r>
            <a:r>
              <a:rPr kumimoji="1" lang="zh-CN" altLang="en-US" sz="2400" b="1" i="0" u="none" strike="noStrike" kern="1200" cap="none" spc="0" normalizeH="0" baseline="0" noProof="0">
                <a:ln>
                  <a:noFill/>
                </a:ln>
                <a:solidFill>
                  <a:srgbClr val="000099"/>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mn-cs"/>
              </a:rPr>
              <a:t>指定的内存区域与</a:t>
            </a:r>
            <a:r>
              <a:rPr kumimoji="1" lang="en-US" altLang="zh-CN" sz="2400" b="1" i="0" u="none" strike="noStrike" kern="1200" cap="none" spc="0" normalizeH="0" baseline="0" noProof="0">
                <a:ln>
                  <a:noFill/>
                </a:ln>
                <a:solidFill>
                  <a:srgbClr val="000099"/>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mn-cs"/>
              </a:rPr>
              <a:t>s2</a:t>
            </a:r>
            <a:r>
              <a:rPr kumimoji="1" lang="zh-CN" altLang="en-US" sz="2400" b="1" i="0" u="none" strike="noStrike" kern="1200" cap="none" spc="0" normalizeH="0" baseline="0" noProof="0">
                <a:ln>
                  <a:noFill/>
                </a:ln>
                <a:solidFill>
                  <a:srgbClr val="000099"/>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mn-cs"/>
              </a:rPr>
              <a:t>指定的内存区域的前</a:t>
            </a:r>
            <a:r>
              <a:rPr kumimoji="1" lang="en-US" altLang="zh-CN" sz="2400" b="1" i="0" u="none" strike="noStrike" kern="1200" cap="none" spc="0" normalizeH="0" baseline="0" noProof="0">
                <a:ln>
                  <a:noFill/>
                </a:ln>
                <a:solidFill>
                  <a:srgbClr val="000099"/>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mn-cs"/>
              </a:rPr>
              <a:t>n</a:t>
            </a:r>
            <a:r>
              <a:rPr kumimoji="1" lang="zh-CN" altLang="en-US" sz="2400" b="1" i="0" u="none" strike="noStrike" kern="1200" cap="none" spc="0" normalizeH="0" baseline="0" noProof="0">
                <a:ln>
                  <a:noFill/>
                </a:ln>
                <a:solidFill>
                  <a:srgbClr val="000099"/>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mn-cs"/>
              </a:rPr>
              <a:t>个字节，若相同则返回值为</a:t>
            </a:r>
            <a:r>
              <a:rPr kumimoji="1" lang="en-US" altLang="zh-CN" sz="2400" b="1" i="0" u="none" strike="noStrike" kern="1200" cap="none" spc="0" normalizeH="0" baseline="0" noProof="0">
                <a:ln>
                  <a:noFill/>
                </a:ln>
                <a:solidFill>
                  <a:srgbClr val="000099"/>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mn-cs"/>
              </a:rPr>
              <a:t>0</a:t>
            </a:r>
            <a:r>
              <a:rPr kumimoji="1" lang="zh-CN" altLang="en-US" sz="2400" b="1" i="0" u="none" strike="noStrike" kern="1200" cap="none" spc="0" normalizeH="0" baseline="0" noProof="0">
                <a:ln>
                  <a:noFill/>
                </a:ln>
                <a:solidFill>
                  <a:srgbClr val="000099"/>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mn-cs"/>
              </a:rPr>
              <a:t>，否则返回值为非</a:t>
            </a:r>
            <a:r>
              <a:rPr kumimoji="1" lang="en-US" altLang="zh-CN" sz="2400" b="1" i="0" u="none" strike="noStrike" kern="1200" cap="none" spc="0" normalizeH="0" baseline="0" noProof="0">
                <a:ln>
                  <a:noFill/>
                </a:ln>
                <a:solidFill>
                  <a:srgbClr val="000099"/>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mn-cs"/>
              </a:rPr>
              <a:t>0</a:t>
            </a:r>
            <a:r>
              <a:rPr kumimoji="1" lang="zh-CN" altLang="en-US" sz="2400" b="1" i="0" u="none" strike="noStrike" kern="1200" cap="none" spc="0" normalizeH="0" baseline="0" noProof="0">
                <a:ln>
                  <a:noFill/>
                </a:ln>
                <a:solidFill>
                  <a:srgbClr val="000099"/>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mn-cs"/>
              </a:rPr>
              <a:t>；</a:t>
            </a:r>
            <a:endParaRPr kumimoji="1" lang="zh-CN" altLang="en-US" sz="2400" b="1" i="0" u="none" strike="noStrike" kern="1200" cap="none" spc="0" normalizeH="0" baseline="0" noProof="0">
              <a:ln>
                <a:noFill/>
              </a:ln>
              <a:solidFill>
                <a:srgbClr val="000099"/>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mn-cs"/>
            </a:endParaRPr>
          </a:p>
        </p:txBody>
      </p:sp>
      <p:sp>
        <p:nvSpPr>
          <p:cNvPr id="199687" name="AutoShape 7"/>
          <p:cNvSpPr>
            <a:spLocks noChangeArrowheads="1"/>
          </p:cNvSpPr>
          <p:nvPr/>
        </p:nvSpPr>
        <p:spPr bwMode="auto">
          <a:xfrm>
            <a:off x="381000" y="2349500"/>
            <a:ext cx="8763000" cy="1308100"/>
          </a:xfrm>
          <a:prstGeom prst="wedgeRoundRectCallout">
            <a:avLst>
              <a:gd name="adj1" fmla="val -37120"/>
              <a:gd name="adj2" fmla="val 139319"/>
              <a:gd name="adj3" fmla="val 16667"/>
            </a:avLst>
          </a:prstGeom>
          <a:solidFill>
            <a:schemeClr val="bg1"/>
          </a:solidFill>
          <a:ln w="9525" algn="ctr">
            <a:solidFill>
              <a:schemeClr val="tx1"/>
            </a:solidFill>
            <a:miter lim="800000"/>
          </a:ln>
          <a:effectLst/>
        </p:spPr>
        <p:txBody>
          <a:bodyPr lIns="92075" tIns="46038" rIns="92075" bIns="46038"/>
          <a:lstStyle>
            <a:lvl1pPr>
              <a:defRPr>
                <a:solidFill>
                  <a:schemeClr val="tx1"/>
                </a:solidFill>
                <a:latin typeface="Arial" panose="020B0604020202020204" pitchFamily="34" charset="0"/>
                <a:ea typeface="宋体" panose="02010600030101010101" pitchFamily="2" charset="-122"/>
              </a:defRPr>
            </a:lvl1pPr>
            <a:lvl2pPr marL="922655">
              <a:defRPr>
                <a:solidFill>
                  <a:schemeClr val="tx1"/>
                </a:solidFill>
                <a:latin typeface="Arial" panose="020B0604020202020204" pitchFamily="34" charset="0"/>
                <a:ea typeface="宋体" panose="02010600030101010101" pitchFamily="2" charset="-122"/>
              </a:defRPr>
            </a:lvl2pPr>
            <a:lvl3pPr marL="1101725">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90000"/>
              </a:lnSpc>
              <a:spcBef>
                <a:spcPct val="15000"/>
              </a:spcBef>
              <a:spcAft>
                <a:spcPct val="0"/>
              </a:spcAft>
              <a:buClrTx/>
              <a:buSzTx/>
              <a:buFontTx/>
              <a:buChar char="–"/>
              <a:defRPr/>
            </a:pPr>
            <a:r>
              <a:rPr kumimoji="1" lang="en-US" altLang="zh-CN" sz="2400" b="1" i="0" u="none" strike="noStrike" kern="1200" cap="none" spc="0" normalizeH="0" baseline="0" noProof="0">
                <a:ln>
                  <a:noFill/>
                </a:ln>
                <a:solidFill>
                  <a:srgbClr val="000099"/>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mn-cs"/>
              </a:rPr>
              <a:t>memset</a:t>
            </a:r>
            <a:r>
              <a:rPr kumimoji="1" lang="zh-CN" altLang="en-US" sz="2400" b="1" i="0" u="none" strike="noStrike" kern="1200" cap="none" spc="0" normalizeH="0" baseline="0" noProof="0">
                <a:ln>
                  <a:noFill/>
                </a:ln>
                <a:solidFill>
                  <a:srgbClr val="000099"/>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mn-cs"/>
              </a:rPr>
              <a:t>函数将参数</a:t>
            </a:r>
            <a:r>
              <a:rPr kumimoji="1" lang="en-US" altLang="zh-CN" sz="2400" b="1" i="0" u="none" strike="noStrike" kern="1200" cap="none" spc="0" normalizeH="0" baseline="0" noProof="0">
                <a:ln>
                  <a:noFill/>
                </a:ln>
                <a:solidFill>
                  <a:srgbClr val="000099"/>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mn-cs"/>
              </a:rPr>
              <a:t>s</a:t>
            </a:r>
            <a:r>
              <a:rPr kumimoji="1" lang="zh-CN" altLang="en-US" sz="2400" b="1" i="0" u="none" strike="noStrike" kern="1200" cap="none" spc="0" normalizeH="0" baseline="0" noProof="0">
                <a:ln>
                  <a:noFill/>
                </a:ln>
                <a:solidFill>
                  <a:srgbClr val="000099"/>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mn-cs"/>
              </a:rPr>
              <a:t>指定的内存区域的前</a:t>
            </a:r>
            <a:r>
              <a:rPr kumimoji="1" lang="en-US" altLang="zh-CN" sz="2400" b="1" i="0" u="none" strike="noStrike" kern="1200" cap="none" spc="0" normalizeH="0" baseline="0" noProof="0">
                <a:ln>
                  <a:noFill/>
                </a:ln>
                <a:solidFill>
                  <a:srgbClr val="000099"/>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mn-cs"/>
              </a:rPr>
              <a:t>n</a:t>
            </a:r>
            <a:r>
              <a:rPr kumimoji="1" lang="zh-CN" altLang="en-US" sz="2400" b="1" i="0" u="none" strike="noStrike" kern="1200" cap="none" spc="0" normalizeH="0" baseline="0" noProof="0">
                <a:ln>
                  <a:noFill/>
                </a:ln>
                <a:solidFill>
                  <a:srgbClr val="000099"/>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mn-cs"/>
              </a:rPr>
              <a:t>个字节设置为参数</a:t>
            </a:r>
            <a:r>
              <a:rPr kumimoji="1" lang="en-US" altLang="zh-CN" sz="2400" b="1" i="0" u="none" strike="noStrike" kern="1200" cap="none" spc="0" normalizeH="0" baseline="0" noProof="0">
                <a:ln>
                  <a:noFill/>
                </a:ln>
                <a:solidFill>
                  <a:srgbClr val="000099"/>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mn-cs"/>
              </a:rPr>
              <a:t>c</a:t>
            </a:r>
            <a:r>
              <a:rPr kumimoji="1" lang="zh-CN" altLang="en-US" sz="2400" b="1" i="0" u="none" strike="noStrike" kern="1200" cap="none" spc="0" normalizeH="0" baseline="0" noProof="0">
                <a:ln>
                  <a:noFill/>
                </a:ln>
                <a:solidFill>
                  <a:srgbClr val="000099"/>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mn-cs"/>
              </a:rPr>
              <a:t>的内容；</a:t>
            </a:r>
            <a:endParaRPr kumimoji="1" lang="zh-CN" altLang="en-US" sz="2400" b="1" i="0" u="none" strike="noStrike" kern="1200" cap="none" spc="0" normalizeH="0" baseline="0" noProof="0">
              <a:ln>
                <a:noFill/>
              </a:ln>
              <a:solidFill>
                <a:srgbClr val="000099"/>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mn-cs"/>
            </a:endParaRPr>
          </a:p>
        </p:txBody>
      </p:sp>
      <p:sp>
        <p:nvSpPr>
          <p:cNvPr id="199688" name="AutoShape 8"/>
          <p:cNvSpPr>
            <a:spLocks noChangeArrowheads="1"/>
          </p:cNvSpPr>
          <p:nvPr/>
        </p:nvSpPr>
        <p:spPr bwMode="auto">
          <a:xfrm>
            <a:off x="381000" y="2349500"/>
            <a:ext cx="8763000" cy="1308100"/>
          </a:xfrm>
          <a:prstGeom prst="wedgeRoundRectCallout">
            <a:avLst>
              <a:gd name="adj1" fmla="val -36468"/>
              <a:gd name="adj2" fmla="val 169056"/>
              <a:gd name="adj3" fmla="val 16667"/>
            </a:avLst>
          </a:prstGeom>
          <a:solidFill>
            <a:schemeClr val="bg1"/>
          </a:solidFill>
          <a:ln w="9525" algn="ctr">
            <a:solidFill>
              <a:schemeClr val="tx1"/>
            </a:solidFill>
            <a:miter lim="800000"/>
          </a:ln>
          <a:effectLst/>
        </p:spPr>
        <p:txBody>
          <a:bodyPr lIns="92075" tIns="46038" rIns="92075" bIns="46038"/>
          <a:lstStyle>
            <a:lvl1pPr>
              <a:defRPr>
                <a:solidFill>
                  <a:schemeClr val="tx1"/>
                </a:solidFill>
                <a:latin typeface="Arial" panose="020B0604020202020204" pitchFamily="34" charset="0"/>
                <a:ea typeface="宋体" panose="02010600030101010101" pitchFamily="2" charset="-122"/>
              </a:defRPr>
            </a:lvl1pPr>
            <a:lvl2pPr marL="922655">
              <a:defRPr>
                <a:solidFill>
                  <a:schemeClr val="tx1"/>
                </a:solidFill>
                <a:latin typeface="Arial" panose="020B0604020202020204" pitchFamily="34" charset="0"/>
                <a:ea typeface="宋体" panose="02010600030101010101" pitchFamily="2" charset="-122"/>
              </a:defRPr>
            </a:lvl2pPr>
            <a:lvl3pPr marL="1101725">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90000"/>
              </a:lnSpc>
              <a:spcBef>
                <a:spcPct val="15000"/>
              </a:spcBef>
              <a:spcAft>
                <a:spcPct val="0"/>
              </a:spcAft>
              <a:buClrTx/>
              <a:buSzTx/>
              <a:buFontTx/>
              <a:buChar char="–"/>
              <a:defRPr/>
            </a:pPr>
            <a:r>
              <a:rPr kumimoji="1" lang="en-US" altLang="zh-CN" sz="2400" b="1" i="0" u="none" strike="noStrike" kern="1200" cap="none" spc="0" normalizeH="0" baseline="0" noProof="0">
                <a:ln>
                  <a:noFill/>
                </a:ln>
                <a:solidFill>
                  <a:srgbClr val="000099"/>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mn-cs"/>
              </a:rPr>
              <a:t>memcpy</a:t>
            </a:r>
            <a:r>
              <a:rPr kumimoji="1" lang="zh-CN" altLang="en-US" sz="2400" b="1" i="0" u="none" strike="noStrike" kern="1200" cap="none" spc="0" normalizeH="0" baseline="0" noProof="0">
                <a:ln>
                  <a:noFill/>
                </a:ln>
                <a:solidFill>
                  <a:srgbClr val="000099"/>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mn-cs"/>
              </a:rPr>
              <a:t>函数等同于</a:t>
            </a:r>
            <a:r>
              <a:rPr kumimoji="1" lang="en-US" altLang="zh-CN" sz="2400" b="1" i="0" u="none" strike="noStrike" kern="1200" cap="none" spc="0" normalizeH="0" baseline="0" noProof="0">
                <a:ln>
                  <a:noFill/>
                </a:ln>
                <a:solidFill>
                  <a:srgbClr val="000099"/>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mn-cs"/>
              </a:rPr>
              <a:t>bcopy</a:t>
            </a:r>
            <a:r>
              <a:rPr kumimoji="1" lang="zh-CN" altLang="en-US" sz="2400" b="1" i="0" u="none" strike="noStrike" kern="1200" cap="none" spc="0" normalizeH="0" baseline="0" noProof="0">
                <a:ln>
                  <a:noFill/>
                </a:ln>
                <a:solidFill>
                  <a:srgbClr val="000099"/>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mn-cs"/>
              </a:rPr>
              <a:t>，差别是</a:t>
            </a:r>
            <a:r>
              <a:rPr kumimoji="1" lang="en-US" altLang="zh-CN" sz="2400" b="1" i="0" u="none" strike="noStrike" kern="1200" cap="none" spc="0" normalizeH="0" baseline="0" noProof="0">
                <a:ln>
                  <a:noFill/>
                </a:ln>
                <a:solidFill>
                  <a:srgbClr val="000099"/>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mn-cs"/>
              </a:rPr>
              <a:t>bcopy</a:t>
            </a:r>
            <a:r>
              <a:rPr kumimoji="1" lang="zh-CN" altLang="en-US" sz="2400" b="1" i="0" u="none" strike="noStrike" kern="1200" cap="none" spc="0" normalizeH="0" baseline="0" noProof="0">
                <a:ln>
                  <a:noFill/>
                </a:ln>
                <a:solidFill>
                  <a:srgbClr val="000099"/>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mn-cs"/>
              </a:rPr>
              <a:t>可以处理源</a:t>
            </a:r>
            <a:r>
              <a:rPr kumimoji="1" lang="en-US" altLang="zh-CN" sz="2400" b="1" i="0" u="none" strike="noStrike" kern="1200" cap="none" spc="0" normalizeH="0" baseline="0" noProof="0">
                <a:ln>
                  <a:noFill/>
                </a:ln>
                <a:solidFill>
                  <a:srgbClr val="000099"/>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mn-cs"/>
              </a:rPr>
              <a:t>src</a:t>
            </a:r>
            <a:r>
              <a:rPr kumimoji="1" lang="zh-CN" altLang="en-US" sz="2400" b="1" i="0" u="none" strike="noStrike" kern="1200" cap="none" spc="0" normalizeH="0" baseline="0" noProof="0">
                <a:ln>
                  <a:noFill/>
                </a:ln>
                <a:solidFill>
                  <a:srgbClr val="000099"/>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mn-cs"/>
              </a:rPr>
              <a:t>和目标</a:t>
            </a:r>
            <a:r>
              <a:rPr kumimoji="1" lang="en-US" altLang="zh-CN" sz="2400" b="1" i="0" u="none" strike="noStrike" kern="1200" cap="none" spc="0" normalizeH="0" baseline="0" noProof="0">
                <a:ln>
                  <a:noFill/>
                </a:ln>
                <a:solidFill>
                  <a:srgbClr val="000099"/>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mn-cs"/>
              </a:rPr>
              <a:t>dest</a:t>
            </a:r>
            <a:r>
              <a:rPr kumimoji="1" lang="zh-CN" altLang="en-US" sz="2400" b="1" i="0" u="none" strike="noStrike" kern="1200" cap="none" spc="0" normalizeH="0" baseline="0" noProof="0">
                <a:ln>
                  <a:noFill/>
                </a:ln>
                <a:solidFill>
                  <a:srgbClr val="000099"/>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mn-cs"/>
              </a:rPr>
              <a:t>相重叠的情况，而</a:t>
            </a:r>
            <a:r>
              <a:rPr kumimoji="1" lang="en-US" altLang="zh-CN" sz="2400" b="1" i="0" u="none" strike="noStrike" kern="1200" cap="none" spc="0" normalizeH="0" baseline="0" noProof="0">
                <a:ln>
                  <a:noFill/>
                </a:ln>
                <a:solidFill>
                  <a:srgbClr val="000099"/>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mn-cs"/>
              </a:rPr>
              <a:t>memcpy</a:t>
            </a:r>
            <a:r>
              <a:rPr kumimoji="1" lang="zh-CN" altLang="en-US" sz="2400" b="1" i="0" u="none" strike="noStrike" kern="1200" cap="none" spc="0" normalizeH="0" baseline="0" noProof="0">
                <a:ln>
                  <a:noFill/>
                </a:ln>
                <a:solidFill>
                  <a:srgbClr val="000099"/>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mn-cs"/>
              </a:rPr>
              <a:t>则对这种情况没有定义。</a:t>
            </a:r>
            <a:endParaRPr kumimoji="1" lang="zh-CN" altLang="en-US" sz="2400" b="1" i="0" u="none" strike="noStrike" kern="1200" cap="none" spc="0" normalizeH="0" baseline="0" noProof="0">
              <a:ln>
                <a:noFill/>
              </a:ln>
              <a:solidFill>
                <a:srgbClr val="000099"/>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99684"/>
                                        </p:tgtEl>
                                        <p:attrNameLst>
                                          <p:attrName>style.visibility</p:attrName>
                                        </p:attrNameLst>
                                      </p:cBhvr>
                                      <p:to>
                                        <p:strVal val="visible"/>
                                      </p:to>
                                    </p:set>
                                    <p:animEffect transition="in" filter="blinds(horizontal)">
                                      <p:cBhvr>
                                        <p:cTn id="7" dur="500"/>
                                        <p:tgtEl>
                                          <p:spTgt spid="19968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xit" presetSubtype="10" fill="hold" grpId="1" nodeType="clickEffect">
                                  <p:stCondLst>
                                    <p:cond delay="0"/>
                                  </p:stCondLst>
                                  <p:childTnLst>
                                    <p:animEffect transition="out" filter="blinds(horizontal)">
                                      <p:cBhvr>
                                        <p:cTn id="11" dur="500"/>
                                        <p:tgtEl>
                                          <p:spTgt spid="199684"/>
                                        </p:tgtEl>
                                      </p:cBhvr>
                                    </p:animEffect>
                                    <p:set>
                                      <p:cBhvr>
                                        <p:cTn id="12" dur="1" fill="hold">
                                          <p:stCondLst>
                                            <p:cond delay="499"/>
                                          </p:stCondLst>
                                        </p:cTn>
                                        <p:tgtEl>
                                          <p:spTgt spid="199684"/>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99685"/>
                                        </p:tgtEl>
                                        <p:attrNameLst>
                                          <p:attrName>style.visibility</p:attrName>
                                        </p:attrNameLst>
                                      </p:cBhvr>
                                      <p:to>
                                        <p:strVal val="visible"/>
                                      </p:to>
                                    </p:set>
                                    <p:animEffect transition="in" filter="blinds(horizontal)">
                                      <p:cBhvr>
                                        <p:cTn id="17" dur="500"/>
                                        <p:tgtEl>
                                          <p:spTgt spid="19968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xit" presetSubtype="10" fill="hold" grpId="1" nodeType="clickEffect">
                                  <p:stCondLst>
                                    <p:cond delay="0"/>
                                  </p:stCondLst>
                                  <p:childTnLst>
                                    <p:animEffect transition="out" filter="blinds(horizontal)">
                                      <p:cBhvr>
                                        <p:cTn id="21" dur="500"/>
                                        <p:tgtEl>
                                          <p:spTgt spid="199685"/>
                                        </p:tgtEl>
                                      </p:cBhvr>
                                    </p:animEffect>
                                    <p:set>
                                      <p:cBhvr>
                                        <p:cTn id="22" dur="1" fill="hold">
                                          <p:stCondLst>
                                            <p:cond delay="499"/>
                                          </p:stCondLst>
                                        </p:cTn>
                                        <p:tgtEl>
                                          <p:spTgt spid="199685"/>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99686"/>
                                        </p:tgtEl>
                                        <p:attrNameLst>
                                          <p:attrName>style.visibility</p:attrName>
                                        </p:attrNameLst>
                                      </p:cBhvr>
                                      <p:to>
                                        <p:strVal val="visible"/>
                                      </p:to>
                                    </p:set>
                                    <p:animEffect transition="in" filter="blinds(horizontal)">
                                      <p:cBhvr>
                                        <p:cTn id="27" dur="500"/>
                                        <p:tgtEl>
                                          <p:spTgt spid="199686"/>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xit" presetSubtype="10" fill="hold" grpId="1" nodeType="clickEffect">
                                  <p:stCondLst>
                                    <p:cond delay="0"/>
                                  </p:stCondLst>
                                  <p:childTnLst>
                                    <p:animEffect transition="out" filter="blinds(horizontal)">
                                      <p:cBhvr>
                                        <p:cTn id="31" dur="500"/>
                                        <p:tgtEl>
                                          <p:spTgt spid="199686"/>
                                        </p:tgtEl>
                                      </p:cBhvr>
                                    </p:animEffect>
                                    <p:set>
                                      <p:cBhvr>
                                        <p:cTn id="32" dur="1" fill="hold">
                                          <p:stCondLst>
                                            <p:cond delay="499"/>
                                          </p:stCondLst>
                                        </p:cTn>
                                        <p:tgtEl>
                                          <p:spTgt spid="199686"/>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99687"/>
                                        </p:tgtEl>
                                        <p:attrNameLst>
                                          <p:attrName>style.visibility</p:attrName>
                                        </p:attrNameLst>
                                      </p:cBhvr>
                                      <p:to>
                                        <p:strVal val="visible"/>
                                      </p:to>
                                    </p:set>
                                    <p:animEffect transition="in" filter="blinds(horizontal)">
                                      <p:cBhvr>
                                        <p:cTn id="37" dur="500"/>
                                        <p:tgtEl>
                                          <p:spTgt spid="199687"/>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xit" presetSubtype="10" fill="hold" grpId="1" nodeType="clickEffect">
                                  <p:stCondLst>
                                    <p:cond delay="0"/>
                                  </p:stCondLst>
                                  <p:childTnLst>
                                    <p:animEffect transition="out" filter="blinds(horizontal)">
                                      <p:cBhvr>
                                        <p:cTn id="41" dur="500"/>
                                        <p:tgtEl>
                                          <p:spTgt spid="199687"/>
                                        </p:tgtEl>
                                      </p:cBhvr>
                                    </p:animEffect>
                                    <p:set>
                                      <p:cBhvr>
                                        <p:cTn id="42" dur="1" fill="hold">
                                          <p:stCondLst>
                                            <p:cond delay="499"/>
                                          </p:stCondLst>
                                        </p:cTn>
                                        <p:tgtEl>
                                          <p:spTgt spid="199687"/>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99688"/>
                                        </p:tgtEl>
                                        <p:attrNameLst>
                                          <p:attrName>style.visibility</p:attrName>
                                        </p:attrNameLst>
                                      </p:cBhvr>
                                      <p:to>
                                        <p:strVal val="visible"/>
                                      </p:to>
                                    </p:set>
                                    <p:animEffect transition="in" filter="blinds(horizontal)">
                                      <p:cBhvr>
                                        <p:cTn id="47" dur="500"/>
                                        <p:tgtEl>
                                          <p:spTgt spid="199688"/>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xit" presetSubtype="10" fill="hold" grpId="1" nodeType="clickEffect">
                                  <p:stCondLst>
                                    <p:cond delay="0"/>
                                  </p:stCondLst>
                                  <p:childTnLst>
                                    <p:animEffect transition="out" filter="blinds(horizontal)">
                                      <p:cBhvr>
                                        <p:cTn id="51" dur="500"/>
                                        <p:tgtEl>
                                          <p:spTgt spid="199688"/>
                                        </p:tgtEl>
                                      </p:cBhvr>
                                    </p:animEffect>
                                    <p:set>
                                      <p:cBhvr>
                                        <p:cTn id="52" dur="1" fill="hold">
                                          <p:stCondLst>
                                            <p:cond delay="499"/>
                                          </p:stCondLst>
                                        </p:cTn>
                                        <p:tgtEl>
                                          <p:spTgt spid="19968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9684" grpId="0" animBg="1"/>
      <p:bldP spid="199684" grpId="1" animBg="1"/>
      <p:bldP spid="199685" grpId="0" animBg="1"/>
      <p:bldP spid="199685" grpId="1" animBg="1"/>
      <p:bldP spid="199686" grpId="0" animBg="1"/>
      <p:bldP spid="199686" grpId="1" animBg="1"/>
      <p:bldP spid="199687" grpId="0" animBg="1"/>
      <p:bldP spid="199687" grpId="1" animBg="1"/>
      <p:bldP spid="199688" grpId="0" animBg="1"/>
      <p:bldP spid="199688" grpId="1"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Rectangle 2"/>
          <p:cNvSpPr>
            <a:spLocks noGrp="1"/>
          </p:cNvSpPr>
          <p:nvPr>
            <p:ph type="title"/>
          </p:nvPr>
        </p:nvSpPr>
        <p:spPr/>
        <p:txBody>
          <a:bodyPr vert="horz" wrap="square" lIns="91440" tIns="45720" rIns="91440" bIns="45720" anchor="b" anchorCtr="0"/>
          <a:p>
            <a:pPr eaLnBrk="1" hangingPunct="1"/>
            <a:endParaRPr lang="zh-CN" altLang="zh-CN" dirty="0"/>
          </a:p>
        </p:txBody>
      </p:sp>
      <p:sp>
        <p:nvSpPr>
          <p:cNvPr id="47107" name="Rectangle 3"/>
          <p:cNvSpPr>
            <a:spLocks noGrp="1"/>
          </p:cNvSpPr>
          <p:nvPr>
            <p:ph idx="1"/>
          </p:nvPr>
        </p:nvSpPr>
        <p:spPr>
          <a:xfrm>
            <a:off x="468313" y="908050"/>
            <a:ext cx="8275637" cy="5761038"/>
          </a:xfrm>
          <a:solidFill>
            <a:schemeClr val="bg1">
              <a:alpha val="100000"/>
            </a:schemeClr>
          </a:solidFill>
        </p:spPr>
        <p:txBody>
          <a:bodyPr vert="horz" wrap="square" lIns="91440" tIns="45720" rIns="91440" bIns="45720" anchor="t" anchorCtr="0"/>
          <a:p>
            <a:pPr eaLnBrk="1" hangingPunct="1">
              <a:lnSpc>
                <a:spcPct val="80000"/>
              </a:lnSpc>
              <a:buNone/>
            </a:pPr>
            <a:r>
              <a:rPr lang="en-US" altLang="zh-CN" sz="2400" dirty="0"/>
              <a:t>#include &lt;syslib.h&gt; </a:t>
            </a:r>
            <a:endParaRPr lang="en-US" altLang="zh-CN" sz="2400" dirty="0"/>
          </a:p>
          <a:p>
            <a:pPr eaLnBrk="1" hangingPunct="1">
              <a:lnSpc>
                <a:spcPct val="80000"/>
              </a:lnSpc>
              <a:buNone/>
            </a:pPr>
            <a:r>
              <a:rPr lang="en-US" altLang="zh-CN" sz="2400" dirty="0"/>
              <a:t>#include &lt;string.h&gt; </a:t>
            </a:r>
            <a:endParaRPr lang="en-US" altLang="zh-CN" sz="2400" dirty="0"/>
          </a:p>
          <a:p>
            <a:pPr eaLnBrk="1" hangingPunct="1">
              <a:lnSpc>
                <a:spcPct val="80000"/>
              </a:lnSpc>
              <a:buNone/>
            </a:pPr>
            <a:r>
              <a:rPr lang="en-US" altLang="zh-CN" sz="2400" dirty="0"/>
              <a:t>main() { </a:t>
            </a:r>
            <a:endParaRPr lang="en-US" altLang="zh-CN" sz="2400" dirty="0"/>
          </a:p>
          <a:p>
            <a:pPr eaLnBrk="1" hangingPunct="1">
              <a:lnSpc>
                <a:spcPct val="80000"/>
              </a:lnSpc>
              <a:buNone/>
            </a:pPr>
            <a:r>
              <a:rPr lang="en-US" altLang="zh-CN" sz="2400" dirty="0"/>
              <a:t>  char *s1="Hello, Programmers!"; </a:t>
            </a:r>
            <a:endParaRPr lang="en-US" altLang="zh-CN" sz="2400" dirty="0"/>
          </a:p>
          <a:p>
            <a:pPr eaLnBrk="1" hangingPunct="1">
              <a:lnSpc>
                <a:spcPct val="80000"/>
              </a:lnSpc>
              <a:buNone/>
            </a:pPr>
            <a:r>
              <a:rPr lang="en-US" altLang="zh-CN" sz="2400" dirty="0"/>
              <a:t>  char *s2="Hello, programmers!"; </a:t>
            </a:r>
            <a:endParaRPr lang="en-US" altLang="zh-CN" sz="2400" dirty="0"/>
          </a:p>
          <a:p>
            <a:pPr eaLnBrk="1" hangingPunct="1">
              <a:lnSpc>
                <a:spcPct val="80000"/>
              </a:lnSpc>
              <a:buNone/>
            </a:pPr>
            <a:r>
              <a:rPr lang="en-US" altLang="zh-CN" sz="2400" dirty="0"/>
              <a:t>  int r; </a:t>
            </a:r>
            <a:endParaRPr lang="en-US" altLang="zh-CN" sz="2400" dirty="0"/>
          </a:p>
          <a:p>
            <a:pPr eaLnBrk="1" hangingPunct="1">
              <a:lnSpc>
                <a:spcPct val="80000"/>
              </a:lnSpc>
              <a:buNone/>
            </a:pPr>
            <a:r>
              <a:rPr lang="en-US" altLang="zh-CN" sz="2400" dirty="0"/>
              <a:t>  r=memcmp(s1,s2,strlen(s1)); </a:t>
            </a:r>
            <a:endParaRPr lang="en-US" altLang="zh-CN" sz="2400" dirty="0"/>
          </a:p>
          <a:p>
            <a:pPr eaLnBrk="1" hangingPunct="1">
              <a:lnSpc>
                <a:spcPct val="80000"/>
              </a:lnSpc>
              <a:buNone/>
            </a:pPr>
            <a:r>
              <a:rPr lang="en-US" altLang="zh-CN" sz="2400" dirty="0"/>
              <a:t>  if(!r) </a:t>
            </a:r>
            <a:endParaRPr lang="en-US" altLang="zh-CN" sz="2400" dirty="0"/>
          </a:p>
          <a:p>
            <a:pPr eaLnBrk="1" hangingPunct="1">
              <a:lnSpc>
                <a:spcPct val="80000"/>
              </a:lnSpc>
              <a:buNone/>
            </a:pPr>
            <a:r>
              <a:rPr lang="en-US" altLang="zh-CN" sz="2400" dirty="0"/>
              <a:t>       printf("s1 and s2 are identical"); </a:t>
            </a:r>
            <a:endParaRPr lang="en-US" altLang="zh-CN" sz="2400" dirty="0"/>
          </a:p>
          <a:p>
            <a:pPr eaLnBrk="1" hangingPunct="1">
              <a:lnSpc>
                <a:spcPct val="80000"/>
              </a:lnSpc>
              <a:buNone/>
            </a:pPr>
            <a:r>
              <a:rPr lang="en-US" altLang="zh-CN" sz="2400" dirty="0"/>
              <a:t>  else if(r&lt;0) </a:t>
            </a:r>
            <a:endParaRPr lang="en-US" altLang="zh-CN" sz="2400" dirty="0"/>
          </a:p>
          <a:p>
            <a:pPr eaLnBrk="1" hangingPunct="1">
              <a:lnSpc>
                <a:spcPct val="80000"/>
              </a:lnSpc>
              <a:buNone/>
            </a:pPr>
            <a:r>
              <a:rPr lang="en-US" altLang="zh-CN" sz="2400" dirty="0"/>
              <a:t>      printf("s1 less than s2"); </a:t>
            </a:r>
            <a:endParaRPr lang="en-US" altLang="zh-CN" sz="2400" dirty="0"/>
          </a:p>
          <a:p>
            <a:pPr eaLnBrk="1" hangingPunct="1">
              <a:lnSpc>
                <a:spcPct val="80000"/>
              </a:lnSpc>
              <a:buNone/>
            </a:pPr>
            <a:r>
              <a:rPr lang="en-US" altLang="zh-CN" sz="2400" dirty="0"/>
              <a:t>  else </a:t>
            </a:r>
            <a:endParaRPr lang="en-US" altLang="zh-CN" sz="2400" dirty="0"/>
          </a:p>
          <a:p>
            <a:pPr eaLnBrk="1" hangingPunct="1">
              <a:lnSpc>
                <a:spcPct val="80000"/>
              </a:lnSpc>
              <a:buNone/>
            </a:pPr>
            <a:r>
              <a:rPr lang="en-US" altLang="zh-CN" sz="2400" dirty="0"/>
              <a:t>       printf("s1 greater than s2"); </a:t>
            </a:r>
            <a:endParaRPr lang="en-US" altLang="zh-CN" sz="2400" dirty="0"/>
          </a:p>
          <a:p>
            <a:pPr eaLnBrk="1" hangingPunct="1">
              <a:lnSpc>
                <a:spcPct val="80000"/>
              </a:lnSpc>
              <a:buNone/>
            </a:pPr>
            <a:r>
              <a:rPr lang="en-US" altLang="zh-CN" sz="2400" dirty="0"/>
              <a:t> } </a:t>
            </a:r>
            <a:endParaRPr lang="en-US" altLang="zh-CN" sz="2400" dirty="0"/>
          </a:p>
        </p:txBody>
      </p:sp>
    </p:spTree>
  </p:cSld>
  <p:clrMapOvr>
    <a:masterClrMapping/>
  </p:clrMapOvr>
  <p:transition>
    <p:rand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Rectangle 2"/>
          <p:cNvSpPr>
            <a:spLocks noGrp="1"/>
          </p:cNvSpPr>
          <p:nvPr>
            <p:ph type="title"/>
          </p:nvPr>
        </p:nvSpPr>
        <p:spPr/>
        <p:txBody>
          <a:bodyPr vert="horz" wrap="square" lIns="91440" tIns="45720" rIns="91440" bIns="45720" anchor="b" anchorCtr="0"/>
          <a:p>
            <a:pPr eaLnBrk="1" hangingPunct="1"/>
            <a:r>
              <a:rPr lang="en-US" altLang="zh-CN" dirty="0"/>
              <a:t>Memset</a:t>
            </a:r>
            <a:r>
              <a:rPr lang="zh-CN" altLang="en-US" dirty="0"/>
              <a:t>函数</a:t>
            </a:r>
            <a:endParaRPr lang="zh-CN" altLang="en-US" dirty="0"/>
          </a:p>
        </p:txBody>
      </p:sp>
      <p:sp>
        <p:nvSpPr>
          <p:cNvPr id="43011" name="Rectangle 3"/>
          <p:cNvSpPr>
            <a:spLocks noGrp="1"/>
          </p:cNvSpPr>
          <p:nvPr>
            <p:ph idx="1"/>
          </p:nvPr>
        </p:nvSpPr>
        <p:spPr/>
        <p:txBody>
          <a:bodyPr vert="horz" wrap="square" lIns="91440" tIns="45720" rIns="91440" bIns="45720" anchor="t" anchorCtr="0"/>
          <a:p>
            <a:pPr eaLnBrk="1" hangingPunct="1">
              <a:lnSpc>
                <a:spcPct val="80000"/>
              </a:lnSpc>
              <a:buNone/>
            </a:pPr>
            <a:r>
              <a:rPr lang="en-US" altLang="zh-CN" sz="2000" dirty="0"/>
              <a:t>#include &lt;memory.h&gt; </a:t>
            </a:r>
            <a:endParaRPr lang="en-US" altLang="zh-CN" sz="2000" dirty="0"/>
          </a:p>
          <a:p>
            <a:pPr eaLnBrk="1" hangingPunct="1">
              <a:lnSpc>
                <a:spcPct val="80000"/>
              </a:lnSpc>
              <a:buNone/>
            </a:pPr>
            <a:r>
              <a:rPr lang="en-US" altLang="zh-CN" sz="2000" dirty="0"/>
              <a:t>#include &lt;stdio.h&gt;</a:t>
            </a:r>
            <a:endParaRPr lang="en-US" altLang="zh-CN" sz="2000" dirty="0"/>
          </a:p>
          <a:p>
            <a:pPr eaLnBrk="1" hangingPunct="1">
              <a:lnSpc>
                <a:spcPct val="80000"/>
              </a:lnSpc>
              <a:buNone/>
            </a:pPr>
            <a:r>
              <a:rPr lang="en-US" altLang="zh-CN" sz="2000" dirty="0"/>
              <a:t> int main() </a:t>
            </a:r>
            <a:endParaRPr lang="en-US" altLang="zh-CN" sz="2000" dirty="0"/>
          </a:p>
          <a:p>
            <a:pPr eaLnBrk="1" hangingPunct="1">
              <a:lnSpc>
                <a:spcPct val="80000"/>
              </a:lnSpc>
              <a:buNone/>
            </a:pPr>
            <a:r>
              <a:rPr lang="en-US" altLang="zh-CN" sz="2000" dirty="0"/>
              <a:t>{ </a:t>
            </a:r>
            <a:endParaRPr lang="en-US" altLang="zh-CN" sz="2000" dirty="0"/>
          </a:p>
          <a:p>
            <a:pPr eaLnBrk="1" hangingPunct="1">
              <a:lnSpc>
                <a:spcPct val="80000"/>
              </a:lnSpc>
              <a:buNone/>
            </a:pPr>
            <a:r>
              <a:rPr lang="en-US" altLang="zh-CN" sz="2000" dirty="0"/>
              <a:t>   char buffer[] = "This is a test of the memset function"; </a:t>
            </a:r>
            <a:endParaRPr lang="en-US" altLang="zh-CN" sz="2000" dirty="0"/>
          </a:p>
          <a:p>
            <a:pPr eaLnBrk="1" hangingPunct="1">
              <a:lnSpc>
                <a:spcPct val="80000"/>
              </a:lnSpc>
              <a:buNone/>
            </a:pPr>
            <a:r>
              <a:rPr lang="en-US" altLang="zh-CN" sz="2000" dirty="0"/>
              <a:t>   printf( "Before: %s\n", buffer ); </a:t>
            </a:r>
            <a:endParaRPr lang="en-US" altLang="zh-CN" sz="2000" dirty="0"/>
          </a:p>
          <a:p>
            <a:pPr eaLnBrk="1" hangingPunct="1">
              <a:lnSpc>
                <a:spcPct val="80000"/>
              </a:lnSpc>
              <a:buNone/>
            </a:pPr>
            <a:r>
              <a:rPr lang="en-US" altLang="zh-CN" sz="2000" dirty="0"/>
              <a:t>   memset( buffer, '*', 4 ); </a:t>
            </a:r>
            <a:endParaRPr lang="en-US" altLang="zh-CN" sz="2000" dirty="0"/>
          </a:p>
          <a:p>
            <a:pPr eaLnBrk="1" hangingPunct="1">
              <a:lnSpc>
                <a:spcPct val="80000"/>
              </a:lnSpc>
              <a:buNone/>
            </a:pPr>
            <a:r>
              <a:rPr lang="en-US" altLang="zh-CN" sz="2000" dirty="0"/>
              <a:t>   printf( "After: %s\n", buffer ); </a:t>
            </a:r>
            <a:endParaRPr lang="en-US" altLang="zh-CN" sz="2000" dirty="0"/>
          </a:p>
          <a:p>
            <a:pPr eaLnBrk="1" hangingPunct="1">
              <a:lnSpc>
                <a:spcPct val="80000"/>
              </a:lnSpc>
              <a:buNone/>
            </a:pPr>
            <a:r>
              <a:rPr lang="en-US" altLang="zh-CN" sz="2000" dirty="0"/>
              <a:t>} </a:t>
            </a:r>
            <a:endParaRPr lang="en-US" altLang="zh-CN" sz="2000" dirty="0"/>
          </a:p>
          <a:p>
            <a:pPr eaLnBrk="1" hangingPunct="1">
              <a:lnSpc>
                <a:spcPct val="80000"/>
              </a:lnSpc>
              <a:buNone/>
            </a:pPr>
            <a:endParaRPr lang="en-US" altLang="zh-CN" sz="2000" dirty="0"/>
          </a:p>
          <a:p>
            <a:pPr eaLnBrk="1" hangingPunct="1">
              <a:lnSpc>
                <a:spcPct val="80000"/>
              </a:lnSpc>
              <a:buNone/>
            </a:pPr>
            <a:r>
              <a:rPr lang="en-US" altLang="zh-CN" sz="2000" dirty="0"/>
              <a:t>Before: This is a test of the memset function </a:t>
            </a:r>
            <a:endParaRPr lang="en-US" altLang="zh-CN" sz="2000" dirty="0"/>
          </a:p>
          <a:p>
            <a:pPr eaLnBrk="1" hangingPunct="1">
              <a:lnSpc>
                <a:spcPct val="80000"/>
              </a:lnSpc>
              <a:buNone/>
            </a:pPr>
            <a:r>
              <a:rPr lang="en-US" altLang="zh-CN" sz="2000" dirty="0"/>
              <a:t>After: </a:t>
            </a:r>
            <a:r>
              <a:rPr lang="en-US" altLang="zh-CN" sz="2000" dirty="0">
                <a:solidFill>
                  <a:srgbClr val="FF0000"/>
                </a:solidFill>
              </a:rPr>
              <a:t>****</a:t>
            </a:r>
            <a:r>
              <a:rPr lang="en-US" altLang="zh-CN" sz="2000" dirty="0"/>
              <a:t> is a test of the memset function </a:t>
            </a:r>
            <a:endParaRPr lang="en-US" altLang="zh-CN" sz="2000"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3011">
                                            <p:txEl>
                                              <p:charRg st="273" end="319"/>
                                            </p:txEl>
                                          </p:spTgt>
                                        </p:tgtEl>
                                        <p:attrNameLst>
                                          <p:attrName>style.visibility</p:attrName>
                                        </p:attrNameLst>
                                      </p:cBhvr>
                                      <p:to>
                                        <p:strVal val="visible"/>
                                      </p:to>
                                    </p:set>
                                    <p:animEffect transition="in" filter="randombar(horizontal)">
                                      <p:cBhvr>
                                        <p:cTn id="7" dur="500"/>
                                        <p:tgtEl>
                                          <p:spTgt spid="43011">
                                            <p:txEl>
                                              <p:charRg st="273" end="31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Rectangle 2"/>
          <p:cNvSpPr>
            <a:spLocks noGrp="1"/>
          </p:cNvSpPr>
          <p:nvPr>
            <p:ph type="title"/>
          </p:nvPr>
        </p:nvSpPr>
        <p:spPr/>
        <p:txBody>
          <a:bodyPr vert="horz" wrap="square" lIns="91440" tIns="45720" rIns="91440" bIns="45720" anchor="b" anchorCtr="0"/>
          <a:p>
            <a:pPr eaLnBrk="1" hangingPunct="1"/>
            <a:r>
              <a:rPr lang="zh-CN" altLang="en-US" dirty="0"/>
              <a:t>地址转换函数</a:t>
            </a:r>
            <a:endParaRPr lang="zh-CN" altLang="en-US" dirty="0"/>
          </a:p>
        </p:txBody>
      </p:sp>
      <p:sp>
        <p:nvSpPr>
          <p:cNvPr id="50179" name="Rectangle 3"/>
          <p:cNvSpPr>
            <a:spLocks noGrp="1"/>
          </p:cNvSpPr>
          <p:nvPr>
            <p:ph idx="1"/>
          </p:nvPr>
        </p:nvSpPr>
        <p:spPr/>
        <p:txBody>
          <a:bodyPr vert="horz" wrap="square" lIns="91440" tIns="45720" rIns="91440" bIns="45720" anchor="t" anchorCtr="0"/>
          <a:p>
            <a:pPr eaLnBrk="1" hangingPunct="1"/>
            <a:r>
              <a:rPr lang="zh-CN" altLang="en-US" sz="2800" dirty="0"/>
              <a:t>地址转换函数负责在</a:t>
            </a:r>
            <a:r>
              <a:rPr lang="en-US" altLang="zh-CN" sz="2800" dirty="0"/>
              <a:t>ASCII</a:t>
            </a:r>
            <a:r>
              <a:rPr lang="zh-CN" altLang="en-US" sz="2800" dirty="0"/>
              <a:t>字符串和网络字节顺序的二进制值之间进行地址转换。</a:t>
            </a:r>
            <a:endParaRPr lang="en-US" altLang="zh-CN" sz="2800" dirty="0"/>
          </a:p>
          <a:p>
            <a:pPr eaLnBrk="1" hangingPunct="1"/>
            <a:r>
              <a:rPr lang="zh-CN" altLang="en-US" sz="2800" dirty="0"/>
              <a:t>“</a:t>
            </a:r>
            <a:r>
              <a:rPr lang="en-US" altLang="zh-CN" sz="2800" dirty="0"/>
              <a:t>192.168.101.66</a:t>
            </a:r>
            <a:r>
              <a:rPr lang="zh-CN" altLang="en-US" sz="2800" dirty="0"/>
              <a:t>”</a:t>
            </a:r>
            <a:r>
              <a:rPr lang="en-US" altLang="zh-CN" sz="2800" dirty="0"/>
              <a:t>&lt;==&gt;</a:t>
            </a:r>
            <a:r>
              <a:rPr lang="en-US" altLang="zh-CN" sz="2800" dirty="0">
                <a:solidFill>
                  <a:srgbClr val="FF0000"/>
                </a:solidFill>
              </a:rPr>
              <a:t> </a:t>
            </a:r>
            <a:r>
              <a:rPr lang="en-US" altLang="zh-CN" sz="2800" dirty="0"/>
              <a:t>0xC0A86542 </a:t>
            </a:r>
            <a:endParaRPr lang="zh-CN" altLang="en-US" sz="2800" dirty="0"/>
          </a:p>
          <a:p>
            <a:pPr eaLnBrk="1" hangingPunct="1"/>
            <a:r>
              <a:rPr lang="en-US" altLang="zh-CN" sz="2800" dirty="0"/>
              <a:t>inet_addr,inet_aton</a:t>
            </a:r>
            <a:r>
              <a:rPr lang="zh-CN" altLang="en-US" sz="2800" dirty="0"/>
              <a:t>和</a:t>
            </a:r>
            <a:r>
              <a:rPr lang="en-US" altLang="zh-CN" sz="2800" dirty="0"/>
              <a:t>inet_ntoa</a:t>
            </a:r>
            <a:r>
              <a:rPr lang="zh-CN" altLang="en-US" sz="2800" dirty="0"/>
              <a:t>函数</a:t>
            </a:r>
            <a:endParaRPr lang="zh-CN" altLang="en-US" sz="2800" dirty="0"/>
          </a:p>
          <a:p>
            <a:pPr lvl="2" eaLnBrk="1" hangingPunct="1">
              <a:buNone/>
            </a:pPr>
            <a:r>
              <a:rPr lang="en-US" altLang="zh-CN" sz="2000" dirty="0"/>
              <a:t>#include &lt;arpa/inet.h&gt;</a:t>
            </a:r>
            <a:endParaRPr lang="en-US" altLang="zh-CN" sz="2000" dirty="0"/>
          </a:p>
          <a:p>
            <a:pPr lvl="2" eaLnBrk="1" hangingPunct="1">
              <a:lnSpc>
                <a:spcPct val="200000"/>
              </a:lnSpc>
              <a:buNone/>
            </a:pPr>
            <a:r>
              <a:rPr lang="en-US" altLang="zh-CN" sz="2000" dirty="0"/>
              <a:t>in_addr_t inet_addr(const char *strptr);</a:t>
            </a:r>
            <a:endParaRPr lang="en-US" altLang="zh-CN" sz="2000" dirty="0"/>
          </a:p>
          <a:p>
            <a:pPr lvl="2" eaLnBrk="1" hangingPunct="1">
              <a:lnSpc>
                <a:spcPct val="200000"/>
              </a:lnSpc>
              <a:buNone/>
            </a:pPr>
            <a:r>
              <a:rPr lang="en-US" altLang="zh-CN" sz="2000" dirty="0"/>
              <a:t>int inet_aton(const char *strptr,struct in_addr *addrptr);</a:t>
            </a:r>
            <a:endParaRPr lang="en-US" altLang="zh-CN" sz="2000" dirty="0"/>
          </a:p>
          <a:p>
            <a:pPr lvl="2" eaLnBrk="1" hangingPunct="1">
              <a:lnSpc>
                <a:spcPct val="200000"/>
              </a:lnSpc>
              <a:buNone/>
            </a:pPr>
            <a:r>
              <a:rPr lang="en-US" altLang="zh-CN" sz="2000" dirty="0"/>
              <a:t>char* inet_ntoa(struct in_addr numstr);</a:t>
            </a:r>
            <a:endParaRPr lang="en-US" altLang="zh-CN" sz="2000" dirty="0"/>
          </a:p>
        </p:txBody>
      </p:sp>
    </p:spTree>
  </p:cSld>
  <p:clrMapOvr>
    <a:masterClrMapping/>
  </p:clrMapOvr>
  <p:transition>
    <p:rand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Rectangle 2"/>
          <p:cNvSpPr>
            <a:spLocks noGrp="1"/>
          </p:cNvSpPr>
          <p:nvPr>
            <p:ph type="title"/>
          </p:nvPr>
        </p:nvSpPr>
        <p:spPr/>
        <p:txBody>
          <a:bodyPr vert="horz" wrap="square" lIns="91440" tIns="45720" rIns="91440" bIns="45720" anchor="b" anchorCtr="0"/>
          <a:p>
            <a:pPr eaLnBrk="1" hangingPunct="1"/>
            <a:r>
              <a:rPr lang="zh-CN" altLang="en-US" dirty="0"/>
              <a:t>地址转换函数</a:t>
            </a:r>
            <a:endParaRPr lang="zh-CN" altLang="en-US" dirty="0"/>
          </a:p>
        </p:txBody>
      </p:sp>
      <p:sp>
        <p:nvSpPr>
          <p:cNvPr id="52227" name="Rectangle 3"/>
          <p:cNvSpPr>
            <a:spLocks noGrp="1"/>
          </p:cNvSpPr>
          <p:nvPr>
            <p:ph idx="1"/>
          </p:nvPr>
        </p:nvSpPr>
        <p:spPr/>
        <p:txBody>
          <a:bodyPr vert="horz" wrap="square" lIns="91440" tIns="45720" rIns="91440" bIns="45720" anchor="t" anchorCtr="0"/>
          <a:p>
            <a:pPr eaLnBrk="1" hangingPunct="1">
              <a:lnSpc>
                <a:spcPct val="150000"/>
              </a:lnSpc>
            </a:pPr>
            <a:r>
              <a:rPr lang="en-US" altLang="zh-CN" sz="2400" b="1" dirty="0">
                <a:solidFill>
                  <a:srgbClr val="000000"/>
                </a:solidFill>
              </a:rPr>
              <a:t>inet_addr</a:t>
            </a:r>
            <a:r>
              <a:rPr lang="zh-CN" altLang="en-US" sz="2400" b="1" dirty="0">
                <a:solidFill>
                  <a:srgbClr val="000000"/>
                </a:solidFill>
              </a:rPr>
              <a:t>函数，其转换结果作为返回值返回</a:t>
            </a:r>
            <a:r>
              <a:rPr lang="en-US" altLang="zh-CN" sz="2400" b="1" dirty="0">
                <a:solidFill>
                  <a:srgbClr val="000000"/>
                </a:solidFill>
              </a:rPr>
              <a:t>32</a:t>
            </a:r>
            <a:r>
              <a:rPr lang="zh-CN" altLang="en-US" sz="2400" b="1" dirty="0">
                <a:solidFill>
                  <a:srgbClr val="000000"/>
                </a:solidFill>
              </a:rPr>
              <a:t>位二进制网络字节序地址，若转换错，则返回</a:t>
            </a:r>
            <a:r>
              <a:rPr lang="en-US" altLang="zh-CN" sz="2400" b="1" dirty="0">
                <a:solidFill>
                  <a:srgbClr val="00B050"/>
                </a:solidFill>
              </a:rPr>
              <a:t>INADDR_NONE</a:t>
            </a:r>
            <a:endParaRPr lang="en-US" altLang="zh-CN" sz="2400" b="1" dirty="0">
              <a:solidFill>
                <a:srgbClr val="00B050"/>
              </a:solidFill>
            </a:endParaRPr>
          </a:p>
          <a:p>
            <a:pPr eaLnBrk="1" hangingPunct="1">
              <a:lnSpc>
                <a:spcPct val="150000"/>
              </a:lnSpc>
            </a:pPr>
            <a:r>
              <a:rPr lang="en-US" altLang="zh-CN" sz="2400" b="1" dirty="0">
                <a:solidFill>
                  <a:srgbClr val="000000"/>
                </a:solidFill>
              </a:rPr>
              <a:t>inet_addr</a:t>
            </a:r>
            <a:r>
              <a:rPr lang="zh-CN" altLang="en-US" sz="2400" b="1" dirty="0">
                <a:solidFill>
                  <a:srgbClr val="000000"/>
                </a:solidFill>
              </a:rPr>
              <a:t>函数不进行有效性验证，当</a:t>
            </a:r>
            <a:r>
              <a:rPr lang="en-US" altLang="zh-CN" sz="2400" b="1" dirty="0">
                <a:solidFill>
                  <a:srgbClr val="000000"/>
                </a:solidFill>
              </a:rPr>
              <a:t>IP</a:t>
            </a:r>
            <a:r>
              <a:rPr lang="zh-CN" altLang="en-US" sz="2400" b="1" dirty="0">
                <a:solidFill>
                  <a:srgbClr val="000000"/>
                </a:solidFill>
              </a:rPr>
              <a:t>地址是</a:t>
            </a:r>
            <a:r>
              <a:rPr lang="en-US" altLang="zh-CN" sz="2400" b="1" dirty="0">
                <a:solidFill>
                  <a:srgbClr val="000000"/>
                </a:solidFill>
              </a:rPr>
              <a:t>255.255.255.255</a:t>
            </a:r>
            <a:r>
              <a:rPr lang="zh-CN" altLang="en-US" sz="2400" b="1" dirty="0">
                <a:solidFill>
                  <a:srgbClr val="000000"/>
                </a:solidFill>
              </a:rPr>
              <a:t>时，会认为这是个无效的</a:t>
            </a:r>
            <a:r>
              <a:rPr lang="en-US" altLang="zh-CN" sz="2400" b="1" dirty="0">
                <a:solidFill>
                  <a:srgbClr val="000000"/>
                </a:solidFill>
              </a:rPr>
              <a:t>IP</a:t>
            </a:r>
            <a:r>
              <a:rPr lang="zh-CN" altLang="en-US" sz="2400" b="1" dirty="0">
                <a:solidFill>
                  <a:srgbClr val="000000"/>
                </a:solidFill>
              </a:rPr>
              <a:t>地址，但对于目前大部分的路由器上，这个</a:t>
            </a:r>
            <a:r>
              <a:rPr lang="en-US" altLang="zh-CN" sz="2400" b="1" dirty="0">
                <a:solidFill>
                  <a:srgbClr val="000000"/>
                </a:solidFill>
              </a:rPr>
              <a:t>IP</a:t>
            </a:r>
            <a:r>
              <a:rPr lang="zh-CN" altLang="en-US" sz="2400" b="1" dirty="0">
                <a:solidFill>
                  <a:srgbClr val="000000"/>
                </a:solidFill>
              </a:rPr>
              <a:t>都是有效的。</a:t>
            </a:r>
            <a:endParaRPr lang="en-US" altLang="zh-CN" sz="2400" b="1" dirty="0">
              <a:solidFill>
                <a:srgbClr val="000000"/>
              </a:solidFill>
            </a:endParaRPr>
          </a:p>
        </p:txBody>
      </p:sp>
    </p:spTree>
  </p:cSld>
  <p:clrMapOvr>
    <a:masterClrMapping/>
  </p:clrMapOvr>
  <p:transition>
    <p:random/>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Rectangle 2"/>
          <p:cNvSpPr>
            <a:spLocks noGrp="1"/>
          </p:cNvSpPr>
          <p:nvPr>
            <p:ph type="title"/>
          </p:nvPr>
        </p:nvSpPr>
        <p:spPr/>
        <p:txBody>
          <a:bodyPr vert="horz" wrap="square" lIns="91440" tIns="45720" rIns="91440" bIns="45720" anchor="b" anchorCtr="0"/>
          <a:p>
            <a:pPr eaLnBrk="1" hangingPunct="1"/>
            <a:r>
              <a:rPr lang="zh-CN" altLang="en-US" dirty="0"/>
              <a:t>地址转换函数</a:t>
            </a:r>
            <a:endParaRPr lang="zh-CN" altLang="en-US" dirty="0"/>
          </a:p>
        </p:txBody>
      </p:sp>
      <p:sp>
        <p:nvSpPr>
          <p:cNvPr id="48131" name="Rectangle 3"/>
          <p:cNvSpPr>
            <a:spLocks noGrp="1" noChangeArrowheads="1"/>
          </p:cNvSpPr>
          <p:nvPr>
            <p:ph idx="1"/>
          </p:nvPr>
        </p:nvSpPr>
        <p:spPr>
          <a:xfrm>
            <a:off x="971550" y="1628775"/>
            <a:ext cx="7777163" cy="4248150"/>
          </a:xfrm>
        </p:spPr>
        <p:txBody>
          <a:bodyPr vert="horz" wrap="square" lIns="91440" tIns="45720" rIns="91440" bIns="45720" numCol="1" anchor="t" anchorCtr="0" compatLnSpc="1"/>
          <a:lstStyle/>
          <a:p>
            <a:pPr marL="342900" marR="0" lvl="2" indent="-342900" algn="l" defTabSz="914400" rtl="0" eaLnBrk="1" fontAlgn="base" latinLnBrk="0" hangingPunct="1">
              <a:lnSpc>
                <a:spcPct val="150000"/>
              </a:lnSpc>
              <a:spcBef>
                <a:spcPct val="20000"/>
              </a:spcBef>
              <a:spcAft>
                <a:spcPct val="0"/>
              </a:spcAft>
              <a:buClr>
                <a:schemeClr val="folHlink"/>
              </a:buClr>
              <a:buSzPct val="60000"/>
              <a:buFont typeface="Wingdings" panose="05000000000000000000" pitchFamily="2" charset="2"/>
              <a:buChar char="n"/>
              <a:defRPr/>
            </a:pPr>
            <a:r>
              <a:rPr kumimoji="0" lang="en-US" altLang="zh-CN" sz="2400" b="1" i="0" u="none" strike="noStrike" kern="0" cap="none" spc="0" normalizeH="0" baseline="0" noProof="0">
                <a:ln>
                  <a:noFill/>
                </a:ln>
                <a:solidFill>
                  <a:srgbClr val="000000"/>
                </a:solidFill>
                <a:effectLst/>
                <a:uLnTx/>
                <a:uFillTx/>
                <a:latin typeface="+mn-lt"/>
                <a:ea typeface="+mn-ea"/>
                <a:cs typeface="+mn-ea"/>
              </a:rPr>
              <a:t>inet_aton</a:t>
            </a:r>
            <a:r>
              <a:rPr kumimoji="0" lang="zh-CN" altLang="en-US" sz="2400" b="1" i="0" u="none" strike="noStrike" kern="0" cap="none" spc="0" normalizeH="0" baseline="0" noProof="0">
                <a:ln>
                  <a:noFill/>
                </a:ln>
                <a:solidFill>
                  <a:srgbClr val="000000"/>
                </a:solidFill>
                <a:effectLst/>
                <a:uLnTx/>
                <a:uFillTx/>
                <a:latin typeface="+mn-lt"/>
                <a:ea typeface="+mn-ea"/>
                <a:cs typeface="+mn-ea"/>
              </a:rPr>
              <a:t>函数</a:t>
            </a:r>
            <a:endParaRPr kumimoji="0" lang="en-US" altLang="zh-CN" sz="2400" b="1" i="0" u="none" strike="noStrike" kern="0" cap="none" spc="0" normalizeH="0" baseline="0" noProof="0">
              <a:ln>
                <a:noFill/>
              </a:ln>
              <a:solidFill>
                <a:srgbClr val="000000"/>
              </a:solidFill>
              <a:effectLst/>
              <a:uLnTx/>
              <a:uFillTx/>
              <a:latin typeface="+mn-lt"/>
              <a:ea typeface="+mn-ea"/>
              <a:cs typeface="+mn-ea"/>
            </a:endParaRPr>
          </a:p>
          <a:p>
            <a:pPr marL="0" marR="0" lvl="2" indent="0" algn="l" defTabSz="914400" rtl="0" eaLnBrk="1" fontAlgn="base" latinLnBrk="0" hangingPunct="1">
              <a:lnSpc>
                <a:spcPct val="150000"/>
              </a:lnSpc>
              <a:spcBef>
                <a:spcPct val="20000"/>
              </a:spcBef>
              <a:spcAft>
                <a:spcPct val="0"/>
              </a:spcAft>
              <a:buClr>
                <a:schemeClr val="folHlink"/>
              </a:buClr>
              <a:buSzPct val="60000"/>
              <a:buFont typeface="Wingdings" panose="05000000000000000000" pitchFamily="2" charset="2"/>
              <a:buNone/>
              <a:defRPr/>
            </a:pPr>
            <a:r>
              <a:rPr kumimoji="0" lang="zh-CN" altLang="en-US" sz="2400" b="1" i="0" u="none" strike="noStrike" kern="0" cap="none" spc="0" normalizeH="0" baseline="0" noProof="0">
                <a:ln>
                  <a:noFill/>
                </a:ln>
                <a:solidFill>
                  <a:srgbClr val="000000"/>
                </a:solidFill>
                <a:effectLst/>
                <a:uLnTx/>
                <a:uFillTx/>
                <a:latin typeface="+mn-lt"/>
                <a:ea typeface="+mn-ea"/>
                <a:cs typeface="+mn-ea"/>
              </a:rPr>
              <a:t>      </a:t>
            </a:r>
            <a:r>
              <a:rPr kumimoji="0" lang="en-US" altLang="zh-CN" sz="2000" b="1" i="0" u="none" strike="noStrike" kern="0" cap="none" spc="0" normalizeH="0" baseline="0" noProof="0">
                <a:ln>
                  <a:noFill/>
                </a:ln>
                <a:solidFill>
                  <a:schemeClr val="tx1"/>
                </a:solidFill>
                <a:effectLst/>
                <a:uLnTx/>
                <a:uFillTx/>
                <a:latin typeface="+mn-lt"/>
                <a:ea typeface="+mn-ea"/>
                <a:cs typeface="+mn-ea"/>
              </a:rPr>
              <a:t>int inet_aton(const char *strptr,struct in_addr *addrptr);</a:t>
            </a:r>
            <a:endParaRPr kumimoji="0" lang="en-US" altLang="zh-CN" sz="2000" b="1" i="0" u="none" strike="noStrike" kern="0" cap="none" spc="0" normalizeH="0" baseline="0" noProof="0">
              <a:ln>
                <a:noFill/>
              </a:ln>
              <a:solidFill>
                <a:schemeClr val="tx1"/>
              </a:solidFill>
              <a:effectLst/>
              <a:uLnTx/>
              <a:uFillTx/>
              <a:latin typeface="+mn-lt"/>
              <a:ea typeface="+mn-ea"/>
              <a:cs typeface="+mn-ea"/>
            </a:endParaRPr>
          </a:p>
          <a:p>
            <a:pPr marL="0" marR="0" lvl="2" indent="0" algn="l" defTabSz="914400" rtl="0" eaLnBrk="1" fontAlgn="base" latinLnBrk="0" hangingPunct="1">
              <a:lnSpc>
                <a:spcPct val="150000"/>
              </a:lnSpc>
              <a:spcBef>
                <a:spcPct val="20000"/>
              </a:spcBef>
              <a:spcAft>
                <a:spcPct val="0"/>
              </a:spcAft>
              <a:buClr>
                <a:schemeClr val="folHlink"/>
              </a:buClr>
              <a:buSzPct val="60000"/>
              <a:buFont typeface="Wingdings" panose="05000000000000000000" pitchFamily="2" charset="2"/>
              <a:buNone/>
              <a:defRPr/>
            </a:pPr>
            <a:r>
              <a:rPr kumimoji="0" lang="zh-CN" altLang="en-US" sz="2400" b="1" i="0" u="none" strike="noStrike" kern="0" cap="none" spc="0" normalizeH="0" baseline="0" noProof="0">
                <a:ln>
                  <a:noFill/>
                </a:ln>
                <a:solidFill>
                  <a:schemeClr val="tx1"/>
                </a:solidFill>
                <a:effectLst/>
                <a:uLnTx/>
                <a:uFillTx/>
                <a:latin typeface="+mn-lt"/>
                <a:ea typeface="+mn-ea"/>
                <a:cs typeface="+mn-ea"/>
              </a:rPr>
              <a:t>将</a:t>
            </a:r>
            <a:r>
              <a:rPr kumimoji="0" lang="en-US" altLang="zh-CN" sz="2400" b="1" i="0" u="none" strike="noStrike" kern="0" cap="none" spc="0" normalizeH="0" baseline="0" noProof="0">
                <a:ln>
                  <a:noFill/>
                </a:ln>
                <a:solidFill>
                  <a:schemeClr val="tx1"/>
                </a:solidFill>
                <a:effectLst/>
                <a:uLnTx/>
                <a:uFillTx/>
                <a:latin typeface="+mn-lt"/>
                <a:ea typeface="+mn-ea"/>
                <a:cs typeface="+mn-ea"/>
              </a:rPr>
              <a:t>strptr</a:t>
            </a:r>
            <a:r>
              <a:rPr kumimoji="0" lang="zh-CN" altLang="en-US" sz="2400" b="1" i="0" u="none" strike="noStrike" kern="0" cap="none" spc="0" normalizeH="0" baseline="0" noProof="0">
                <a:ln>
                  <a:noFill/>
                </a:ln>
                <a:solidFill>
                  <a:schemeClr val="tx1"/>
                </a:solidFill>
                <a:effectLst/>
                <a:uLnTx/>
                <a:uFillTx/>
                <a:latin typeface="+mn-lt"/>
                <a:ea typeface="+mn-ea"/>
                <a:cs typeface="+mn-ea"/>
              </a:rPr>
              <a:t>所指向的字符串转换成</a:t>
            </a:r>
            <a:r>
              <a:rPr kumimoji="0" lang="en-US" altLang="zh-CN" sz="2400" b="1" i="0" u="none" strike="noStrike" kern="0" cap="none" spc="0" normalizeH="0" baseline="0" noProof="0">
                <a:ln>
                  <a:noFill/>
                </a:ln>
                <a:solidFill>
                  <a:schemeClr val="tx1"/>
                </a:solidFill>
                <a:effectLst/>
                <a:uLnTx/>
                <a:uFillTx/>
                <a:latin typeface="+mn-lt"/>
                <a:ea typeface="+mn-ea"/>
                <a:cs typeface="+mn-ea"/>
              </a:rPr>
              <a:t>32</a:t>
            </a:r>
            <a:r>
              <a:rPr kumimoji="0" lang="zh-CN" altLang="en-US" sz="2400" b="1" i="0" u="none" strike="noStrike" kern="0" cap="none" spc="0" normalizeH="0" baseline="0" noProof="0">
                <a:ln>
                  <a:noFill/>
                </a:ln>
                <a:solidFill>
                  <a:schemeClr val="tx1"/>
                </a:solidFill>
                <a:effectLst/>
                <a:uLnTx/>
                <a:uFillTx/>
                <a:latin typeface="+mn-lt"/>
                <a:ea typeface="+mn-ea"/>
                <a:cs typeface="+mn-ea"/>
              </a:rPr>
              <a:t>位的网络字节序二进制值，并存储在指针</a:t>
            </a:r>
            <a:r>
              <a:rPr kumimoji="0" lang="en-US" altLang="zh-CN" sz="2400" b="1" i="0" u="none" strike="noStrike" kern="0" cap="none" spc="0" normalizeH="0" baseline="0" noProof="0">
                <a:ln>
                  <a:noFill/>
                </a:ln>
                <a:solidFill>
                  <a:schemeClr val="tx1"/>
                </a:solidFill>
                <a:effectLst/>
                <a:uLnTx/>
                <a:uFillTx/>
                <a:latin typeface="+mn-lt"/>
                <a:ea typeface="+mn-ea"/>
                <a:cs typeface="+mn-ea"/>
              </a:rPr>
              <a:t>addrptr</a:t>
            </a:r>
            <a:r>
              <a:rPr kumimoji="0" lang="zh-CN" altLang="en-US" sz="2400" b="1" i="0" u="none" strike="noStrike" kern="0" cap="none" spc="0" normalizeH="0" baseline="0" noProof="0">
                <a:ln>
                  <a:noFill/>
                </a:ln>
                <a:solidFill>
                  <a:schemeClr val="tx1"/>
                </a:solidFill>
                <a:effectLst/>
                <a:uLnTx/>
                <a:uFillTx/>
                <a:latin typeface="+mn-lt"/>
                <a:ea typeface="+mn-ea"/>
                <a:cs typeface="+mn-ea"/>
              </a:rPr>
              <a:t>指向的</a:t>
            </a:r>
            <a:r>
              <a:rPr kumimoji="0" lang="en-US" altLang="zh-CN" sz="2400" b="1" i="0" u="none" strike="noStrike" kern="0" cap="none" spc="0" normalizeH="0" baseline="0" noProof="0">
                <a:ln>
                  <a:noFill/>
                </a:ln>
                <a:solidFill>
                  <a:schemeClr val="tx1"/>
                </a:solidFill>
                <a:effectLst/>
                <a:uLnTx/>
                <a:uFillTx/>
                <a:latin typeface="+mn-lt"/>
                <a:ea typeface="+mn-ea"/>
                <a:cs typeface="+mn-ea"/>
              </a:rPr>
              <a:t>in_addr</a:t>
            </a:r>
            <a:r>
              <a:rPr kumimoji="0" lang="zh-CN" altLang="en-US" sz="2400" b="1" i="0" u="none" strike="noStrike" kern="0" cap="none" spc="0" normalizeH="0" baseline="0" noProof="0">
                <a:ln>
                  <a:noFill/>
                </a:ln>
                <a:solidFill>
                  <a:schemeClr val="tx1"/>
                </a:solidFill>
                <a:effectLst/>
                <a:uLnTx/>
                <a:uFillTx/>
                <a:latin typeface="+mn-lt"/>
                <a:ea typeface="+mn-ea"/>
                <a:cs typeface="+mn-ea"/>
              </a:rPr>
              <a:t>结构体中，若成功返回</a:t>
            </a:r>
            <a:r>
              <a:rPr kumimoji="0" lang="en-US" altLang="zh-CN" sz="2400" b="1" i="0" u="none" strike="noStrike" kern="0" cap="none" spc="0" normalizeH="0" baseline="0" noProof="0">
                <a:ln>
                  <a:noFill/>
                </a:ln>
                <a:solidFill>
                  <a:schemeClr val="tx1"/>
                </a:solidFill>
                <a:effectLst/>
                <a:uLnTx/>
                <a:uFillTx/>
                <a:latin typeface="+mn-lt"/>
                <a:ea typeface="+mn-ea"/>
                <a:cs typeface="+mn-ea"/>
              </a:rPr>
              <a:t>1</a:t>
            </a:r>
            <a:r>
              <a:rPr kumimoji="0" lang="zh-CN" altLang="en-US" sz="2400" b="1" i="0" u="none" strike="noStrike" kern="0" cap="none" spc="0" normalizeH="0" baseline="0" noProof="0">
                <a:ln>
                  <a:noFill/>
                </a:ln>
                <a:solidFill>
                  <a:schemeClr val="tx1"/>
                </a:solidFill>
                <a:effectLst/>
                <a:uLnTx/>
                <a:uFillTx/>
                <a:latin typeface="+mn-lt"/>
                <a:ea typeface="+mn-ea"/>
                <a:cs typeface="+mn-ea"/>
              </a:rPr>
              <a:t>。</a:t>
            </a:r>
            <a:endParaRPr kumimoji="0" lang="en-US" altLang="zh-CN" sz="2400" b="1" i="0" u="none" strike="noStrike" kern="0" cap="none" spc="0" normalizeH="0" baseline="0" noProof="0">
              <a:ln>
                <a:noFill/>
              </a:ln>
              <a:solidFill>
                <a:schemeClr val="tx1"/>
              </a:solidFill>
              <a:effectLst/>
              <a:uLnTx/>
              <a:uFillTx/>
              <a:latin typeface="+mn-lt"/>
              <a:ea typeface="+mn-ea"/>
              <a:cs typeface="+mn-ea"/>
            </a:endParaRPr>
          </a:p>
          <a:p>
            <a:pPr marL="342900" marR="0" lvl="0" indent="-342900" algn="l" defTabSz="914400" rtl="0" eaLnBrk="1" fontAlgn="base" latinLnBrk="0" hangingPunct="1">
              <a:lnSpc>
                <a:spcPct val="150000"/>
              </a:lnSpc>
              <a:spcBef>
                <a:spcPct val="20000"/>
              </a:spcBef>
              <a:spcAft>
                <a:spcPct val="0"/>
              </a:spcAft>
              <a:buClr>
                <a:schemeClr val="folHlink"/>
              </a:buClr>
              <a:buSzPct val="60000"/>
              <a:buFont typeface="Wingdings" panose="05000000000000000000" pitchFamily="2" charset="2"/>
              <a:buChar char="n"/>
              <a:defRPr/>
            </a:pPr>
            <a:endParaRPr kumimoji="0" lang="en-US" altLang="zh-CN" sz="2400" b="1" i="0" u="none" strike="noStrike" kern="0" cap="none" spc="0" normalizeH="0" baseline="0" noProof="0">
              <a:ln>
                <a:noFill/>
              </a:ln>
              <a:solidFill>
                <a:srgbClr val="000000"/>
              </a:solidFill>
              <a:effectLst/>
              <a:uLnTx/>
              <a:uFillTx/>
              <a:latin typeface="+mn-lt"/>
              <a:ea typeface="+mn-ea"/>
              <a:cs typeface="+mn-cs"/>
            </a:endParaRPr>
          </a:p>
        </p:txBody>
      </p:sp>
      <p:sp>
        <p:nvSpPr>
          <p:cNvPr id="4" name="AutoShape 9"/>
          <p:cNvSpPr>
            <a:spLocks noChangeArrowheads="1"/>
          </p:cNvSpPr>
          <p:nvPr/>
        </p:nvSpPr>
        <p:spPr bwMode="auto">
          <a:xfrm>
            <a:off x="2195513" y="5086350"/>
            <a:ext cx="5976938" cy="1308100"/>
          </a:xfrm>
          <a:prstGeom prst="wedgeRoundRectCallout">
            <a:avLst>
              <a:gd name="adj1" fmla="val 19136"/>
              <a:gd name="adj2" fmla="val -104663"/>
              <a:gd name="adj3" fmla="val 16667"/>
            </a:avLst>
          </a:prstGeom>
          <a:solidFill>
            <a:schemeClr val="bg1"/>
          </a:solidFill>
          <a:ln w="9525" algn="ctr">
            <a:solidFill>
              <a:schemeClr val="tx1"/>
            </a:solidFill>
            <a:miter lim="800000"/>
          </a:ln>
          <a:effectLst/>
        </p:spPr>
        <p:txBody>
          <a:bodyPr lIns="92075" tIns="46038" rIns="92075" bIns="46038"/>
          <a:lstStyle>
            <a:lvl1pPr>
              <a:defRPr>
                <a:solidFill>
                  <a:schemeClr val="tx1"/>
                </a:solidFill>
                <a:latin typeface="Arial" panose="020B0604020202020204" pitchFamily="34" charset="0"/>
                <a:ea typeface="宋体" panose="02010600030101010101" pitchFamily="2" charset="-122"/>
              </a:defRPr>
            </a:lvl1pPr>
            <a:lvl2pPr marL="922655">
              <a:defRPr>
                <a:solidFill>
                  <a:schemeClr val="tx1"/>
                </a:solidFill>
                <a:latin typeface="Arial" panose="020B0604020202020204" pitchFamily="34" charset="0"/>
                <a:ea typeface="宋体" panose="02010600030101010101" pitchFamily="2" charset="-122"/>
              </a:defRPr>
            </a:lvl2pPr>
            <a:lvl3pPr marL="1101725">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15000"/>
              </a:spcBef>
              <a:spcAft>
                <a:spcPct val="0"/>
              </a:spcAft>
              <a:buClrTx/>
              <a:buSzTx/>
              <a:buFontTx/>
              <a:buNone/>
              <a:defRPr/>
            </a:pPr>
            <a:r>
              <a:rPr kumimoji="1" lang="en-US" altLang="zh-CN" sz="2400" b="1" i="0" u="none" strike="noStrike" kern="1200" cap="none" spc="0" normalizeH="0" baseline="0" noProof="0">
                <a:ln>
                  <a:noFill/>
                </a:ln>
                <a:solidFill>
                  <a:srgbClr val="339933"/>
                </a:solidFill>
                <a:effectLst/>
                <a:uLnTx/>
                <a:uFillTx/>
                <a:latin typeface="+mj-lt"/>
                <a:ea typeface="黑体" panose="02010609060101010101" pitchFamily="49" charset="-122"/>
                <a:cs typeface="+mn-cs"/>
              </a:rPr>
              <a:t>typedef uint32_t in_addr_t</a:t>
            </a:r>
            <a:endParaRPr kumimoji="1" lang="en-US" altLang="zh-CN" sz="2400" b="1" i="0" u="none" strike="noStrike" kern="1200" cap="none" spc="0" normalizeH="0" baseline="0" noProof="0">
              <a:ln>
                <a:noFill/>
              </a:ln>
              <a:solidFill>
                <a:srgbClr val="339933"/>
              </a:solidFill>
              <a:effectLst/>
              <a:uLnTx/>
              <a:uFillTx/>
              <a:latin typeface="+mj-lt"/>
              <a:ea typeface="黑体" panose="02010609060101010101" pitchFamily="49" charset="-122"/>
              <a:cs typeface="+mn-cs"/>
            </a:endParaRPr>
          </a:p>
          <a:p>
            <a:pPr marL="0" marR="0" lvl="0" indent="0" algn="l" defTabSz="914400" rtl="0" eaLnBrk="1" fontAlgn="base" latinLnBrk="0" hangingPunct="1">
              <a:lnSpc>
                <a:spcPct val="150000"/>
              </a:lnSpc>
              <a:spcBef>
                <a:spcPct val="15000"/>
              </a:spcBef>
              <a:spcAft>
                <a:spcPct val="0"/>
              </a:spcAft>
              <a:buClrTx/>
              <a:buSzTx/>
              <a:buFontTx/>
              <a:buNone/>
              <a:defRPr/>
            </a:pPr>
            <a:r>
              <a:rPr kumimoji="1" lang="en-US" altLang="zh-CN" sz="2400" b="1" i="0" u="none" strike="noStrike" kern="1200" cap="none" spc="0" normalizeH="0" baseline="0" noProof="0">
                <a:ln>
                  <a:noFill/>
                </a:ln>
                <a:solidFill>
                  <a:srgbClr val="339933"/>
                </a:solidFill>
                <a:effectLst/>
                <a:uLnTx/>
                <a:uFillTx/>
                <a:latin typeface="+mj-lt"/>
                <a:ea typeface="黑体" panose="02010609060101010101" pitchFamily="49" charset="-122"/>
                <a:cs typeface="+mn-cs"/>
              </a:rPr>
              <a:t>struct in_addr{in_addr_t s_addr;}</a:t>
            </a:r>
            <a:endParaRPr kumimoji="1" lang="zh-CN" altLang="en-US" sz="2400" b="1" i="0" u="none" strike="noStrike" kern="1200" cap="none" spc="0" normalizeH="0" baseline="0" noProof="0">
              <a:ln>
                <a:noFill/>
              </a:ln>
              <a:solidFill>
                <a:srgbClr val="339933"/>
              </a:solidFill>
              <a:effectLst/>
              <a:uLnTx/>
              <a:uFillTx/>
              <a:latin typeface="+mj-lt"/>
              <a:ea typeface="黑体" panose="02010609060101010101" pitchFamily="49" charset="-122"/>
              <a:cs typeface="+mn-cs"/>
            </a:endParaRPr>
          </a:p>
        </p:txBody>
      </p:sp>
    </p:spTree>
  </p:cSld>
  <p:clrMapOvr>
    <a:masterClrMapping/>
  </p:clrMapOvr>
  <p:transition>
    <p:rand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Rectangle 2"/>
          <p:cNvSpPr>
            <a:spLocks noGrp="1"/>
          </p:cNvSpPr>
          <p:nvPr>
            <p:ph type="title"/>
          </p:nvPr>
        </p:nvSpPr>
        <p:spPr/>
        <p:txBody>
          <a:bodyPr vert="horz" wrap="square" lIns="91440" tIns="45720" rIns="91440" bIns="45720" anchor="b" anchorCtr="0"/>
          <a:p>
            <a:pPr eaLnBrk="1" hangingPunct="1"/>
            <a:r>
              <a:rPr lang="zh-CN" altLang="en-US" dirty="0"/>
              <a:t>地址转换函数</a:t>
            </a:r>
            <a:endParaRPr lang="zh-CN" altLang="en-US" dirty="0"/>
          </a:p>
        </p:txBody>
      </p:sp>
      <p:sp>
        <p:nvSpPr>
          <p:cNvPr id="48131" name="Rectangle 3"/>
          <p:cNvSpPr>
            <a:spLocks noGrp="1" noChangeArrowheads="1"/>
          </p:cNvSpPr>
          <p:nvPr>
            <p:ph idx="1"/>
          </p:nvPr>
        </p:nvSpPr>
        <p:spPr>
          <a:xfrm>
            <a:off x="971550" y="1628775"/>
            <a:ext cx="7777163" cy="4537075"/>
          </a:xfrm>
        </p:spPr>
        <p:txBody>
          <a:bodyPr vert="horz" wrap="square" lIns="91440" tIns="45720" rIns="91440" bIns="45720" numCol="1" anchor="t" anchorCtr="0" compatLnSpc="1"/>
          <a:lstStyle/>
          <a:p>
            <a:pPr marL="342900" marR="0" lvl="2" indent="-342900" algn="l" defTabSz="914400" rtl="0" eaLnBrk="1" fontAlgn="base" latinLnBrk="0" hangingPunct="1">
              <a:lnSpc>
                <a:spcPct val="150000"/>
              </a:lnSpc>
              <a:spcBef>
                <a:spcPct val="20000"/>
              </a:spcBef>
              <a:spcAft>
                <a:spcPct val="0"/>
              </a:spcAft>
              <a:buClr>
                <a:schemeClr val="folHlink"/>
              </a:buClr>
              <a:buSzPct val="60000"/>
              <a:buFont typeface="Wingdings" panose="05000000000000000000" pitchFamily="2" charset="2"/>
              <a:buChar char="n"/>
              <a:defRPr/>
            </a:pPr>
            <a:r>
              <a:rPr kumimoji="0" lang="en-US" altLang="zh-CN" sz="2400" b="1" i="0" u="none" strike="noStrike" kern="0" cap="none" spc="0" normalizeH="0" baseline="0" noProof="0">
                <a:ln>
                  <a:noFill/>
                </a:ln>
                <a:solidFill>
                  <a:srgbClr val="000000"/>
                </a:solidFill>
                <a:effectLst/>
                <a:uLnTx/>
                <a:uFillTx/>
                <a:latin typeface="+mn-lt"/>
                <a:ea typeface="+mn-ea"/>
                <a:cs typeface="+mn-ea"/>
              </a:rPr>
              <a:t>inet_ntoa</a:t>
            </a:r>
            <a:r>
              <a:rPr kumimoji="0" lang="zh-CN" altLang="en-US" sz="2400" b="1" i="0" u="none" strike="noStrike" kern="0" cap="none" spc="0" normalizeH="0" baseline="0" noProof="0">
                <a:ln>
                  <a:noFill/>
                </a:ln>
                <a:solidFill>
                  <a:srgbClr val="000000"/>
                </a:solidFill>
                <a:effectLst/>
                <a:uLnTx/>
                <a:uFillTx/>
                <a:latin typeface="+mn-lt"/>
                <a:ea typeface="+mn-ea"/>
                <a:cs typeface="+mn-ea"/>
              </a:rPr>
              <a:t>函数</a:t>
            </a:r>
            <a:endParaRPr kumimoji="0" lang="en-US" altLang="zh-CN" sz="2400" b="1" i="0" u="none" strike="noStrike" kern="0" cap="none" spc="0" normalizeH="0" baseline="0" noProof="0">
              <a:ln>
                <a:noFill/>
              </a:ln>
              <a:solidFill>
                <a:srgbClr val="000000"/>
              </a:solidFill>
              <a:effectLst/>
              <a:uLnTx/>
              <a:uFillTx/>
              <a:latin typeface="+mn-lt"/>
              <a:ea typeface="+mn-ea"/>
              <a:cs typeface="+mn-ea"/>
            </a:endParaRPr>
          </a:p>
          <a:p>
            <a:pPr marL="0" marR="0" lvl="2" indent="0" algn="l" defTabSz="914400" rtl="0" eaLnBrk="1" fontAlgn="base" latinLnBrk="0" hangingPunct="1">
              <a:lnSpc>
                <a:spcPct val="150000"/>
              </a:lnSpc>
              <a:spcBef>
                <a:spcPct val="20000"/>
              </a:spcBef>
              <a:spcAft>
                <a:spcPct val="0"/>
              </a:spcAft>
              <a:buClr>
                <a:schemeClr val="folHlink"/>
              </a:buClr>
              <a:buSzPct val="60000"/>
              <a:buFont typeface="Wingdings" panose="05000000000000000000" pitchFamily="2" charset="2"/>
              <a:buNone/>
              <a:defRPr/>
            </a:pPr>
            <a:r>
              <a:rPr kumimoji="0" lang="en-US" altLang="zh-CN" sz="2000" b="1" i="0" u="none" strike="noStrike" kern="0" cap="none" spc="0" normalizeH="0" baseline="0" noProof="0">
                <a:ln>
                  <a:noFill/>
                </a:ln>
                <a:solidFill>
                  <a:schemeClr val="tx1"/>
                </a:solidFill>
                <a:effectLst/>
                <a:uLnTx/>
                <a:uFillTx/>
                <a:latin typeface="+mn-lt"/>
                <a:ea typeface="+mn-ea"/>
                <a:cs typeface="+mn-ea"/>
              </a:rPr>
              <a:t>      char* inet_ntoa(struct in_addr numstr);</a:t>
            </a:r>
            <a:endParaRPr kumimoji="0" lang="en-US" altLang="zh-CN" sz="2000" b="1" i="0" u="none" strike="noStrike" kern="0" cap="none" spc="0" normalizeH="0" baseline="0" noProof="0">
              <a:ln>
                <a:noFill/>
              </a:ln>
              <a:solidFill>
                <a:schemeClr val="tx1"/>
              </a:solidFill>
              <a:effectLst/>
              <a:uLnTx/>
              <a:uFillTx/>
              <a:latin typeface="+mn-lt"/>
              <a:ea typeface="+mn-ea"/>
              <a:cs typeface="+mn-ea"/>
            </a:endParaRPr>
          </a:p>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r>
              <a:rPr kumimoji="0" lang="zh-CN" altLang="en-US" sz="2400" b="1" i="0" u="none" strike="noStrike" kern="0" cap="none" spc="0" normalizeH="0" baseline="0" noProof="0">
                <a:ln>
                  <a:noFill/>
                </a:ln>
                <a:solidFill>
                  <a:schemeClr val="tx1"/>
                </a:solidFill>
                <a:effectLst/>
                <a:uLnTx/>
                <a:uFillTx/>
                <a:latin typeface="+mn-lt"/>
                <a:ea typeface="+mn-ea"/>
                <a:cs typeface="+mn-cs"/>
              </a:rPr>
              <a:t>函数</a:t>
            </a:r>
            <a:r>
              <a:rPr kumimoji="0" lang="en-US" altLang="zh-CN" sz="2400" b="1" i="0" u="none" strike="noStrike" kern="0" cap="none" spc="0" normalizeH="0" baseline="0" noProof="0">
                <a:ln>
                  <a:noFill/>
                </a:ln>
                <a:solidFill>
                  <a:schemeClr val="tx1"/>
                </a:solidFill>
                <a:effectLst/>
                <a:uLnTx/>
                <a:uFillTx/>
                <a:latin typeface="+mn-lt"/>
                <a:ea typeface="+mn-ea"/>
                <a:cs typeface="+mn-cs"/>
              </a:rPr>
              <a:t>inet_ntoa</a:t>
            </a:r>
            <a:r>
              <a:rPr kumimoji="0" lang="zh-CN" altLang="en-US" sz="2400" b="1" i="0" u="none" strike="noStrike" kern="0" cap="none" spc="0" normalizeH="0" baseline="0" noProof="0">
                <a:ln>
                  <a:noFill/>
                </a:ln>
                <a:solidFill>
                  <a:schemeClr val="tx1"/>
                </a:solidFill>
                <a:effectLst/>
                <a:uLnTx/>
                <a:uFillTx/>
                <a:latin typeface="+mn-lt"/>
                <a:ea typeface="+mn-ea"/>
                <a:cs typeface="+mn-cs"/>
              </a:rPr>
              <a:t>将</a:t>
            </a:r>
            <a:r>
              <a:rPr kumimoji="0" lang="en-US" altLang="zh-CN" sz="2400" b="1" i="0" u="none" strike="noStrike" kern="0" cap="none" spc="0" normalizeH="0" baseline="0" noProof="0">
                <a:ln>
                  <a:noFill/>
                </a:ln>
                <a:solidFill>
                  <a:schemeClr val="tx1"/>
                </a:solidFill>
                <a:effectLst/>
                <a:uLnTx/>
                <a:uFillTx/>
                <a:latin typeface="+mn-lt"/>
                <a:ea typeface="+mn-ea"/>
                <a:cs typeface="+mn-cs"/>
              </a:rPr>
              <a:t>32</a:t>
            </a:r>
            <a:r>
              <a:rPr kumimoji="0" lang="zh-CN" altLang="en-US" sz="2400" b="1" i="0" u="none" strike="noStrike" kern="0" cap="none" spc="0" normalizeH="0" baseline="0" noProof="0">
                <a:ln>
                  <a:noFill/>
                </a:ln>
                <a:solidFill>
                  <a:schemeClr val="tx1"/>
                </a:solidFill>
                <a:effectLst/>
                <a:uLnTx/>
                <a:uFillTx/>
                <a:latin typeface="+mn-lt"/>
                <a:ea typeface="+mn-ea"/>
                <a:cs typeface="+mn-cs"/>
              </a:rPr>
              <a:t>位的网络字节序二进制</a:t>
            </a:r>
            <a:r>
              <a:rPr kumimoji="0" lang="en-US" altLang="zh-CN" sz="2400" b="1" i="0" u="none" strike="noStrike" kern="0" cap="none" spc="0" normalizeH="0" baseline="0" noProof="0">
                <a:ln>
                  <a:noFill/>
                </a:ln>
                <a:solidFill>
                  <a:schemeClr val="tx1"/>
                </a:solidFill>
                <a:effectLst/>
                <a:uLnTx/>
                <a:uFillTx/>
                <a:latin typeface="+mn-lt"/>
                <a:ea typeface="+mn-ea"/>
                <a:cs typeface="+mn-cs"/>
              </a:rPr>
              <a:t>IPv4</a:t>
            </a:r>
            <a:r>
              <a:rPr kumimoji="0" lang="zh-CN" altLang="en-US" sz="2400" b="1" i="0" u="none" strike="noStrike" kern="0" cap="none" spc="0" normalizeH="0" baseline="0" noProof="0">
                <a:ln>
                  <a:noFill/>
                </a:ln>
                <a:solidFill>
                  <a:schemeClr val="tx1"/>
                </a:solidFill>
                <a:effectLst/>
                <a:uLnTx/>
                <a:uFillTx/>
                <a:latin typeface="+mn-lt"/>
                <a:ea typeface="+mn-ea"/>
                <a:cs typeface="+mn-cs"/>
              </a:rPr>
              <a:t>地址转换成相应的点分十进制数串。但由于返回值所指向的串留在静态内存中，这意味着函数是</a:t>
            </a:r>
            <a:r>
              <a:rPr kumimoji="0" lang="zh-CN" altLang="en-US" sz="2400" b="1" i="0" u="none" strike="noStrike" kern="0" cap="none" spc="0" normalizeH="0" baseline="0" noProof="0">
                <a:ln>
                  <a:noFill/>
                </a:ln>
                <a:solidFill>
                  <a:srgbClr val="FF0000"/>
                </a:solidFill>
                <a:effectLst/>
                <a:uLnTx/>
                <a:uFillTx/>
                <a:latin typeface="+mn-lt"/>
                <a:ea typeface="+mn-ea"/>
                <a:cs typeface="+mn-cs"/>
              </a:rPr>
              <a:t>不可重入</a:t>
            </a:r>
            <a:r>
              <a:rPr kumimoji="0" lang="zh-CN" altLang="en-US" sz="2400" b="1" i="0" u="none" strike="noStrike" kern="0" cap="none" spc="0" normalizeH="0" baseline="0" noProof="0">
                <a:ln>
                  <a:noFill/>
                </a:ln>
                <a:solidFill>
                  <a:schemeClr val="tx1"/>
                </a:solidFill>
                <a:effectLst/>
                <a:uLnTx/>
                <a:uFillTx/>
                <a:latin typeface="+mn-lt"/>
                <a:ea typeface="+mn-ea"/>
                <a:cs typeface="+mn-cs"/>
              </a:rPr>
              <a:t>的。</a:t>
            </a:r>
            <a:endParaRPr kumimoji="0" lang="zh-CN" altLang="en-US" sz="2400" b="1" i="0" u="none" strike="noStrike" kern="0" cap="none" spc="0" normalizeH="0" baseline="0" noProof="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r>
              <a:rPr kumimoji="0" lang="zh-CN" altLang="en-US" sz="2400" b="1" i="0" u="none" strike="noStrike" kern="0" cap="none" spc="0" normalizeH="0" baseline="0" noProof="0">
                <a:ln>
                  <a:noFill/>
                </a:ln>
                <a:solidFill>
                  <a:schemeClr val="tx1"/>
                </a:solidFill>
                <a:effectLst/>
                <a:uLnTx/>
                <a:uFillTx/>
                <a:latin typeface="+mn-lt"/>
                <a:ea typeface="+mn-ea"/>
                <a:cs typeface="+mn-cs"/>
              </a:rPr>
              <a:t>需要注意的是这个函数是以结构为参数的，而不是指针。</a:t>
            </a:r>
            <a:endParaRPr kumimoji="0" lang="zh-CN" altLang="en-US" sz="2400" b="1" i="0" u="none" strike="noStrike" kern="0" cap="none" spc="0" normalizeH="0" baseline="0" noProof="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r>
              <a:rPr kumimoji="0" lang="zh-CN" altLang="en-US" sz="2400" b="1" i="0" u="none" strike="noStrike" kern="0" cap="none" spc="0" normalizeH="0" baseline="0" noProof="0">
                <a:ln>
                  <a:noFill/>
                </a:ln>
                <a:solidFill>
                  <a:schemeClr val="tx1"/>
                </a:solidFill>
                <a:effectLst/>
                <a:uLnTx/>
                <a:uFillTx/>
                <a:latin typeface="+mn-lt"/>
                <a:ea typeface="+mn-ea"/>
                <a:cs typeface="+mn-cs"/>
              </a:rPr>
              <a:t>上述三个地址转换函数都只能处理</a:t>
            </a:r>
            <a:r>
              <a:rPr kumimoji="0" lang="en-US" altLang="zh-CN" sz="2400" b="1" i="0" u="none" strike="noStrike" kern="0" cap="none" spc="0" normalizeH="0" baseline="0" noProof="0">
                <a:ln>
                  <a:noFill/>
                </a:ln>
                <a:solidFill>
                  <a:schemeClr val="tx1"/>
                </a:solidFill>
                <a:effectLst/>
                <a:uLnTx/>
                <a:uFillTx/>
                <a:latin typeface="+mn-lt"/>
                <a:ea typeface="+mn-ea"/>
                <a:cs typeface="+mn-cs"/>
              </a:rPr>
              <a:t>IPv4</a:t>
            </a:r>
            <a:r>
              <a:rPr kumimoji="0" lang="zh-CN" altLang="en-US" sz="2400" b="1" i="0" u="none" strike="noStrike" kern="0" cap="none" spc="0" normalizeH="0" baseline="0" noProof="0">
                <a:ln>
                  <a:noFill/>
                </a:ln>
                <a:solidFill>
                  <a:schemeClr val="tx1"/>
                </a:solidFill>
                <a:effectLst/>
                <a:uLnTx/>
                <a:uFillTx/>
                <a:latin typeface="+mn-lt"/>
                <a:ea typeface="+mn-ea"/>
                <a:cs typeface="+mn-cs"/>
              </a:rPr>
              <a:t>协议，而不能处理</a:t>
            </a:r>
            <a:r>
              <a:rPr kumimoji="0" lang="en-US" altLang="zh-CN" sz="2400" b="1" i="0" u="none" strike="noStrike" kern="0" cap="none" spc="0" normalizeH="0" baseline="0" noProof="0">
                <a:ln>
                  <a:noFill/>
                </a:ln>
                <a:solidFill>
                  <a:schemeClr val="tx1"/>
                </a:solidFill>
                <a:effectLst/>
                <a:uLnTx/>
                <a:uFillTx/>
                <a:latin typeface="+mn-lt"/>
                <a:ea typeface="+mn-ea"/>
                <a:cs typeface="+mn-cs"/>
              </a:rPr>
              <a:t>IPv6</a:t>
            </a:r>
            <a:r>
              <a:rPr kumimoji="0" lang="zh-CN" altLang="en-US" sz="2400" b="1" i="0" u="none" strike="noStrike" kern="0" cap="none" spc="0" normalizeH="0" baseline="0" noProof="0">
                <a:ln>
                  <a:noFill/>
                </a:ln>
                <a:solidFill>
                  <a:schemeClr val="tx1"/>
                </a:solidFill>
                <a:effectLst/>
                <a:uLnTx/>
                <a:uFillTx/>
                <a:latin typeface="+mn-lt"/>
                <a:ea typeface="+mn-ea"/>
                <a:cs typeface="+mn-cs"/>
              </a:rPr>
              <a:t>地址。</a:t>
            </a:r>
            <a:endParaRPr kumimoji="0" lang="zh-CN" altLang="en-US" sz="2400" b="1" i="0" u="none" strike="noStrike" kern="0" cap="none" spc="0" normalizeH="0" baseline="0" noProof="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50000"/>
              </a:lnSpc>
              <a:spcBef>
                <a:spcPct val="20000"/>
              </a:spcBef>
              <a:spcAft>
                <a:spcPct val="0"/>
              </a:spcAft>
              <a:buClr>
                <a:schemeClr val="folHlink"/>
              </a:buClr>
              <a:buSzPct val="60000"/>
              <a:buFont typeface="Wingdings" panose="05000000000000000000" pitchFamily="2" charset="2"/>
              <a:buChar char="n"/>
              <a:defRPr/>
            </a:pPr>
            <a:endParaRPr kumimoji="0" lang="en-US" altLang="zh-CN" sz="2400" b="1" i="0" u="none" strike="noStrike" kern="0" cap="none" spc="0" normalizeH="0" baseline="0" noProof="0">
              <a:ln>
                <a:noFill/>
              </a:ln>
              <a:solidFill>
                <a:srgbClr val="000000"/>
              </a:solidFill>
              <a:effectLst/>
              <a:uLnTx/>
              <a:uFillTx/>
              <a:latin typeface="+mn-lt"/>
              <a:ea typeface="+mn-ea"/>
              <a:cs typeface="+mn-cs"/>
            </a:endParaRPr>
          </a:p>
        </p:txBody>
      </p:sp>
      <p:sp>
        <p:nvSpPr>
          <p:cNvPr id="4" name="AutoShape 5"/>
          <p:cNvSpPr/>
          <p:nvPr/>
        </p:nvSpPr>
        <p:spPr>
          <a:xfrm>
            <a:off x="665163" y="4797425"/>
            <a:ext cx="8278812" cy="1308100"/>
          </a:xfrm>
          <a:prstGeom prst="wedgeRoundRectCallout">
            <a:avLst>
              <a:gd name="adj1" fmla="val 27755"/>
              <a:gd name="adj2" fmla="val -117356"/>
              <a:gd name="adj3" fmla="val 16667"/>
            </a:avLst>
          </a:prstGeom>
          <a:solidFill>
            <a:schemeClr val="bg1"/>
          </a:solidFill>
          <a:ln w="9525" cap="flat" cmpd="sng">
            <a:solidFill>
              <a:schemeClr val="tx1"/>
            </a:solidFill>
            <a:prstDash val="solid"/>
            <a:miter/>
            <a:headEnd type="none" w="med" len="med"/>
            <a:tailEnd type="none" w="med" len="med"/>
          </a:ln>
        </p:spPr>
        <p:txBody>
          <a:bodyPr lIns="92075" tIns="46038" rIns="92075" bIns="46038"/>
          <a:p>
            <a:pPr eaLnBrk="1" hangingPunct="1">
              <a:lnSpc>
                <a:spcPct val="90000"/>
              </a:lnSpc>
              <a:spcBef>
                <a:spcPct val="15000"/>
              </a:spcBef>
            </a:pPr>
            <a:r>
              <a:rPr lang="zh-CN" altLang="en-US" dirty="0">
                <a:latin typeface="Tahoma" panose="020B0604030504040204" pitchFamily="34" charset="0"/>
              </a:rPr>
              <a:t>不可重入</a:t>
            </a:r>
            <a:r>
              <a:rPr lang="zh-CN" altLang="en-US" b="0" dirty="0">
                <a:latin typeface="Tahoma" panose="020B0604030504040204" pitchFamily="34" charset="0"/>
              </a:rPr>
              <a:t>的函数的话，那么不同任务调用这个函数时可能修改其他任务调用这个函数的数据，从而导致不可预料的后果</a:t>
            </a:r>
            <a:endParaRPr lang="zh-CN" altLang="en-US" b="0" dirty="0">
              <a:latin typeface="Tahoma" panose="020B0604030504040204" pitchFamily="34"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xit" presetSubtype="10" fill="hold" grpId="1" nodeType="clickEffect">
                                  <p:stCondLst>
                                    <p:cond delay="0"/>
                                  </p:stCondLst>
                                  <p:childTnLst>
                                    <p:animEffect transition="out" filter="blinds(horizontal)">
                                      <p:cBhvr>
                                        <p:cTn id="11" dur="500"/>
                                        <p:tgtEl>
                                          <p:spTgt spid="4"/>
                                        </p:tgtEl>
                                      </p:cBhvr>
                                    </p:animEffect>
                                    <p:set>
                                      <p:cBhvr>
                                        <p:cTn id="12"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Rectangle 2"/>
          <p:cNvSpPr>
            <a:spLocks noGrp="1"/>
          </p:cNvSpPr>
          <p:nvPr>
            <p:ph type="title"/>
          </p:nvPr>
        </p:nvSpPr>
        <p:spPr/>
        <p:txBody>
          <a:bodyPr vert="horz" wrap="square" lIns="91440" tIns="45720" rIns="91440" bIns="45720" anchor="b" anchorCtr="0"/>
          <a:p>
            <a:pPr eaLnBrk="1" hangingPunct="1"/>
            <a:r>
              <a:rPr lang="zh-CN" altLang="en-US" dirty="0"/>
              <a:t>地址转换函数</a:t>
            </a:r>
            <a:endParaRPr lang="zh-CN" altLang="en-US" dirty="0"/>
          </a:p>
        </p:txBody>
      </p:sp>
      <p:pic>
        <p:nvPicPr>
          <p:cNvPr id="58371" name="图片 1"/>
          <p:cNvPicPr>
            <a:picLocks noChangeAspect="1"/>
          </p:cNvPicPr>
          <p:nvPr/>
        </p:nvPicPr>
        <p:blipFill>
          <a:blip r:embed="rId1"/>
          <a:stretch>
            <a:fillRect/>
          </a:stretch>
        </p:blipFill>
        <p:spPr>
          <a:xfrm>
            <a:off x="0" y="1804988"/>
            <a:ext cx="9036050" cy="3279775"/>
          </a:xfrm>
          <a:prstGeom prst="rect">
            <a:avLst/>
          </a:prstGeom>
          <a:noFill/>
          <a:ln w="9525">
            <a:noFill/>
          </a:ln>
        </p:spPr>
      </p:pic>
      <p:pic>
        <p:nvPicPr>
          <p:cNvPr id="3" name="图片 2"/>
          <p:cNvPicPr>
            <a:picLocks noChangeAspect="1"/>
          </p:cNvPicPr>
          <p:nvPr/>
        </p:nvPicPr>
        <p:blipFill>
          <a:blip r:embed="rId2"/>
          <a:stretch>
            <a:fillRect/>
          </a:stretch>
        </p:blipFill>
        <p:spPr>
          <a:xfrm>
            <a:off x="323850" y="5300663"/>
            <a:ext cx="5981700" cy="1368425"/>
          </a:xfrm>
          <a:prstGeom prst="rect">
            <a:avLst/>
          </a:prstGeom>
          <a:noFill/>
          <a:ln w="9525">
            <a:noFill/>
          </a:ln>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Rectangle 2"/>
          <p:cNvSpPr>
            <a:spLocks noGrp="1"/>
          </p:cNvSpPr>
          <p:nvPr>
            <p:ph type="title"/>
          </p:nvPr>
        </p:nvSpPr>
        <p:spPr/>
        <p:txBody>
          <a:bodyPr vert="horz" wrap="square" lIns="91440" tIns="45720" rIns="91440" bIns="45720" anchor="b" anchorCtr="0"/>
          <a:p>
            <a:pPr eaLnBrk="1" hangingPunct="1"/>
            <a:r>
              <a:rPr lang="zh-CN" altLang="en-US" dirty="0"/>
              <a:t>地址转换函数</a:t>
            </a:r>
            <a:endParaRPr lang="zh-CN" altLang="en-US" dirty="0"/>
          </a:p>
        </p:txBody>
      </p:sp>
      <p:pic>
        <p:nvPicPr>
          <p:cNvPr id="60419" name="图片 2"/>
          <p:cNvPicPr>
            <a:picLocks noChangeAspect="1"/>
          </p:cNvPicPr>
          <p:nvPr/>
        </p:nvPicPr>
        <p:blipFill>
          <a:blip r:embed="rId1"/>
          <a:stretch>
            <a:fillRect/>
          </a:stretch>
        </p:blipFill>
        <p:spPr>
          <a:xfrm>
            <a:off x="900113" y="1700213"/>
            <a:ext cx="7200900" cy="4752975"/>
          </a:xfrm>
          <a:prstGeom prst="rect">
            <a:avLst/>
          </a:prstGeom>
          <a:noFill/>
          <a:ln w="9525">
            <a:noFill/>
          </a:ln>
        </p:spPr>
      </p:pic>
    </p:spTree>
  </p:cSld>
  <p:clrMapOvr>
    <a:masterClrMapping/>
  </p:clrMapOvr>
  <p:transition>
    <p:random/>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Rectangle 2"/>
          <p:cNvSpPr>
            <a:spLocks noGrp="1"/>
          </p:cNvSpPr>
          <p:nvPr>
            <p:ph type="title"/>
          </p:nvPr>
        </p:nvSpPr>
        <p:spPr/>
        <p:txBody>
          <a:bodyPr vert="horz" wrap="square" lIns="91440" tIns="45720" rIns="91440" bIns="45720" anchor="b" anchorCtr="0"/>
          <a:p>
            <a:pPr eaLnBrk="1" hangingPunct="1"/>
            <a:r>
              <a:rPr lang="zh-CN" altLang="en-US" dirty="0"/>
              <a:t>地址转换函数</a:t>
            </a:r>
            <a:endParaRPr lang="zh-CN" altLang="en-US" dirty="0"/>
          </a:p>
        </p:txBody>
      </p:sp>
      <p:pic>
        <p:nvPicPr>
          <p:cNvPr id="62467" name="图片 2"/>
          <p:cNvPicPr>
            <a:picLocks noChangeAspect="1"/>
          </p:cNvPicPr>
          <p:nvPr/>
        </p:nvPicPr>
        <p:blipFill>
          <a:blip r:embed="rId1"/>
          <a:stretch>
            <a:fillRect/>
          </a:stretch>
        </p:blipFill>
        <p:spPr>
          <a:xfrm>
            <a:off x="755650" y="1700213"/>
            <a:ext cx="7704138" cy="4968875"/>
          </a:xfrm>
          <a:prstGeom prst="rect">
            <a:avLst/>
          </a:prstGeom>
          <a:noFill/>
          <a:ln w="9525">
            <a:noFill/>
          </a:ln>
        </p:spPr>
      </p:pic>
    </p:spTree>
  </p:cSld>
  <p:clrMapOvr>
    <a:masterClrMapping/>
  </p:clrMapOvr>
  <p:transition>
    <p:rand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Rectangle 2"/>
          <p:cNvSpPr>
            <a:spLocks noGrp="1"/>
          </p:cNvSpPr>
          <p:nvPr>
            <p:ph type="title"/>
          </p:nvPr>
        </p:nvSpPr>
        <p:spPr>
          <a:xfrm>
            <a:off x="971550" y="692150"/>
            <a:ext cx="7793038" cy="485775"/>
          </a:xfrm>
        </p:spPr>
        <p:txBody>
          <a:bodyPr vert="horz" wrap="square" lIns="91440" tIns="45720" rIns="91440" bIns="45720" anchor="b" anchorCtr="0"/>
          <a:p>
            <a:pPr eaLnBrk="1" hangingPunct="1"/>
            <a:r>
              <a:rPr lang="zh-CN" altLang="en-US" b="1" dirty="0"/>
              <a:t>地址转换函数（</a:t>
            </a:r>
            <a:r>
              <a:rPr lang="en-US" altLang="zh-CN" b="1" dirty="0"/>
              <a:t>cont.</a:t>
            </a:r>
            <a:r>
              <a:rPr lang="zh-CN" altLang="en-US" b="1" dirty="0"/>
              <a:t>）</a:t>
            </a:r>
            <a:endParaRPr lang="zh-CN" altLang="en-US" b="1" dirty="0"/>
          </a:p>
        </p:txBody>
      </p:sp>
      <p:sp>
        <p:nvSpPr>
          <p:cNvPr id="64515" name="Rectangle 3"/>
          <p:cNvSpPr>
            <a:spLocks noGrp="1"/>
          </p:cNvSpPr>
          <p:nvPr>
            <p:ph idx="1"/>
          </p:nvPr>
        </p:nvSpPr>
        <p:spPr>
          <a:xfrm>
            <a:off x="611188" y="1557338"/>
            <a:ext cx="7543800" cy="4895850"/>
          </a:xfrm>
        </p:spPr>
        <p:txBody>
          <a:bodyPr vert="horz" wrap="square" lIns="91440" tIns="45720" rIns="91440" bIns="45720" anchor="t" anchorCtr="0"/>
          <a:p>
            <a:pPr eaLnBrk="1" hangingPunct="1"/>
            <a:r>
              <a:rPr lang="en-US" altLang="zh-CN" sz="2000" dirty="0"/>
              <a:t>#include &lt;arpa/inet.h&gt;</a:t>
            </a:r>
            <a:endParaRPr lang="en-US" altLang="zh-CN" sz="2000" dirty="0"/>
          </a:p>
          <a:p>
            <a:pPr eaLnBrk="1" hangingPunct="1">
              <a:buNone/>
            </a:pPr>
            <a:r>
              <a:rPr lang="en-US" altLang="zh-CN" sz="2000" dirty="0"/>
              <a:t>int inet_pton(int family, const char *strptr, void *addrptr);</a:t>
            </a:r>
            <a:endParaRPr lang="en-US" altLang="zh-CN" sz="2000" dirty="0"/>
          </a:p>
          <a:p>
            <a:pPr eaLnBrk="1" hangingPunct="1">
              <a:buNone/>
            </a:pPr>
            <a:r>
              <a:rPr lang="en-US" altLang="zh-CN" sz="2000" dirty="0"/>
              <a:t>                       </a:t>
            </a:r>
            <a:r>
              <a:rPr lang="zh-CN" altLang="en-US" sz="2000" dirty="0"/>
              <a:t>返回：</a:t>
            </a:r>
            <a:r>
              <a:rPr lang="en-US" altLang="zh-CN" sz="2000" dirty="0"/>
              <a:t>1-</a:t>
            </a:r>
            <a:r>
              <a:rPr lang="zh-CN" altLang="en-US" sz="2000" dirty="0"/>
              <a:t>成功，</a:t>
            </a:r>
            <a:r>
              <a:rPr lang="en-US" altLang="zh-CN" sz="2000" dirty="0"/>
              <a:t>0</a:t>
            </a:r>
            <a:r>
              <a:rPr lang="zh-CN" altLang="en-US" sz="2000" dirty="0"/>
              <a:t>－输入无效，</a:t>
            </a:r>
            <a:r>
              <a:rPr lang="en-US" altLang="zh-CN" sz="2000" dirty="0"/>
              <a:t>-1:</a:t>
            </a:r>
            <a:r>
              <a:rPr lang="zh-CN" altLang="en-US" sz="2000" dirty="0"/>
              <a:t>出错</a:t>
            </a:r>
            <a:endParaRPr lang="zh-CN" altLang="en-US" sz="2000" dirty="0"/>
          </a:p>
          <a:p>
            <a:pPr eaLnBrk="1" hangingPunct="1">
              <a:buNone/>
            </a:pPr>
            <a:r>
              <a:rPr lang="en-US" altLang="zh-CN" sz="2000" dirty="0"/>
              <a:t>const char *inet_ntop(int family, const void *addrptr, char *strptr, size_t len);</a:t>
            </a:r>
            <a:endParaRPr lang="en-US" altLang="zh-CN" sz="2000" dirty="0"/>
          </a:p>
          <a:p>
            <a:pPr eaLnBrk="1" hangingPunct="1">
              <a:buNone/>
            </a:pPr>
            <a:r>
              <a:rPr lang="en-US" altLang="zh-CN" sz="2000" dirty="0"/>
              <a:t>                </a:t>
            </a:r>
            <a:r>
              <a:rPr lang="zh-CN" altLang="en-US" sz="2000" dirty="0"/>
              <a:t>返回：指向结果的指针－－成功，</a:t>
            </a:r>
            <a:r>
              <a:rPr lang="en-US" altLang="zh-CN" sz="2000" dirty="0"/>
              <a:t>NULL</a:t>
            </a:r>
            <a:r>
              <a:rPr lang="zh-CN" altLang="en-US" sz="2000" dirty="0"/>
              <a:t>－出错</a:t>
            </a:r>
            <a:endParaRPr lang="zh-CN" altLang="en-US" sz="2000" dirty="0"/>
          </a:p>
          <a:p>
            <a:pPr eaLnBrk="1" hangingPunct="1">
              <a:buNone/>
            </a:pPr>
            <a:r>
              <a:rPr lang="zh-CN" altLang="en-US" sz="2000" dirty="0"/>
              <a:t>字母</a:t>
            </a:r>
            <a:r>
              <a:rPr lang="en-US" altLang="zh-CN" sz="2000" dirty="0"/>
              <a:t>P</a:t>
            </a:r>
            <a:r>
              <a:rPr lang="zh-CN" altLang="en-US" sz="2000" dirty="0"/>
              <a:t>和</a:t>
            </a:r>
            <a:r>
              <a:rPr lang="en-US" altLang="zh-CN" sz="2000" dirty="0"/>
              <a:t>N</a:t>
            </a:r>
            <a:r>
              <a:rPr lang="zh-CN" altLang="en-US" sz="2000" dirty="0"/>
              <a:t>分别代表</a:t>
            </a:r>
            <a:r>
              <a:rPr lang="en-US" altLang="zh-CN" sz="2000" dirty="0"/>
              <a:t>presentation</a:t>
            </a:r>
            <a:r>
              <a:rPr lang="zh-CN" altLang="en-US" sz="2000" dirty="0"/>
              <a:t>（地址的表达格式）和</a:t>
            </a:r>
            <a:r>
              <a:rPr lang="en-US" altLang="zh-CN" sz="2000" dirty="0"/>
              <a:t>numeric</a:t>
            </a:r>
            <a:r>
              <a:rPr lang="zh-CN" altLang="en-US" sz="2000" dirty="0"/>
              <a:t>（数值格式）。</a:t>
            </a:r>
            <a:endParaRPr lang="zh-CN" altLang="en-US" sz="2000" dirty="0"/>
          </a:p>
          <a:p>
            <a:pPr eaLnBrk="1" hangingPunct="1"/>
            <a:r>
              <a:rPr lang="en-US" altLang="zh-CN" sz="2400" dirty="0"/>
              <a:t>family</a:t>
            </a:r>
            <a:r>
              <a:rPr lang="zh-CN" altLang="en-US" sz="2400" dirty="0"/>
              <a:t>参数可以是</a:t>
            </a:r>
            <a:r>
              <a:rPr lang="en-US" altLang="zh-CN" sz="2400" dirty="0"/>
              <a:t>AF_INET,</a:t>
            </a:r>
            <a:r>
              <a:rPr lang="zh-CN" altLang="en-US" sz="2400" dirty="0"/>
              <a:t>也可以是</a:t>
            </a:r>
            <a:r>
              <a:rPr lang="en-US" altLang="zh-CN" sz="2400" dirty="0"/>
              <a:t>AF_INET6</a:t>
            </a:r>
            <a:r>
              <a:rPr lang="zh-CN" altLang="en-US" sz="2400" dirty="0"/>
              <a:t>。</a:t>
            </a:r>
            <a:endParaRPr lang="zh-CN" altLang="en-US" sz="2400" dirty="0"/>
          </a:p>
          <a:p>
            <a:pPr eaLnBrk="1" hangingPunct="1"/>
            <a:r>
              <a:rPr lang="zh-CN" altLang="en-US" sz="2400" dirty="0"/>
              <a:t>长度参数</a:t>
            </a:r>
            <a:r>
              <a:rPr lang="en-US" altLang="zh-CN" sz="2400" dirty="0"/>
              <a:t>len</a:t>
            </a:r>
            <a:r>
              <a:rPr lang="zh-CN" altLang="en-US" sz="2400" dirty="0"/>
              <a:t>是目标的大小，如果太小无法容纳表达格式结果，则返回一个空指针。另外，目标指针调用前必须先由调用者分配空间。</a:t>
            </a:r>
            <a:endParaRPr lang="zh-CN" altLang="en-US" sz="2400" dirty="0"/>
          </a:p>
        </p:txBody>
      </p:sp>
      <p:sp>
        <p:nvSpPr>
          <p:cNvPr id="64516" name="AutoShape 4">
            <a:hlinkClick r:id="rId1" action="ppaction://hlinksldjump"/>
          </p:cNvPr>
          <p:cNvSpPr/>
          <p:nvPr/>
        </p:nvSpPr>
        <p:spPr>
          <a:xfrm>
            <a:off x="7740650" y="6165850"/>
            <a:ext cx="647700" cy="431800"/>
          </a:xfrm>
          <a:prstGeom prst="actionButtonForwardNext">
            <a:avLst/>
          </a:prstGeom>
          <a:solidFill>
            <a:srgbClr val="C0C0C0"/>
          </a:solidFill>
          <a:ln w="9525">
            <a:noFill/>
          </a:ln>
        </p:spPr>
        <p:txBody>
          <a:bodyPr wrap="none" anchor="ctr" anchorCtr="0"/>
          <a:p>
            <a:pPr eaLnBrk="1" hangingPunct="1"/>
            <a:endParaRPr lang="zh-CN" altLang="en-US" dirty="0">
              <a:latin typeface="Tahoma" panose="020B0604030504040204" pitchFamily="34" charset="0"/>
            </a:endParaRPr>
          </a:p>
        </p:txBody>
      </p:sp>
    </p:spTree>
  </p:cSld>
  <p:clrMapOvr>
    <a:masterClrMapping/>
  </p:clrMapOvr>
  <p:transition>
    <p:random/>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Rectangle 2"/>
          <p:cNvSpPr>
            <a:spLocks noGrp="1"/>
          </p:cNvSpPr>
          <p:nvPr>
            <p:ph type="title"/>
          </p:nvPr>
        </p:nvSpPr>
        <p:spPr/>
        <p:txBody>
          <a:bodyPr vert="horz" wrap="square" lIns="91440" tIns="45720" rIns="91440" bIns="45720" anchor="b" anchorCtr="0"/>
          <a:p>
            <a:pPr eaLnBrk="1" hangingPunct="1"/>
            <a:r>
              <a:rPr lang="en-US" altLang="zh-CN" sz="3200" b="1" dirty="0"/>
              <a:t>inet_pton</a:t>
            </a:r>
            <a:r>
              <a:rPr lang="zh-CN" altLang="en-US" sz="3200" b="1" dirty="0"/>
              <a:t>的实现（只支持</a:t>
            </a:r>
            <a:r>
              <a:rPr lang="en-US" altLang="zh-CN" sz="3200" b="1" dirty="0"/>
              <a:t>IPv4</a:t>
            </a:r>
            <a:r>
              <a:rPr lang="zh-CN" altLang="en-US" sz="3200" b="1" dirty="0"/>
              <a:t>）</a:t>
            </a:r>
            <a:endParaRPr lang="zh-CN" altLang="en-US" sz="3200" b="1" dirty="0"/>
          </a:p>
        </p:txBody>
      </p:sp>
      <p:sp>
        <p:nvSpPr>
          <p:cNvPr id="66563" name="Rectangle 3"/>
          <p:cNvSpPr>
            <a:spLocks noGrp="1"/>
          </p:cNvSpPr>
          <p:nvPr>
            <p:ph idx="1"/>
          </p:nvPr>
        </p:nvSpPr>
        <p:spPr>
          <a:xfrm>
            <a:off x="1042988" y="1628775"/>
            <a:ext cx="7921625" cy="4679950"/>
          </a:xfrm>
        </p:spPr>
        <p:txBody>
          <a:bodyPr vert="horz" wrap="square" lIns="91440" tIns="45720" rIns="91440" bIns="45720" anchor="t" anchorCtr="0"/>
          <a:p>
            <a:pPr eaLnBrk="1" hangingPunct="1">
              <a:lnSpc>
                <a:spcPct val="80000"/>
              </a:lnSpc>
              <a:buNone/>
            </a:pPr>
            <a:endParaRPr lang="en-US" altLang="zh-CN" sz="1800" dirty="0"/>
          </a:p>
          <a:p>
            <a:pPr eaLnBrk="1" hangingPunct="1">
              <a:lnSpc>
                <a:spcPct val="80000"/>
              </a:lnSpc>
              <a:buNone/>
            </a:pPr>
            <a:r>
              <a:rPr lang="en-US" altLang="zh-CN" sz="1800" dirty="0"/>
              <a:t>int inet_pton(int family, const char *strptr, void *addrptr)</a:t>
            </a:r>
            <a:endParaRPr lang="en-US" altLang="zh-CN" sz="1800" dirty="0"/>
          </a:p>
          <a:p>
            <a:pPr eaLnBrk="1" hangingPunct="1">
              <a:lnSpc>
                <a:spcPct val="80000"/>
              </a:lnSpc>
              <a:buNone/>
            </a:pPr>
            <a:r>
              <a:rPr lang="en-US" altLang="zh-CN" sz="1800" dirty="0"/>
              <a:t>{</a:t>
            </a:r>
            <a:endParaRPr lang="en-US" altLang="zh-CN" sz="1800" dirty="0"/>
          </a:p>
          <a:p>
            <a:pPr eaLnBrk="1" hangingPunct="1">
              <a:lnSpc>
                <a:spcPct val="80000"/>
              </a:lnSpc>
              <a:buNone/>
            </a:pPr>
            <a:r>
              <a:rPr lang="en-US" altLang="zh-CN" sz="1800" dirty="0"/>
              <a:t>        if (family == AF_INET) {</a:t>
            </a:r>
            <a:endParaRPr lang="en-US" altLang="zh-CN" sz="1800" dirty="0"/>
          </a:p>
          <a:p>
            <a:pPr eaLnBrk="1" hangingPunct="1">
              <a:lnSpc>
                <a:spcPct val="80000"/>
              </a:lnSpc>
              <a:buNone/>
            </a:pPr>
            <a:r>
              <a:rPr lang="en-US" altLang="zh-CN" sz="1800" dirty="0"/>
              <a:t>            struct in_addr  in_val;</a:t>
            </a:r>
            <a:endParaRPr lang="en-US" altLang="zh-CN" sz="1800" dirty="0"/>
          </a:p>
          <a:p>
            <a:pPr eaLnBrk="1" hangingPunct="1">
              <a:lnSpc>
                <a:spcPct val="80000"/>
              </a:lnSpc>
              <a:buNone/>
            </a:pPr>
            <a:r>
              <a:rPr lang="en-US" altLang="zh-CN" sz="1800" dirty="0"/>
              <a:t>            if (inet_aton(strptr, &amp;in_val)) {</a:t>
            </a:r>
            <a:endParaRPr lang="en-US" altLang="zh-CN" sz="1800" dirty="0"/>
          </a:p>
          <a:p>
            <a:pPr eaLnBrk="1" hangingPunct="1">
              <a:lnSpc>
                <a:spcPct val="80000"/>
              </a:lnSpc>
              <a:buNone/>
            </a:pPr>
            <a:r>
              <a:rPr lang="en-US" altLang="zh-CN" sz="1800" dirty="0"/>
              <a:t>                    memcpy(addrptr, &amp;in_val, sizeof(struct in_addr));</a:t>
            </a:r>
            <a:endParaRPr lang="en-US" altLang="zh-CN" sz="1800" dirty="0"/>
          </a:p>
          <a:p>
            <a:pPr eaLnBrk="1" hangingPunct="1">
              <a:lnSpc>
                <a:spcPct val="80000"/>
              </a:lnSpc>
              <a:buNone/>
            </a:pPr>
            <a:r>
              <a:rPr lang="en-US" altLang="zh-CN" sz="1800" dirty="0"/>
              <a:t>                    return (1);</a:t>
            </a:r>
            <a:endParaRPr lang="en-US" altLang="zh-CN" sz="1800" dirty="0"/>
          </a:p>
          <a:p>
            <a:pPr eaLnBrk="1" hangingPunct="1">
              <a:lnSpc>
                <a:spcPct val="80000"/>
              </a:lnSpc>
              <a:buNone/>
            </a:pPr>
            <a:r>
              <a:rPr lang="en-US" altLang="zh-CN" sz="1800" dirty="0"/>
              <a:t>            }</a:t>
            </a:r>
            <a:endParaRPr lang="en-US" altLang="zh-CN" sz="1800" dirty="0"/>
          </a:p>
          <a:p>
            <a:pPr eaLnBrk="1" hangingPunct="1">
              <a:lnSpc>
                <a:spcPct val="80000"/>
              </a:lnSpc>
              <a:buNone/>
            </a:pPr>
            <a:r>
              <a:rPr lang="en-US" altLang="zh-CN" sz="1800" dirty="0"/>
              <a:t>        return(0);</a:t>
            </a:r>
            <a:endParaRPr lang="en-US" altLang="zh-CN" sz="1800" dirty="0"/>
          </a:p>
          <a:p>
            <a:pPr eaLnBrk="1" hangingPunct="1">
              <a:lnSpc>
                <a:spcPct val="80000"/>
              </a:lnSpc>
              <a:buNone/>
            </a:pPr>
            <a:r>
              <a:rPr lang="en-US" altLang="zh-CN" sz="1800" dirty="0"/>
              <a:t>        }</a:t>
            </a:r>
            <a:endParaRPr lang="en-US" altLang="zh-CN" sz="1800" dirty="0"/>
          </a:p>
          <a:p>
            <a:pPr eaLnBrk="1" hangingPunct="1">
              <a:lnSpc>
                <a:spcPct val="80000"/>
              </a:lnSpc>
              <a:buNone/>
            </a:pPr>
            <a:r>
              <a:rPr lang="en-US" altLang="zh-CN" sz="1800" dirty="0"/>
              <a:t>    else {</a:t>
            </a:r>
            <a:endParaRPr lang="en-US" altLang="zh-CN" sz="1800" dirty="0"/>
          </a:p>
          <a:p>
            <a:pPr eaLnBrk="1" hangingPunct="1">
              <a:lnSpc>
                <a:spcPct val="80000"/>
              </a:lnSpc>
              <a:buNone/>
            </a:pPr>
            <a:r>
              <a:rPr lang="en-US" altLang="zh-CN" sz="1800" dirty="0"/>
              <a:t>                  errno = EAFNOSUPPORT; /*</a:t>
            </a:r>
            <a:r>
              <a:rPr lang="zh-CN" altLang="en-US" sz="1800" dirty="0"/>
              <a:t>以不被支持的地址族做为</a:t>
            </a:r>
            <a:r>
              <a:rPr lang="en-US" altLang="zh-CN" sz="1800" dirty="0"/>
              <a:t>family</a:t>
            </a:r>
            <a:r>
              <a:rPr lang="zh-CN" altLang="en-US" sz="1800" dirty="0"/>
              <a:t>的参数*</a:t>
            </a:r>
            <a:r>
              <a:rPr lang="en-US" altLang="zh-CN" sz="1800" dirty="0"/>
              <a:t>/</a:t>
            </a:r>
            <a:endParaRPr lang="en-US" altLang="zh-CN" sz="1800" dirty="0"/>
          </a:p>
          <a:p>
            <a:pPr eaLnBrk="1" hangingPunct="1">
              <a:lnSpc>
                <a:spcPct val="80000"/>
              </a:lnSpc>
              <a:buNone/>
            </a:pPr>
            <a:r>
              <a:rPr lang="en-US" altLang="zh-CN" sz="1800" dirty="0"/>
              <a:t>                 return (-1);</a:t>
            </a:r>
            <a:endParaRPr lang="en-US" altLang="zh-CN" sz="1800" dirty="0"/>
          </a:p>
          <a:p>
            <a:pPr eaLnBrk="1" hangingPunct="1">
              <a:lnSpc>
                <a:spcPct val="80000"/>
              </a:lnSpc>
              <a:buNone/>
            </a:pPr>
            <a:r>
              <a:rPr lang="en-US" altLang="zh-CN" sz="1800" dirty="0"/>
              <a:t>        }</a:t>
            </a:r>
            <a:endParaRPr lang="en-US" altLang="zh-CN" sz="1800" dirty="0"/>
          </a:p>
          <a:p>
            <a:pPr eaLnBrk="1" hangingPunct="1">
              <a:lnSpc>
                <a:spcPct val="80000"/>
              </a:lnSpc>
              <a:buNone/>
            </a:pPr>
            <a:r>
              <a:rPr lang="en-US" altLang="zh-CN" sz="1800" dirty="0"/>
              <a:t>} </a:t>
            </a:r>
            <a:endParaRPr lang="en-US" altLang="zh-CN" sz="1800" dirty="0"/>
          </a:p>
        </p:txBody>
      </p:sp>
    </p:spTree>
  </p:cSld>
  <p:clrMapOvr>
    <a:masterClrMapping/>
  </p:clrMapOvr>
  <p:transition>
    <p:random/>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Rectangle 2"/>
          <p:cNvSpPr>
            <a:spLocks noGrp="1"/>
          </p:cNvSpPr>
          <p:nvPr>
            <p:ph type="title"/>
          </p:nvPr>
        </p:nvSpPr>
        <p:spPr/>
        <p:txBody>
          <a:bodyPr vert="horz" wrap="square" lIns="91440" tIns="45720" rIns="91440" bIns="45720" anchor="b" anchorCtr="0"/>
          <a:p>
            <a:pPr eaLnBrk="1" hangingPunct="1"/>
            <a:r>
              <a:rPr lang="en-US" altLang="zh-CN" sz="3200" b="1" dirty="0"/>
              <a:t>inet_pton</a:t>
            </a:r>
            <a:r>
              <a:rPr lang="zh-CN" altLang="en-US" sz="3200" b="1" dirty="0"/>
              <a:t>的调用</a:t>
            </a:r>
            <a:endParaRPr lang="zh-CN" altLang="en-US" sz="3200" b="1" dirty="0"/>
          </a:p>
        </p:txBody>
      </p:sp>
      <p:pic>
        <p:nvPicPr>
          <p:cNvPr id="68611" name="图片 3"/>
          <p:cNvPicPr>
            <a:picLocks noChangeAspect="1"/>
          </p:cNvPicPr>
          <p:nvPr/>
        </p:nvPicPr>
        <p:blipFill>
          <a:blip r:embed="rId1"/>
          <a:stretch>
            <a:fillRect/>
          </a:stretch>
        </p:blipFill>
        <p:spPr>
          <a:xfrm>
            <a:off x="525463" y="1773238"/>
            <a:ext cx="8418512" cy="4535487"/>
          </a:xfrm>
          <a:prstGeom prst="rect">
            <a:avLst/>
          </a:prstGeom>
          <a:noFill/>
          <a:ln w="9525">
            <a:noFill/>
          </a:ln>
        </p:spPr>
      </p:pic>
    </p:spTree>
  </p:cSld>
  <p:clrMapOvr>
    <a:masterClrMapping/>
  </p:clrMapOvr>
  <p:transition>
    <p:random/>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Rectangle 2"/>
          <p:cNvSpPr>
            <a:spLocks noGrp="1"/>
          </p:cNvSpPr>
          <p:nvPr>
            <p:ph type="title"/>
          </p:nvPr>
        </p:nvSpPr>
        <p:spPr/>
        <p:txBody>
          <a:bodyPr vert="horz" wrap="square" lIns="91440" tIns="45720" rIns="91440" bIns="45720" anchor="b" anchorCtr="0"/>
          <a:p>
            <a:pPr eaLnBrk="1" hangingPunct="1"/>
            <a:r>
              <a:rPr lang="en-US" altLang="zh-CN" sz="3200" b="1" dirty="0"/>
              <a:t>inet_ntop</a:t>
            </a:r>
            <a:r>
              <a:rPr lang="zh-CN" altLang="en-US" sz="3200" b="1" dirty="0"/>
              <a:t>的实现（只支持</a:t>
            </a:r>
            <a:r>
              <a:rPr lang="en-US" altLang="zh-CN" sz="3200" b="1" dirty="0"/>
              <a:t>IPv4</a:t>
            </a:r>
            <a:r>
              <a:rPr lang="zh-CN" altLang="en-US" sz="3200" b="1" dirty="0"/>
              <a:t>）</a:t>
            </a:r>
            <a:endParaRPr lang="zh-CN" altLang="en-US" sz="3200" b="1" dirty="0"/>
          </a:p>
        </p:txBody>
      </p:sp>
      <p:sp>
        <p:nvSpPr>
          <p:cNvPr id="56323" name="Rectangle 3"/>
          <p:cNvSpPr>
            <a:spLocks noGrp="1" noChangeArrowheads="1"/>
          </p:cNvSpPr>
          <p:nvPr>
            <p:ph idx="1"/>
          </p:nvPr>
        </p:nvSpPr>
        <p:spPr>
          <a:xfrm>
            <a:off x="1042988" y="1628775"/>
            <a:ext cx="7921625" cy="5229225"/>
          </a:xfrm>
        </p:spPr>
        <p:txBody>
          <a:bodyPr vert="horz" wrap="square" lIns="91440" tIns="45720" rIns="91440" bIns="45720" numCol="1" anchor="t" anchorCtr="0" compatLnSpc="1"/>
          <a:lstStyle/>
          <a:p>
            <a:pPr marL="342900" marR="0" lvl="0" indent="-342900" algn="l" defTabSz="914400" rtl="0" eaLnBrk="1" fontAlgn="base" latinLnBrk="0" hangingPunct="1">
              <a:lnSpc>
                <a:spcPct val="80000"/>
              </a:lnSpc>
              <a:spcBef>
                <a:spcPct val="20000"/>
              </a:spcBef>
              <a:spcAft>
                <a:spcPct val="0"/>
              </a:spcAft>
              <a:buClr>
                <a:schemeClr val="folHlink"/>
              </a:buClr>
              <a:buSzPct val="60000"/>
              <a:buFont typeface="Wingdings" panose="05000000000000000000" pitchFamily="2" charset="2"/>
              <a:buNone/>
              <a:defRPr/>
            </a:pPr>
            <a:endParaRPr kumimoji="0" lang="en-US" altLang="zh-CN" sz="1800" b="0" i="0" u="none" strike="noStrike" kern="0" cap="none" spc="0" normalizeH="0" baseline="0" noProof="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folHlink"/>
              </a:buClr>
              <a:buSzPct val="60000"/>
              <a:buFont typeface="Wingdings" panose="05000000000000000000" pitchFamily="2" charset="2"/>
              <a:buNone/>
              <a:defRPr/>
            </a:pPr>
            <a:r>
              <a:rPr kumimoji="0" lang="en-US" altLang="zh-CN" sz="1800" b="0" i="0" u="none" strike="noStrike" kern="0" cap="none" spc="0" normalizeH="0" baseline="0" noProof="0">
                <a:ln>
                  <a:noFill/>
                </a:ln>
                <a:solidFill>
                  <a:schemeClr val="tx1"/>
                </a:solidFill>
                <a:effectLst/>
                <a:uLnTx/>
                <a:uFillTx/>
                <a:latin typeface="+mn-lt"/>
                <a:ea typeface="+mn-ea"/>
                <a:cs typeface="+mn-cs"/>
              </a:rPr>
              <a:t>const char * inet_ntop(int family, const void *addrptr, char *strptr, size_t ln)</a:t>
            </a:r>
            <a:endParaRPr kumimoji="0" lang="en-US" altLang="zh-CN" sz="1800" b="0" i="0" u="none" strike="noStrike" kern="0" cap="none" spc="0" normalizeH="0" baseline="0" noProof="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folHlink"/>
              </a:buClr>
              <a:buSzPct val="60000"/>
              <a:buFont typeface="Wingdings" panose="05000000000000000000" pitchFamily="2" charset="2"/>
              <a:buNone/>
              <a:defRPr/>
            </a:pPr>
            <a:r>
              <a:rPr kumimoji="0" lang="en-US" altLang="zh-CN" sz="1800" b="0" i="0" u="none" strike="noStrike" kern="0" cap="none" spc="0" normalizeH="0" baseline="0" noProof="0">
                <a:ln>
                  <a:noFill/>
                </a:ln>
                <a:solidFill>
                  <a:schemeClr val="tx1"/>
                </a:solidFill>
                <a:effectLst/>
                <a:uLnTx/>
                <a:uFillTx/>
                <a:latin typeface="+mn-lt"/>
                <a:ea typeface="+mn-ea"/>
                <a:cs typeface="+mn-cs"/>
              </a:rPr>
              <a:t>{</a:t>
            </a:r>
            <a:endParaRPr kumimoji="0" lang="en-US" altLang="zh-CN" sz="1800" b="0" i="0" u="none" strike="noStrike" kern="0" cap="none" spc="0" normalizeH="0" baseline="0" noProof="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folHlink"/>
              </a:buClr>
              <a:buSzPct val="60000"/>
              <a:buFont typeface="Wingdings" panose="05000000000000000000" pitchFamily="2" charset="2"/>
              <a:buNone/>
              <a:defRPr/>
            </a:pPr>
            <a:r>
              <a:rPr kumimoji="0" lang="en-US" altLang="zh-CN" sz="1800" b="0" i="0" u="none" strike="noStrike" kern="0" cap="none" spc="0" normalizeH="0" baseline="0" noProof="0">
                <a:ln>
                  <a:noFill/>
                </a:ln>
                <a:solidFill>
                  <a:schemeClr val="tx1"/>
                </a:solidFill>
                <a:effectLst/>
                <a:uLnTx/>
                <a:uFillTx/>
                <a:latin typeface="+mn-lt"/>
                <a:ea typeface="+mn-ea"/>
                <a:cs typeface="+mn-cs"/>
              </a:rPr>
              <a:t>    const u_char *p = (const u_char *) addrptr;</a:t>
            </a:r>
            <a:endParaRPr kumimoji="0" lang="en-US" altLang="zh-CN" sz="1800" b="0" i="0" u="none" strike="noStrike" kern="0" cap="none" spc="0" normalizeH="0" baseline="0" noProof="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folHlink"/>
              </a:buClr>
              <a:buSzPct val="60000"/>
              <a:buFont typeface="Wingdings" panose="05000000000000000000" pitchFamily="2" charset="2"/>
              <a:buNone/>
              <a:defRPr/>
            </a:pPr>
            <a:r>
              <a:rPr kumimoji="0" lang="en-US" altLang="zh-CN" sz="1800" b="0" i="0" u="none" strike="noStrike" kern="0" cap="none" spc="0" normalizeH="0" baseline="0" noProof="0">
                <a:ln>
                  <a:noFill/>
                </a:ln>
                <a:solidFill>
                  <a:schemeClr val="tx1"/>
                </a:solidFill>
                <a:effectLst/>
                <a:uLnTx/>
                <a:uFillTx/>
                <a:latin typeface="+mn-lt"/>
                <a:ea typeface="+mn-ea"/>
                <a:cs typeface="+mn-cs"/>
              </a:rPr>
              <a:t>    if(family == AF_INET) {</a:t>
            </a:r>
            <a:endParaRPr kumimoji="0" lang="en-US" altLang="zh-CN" sz="1800" b="0" i="0" u="none" strike="noStrike" kern="0" cap="none" spc="0" normalizeH="0" baseline="0" noProof="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folHlink"/>
              </a:buClr>
              <a:buSzPct val="60000"/>
              <a:buFont typeface="Wingdings" panose="05000000000000000000" pitchFamily="2" charset="2"/>
              <a:buNone/>
              <a:defRPr/>
            </a:pPr>
            <a:r>
              <a:rPr kumimoji="0" lang="en-US" altLang="zh-CN" sz="1800" b="0" i="0" u="none" strike="noStrike" kern="0" cap="none" spc="0" normalizeH="0" baseline="0" noProof="0">
                <a:ln>
                  <a:noFill/>
                </a:ln>
                <a:solidFill>
                  <a:schemeClr val="tx1"/>
                </a:solidFill>
                <a:effectLst/>
                <a:uLnTx/>
                <a:uFillTx/>
                <a:latin typeface="+mn-lt"/>
                <a:ea typeface="+mn-ea"/>
                <a:cs typeface="+mn-cs"/>
              </a:rPr>
              <a:t>        char temp[INET_ADDRSTRLEN]; </a:t>
            </a:r>
            <a:r>
              <a:rPr kumimoji="0" lang="en-US" altLang="zh-CN" sz="1800" b="0" i="0" u="none" strike="noStrike" kern="0" cap="none" spc="0" normalizeH="0" baseline="0" noProof="0">
                <a:ln>
                  <a:noFill/>
                </a:ln>
                <a:solidFill>
                  <a:schemeClr val="accent1">
                    <a:lumMod val="75000"/>
                  </a:schemeClr>
                </a:solidFill>
                <a:effectLst/>
                <a:uLnTx/>
                <a:uFillTx/>
                <a:latin typeface="+mn-lt"/>
                <a:ea typeface="+mn-ea"/>
                <a:cs typeface="+mn-cs"/>
              </a:rPr>
              <a:t>//INET_ADDRSTRLEN=16</a:t>
            </a:r>
            <a:endParaRPr kumimoji="0" lang="en-US" altLang="zh-CN" sz="1800" b="0" i="0" u="none" strike="noStrike" kern="0" cap="none" spc="0" normalizeH="0" baseline="0" noProof="0">
              <a:ln>
                <a:noFill/>
              </a:ln>
              <a:solidFill>
                <a:schemeClr val="accent1">
                  <a:lumMod val="75000"/>
                </a:schemeClr>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folHlink"/>
              </a:buClr>
              <a:buSzPct val="60000"/>
              <a:buFont typeface="Wingdings" panose="05000000000000000000" pitchFamily="2" charset="2"/>
              <a:buNone/>
              <a:defRPr/>
            </a:pPr>
            <a:r>
              <a:rPr kumimoji="0" lang="en-US" altLang="zh-CN" sz="1800" b="0" i="0" u="none" strike="noStrike" kern="0" cap="none" spc="0" normalizeH="0" baseline="0" noProof="0">
                <a:ln>
                  <a:noFill/>
                </a:ln>
                <a:solidFill>
                  <a:schemeClr val="accent1">
                    <a:lumMod val="75000"/>
                  </a:schemeClr>
                </a:solidFill>
                <a:effectLst/>
                <a:uLnTx/>
                <a:uFillTx/>
                <a:latin typeface="+mn-lt"/>
                <a:ea typeface="+mn-ea"/>
                <a:cs typeface="+mn-cs"/>
              </a:rPr>
              <a:t>       //snprintf</a:t>
            </a:r>
            <a:r>
              <a:rPr kumimoji="0" lang="zh-CN" altLang="en-US" sz="1800" b="0" i="0" u="none" strike="noStrike" kern="0" cap="none" spc="0" normalizeH="0" baseline="0" noProof="0">
                <a:ln>
                  <a:noFill/>
                </a:ln>
                <a:solidFill>
                  <a:schemeClr val="accent1">
                    <a:lumMod val="75000"/>
                  </a:schemeClr>
                </a:solidFill>
                <a:effectLst/>
                <a:uLnTx/>
                <a:uFillTx/>
                <a:latin typeface="+mn-lt"/>
                <a:ea typeface="+mn-ea"/>
                <a:cs typeface="+mn-cs"/>
              </a:rPr>
              <a:t>将可变参数 “</a:t>
            </a:r>
            <a:r>
              <a:rPr kumimoji="0" lang="en-US" altLang="zh-CN" sz="1800" b="0" i="0" u="none" strike="noStrike" kern="0" cap="none" spc="0" normalizeH="0" baseline="0" noProof="0">
                <a:ln>
                  <a:noFill/>
                </a:ln>
                <a:solidFill>
                  <a:schemeClr val="accent1">
                    <a:lumMod val="75000"/>
                  </a:schemeClr>
                </a:solidFill>
                <a:effectLst/>
                <a:uLnTx/>
                <a:uFillTx/>
                <a:latin typeface="+mn-lt"/>
                <a:ea typeface="+mn-ea"/>
                <a:cs typeface="+mn-cs"/>
              </a:rPr>
              <a:t>…” </a:t>
            </a:r>
            <a:r>
              <a:rPr kumimoji="0" lang="zh-CN" altLang="en-US" sz="1800" b="0" i="0" u="none" strike="noStrike" kern="0" cap="none" spc="0" normalizeH="0" baseline="0" noProof="0">
                <a:ln>
                  <a:noFill/>
                </a:ln>
                <a:solidFill>
                  <a:schemeClr val="accent1">
                    <a:lumMod val="75000"/>
                  </a:schemeClr>
                </a:solidFill>
                <a:effectLst/>
                <a:uLnTx/>
                <a:uFillTx/>
                <a:latin typeface="+mn-lt"/>
                <a:ea typeface="+mn-ea"/>
                <a:cs typeface="+mn-cs"/>
              </a:rPr>
              <a:t>按照</a:t>
            </a:r>
            <a:r>
              <a:rPr kumimoji="0" lang="en-US" altLang="zh-CN" sz="1800" b="0" i="0" u="none" strike="noStrike" kern="0" cap="none" spc="0" normalizeH="0" baseline="0" noProof="0">
                <a:ln>
                  <a:noFill/>
                </a:ln>
                <a:solidFill>
                  <a:schemeClr val="accent1">
                    <a:lumMod val="75000"/>
                  </a:schemeClr>
                </a:solidFill>
                <a:effectLst/>
                <a:uLnTx/>
                <a:uFillTx/>
                <a:latin typeface="+mn-lt"/>
                <a:ea typeface="+mn-ea"/>
                <a:cs typeface="+mn-cs"/>
              </a:rPr>
              <a:t>format</a:t>
            </a:r>
            <a:r>
              <a:rPr kumimoji="0" lang="zh-CN" altLang="en-US" sz="1800" b="0" i="0" u="none" strike="noStrike" kern="0" cap="none" spc="0" normalizeH="0" baseline="0" noProof="0">
                <a:ln>
                  <a:noFill/>
                </a:ln>
                <a:solidFill>
                  <a:schemeClr val="accent1">
                    <a:lumMod val="75000"/>
                  </a:schemeClr>
                </a:solidFill>
                <a:effectLst/>
                <a:uLnTx/>
                <a:uFillTx/>
                <a:latin typeface="+mn-lt"/>
                <a:ea typeface="+mn-ea"/>
                <a:cs typeface="+mn-cs"/>
              </a:rPr>
              <a:t>的格式格式化为字符串，然后再</a:t>
            </a:r>
            <a:endParaRPr kumimoji="0" lang="en-US" altLang="zh-CN" sz="1800" b="0" i="0" u="none" strike="noStrike" kern="0" cap="none" spc="0" normalizeH="0" baseline="0" noProof="0">
              <a:ln>
                <a:noFill/>
              </a:ln>
              <a:solidFill>
                <a:schemeClr val="accent1">
                  <a:lumMod val="75000"/>
                </a:schemeClr>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folHlink"/>
              </a:buClr>
              <a:buSzPct val="60000"/>
              <a:buFont typeface="Wingdings" panose="05000000000000000000" pitchFamily="2" charset="2"/>
              <a:buNone/>
              <a:defRPr/>
            </a:pPr>
            <a:r>
              <a:rPr kumimoji="0" lang="en-US" altLang="zh-CN" sz="1800" b="0" i="0" u="none" strike="noStrike" kern="0" cap="none" spc="0" normalizeH="0" baseline="0" noProof="0">
                <a:ln>
                  <a:noFill/>
                </a:ln>
                <a:solidFill>
                  <a:schemeClr val="accent1">
                    <a:lumMod val="75000"/>
                  </a:schemeClr>
                </a:solidFill>
                <a:effectLst/>
                <a:uLnTx/>
                <a:uFillTx/>
                <a:latin typeface="+mn-lt"/>
                <a:ea typeface="+mn-ea"/>
                <a:cs typeface="+mn-cs"/>
              </a:rPr>
              <a:t>       //</a:t>
            </a:r>
            <a:r>
              <a:rPr kumimoji="0" lang="zh-CN" altLang="en-US" sz="1800" b="0" i="0" u="none" strike="noStrike" kern="0" cap="none" spc="0" normalizeH="0" baseline="0" noProof="0">
                <a:ln>
                  <a:noFill/>
                </a:ln>
                <a:solidFill>
                  <a:schemeClr val="accent1">
                    <a:lumMod val="75000"/>
                  </a:schemeClr>
                </a:solidFill>
                <a:effectLst/>
                <a:uLnTx/>
                <a:uFillTx/>
                <a:latin typeface="+mn-lt"/>
                <a:ea typeface="+mn-ea"/>
                <a:cs typeface="+mn-cs"/>
              </a:rPr>
              <a:t>将其拷贝至</a:t>
            </a:r>
            <a:r>
              <a:rPr kumimoji="0" lang="en-US" altLang="zh-CN" sz="1800" b="0" i="0" u="none" strike="noStrike" kern="0" cap="none" spc="0" normalizeH="0" baseline="0" noProof="0">
                <a:ln>
                  <a:noFill/>
                </a:ln>
                <a:solidFill>
                  <a:schemeClr val="accent1">
                    <a:lumMod val="75000"/>
                  </a:schemeClr>
                </a:solidFill>
                <a:effectLst/>
                <a:uLnTx/>
                <a:uFillTx/>
                <a:latin typeface="+mn-lt"/>
                <a:ea typeface="+mn-ea"/>
                <a:cs typeface="+mn-cs"/>
              </a:rPr>
              <a:t>str</a:t>
            </a:r>
            <a:r>
              <a:rPr kumimoji="0" lang="zh-CN" altLang="en-US" sz="1800" b="0" i="0" u="none" strike="noStrike" kern="0" cap="none" spc="0" normalizeH="0" baseline="0" noProof="0">
                <a:ln>
                  <a:noFill/>
                </a:ln>
                <a:solidFill>
                  <a:schemeClr val="accent1">
                    <a:lumMod val="75000"/>
                  </a:schemeClr>
                </a:solidFill>
                <a:effectLst/>
                <a:uLnTx/>
                <a:uFillTx/>
                <a:latin typeface="+mn-lt"/>
                <a:ea typeface="+mn-ea"/>
                <a:cs typeface="+mn-cs"/>
              </a:rPr>
              <a:t>中</a:t>
            </a:r>
            <a:endParaRPr kumimoji="0" lang="en-US" altLang="zh-CN" sz="1800" b="0" i="0" u="none" strike="noStrike" kern="0" cap="none" spc="0" normalizeH="0" baseline="0" noProof="0">
              <a:ln>
                <a:noFill/>
              </a:ln>
              <a:solidFill>
                <a:schemeClr val="accent1">
                  <a:lumMod val="75000"/>
                </a:schemeClr>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folHlink"/>
              </a:buClr>
              <a:buSzPct val="60000"/>
              <a:buFont typeface="Wingdings" panose="05000000000000000000" pitchFamily="2" charset="2"/>
              <a:buNone/>
              <a:defRPr/>
            </a:pPr>
            <a:r>
              <a:rPr kumimoji="0" lang="en-US" altLang="zh-CN" sz="1800" b="0" i="0" u="none" strike="noStrike" kern="0" cap="none" spc="0" normalizeH="0" baseline="0" noProof="0">
                <a:ln>
                  <a:noFill/>
                </a:ln>
                <a:solidFill>
                  <a:schemeClr val="tx1"/>
                </a:solidFill>
                <a:effectLst/>
                <a:uLnTx/>
                <a:uFillTx/>
                <a:latin typeface="+mn-lt"/>
                <a:ea typeface="+mn-ea"/>
                <a:cs typeface="+mn-cs"/>
              </a:rPr>
              <a:t>        snprintf(temp, sizeof(temp), "%d.%d.%d.%d", p[0], p[1], p[2], p[3]);</a:t>
            </a:r>
            <a:endParaRPr kumimoji="0" lang="en-US" altLang="zh-CN" sz="1800" b="0" i="0" u="none" strike="noStrike" kern="0" cap="none" spc="0" normalizeH="0" baseline="0" noProof="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folHlink"/>
              </a:buClr>
              <a:buSzPct val="60000"/>
              <a:buFont typeface="Wingdings" panose="05000000000000000000" pitchFamily="2" charset="2"/>
              <a:buNone/>
              <a:defRPr/>
            </a:pPr>
            <a:r>
              <a:rPr kumimoji="0" lang="en-US" altLang="zh-CN" sz="1800" b="0" i="0" u="none" strike="noStrike" kern="0" cap="none" spc="0" normalizeH="0" baseline="0" noProof="0">
                <a:ln>
                  <a:noFill/>
                </a:ln>
                <a:solidFill>
                  <a:schemeClr val="tx1"/>
                </a:solidFill>
                <a:effectLst/>
                <a:uLnTx/>
                <a:uFillTx/>
                <a:latin typeface="+mn-lt"/>
                <a:ea typeface="+mn-ea"/>
                <a:cs typeface="+mn-cs"/>
              </a:rPr>
              <a:t>        if (strlen(temp) &gt; len){</a:t>
            </a:r>
            <a:endParaRPr kumimoji="0" lang="en-US" altLang="zh-CN" sz="1800" b="0" i="0" u="none" strike="noStrike" kern="0" cap="none" spc="0" normalizeH="0" baseline="0" noProof="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folHlink"/>
              </a:buClr>
              <a:buSzPct val="60000"/>
              <a:buFont typeface="Wingdings" panose="05000000000000000000" pitchFamily="2" charset="2"/>
              <a:buNone/>
              <a:defRPr/>
            </a:pPr>
            <a:r>
              <a:rPr kumimoji="0" lang="en-US" altLang="zh-CN" sz="1800" b="0" i="0" u="none" strike="noStrike" kern="0" cap="none" spc="0" normalizeH="0" baseline="0" noProof="0">
                <a:ln>
                  <a:noFill/>
                </a:ln>
                <a:solidFill>
                  <a:schemeClr val="tx1"/>
                </a:solidFill>
                <a:effectLst/>
                <a:uLnTx/>
                <a:uFillTx/>
                <a:latin typeface="+mn-lt"/>
                <a:ea typeface="+mn-ea"/>
                <a:cs typeface="+mn-cs"/>
              </a:rPr>
              <a:t>            errno = ENOSPC;</a:t>
            </a:r>
            <a:endParaRPr kumimoji="0" lang="en-US" altLang="zh-CN" sz="1800" b="0" i="0" u="none" strike="noStrike" kern="0" cap="none" spc="0" normalizeH="0" baseline="0" noProof="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folHlink"/>
              </a:buClr>
              <a:buSzPct val="60000"/>
              <a:buFont typeface="Wingdings" panose="05000000000000000000" pitchFamily="2" charset="2"/>
              <a:buNone/>
              <a:defRPr/>
            </a:pPr>
            <a:r>
              <a:rPr kumimoji="0" lang="en-US" altLang="zh-CN" sz="1800" b="0" i="0" u="none" strike="noStrike" kern="0" cap="none" spc="0" normalizeH="0" baseline="0" noProof="0">
                <a:ln>
                  <a:noFill/>
                </a:ln>
                <a:solidFill>
                  <a:schemeClr val="tx1"/>
                </a:solidFill>
                <a:effectLst/>
                <a:uLnTx/>
                <a:uFillTx/>
                <a:latin typeface="+mn-lt"/>
                <a:ea typeface="+mn-ea"/>
                <a:cs typeface="+mn-cs"/>
              </a:rPr>
              <a:t>            return (NULL);</a:t>
            </a:r>
            <a:endParaRPr kumimoji="0" lang="en-US" altLang="zh-CN" sz="1800" b="0" i="0" u="none" strike="noStrike" kern="0" cap="none" spc="0" normalizeH="0" baseline="0" noProof="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folHlink"/>
              </a:buClr>
              <a:buSzPct val="60000"/>
              <a:buFont typeface="Wingdings" panose="05000000000000000000" pitchFamily="2" charset="2"/>
              <a:buNone/>
              <a:defRPr/>
            </a:pPr>
            <a:r>
              <a:rPr kumimoji="0" lang="en-US" altLang="zh-CN" sz="1800" b="0" i="0" u="none" strike="noStrike" kern="0" cap="none" spc="0" normalizeH="0" baseline="0" noProof="0">
                <a:ln>
                  <a:noFill/>
                </a:ln>
                <a:solidFill>
                  <a:schemeClr val="tx1"/>
                </a:solidFill>
                <a:effectLst/>
                <a:uLnTx/>
                <a:uFillTx/>
                <a:latin typeface="+mn-lt"/>
                <a:ea typeface="+mn-ea"/>
                <a:cs typeface="+mn-cs"/>
              </a:rPr>
              <a:t>        }</a:t>
            </a:r>
            <a:endParaRPr kumimoji="0" lang="en-US" altLang="zh-CN" sz="1800" b="0" i="0" u="none" strike="noStrike" kern="0" cap="none" spc="0" normalizeH="0" baseline="0" noProof="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folHlink"/>
              </a:buClr>
              <a:buSzPct val="60000"/>
              <a:buFont typeface="Wingdings" panose="05000000000000000000" pitchFamily="2" charset="2"/>
              <a:buNone/>
              <a:defRPr/>
            </a:pPr>
            <a:r>
              <a:rPr kumimoji="0" lang="en-US" altLang="zh-CN" sz="1800" b="0" i="0" u="none" strike="noStrike" kern="0" cap="none" spc="0" normalizeH="0" baseline="0" noProof="0">
                <a:ln>
                  <a:noFill/>
                </a:ln>
                <a:solidFill>
                  <a:schemeClr val="tx1"/>
                </a:solidFill>
                <a:effectLst/>
                <a:uLnTx/>
                <a:uFillTx/>
                <a:latin typeface="+mn-lt"/>
                <a:ea typeface="+mn-ea"/>
                <a:cs typeface="+mn-cs"/>
              </a:rPr>
              <a:t>        strcpy(strptr, temp);</a:t>
            </a:r>
            <a:endParaRPr kumimoji="0" lang="en-US" altLang="zh-CN" sz="1800" b="0" i="0" u="none" strike="noStrike" kern="0" cap="none" spc="0" normalizeH="0" baseline="0" noProof="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folHlink"/>
              </a:buClr>
              <a:buSzPct val="60000"/>
              <a:buFont typeface="Wingdings" panose="05000000000000000000" pitchFamily="2" charset="2"/>
              <a:buNone/>
              <a:defRPr/>
            </a:pPr>
            <a:r>
              <a:rPr kumimoji="0" lang="en-US" altLang="zh-CN" sz="1800" b="0" i="0" u="none" strike="noStrike" kern="0" cap="none" spc="0" normalizeH="0" baseline="0" noProof="0">
                <a:ln>
                  <a:noFill/>
                </a:ln>
                <a:solidFill>
                  <a:schemeClr val="tx1"/>
                </a:solidFill>
                <a:effectLst/>
                <a:uLnTx/>
                <a:uFillTx/>
                <a:latin typeface="+mn-lt"/>
                <a:ea typeface="+mn-ea"/>
                <a:cs typeface="+mn-cs"/>
              </a:rPr>
              <a:t>        return (strptr);</a:t>
            </a:r>
            <a:endParaRPr kumimoji="0" lang="en-US" altLang="zh-CN" sz="1800" b="0" i="0" u="none" strike="noStrike" kern="0" cap="none" spc="0" normalizeH="0" baseline="0" noProof="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folHlink"/>
              </a:buClr>
              <a:buSzPct val="60000"/>
              <a:buFont typeface="Wingdings" panose="05000000000000000000" pitchFamily="2" charset="2"/>
              <a:buNone/>
              <a:defRPr/>
            </a:pPr>
            <a:r>
              <a:rPr kumimoji="0" lang="en-US" altLang="zh-CN" sz="1800" b="0" i="0" u="none" strike="noStrike" kern="0" cap="none" spc="0" normalizeH="0" baseline="0" noProof="0">
                <a:ln>
                  <a:noFill/>
                </a:ln>
                <a:solidFill>
                  <a:schemeClr val="tx1"/>
                </a:solidFill>
                <a:effectLst/>
                <a:uLnTx/>
                <a:uFillTx/>
                <a:latin typeface="+mn-lt"/>
                <a:ea typeface="+mn-ea"/>
                <a:cs typeface="+mn-cs"/>
              </a:rPr>
              <a:t>    }</a:t>
            </a:r>
            <a:endParaRPr kumimoji="0" lang="en-US" altLang="zh-CN" sz="1800" b="0" i="0" u="none" strike="noStrike" kern="0" cap="none" spc="0" normalizeH="0" baseline="0" noProof="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folHlink"/>
              </a:buClr>
              <a:buSzPct val="60000"/>
              <a:buFont typeface="Wingdings" panose="05000000000000000000" pitchFamily="2" charset="2"/>
              <a:buNone/>
              <a:defRPr/>
            </a:pPr>
            <a:r>
              <a:rPr kumimoji="0" lang="en-US" altLang="zh-CN" sz="1800" b="0" i="0" u="none" strike="noStrike" kern="0" cap="none" spc="0" normalizeH="0" baseline="0" noProof="0">
                <a:ln>
                  <a:noFill/>
                </a:ln>
                <a:solidFill>
                  <a:schemeClr val="tx1"/>
                </a:solidFill>
                <a:effectLst/>
                <a:uLnTx/>
                <a:uFillTx/>
                <a:latin typeface="+mn-lt"/>
                <a:ea typeface="+mn-ea"/>
                <a:cs typeface="+mn-cs"/>
              </a:rPr>
              <a:t>    errno = EAFNOSUPPORT;</a:t>
            </a:r>
            <a:endParaRPr kumimoji="0" lang="en-US" altLang="zh-CN" sz="1800" b="0" i="0" u="none" strike="noStrike" kern="0" cap="none" spc="0" normalizeH="0" baseline="0" noProof="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folHlink"/>
              </a:buClr>
              <a:buSzPct val="60000"/>
              <a:buFont typeface="Wingdings" panose="05000000000000000000" pitchFamily="2" charset="2"/>
              <a:buNone/>
              <a:defRPr/>
            </a:pPr>
            <a:r>
              <a:rPr kumimoji="0" lang="en-US" altLang="zh-CN" sz="1800" b="0" i="0" u="none" strike="noStrike" kern="0" cap="none" spc="0" normalizeH="0" baseline="0" noProof="0">
                <a:ln>
                  <a:noFill/>
                </a:ln>
                <a:solidFill>
                  <a:schemeClr val="tx1"/>
                </a:solidFill>
                <a:effectLst/>
                <a:uLnTx/>
                <a:uFillTx/>
                <a:latin typeface="+mn-lt"/>
                <a:ea typeface="+mn-ea"/>
                <a:cs typeface="+mn-cs"/>
              </a:rPr>
              <a:t>    return (NULL);</a:t>
            </a:r>
            <a:endParaRPr kumimoji="0" lang="en-US" altLang="zh-CN" sz="1800" b="0" i="0" u="none" strike="noStrike" kern="0" cap="none" spc="0" normalizeH="0" baseline="0" noProof="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folHlink"/>
              </a:buClr>
              <a:buSzPct val="60000"/>
              <a:buFont typeface="Wingdings" panose="05000000000000000000" pitchFamily="2" charset="2"/>
              <a:buNone/>
              <a:defRPr/>
            </a:pPr>
            <a:r>
              <a:rPr kumimoji="0" lang="en-US" altLang="zh-CN" sz="1800" b="0" i="0" u="none" strike="noStrike" kern="0" cap="none" spc="0" normalizeH="0" baseline="0" noProof="0">
                <a:ln>
                  <a:noFill/>
                </a:ln>
                <a:solidFill>
                  <a:schemeClr val="tx1"/>
                </a:solidFill>
                <a:effectLst/>
                <a:uLnTx/>
                <a:uFillTx/>
                <a:latin typeface="+mn-lt"/>
                <a:ea typeface="+mn-ea"/>
                <a:cs typeface="+mn-cs"/>
              </a:rPr>
              <a:t>}</a:t>
            </a:r>
            <a:endParaRPr kumimoji="0" lang="en-US" altLang="zh-CN" sz="1800" b="0" i="0" u="none" strike="noStrike" kern="0" cap="none" spc="0" normalizeH="0" baseline="0" noProof="0">
              <a:ln>
                <a:noFill/>
              </a:ln>
              <a:solidFill>
                <a:schemeClr val="tx1"/>
              </a:solidFill>
              <a:effectLst/>
              <a:uLnTx/>
              <a:uFillTx/>
              <a:latin typeface="+mn-lt"/>
              <a:ea typeface="+mn-ea"/>
              <a:cs typeface="+mn-cs"/>
            </a:endParaRPr>
          </a:p>
        </p:txBody>
      </p:sp>
    </p:spTree>
  </p:cSld>
  <p:clrMapOvr>
    <a:masterClrMapping/>
  </p:clrMapOvr>
  <p:transition>
    <p:rand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Rectangle 2"/>
          <p:cNvSpPr>
            <a:spLocks noGrp="1"/>
          </p:cNvSpPr>
          <p:nvPr>
            <p:ph type="title"/>
          </p:nvPr>
        </p:nvSpPr>
        <p:spPr/>
        <p:txBody>
          <a:bodyPr vert="horz" wrap="square" lIns="91440" tIns="45720" rIns="91440" bIns="45720" anchor="b" anchorCtr="0"/>
          <a:p>
            <a:pPr eaLnBrk="1" hangingPunct="1"/>
            <a:r>
              <a:rPr lang="en-US" altLang="zh-CN" sz="3200" b="1" dirty="0"/>
              <a:t>inet_ntop</a:t>
            </a:r>
            <a:r>
              <a:rPr lang="zh-CN" altLang="en-US" sz="3200" b="1" dirty="0"/>
              <a:t>的调用</a:t>
            </a:r>
            <a:endParaRPr lang="zh-CN" altLang="en-US" sz="3200" b="1" dirty="0"/>
          </a:p>
        </p:txBody>
      </p:sp>
      <p:pic>
        <p:nvPicPr>
          <p:cNvPr id="72707" name="图片 1"/>
          <p:cNvPicPr>
            <a:picLocks noChangeAspect="1"/>
          </p:cNvPicPr>
          <p:nvPr/>
        </p:nvPicPr>
        <p:blipFill>
          <a:blip r:embed="rId1"/>
          <a:stretch>
            <a:fillRect/>
          </a:stretch>
        </p:blipFill>
        <p:spPr>
          <a:xfrm>
            <a:off x="1150938" y="1628775"/>
            <a:ext cx="7381875" cy="5040313"/>
          </a:xfrm>
          <a:prstGeom prst="rect">
            <a:avLst/>
          </a:prstGeom>
          <a:noFill/>
          <a:ln w="9525">
            <a:noFill/>
          </a:ln>
        </p:spPr>
      </p:pic>
      <p:pic>
        <p:nvPicPr>
          <p:cNvPr id="3" name="图片 2"/>
          <p:cNvPicPr>
            <a:picLocks noChangeAspect="1"/>
          </p:cNvPicPr>
          <p:nvPr/>
        </p:nvPicPr>
        <p:blipFill>
          <a:blip r:embed="rId2"/>
          <a:stretch>
            <a:fillRect/>
          </a:stretch>
        </p:blipFill>
        <p:spPr>
          <a:xfrm>
            <a:off x="1547813" y="1628775"/>
            <a:ext cx="6408737" cy="2592388"/>
          </a:xfrm>
          <a:prstGeom prst="rect">
            <a:avLst/>
          </a:prstGeom>
          <a:noFill/>
          <a:ln w="9525">
            <a:noFill/>
          </a:ln>
        </p:spPr>
      </p:pic>
      <p:pic>
        <p:nvPicPr>
          <p:cNvPr id="6" name="图片 5"/>
          <p:cNvPicPr>
            <a:picLocks noChangeAspect="1"/>
          </p:cNvPicPr>
          <p:nvPr/>
        </p:nvPicPr>
        <p:blipFill>
          <a:blip r:embed="rId3"/>
          <a:stretch>
            <a:fillRect/>
          </a:stretch>
        </p:blipFill>
        <p:spPr>
          <a:xfrm>
            <a:off x="1284288" y="4508500"/>
            <a:ext cx="6934200" cy="1433513"/>
          </a:xfrm>
          <a:prstGeom prst="rect">
            <a:avLst/>
          </a:prstGeom>
          <a:noFill/>
          <a:ln w="9525">
            <a:noFill/>
          </a:ln>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additive="base">
                                        <p:cTn id="14" dur="500" fill="hold"/>
                                        <p:tgtEl>
                                          <p:spTgt spid="6"/>
                                        </p:tgtEl>
                                        <p:attrNameLst>
                                          <p:attrName>ppt_x</p:attrName>
                                        </p:attrNameLst>
                                      </p:cBhvr>
                                      <p:tavLst>
                                        <p:tav tm="0">
                                          <p:val>
                                            <p:strVal val="#ppt_x"/>
                                          </p:val>
                                        </p:tav>
                                        <p:tav tm="100000">
                                          <p:val>
                                            <p:strVal val="#ppt_x"/>
                                          </p:val>
                                        </p:tav>
                                      </p:tavLst>
                                    </p:anim>
                                    <p:anim calcmode="lin" valueType="num">
                                      <p:cBhvr additive="base">
                                        <p:cTn id="15"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Rectangle 2"/>
          <p:cNvSpPr>
            <a:spLocks noGrp="1"/>
          </p:cNvSpPr>
          <p:nvPr>
            <p:ph idx="1"/>
          </p:nvPr>
        </p:nvSpPr>
        <p:spPr>
          <a:xfrm>
            <a:off x="2266950" y="2781300"/>
            <a:ext cx="5041900" cy="838200"/>
          </a:xfrm>
        </p:spPr>
        <p:txBody>
          <a:bodyPr vert="horz" wrap="square" lIns="91440" tIns="45720" rIns="91440" bIns="45720" anchor="t" anchorCtr="0"/>
          <a:p>
            <a:pPr eaLnBrk="1" hangingPunct="1">
              <a:buNone/>
            </a:pPr>
            <a:r>
              <a:rPr lang="en-US" altLang="zh-CN" sz="4800" dirty="0"/>
              <a:t>Tcp</a:t>
            </a:r>
            <a:r>
              <a:rPr lang="zh-CN" altLang="en-US" sz="4800" dirty="0"/>
              <a:t>套接字</a:t>
            </a:r>
            <a:endParaRPr lang="zh-CN" altLang="en-US" sz="4800" dirty="0"/>
          </a:p>
        </p:txBody>
      </p:sp>
    </p:spTree>
  </p:cSld>
  <p:clrMapOvr>
    <a:masterClrMapping/>
  </p:clrMapOvr>
  <p:transition>
    <p:random/>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Rectangle 2"/>
          <p:cNvSpPr/>
          <p:nvPr/>
        </p:nvSpPr>
        <p:spPr>
          <a:xfrm>
            <a:off x="900113" y="1412875"/>
            <a:ext cx="2879725" cy="4968875"/>
          </a:xfrm>
          <a:prstGeom prst="rect">
            <a:avLst/>
          </a:prstGeom>
          <a:noFill/>
          <a:ln w="9525" cap="flat" cmpd="sng">
            <a:solidFill>
              <a:schemeClr val="tx1"/>
            </a:solidFill>
            <a:prstDash val="dash"/>
            <a:miter/>
            <a:headEnd type="none" w="med" len="med"/>
            <a:tailEnd type="none" w="med" len="med"/>
          </a:ln>
        </p:spPr>
        <p:txBody>
          <a:bodyPr wrap="none" anchor="ctr" anchorCtr="0"/>
          <a:p>
            <a:pPr eaLnBrk="1" hangingPunct="1"/>
            <a:endParaRPr lang="zh-CN" altLang="en-US" dirty="0">
              <a:latin typeface="Tahoma" panose="020B0604030504040204" pitchFamily="34" charset="0"/>
            </a:endParaRPr>
          </a:p>
        </p:txBody>
      </p:sp>
      <p:sp>
        <p:nvSpPr>
          <p:cNvPr id="76803" name="Rectangle 3"/>
          <p:cNvSpPr>
            <a:spLocks noGrp="1"/>
          </p:cNvSpPr>
          <p:nvPr>
            <p:ph type="title"/>
          </p:nvPr>
        </p:nvSpPr>
        <p:spPr>
          <a:xfrm>
            <a:off x="228600" y="228600"/>
            <a:ext cx="7467600" cy="762000"/>
          </a:xfrm>
        </p:spPr>
        <p:txBody>
          <a:bodyPr vert="horz" wrap="square" lIns="91440" tIns="45720" rIns="91440" bIns="45720" anchor="b" anchorCtr="0"/>
          <a:p>
            <a:pPr eaLnBrk="1" hangingPunct="1"/>
            <a:r>
              <a:rPr lang="en-US" altLang="zh-CN" dirty="0"/>
              <a:t>TCP</a:t>
            </a:r>
            <a:r>
              <a:rPr lang="zh-CN" altLang="en-US" dirty="0"/>
              <a:t>套接字编程（</a:t>
            </a:r>
            <a:r>
              <a:rPr lang="en-US" altLang="zh-CN" dirty="0"/>
              <a:t>cont.</a:t>
            </a:r>
            <a:r>
              <a:rPr lang="zh-CN" altLang="en-US" dirty="0"/>
              <a:t>）</a:t>
            </a:r>
            <a:endParaRPr lang="zh-CN" altLang="en-US" dirty="0"/>
          </a:p>
        </p:txBody>
      </p:sp>
      <p:sp>
        <p:nvSpPr>
          <p:cNvPr id="76804" name="AutoShape 4"/>
          <p:cNvSpPr/>
          <p:nvPr/>
        </p:nvSpPr>
        <p:spPr>
          <a:xfrm>
            <a:off x="1476375" y="1628775"/>
            <a:ext cx="1655763" cy="360363"/>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socket()</a:t>
            </a:r>
            <a:endParaRPr lang="en-US" altLang="zh-CN" sz="2000" b="0" dirty="0">
              <a:latin typeface="Comic Sans MS" panose="030F0702030302020204" pitchFamily="66" charset="0"/>
            </a:endParaRPr>
          </a:p>
        </p:txBody>
      </p:sp>
      <p:sp>
        <p:nvSpPr>
          <p:cNvPr id="76805" name="AutoShape 5"/>
          <p:cNvSpPr/>
          <p:nvPr/>
        </p:nvSpPr>
        <p:spPr>
          <a:xfrm>
            <a:off x="1476375" y="2205038"/>
            <a:ext cx="1655763" cy="360362"/>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bind()</a:t>
            </a:r>
            <a:endParaRPr lang="en-US" altLang="zh-CN" sz="2000" b="0" dirty="0">
              <a:latin typeface="Comic Sans MS" panose="030F0702030302020204" pitchFamily="66" charset="0"/>
            </a:endParaRPr>
          </a:p>
        </p:txBody>
      </p:sp>
      <p:sp>
        <p:nvSpPr>
          <p:cNvPr id="76806" name="AutoShape 6"/>
          <p:cNvSpPr/>
          <p:nvPr/>
        </p:nvSpPr>
        <p:spPr>
          <a:xfrm>
            <a:off x="1476375" y="2781300"/>
            <a:ext cx="1655763" cy="360363"/>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listen()</a:t>
            </a:r>
            <a:endParaRPr lang="en-US" altLang="zh-CN" sz="2000" b="0" dirty="0">
              <a:latin typeface="Comic Sans MS" panose="030F0702030302020204" pitchFamily="66" charset="0"/>
            </a:endParaRPr>
          </a:p>
        </p:txBody>
      </p:sp>
      <p:sp>
        <p:nvSpPr>
          <p:cNvPr id="76807" name="AutoShape 7"/>
          <p:cNvSpPr/>
          <p:nvPr/>
        </p:nvSpPr>
        <p:spPr>
          <a:xfrm>
            <a:off x="1476375" y="3357563"/>
            <a:ext cx="1655763" cy="360362"/>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accept()</a:t>
            </a:r>
            <a:endParaRPr lang="en-US" altLang="zh-CN" sz="2000" b="0" dirty="0">
              <a:latin typeface="Comic Sans MS" panose="030F0702030302020204" pitchFamily="66" charset="0"/>
            </a:endParaRPr>
          </a:p>
        </p:txBody>
      </p:sp>
      <p:sp>
        <p:nvSpPr>
          <p:cNvPr id="76808" name="AutoShape 8"/>
          <p:cNvSpPr/>
          <p:nvPr/>
        </p:nvSpPr>
        <p:spPr>
          <a:xfrm>
            <a:off x="1476375" y="4652963"/>
            <a:ext cx="1655763" cy="360362"/>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read()</a:t>
            </a:r>
            <a:endParaRPr lang="en-US" altLang="zh-CN" sz="2000" b="0" dirty="0">
              <a:latin typeface="Comic Sans MS" panose="030F0702030302020204" pitchFamily="66" charset="0"/>
            </a:endParaRPr>
          </a:p>
        </p:txBody>
      </p:sp>
      <p:sp>
        <p:nvSpPr>
          <p:cNvPr id="76809" name="AutoShape 9"/>
          <p:cNvSpPr/>
          <p:nvPr/>
        </p:nvSpPr>
        <p:spPr>
          <a:xfrm>
            <a:off x="1476375" y="5229225"/>
            <a:ext cx="1655763" cy="360363"/>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write()</a:t>
            </a:r>
            <a:endParaRPr lang="en-US" altLang="zh-CN" sz="2000" b="0" dirty="0">
              <a:latin typeface="Comic Sans MS" panose="030F0702030302020204" pitchFamily="66" charset="0"/>
            </a:endParaRPr>
          </a:p>
        </p:txBody>
      </p:sp>
      <p:sp>
        <p:nvSpPr>
          <p:cNvPr id="76810" name="AutoShape 10"/>
          <p:cNvSpPr/>
          <p:nvPr/>
        </p:nvSpPr>
        <p:spPr>
          <a:xfrm>
            <a:off x="1476375" y="5805488"/>
            <a:ext cx="1655763" cy="360362"/>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close()</a:t>
            </a:r>
            <a:endParaRPr lang="en-US" altLang="zh-CN" sz="2000" b="0" dirty="0">
              <a:latin typeface="Comic Sans MS" panose="030F0702030302020204" pitchFamily="66" charset="0"/>
            </a:endParaRPr>
          </a:p>
        </p:txBody>
      </p:sp>
      <p:sp>
        <p:nvSpPr>
          <p:cNvPr id="76811" name="Line 11"/>
          <p:cNvSpPr/>
          <p:nvPr/>
        </p:nvSpPr>
        <p:spPr>
          <a:xfrm>
            <a:off x="2268538" y="1268413"/>
            <a:ext cx="0" cy="360362"/>
          </a:xfrm>
          <a:prstGeom prst="line">
            <a:avLst/>
          </a:prstGeom>
          <a:ln w="9525" cap="flat" cmpd="sng">
            <a:solidFill>
              <a:schemeClr val="hlink"/>
            </a:solidFill>
            <a:prstDash val="solid"/>
            <a:headEnd type="none" w="med" len="med"/>
            <a:tailEnd type="triangle" w="med" len="med"/>
          </a:ln>
        </p:spPr>
      </p:sp>
      <p:sp>
        <p:nvSpPr>
          <p:cNvPr id="76812" name="Line 12"/>
          <p:cNvSpPr/>
          <p:nvPr/>
        </p:nvSpPr>
        <p:spPr>
          <a:xfrm>
            <a:off x="2268538" y="1989138"/>
            <a:ext cx="0" cy="215900"/>
          </a:xfrm>
          <a:prstGeom prst="line">
            <a:avLst/>
          </a:prstGeom>
          <a:ln w="9525" cap="flat" cmpd="sng">
            <a:solidFill>
              <a:schemeClr val="hlink"/>
            </a:solidFill>
            <a:prstDash val="solid"/>
            <a:headEnd type="none" w="med" len="med"/>
            <a:tailEnd type="triangle" w="med" len="med"/>
          </a:ln>
        </p:spPr>
      </p:sp>
      <p:sp>
        <p:nvSpPr>
          <p:cNvPr id="76813" name="Line 13"/>
          <p:cNvSpPr/>
          <p:nvPr/>
        </p:nvSpPr>
        <p:spPr>
          <a:xfrm>
            <a:off x="2268538" y="2565400"/>
            <a:ext cx="0" cy="215900"/>
          </a:xfrm>
          <a:prstGeom prst="line">
            <a:avLst/>
          </a:prstGeom>
          <a:ln w="9525" cap="flat" cmpd="sng">
            <a:solidFill>
              <a:schemeClr val="hlink"/>
            </a:solidFill>
            <a:prstDash val="solid"/>
            <a:headEnd type="none" w="med" len="med"/>
            <a:tailEnd type="triangle" w="med" len="med"/>
          </a:ln>
        </p:spPr>
      </p:sp>
      <p:sp>
        <p:nvSpPr>
          <p:cNvPr id="76814" name="Line 14"/>
          <p:cNvSpPr/>
          <p:nvPr/>
        </p:nvSpPr>
        <p:spPr>
          <a:xfrm>
            <a:off x="2268538" y="3141663"/>
            <a:ext cx="0" cy="215900"/>
          </a:xfrm>
          <a:prstGeom prst="line">
            <a:avLst/>
          </a:prstGeom>
          <a:ln w="9525" cap="flat" cmpd="sng">
            <a:solidFill>
              <a:schemeClr val="hlink"/>
            </a:solidFill>
            <a:prstDash val="solid"/>
            <a:headEnd type="none" w="med" len="med"/>
            <a:tailEnd type="triangle" w="med" len="med"/>
          </a:ln>
        </p:spPr>
      </p:sp>
      <p:sp>
        <p:nvSpPr>
          <p:cNvPr id="76815" name="Line 15"/>
          <p:cNvSpPr/>
          <p:nvPr/>
        </p:nvSpPr>
        <p:spPr>
          <a:xfrm>
            <a:off x="2268538" y="3716338"/>
            <a:ext cx="0" cy="936625"/>
          </a:xfrm>
          <a:prstGeom prst="line">
            <a:avLst/>
          </a:prstGeom>
          <a:ln w="9525" cap="flat" cmpd="sng">
            <a:solidFill>
              <a:schemeClr val="hlink"/>
            </a:solidFill>
            <a:prstDash val="dash"/>
            <a:headEnd type="none" w="med" len="med"/>
            <a:tailEnd type="triangle" w="med" len="med"/>
          </a:ln>
        </p:spPr>
      </p:sp>
      <p:sp>
        <p:nvSpPr>
          <p:cNvPr id="76816" name="Line 16"/>
          <p:cNvSpPr/>
          <p:nvPr/>
        </p:nvSpPr>
        <p:spPr>
          <a:xfrm>
            <a:off x="2268538" y="5013325"/>
            <a:ext cx="0" cy="215900"/>
          </a:xfrm>
          <a:prstGeom prst="line">
            <a:avLst/>
          </a:prstGeom>
          <a:ln w="9525" cap="flat" cmpd="sng">
            <a:solidFill>
              <a:schemeClr val="hlink"/>
            </a:solidFill>
            <a:prstDash val="solid"/>
            <a:headEnd type="none" w="med" len="med"/>
            <a:tailEnd type="triangle" w="med" len="med"/>
          </a:ln>
        </p:spPr>
      </p:sp>
      <p:sp>
        <p:nvSpPr>
          <p:cNvPr id="76817" name="Line 17"/>
          <p:cNvSpPr/>
          <p:nvPr/>
        </p:nvSpPr>
        <p:spPr>
          <a:xfrm>
            <a:off x="2268538" y="5589588"/>
            <a:ext cx="0" cy="215900"/>
          </a:xfrm>
          <a:prstGeom prst="line">
            <a:avLst/>
          </a:prstGeom>
          <a:ln w="9525" cap="flat" cmpd="sng">
            <a:solidFill>
              <a:schemeClr val="hlink"/>
            </a:solidFill>
            <a:prstDash val="solid"/>
            <a:headEnd type="none" w="med" len="med"/>
            <a:tailEnd type="triangle" w="med" len="med"/>
          </a:ln>
        </p:spPr>
      </p:sp>
      <p:sp>
        <p:nvSpPr>
          <p:cNvPr id="76818" name="Line 18"/>
          <p:cNvSpPr/>
          <p:nvPr/>
        </p:nvSpPr>
        <p:spPr>
          <a:xfrm flipH="1">
            <a:off x="1187450" y="5661025"/>
            <a:ext cx="1081088" cy="0"/>
          </a:xfrm>
          <a:prstGeom prst="line">
            <a:avLst/>
          </a:prstGeom>
          <a:ln w="9525" cap="flat" cmpd="sng">
            <a:solidFill>
              <a:schemeClr val="tx1"/>
            </a:solidFill>
            <a:prstDash val="solid"/>
            <a:headEnd type="none" w="med" len="med"/>
            <a:tailEnd type="none" w="med" len="med"/>
          </a:ln>
        </p:spPr>
      </p:sp>
      <p:sp>
        <p:nvSpPr>
          <p:cNvPr id="76819" name="Line 19"/>
          <p:cNvSpPr/>
          <p:nvPr/>
        </p:nvSpPr>
        <p:spPr>
          <a:xfrm flipV="1">
            <a:off x="1187450" y="4437063"/>
            <a:ext cx="0" cy="1223962"/>
          </a:xfrm>
          <a:prstGeom prst="line">
            <a:avLst/>
          </a:prstGeom>
          <a:ln w="9525" cap="flat" cmpd="sng">
            <a:solidFill>
              <a:schemeClr val="tx1"/>
            </a:solidFill>
            <a:prstDash val="solid"/>
            <a:headEnd type="none" w="med" len="med"/>
            <a:tailEnd type="none" w="med" len="med"/>
          </a:ln>
        </p:spPr>
      </p:sp>
      <p:sp>
        <p:nvSpPr>
          <p:cNvPr id="76820" name="Line 20"/>
          <p:cNvSpPr/>
          <p:nvPr/>
        </p:nvSpPr>
        <p:spPr>
          <a:xfrm>
            <a:off x="1187450" y="4437063"/>
            <a:ext cx="1081088" cy="0"/>
          </a:xfrm>
          <a:prstGeom prst="line">
            <a:avLst/>
          </a:prstGeom>
          <a:ln w="9525" cap="flat" cmpd="sng">
            <a:solidFill>
              <a:schemeClr val="tx1"/>
            </a:solidFill>
            <a:prstDash val="solid"/>
            <a:headEnd type="none" w="med" len="med"/>
            <a:tailEnd type="triangle" w="med" len="med"/>
          </a:ln>
        </p:spPr>
      </p:sp>
      <p:sp>
        <p:nvSpPr>
          <p:cNvPr id="76821" name="AutoShape 21"/>
          <p:cNvSpPr/>
          <p:nvPr/>
        </p:nvSpPr>
        <p:spPr>
          <a:xfrm>
            <a:off x="5724525" y="3500438"/>
            <a:ext cx="1655763" cy="360362"/>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socket()</a:t>
            </a:r>
            <a:endParaRPr lang="en-US" altLang="zh-CN" sz="2000" b="0" dirty="0">
              <a:latin typeface="Comic Sans MS" panose="030F0702030302020204" pitchFamily="66" charset="0"/>
            </a:endParaRPr>
          </a:p>
        </p:txBody>
      </p:sp>
      <p:sp>
        <p:nvSpPr>
          <p:cNvPr id="76822" name="AutoShape 22"/>
          <p:cNvSpPr/>
          <p:nvPr/>
        </p:nvSpPr>
        <p:spPr>
          <a:xfrm>
            <a:off x="5724525" y="4076700"/>
            <a:ext cx="1655763" cy="360363"/>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connect()</a:t>
            </a:r>
            <a:endParaRPr lang="en-US" altLang="zh-CN" sz="2000" b="0" dirty="0">
              <a:latin typeface="Comic Sans MS" panose="030F0702030302020204" pitchFamily="66" charset="0"/>
            </a:endParaRPr>
          </a:p>
        </p:txBody>
      </p:sp>
      <p:sp>
        <p:nvSpPr>
          <p:cNvPr id="76823" name="AutoShape 23"/>
          <p:cNvSpPr/>
          <p:nvPr/>
        </p:nvSpPr>
        <p:spPr>
          <a:xfrm>
            <a:off x="5724525" y="4652963"/>
            <a:ext cx="1655763" cy="360362"/>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write()</a:t>
            </a:r>
            <a:endParaRPr lang="en-US" altLang="zh-CN" sz="2000" b="0" dirty="0">
              <a:latin typeface="Comic Sans MS" panose="030F0702030302020204" pitchFamily="66" charset="0"/>
            </a:endParaRPr>
          </a:p>
        </p:txBody>
      </p:sp>
      <p:sp>
        <p:nvSpPr>
          <p:cNvPr id="76824" name="AutoShape 24"/>
          <p:cNvSpPr/>
          <p:nvPr/>
        </p:nvSpPr>
        <p:spPr>
          <a:xfrm>
            <a:off x="5724525" y="5229225"/>
            <a:ext cx="1655763" cy="360363"/>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read()</a:t>
            </a:r>
            <a:endParaRPr lang="en-US" altLang="zh-CN" sz="2000" b="0" dirty="0">
              <a:latin typeface="Comic Sans MS" panose="030F0702030302020204" pitchFamily="66" charset="0"/>
            </a:endParaRPr>
          </a:p>
        </p:txBody>
      </p:sp>
      <p:sp>
        <p:nvSpPr>
          <p:cNvPr id="76825" name="AutoShape 25"/>
          <p:cNvSpPr/>
          <p:nvPr/>
        </p:nvSpPr>
        <p:spPr>
          <a:xfrm>
            <a:off x="5724525" y="5805488"/>
            <a:ext cx="1655763" cy="360362"/>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close()</a:t>
            </a:r>
            <a:endParaRPr lang="en-US" altLang="zh-CN" sz="2000" b="0" dirty="0">
              <a:latin typeface="Comic Sans MS" panose="030F0702030302020204" pitchFamily="66" charset="0"/>
            </a:endParaRPr>
          </a:p>
        </p:txBody>
      </p:sp>
      <p:sp>
        <p:nvSpPr>
          <p:cNvPr id="76826" name="Line 26"/>
          <p:cNvSpPr/>
          <p:nvPr/>
        </p:nvSpPr>
        <p:spPr>
          <a:xfrm>
            <a:off x="6516688" y="3860800"/>
            <a:ext cx="0" cy="215900"/>
          </a:xfrm>
          <a:prstGeom prst="line">
            <a:avLst/>
          </a:prstGeom>
          <a:ln w="9525" cap="flat" cmpd="sng">
            <a:solidFill>
              <a:schemeClr val="hlink"/>
            </a:solidFill>
            <a:prstDash val="solid"/>
            <a:headEnd type="none" w="med" len="med"/>
            <a:tailEnd type="triangle" w="med" len="med"/>
          </a:ln>
        </p:spPr>
      </p:sp>
      <p:sp>
        <p:nvSpPr>
          <p:cNvPr id="76827" name="Line 27"/>
          <p:cNvSpPr/>
          <p:nvPr/>
        </p:nvSpPr>
        <p:spPr>
          <a:xfrm>
            <a:off x="6516688" y="4437063"/>
            <a:ext cx="0" cy="215900"/>
          </a:xfrm>
          <a:prstGeom prst="line">
            <a:avLst/>
          </a:prstGeom>
          <a:ln w="9525" cap="flat" cmpd="sng">
            <a:solidFill>
              <a:schemeClr val="hlink"/>
            </a:solidFill>
            <a:prstDash val="solid"/>
            <a:headEnd type="none" w="med" len="med"/>
            <a:tailEnd type="triangle" w="med" len="med"/>
          </a:ln>
        </p:spPr>
      </p:sp>
      <p:sp>
        <p:nvSpPr>
          <p:cNvPr id="76828" name="Line 28"/>
          <p:cNvSpPr/>
          <p:nvPr/>
        </p:nvSpPr>
        <p:spPr>
          <a:xfrm>
            <a:off x="6516688" y="5013325"/>
            <a:ext cx="0" cy="215900"/>
          </a:xfrm>
          <a:prstGeom prst="line">
            <a:avLst/>
          </a:prstGeom>
          <a:ln w="9525" cap="flat" cmpd="sng">
            <a:solidFill>
              <a:schemeClr val="hlink"/>
            </a:solidFill>
            <a:prstDash val="solid"/>
            <a:headEnd type="none" w="med" len="med"/>
            <a:tailEnd type="triangle" w="med" len="med"/>
          </a:ln>
        </p:spPr>
      </p:sp>
      <p:sp>
        <p:nvSpPr>
          <p:cNvPr id="76829" name="Line 29"/>
          <p:cNvSpPr/>
          <p:nvPr/>
        </p:nvSpPr>
        <p:spPr>
          <a:xfrm>
            <a:off x="6516688" y="5589588"/>
            <a:ext cx="0" cy="215900"/>
          </a:xfrm>
          <a:prstGeom prst="line">
            <a:avLst/>
          </a:prstGeom>
          <a:ln w="9525" cap="flat" cmpd="sng">
            <a:solidFill>
              <a:schemeClr val="hlink"/>
            </a:solidFill>
            <a:prstDash val="solid"/>
            <a:headEnd type="none" w="med" len="med"/>
            <a:tailEnd type="triangle" w="med" len="med"/>
          </a:ln>
        </p:spPr>
      </p:sp>
      <p:sp>
        <p:nvSpPr>
          <p:cNvPr id="76830" name="Text Box 30"/>
          <p:cNvSpPr txBox="1"/>
          <p:nvPr/>
        </p:nvSpPr>
        <p:spPr>
          <a:xfrm>
            <a:off x="2206625" y="3860800"/>
            <a:ext cx="1428750" cy="517525"/>
          </a:xfrm>
          <a:prstGeom prst="rect">
            <a:avLst/>
          </a:prstGeom>
          <a:noFill/>
          <a:ln w="9525">
            <a:noFill/>
          </a:ln>
        </p:spPr>
        <p:txBody>
          <a:bodyPr wrap="none">
            <a:spAutoFit/>
          </a:bodyPr>
          <a:p>
            <a:pPr eaLnBrk="1" hangingPunct="1"/>
            <a:r>
              <a:rPr lang="zh-CN" altLang="en-US" sz="1400" b="0" dirty="0">
                <a:latin typeface="Arial" panose="020B0604020202020204" pitchFamily="34" charset="0"/>
              </a:rPr>
              <a:t>阻塞直到接收</a:t>
            </a:r>
            <a:endParaRPr lang="zh-CN" altLang="en-US" sz="1400" b="0" dirty="0">
              <a:latin typeface="Arial" panose="020B0604020202020204" pitchFamily="34" charset="0"/>
            </a:endParaRPr>
          </a:p>
          <a:p>
            <a:pPr eaLnBrk="1" hangingPunct="1"/>
            <a:r>
              <a:rPr lang="zh-CN" altLang="en-US" sz="1400" b="0" dirty="0">
                <a:latin typeface="Arial" panose="020B0604020202020204" pitchFamily="34" charset="0"/>
              </a:rPr>
              <a:t>到客户连接请求</a:t>
            </a:r>
            <a:endParaRPr lang="zh-CN" altLang="en-US" sz="1400" b="0" dirty="0">
              <a:latin typeface="Arial" panose="020B0604020202020204" pitchFamily="34" charset="0"/>
            </a:endParaRPr>
          </a:p>
        </p:txBody>
      </p:sp>
      <p:sp>
        <p:nvSpPr>
          <p:cNvPr id="76831" name="Line 31"/>
          <p:cNvSpPr/>
          <p:nvPr/>
        </p:nvSpPr>
        <p:spPr>
          <a:xfrm>
            <a:off x="6516688" y="3141663"/>
            <a:ext cx="0" cy="360362"/>
          </a:xfrm>
          <a:prstGeom prst="line">
            <a:avLst/>
          </a:prstGeom>
          <a:ln w="9525" cap="flat" cmpd="sng">
            <a:solidFill>
              <a:schemeClr val="hlink"/>
            </a:solidFill>
            <a:prstDash val="solid"/>
            <a:headEnd type="none" w="med" len="med"/>
            <a:tailEnd type="triangle" w="med" len="med"/>
          </a:ln>
        </p:spPr>
      </p:sp>
      <p:sp>
        <p:nvSpPr>
          <p:cNvPr id="76832" name="Rectangle 32"/>
          <p:cNvSpPr/>
          <p:nvPr/>
        </p:nvSpPr>
        <p:spPr>
          <a:xfrm>
            <a:off x="5435600" y="2924175"/>
            <a:ext cx="2232025" cy="3457575"/>
          </a:xfrm>
          <a:prstGeom prst="rect">
            <a:avLst/>
          </a:prstGeom>
          <a:noFill/>
          <a:ln w="9525" cap="flat" cmpd="sng">
            <a:solidFill>
              <a:schemeClr val="tx1"/>
            </a:solidFill>
            <a:prstDash val="dash"/>
            <a:miter/>
            <a:headEnd type="none" w="med" len="med"/>
            <a:tailEnd type="none" w="med" len="med"/>
          </a:ln>
        </p:spPr>
        <p:txBody>
          <a:bodyPr wrap="none" anchor="ctr" anchorCtr="0"/>
          <a:p>
            <a:pPr eaLnBrk="1" hangingPunct="1"/>
            <a:endParaRPr lang="zh-CN" altLang="en-US" dirty="0">
              <a:latin typeface="Tahoma" panose="020B0604030504040204" pitchFamily="34" charset="0"/>
            </a:endParaRPr>
          </a:p>
        </p:txBody>
      </p:sp>
      <p:sp>
        <p:nvSpPr>
          <p:cNvPr id="76833" name="Line 33"/>
          <p:cNvSpPr/>
          <p:nvPr/>
        </p:nvSpPr>
        <p:spPr>
          <a:xfrm>
            <a:off x="3563938" y="4221163"/>
            <a:ext cx="2160587" cy="0"/>
          </a:xfrm>
          <a:prstGeom prst="line">
            <a:avLst/>
          </a:prstGeom>
          <a:ln w="9525" cap="flat" cmpd="sng">
            <a:solidFill>
              <a:schemeClr val="tx1"/>
            </a:solidFill>
            <a:prstDash val="solid"/>
            <a:headEnd type="triangle" w="med" len="med"/>
            <a:tailEnd type="triangle" w="med" len="med"/>
          </a:ln>
        </p:spPr>
      </p:sp>
      <p:sp>
        <p:nvSpPr>
          <p:cNvPr id="76834" name="Line 34"/>
          <p:cNvSpPr/>
          <p:nvPr/>
        </p:nvSpPr>
        <p:spPr>
          <a:xfrm>
            <a:off x="3203575" y="4868863"/>
            <a:ext cx="2449513" cy="0"/>
          </a:xfrm>
          <a:prstGeom prst="line">
            <a:avLst/>
          </a:prstGeom>
          <a:ln w="9525" cap="flat" cmpd="sng">
            <a:solidFill>
              <a:schemeClr val="tx1"/>
            </a:solidFill>
            <a:prstDash val="solid"/>
            <a:headEnd type="triangle" w="med" len="med"/>
            <a:tailEnd type="triangle" w="med" len="med"/>
          </a:ln>
        </p:spPr>
      </p:sp>
      <p:sp>
        <p:nvSpPr>
          <p:cNvPr id="76835" name="Line 35"/>
          <p:cNvSpPr/>
          <p:nvPr/>
        </p:nvSpPr>
        <p:spPr>
          <a:xfrm>
            <a:off x="3203575" y="5373688"/>
            <a:ext cx="2449513" cy="0"/>
          </a:xfrm>
          <a:prstGeom prst="line">
            <a:avLst/>
          </a:prstGeom>
          <a:ln w="9525" cap="flat" cmpd="sng">
            <a:solidFill>
              <a:schemeClr val="tx1"/>
            </a:solidFill>
            <a:prstDash val="solid"/>
            <a:headEnd type="triangle" w="med" len="med"/>
            <a:tailEnd type="triangle" w="med" len="med"/>
          </a:ln>
        </p:spPr>
      </p:sp>
      <p:sp>
        <p:nvSpPr>
          <p:cNvPr id="76836" name="Line 36"/>
          <p:cNvSpPr/>
          <p:nvPr/>
        </p:nvSpPr>
        <p:spPr>
          <a:xfrm>
            <a:off x="3203575" y="6021388"/>
            <a:ext cx="2449513" cy="0"/>
          </a:xfrm>
          <a:prstGeom prst="line">
            <a:avLst/>
          </a:prstGeom>
          <a:ln w="9525" cap="flat" cmpd="sng">
            <a:solidFill>
              <a:schemeClr val="tx1"/>
            </a:solidFill>
            <a:prstDash val="solid"/>
            <a:headEnd type="triangle" w="med" len="med"/>
            <a:tailEnd type="triangle" w="med" len="med"/>
          </a:ln>
        </p:spPr>
      </p:sp>
      <p:sp>
        <p:nvSpPr>
          <p:cNvPr id="76837" name="Text Box 37"/>
          <p:cNvSpPr txBox="1"/>
          <p:nvPr/>
        </p:nvSpPr>
        <p:spPr>
          <a:xfrm>
            <a:off x="323850" y="2159000"/>
            <a:ext cx="458788" cy="1463675"/>
          </a:xfrm>
          <a:prstGeom prst="rect">
            <a:avLst/>
          </a:prstGeom>
          <a:noFill/>
          <a:ln w="9525">
            <a:noFill/>
          </a:ln>
        </p:spPr>
        <p:txBody>
          <a:bodyPr vert="eaVert" wrap="none">
            <a:spAutoFit/>
          </a:bodyPr>
          <a:p>
            <a:pPr eaLnBrk="1" hangingPunct="1"/>
            <a:r>
              <a:rPr lang="en-US" altLang="zh-CN" sz="1800" b="0" dirty="0">
                <a:latin typeface="Arial" panose="020B0604020202020204" pitchFamily="34" charset="0"/>
              </a:rPr>
              <a:t>TCP</a:t>
            </a:r>
            <a:r>
              <a:rPr lang="zh-CN" altLang="en-US" sz="1800" b="0" dirty="0">
                <a:latin typeface="Arial" panose="020B0604020202020204" pitchFamily="34" charset="0"/>
              </a:rPr>
              <a:t>服务器端</a:t>
            </a:r>
            <a:endParaRPr lang="zh-CN" altLang="en-US" sz="1800" b="0" dirty="0">
              <a:latin typeface="Arial" panose="020B0604020202020204" pitchFamily="34" charset="0"/>
            </a:endParaRPr>
          </a:p>
        </p:txBody>
      </p:sp>
      <p:sp>
        <p:nvSpPr>
          <p:cNvPr id="76838" name="Text Box 38"/>
          <p:cNvSpPr txBox="1"/>
          <p:nvPr/>
        </p:nvSpPr>
        <p:spPr>
          <a:xfrm>
            <a:off x="7885113" y="3573463"/>
            <a:ext cx="458787" cy="1235075"/>
          </a:xfrm>
          <a:prstGeom prst="rect">
            <a:avLst/>
          </a:prstGeom>
          <a:noFill/>
          <a:ln w="9525">
            <a:noFill/>
          </a:ln>
        </p:spPr>
        <p:txBody>
          <a:bodyPr vert="eaVert" wrap="none">
            <a:spAutoFit/>
          </a:bodyPr>
          <a:p>
            <a:pPr eaLnBrk="1" hangingPunct="1"/>
            <a:r>
              <a:rPr lang="en-US" altLang="zh-CN" sz="1800" b="0" dirty="0">
                <a:latin typeface="Arial" panose="020B0604020202020204" pitchFamily="34" charset="0"/>
              </a:rPr>
              <a:t>TCP</a:t>
            </a:r>
            <a:r>
              <a:rPr lang="zh-CN" altLang="en-US" sz="1800" b="0" dirty="0">
                <a:latin typeface="Arial" panose="020B0604020202020204" pitchFamily="34" charset="0"/>
              </a:rPr>
              <a:t>客户端</a:t>
            </a:r>
            <a:endParaRPr lang="zh-CN" altLang="en-US" sz="1800" b="0" dirty="0">
              <a:latin typeface="Arial" panose="020B0604020202020204" pitchFamily="34" charset="0"/>
            </a:endParaRPr>
          </a:p>
        </p:txBody>
      </p:sp>
    </p:spTree>
  </p:cSld>
  <p:clrMapOvr>
    <a:masterClrMapping/>
  </p:clrMapOvr>
  <p:transition>
    <p:random/>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Rectangle 6"/>
          <p:cNvSpPr>
            <a:spLocks noGrp="1"/>
          </p:cNvSpPr>
          <p:nvPr>
            <p:ph type="title"/>
          </p:nvPr>
        </p:nvSpPr>
        <p:spPr>
          <a:xfrm>
            <a:off x="395288" y="260350"/>
            <a:ext cx="7445375" cy="673100"/>
          </a:xfrm>
        </p:spPr>
        <p:txBody>
          <a:bodyPr vert="horz" wrap="square" lIns="92075" tIns="46038" rIns="92075" bIns="46038" anchor="ctr" anchorCtr="0"/>
          <a:p>
            <a:pPr eaLnBrk="1" hangingPunct="1"/>
            <a:r>
              <a:rPr lang="en-US" altLang="zh-CN" dirty="0"/>
              <a:t>TCP</a:t>
            </a:r>
            <a:r>
              <a:rPr lang="zh-CN" altLang="en-US" dirty="0"/>
              <a:t>套接字</a:t>
            </a:r>
            <a:endParaRPr lang="zh-CN" altLang="en-US" dirty="0"/>
          </a:p>
        </p:txBody>
      </p:sp>
      <p:sp>
        <p:nvSpPr>
          <p:cNvPr id="78851" name="Rectangle 7"/>
          <p:cNvSpPr>
            <a:spLocks noGrp="1"/>
          </p:cNvSpPr>
          <p:nvPr>
            <p:ph idx="1"/>
          </p:nvPr>
        </p:nvSpPr>
        <p:spPr>
          <a:xfrm>
            <a:off x="922338" y="1341438"/>
            <a:ext cx="8689975" cy="5626100"/>
          </a:xfrm>
        </p:spPr>
        <p:txBody>
          <a:bodyPr vert="horz" wrap="square" lIns="92075" tIns="46038" rIns="92075" bIns="46038" anchor="t" anchorCtr="0"/>
          <a:p>
            <a:pPr eaLnBrk="1" hangingPunct="1"/>
            <a:r>
              <a:rPr lang="en-US" altLang="zh-CN" dirty="0"/>
              <a:t>TCP</a:t>
            </a:r>
            <a:r>
              <a:rPr lang="zh-CN" altLang="en-US" dirty="0"/>
              <a:t>套接字实现过程</a:t>
            </a:r>
            <a:endParaRPr lang="zh-CN" altLang="en-US" dirty="0"/>
          </a:p>
          <a:p>
            <a:pPr lvl="1" eaLnBrk="1" hangingPunct="1"/>
            <a:r>
              <a:rPr lang="zh-CN" altLang="en-US" dirty="0"/>
              <a:t>服务器端步骤</a:t>
            </a:r>
            <a:endParaRPr lang="zh-CN" altLang="en-US" dirty="0"/>
          </a:p>
          <a:p>
            <a:pPr lvl="2" eaLnBrk="1" hangingPunct="1"/>
            <a:r>
              <a:rPr lang="zh-CN" altLang="en-US" sz="2000" dirty="0"/>
              <a:t>创建套接字</a:t>
            </a:r>
            <a:endParaRPr lang="zh-CN" altLang="en-US" sz="2000" dirty="0"/>
          </a:p>
          <a:p>
            <a:pPr lvl="2" eaLnBrk="1" hangingPunct="1"/>
            <a:r>
              <a:rPr lang="zh-CN" altLang="en-US" sz="2000" dirty="0"/>
              <a:t>绑定套接字</a:t>
            </a:r>
            <a:endParaRPr lang="zh-CN" altLang="en-US" sz="2000" dirty="0"/>
          </a:p>
          <a:p>
            <a:pPr lvl="2" eaLnBrk="1" hangingPunct="1"/>
            <a:r>
              <a:rPr lang="zh-CN" altLang="en-US" sz="2000" dirty="0"/>
              <a:t>设置套接字为监听模式，</a:t>
            </a:r>
            <a:r>
              <a:rPr lang="zh-CN" altLang="en-US" sz="2000" dirty="0">
                <a:solidFill>
                  <a:srgbClr val="FF0000"/>
                </a:solidFill>
              </a:rPr>
              <a:t>进入被动接受连接请求状态</a:t>
            </a:r>
            <a:endParaRPr lang="zh-CN" altLang="en-US" sz="2000" dirty="0">
              <a:solidFill>
                <a:srgbClr val="FF0000"/>
              </a:solidFill>
            </a:endParaRPr>
          </a:p>
          <a:p>
            <a:pPr lvl="2" eaLnBrk="1" hangingPunct="1"/>
            <a:r>
              <a:rPr lang="zh-CN" altLang="en-US" sz="2000" dirty="0"/>
              <a:t>接受请求，建立连接</a:t>
            </a:r>
            <a:endParaRPr lang="zh-CN" altLang="en-US" sz="2000" dirty="0"/>
          </a:p>
          <a:p>
            <a:pPr lvl="2" eaLnBrk="1" hangingPunct="1"/>
            <a:r>
              <a:rPr lang="zh-CN" altLang="en-US" sz="2000" dirty="0"/>
              <a:t>读</a:t>
            </a:r>
            <a:r>
              <a:rPr lang="en-US" altLang="zh-CN" sz="2000" dirty="0"/>
              <a:t>/</a:t>
            </a:r>
            <a:r>
              <a:rPr lang="zh-CN" altLang="en-US" sz="2000" dirty="0"/>
              <a:t>写数据</a:t>
            </a:r>
            <a:endParaRPr lang="zh-CN" altLang="en-US" sz="2000" dirty="0"/>
          </a:p>
          <a:p>
            <a:pPr lvl="2" eaLnBrk="1" hangingPunct="1"/>
            <a:r>
              <a:rPr lang="zh-CN" altLang="en-US" sz="2000" dirty="0"/>
              <a:t>终止连接</a:t>
            </a:r>
            <a:endParaRPr lang="zh-CN" altLang="en-US" sz="2000" dirty="0"/>
          </a:p>
          <a:p>
            <a:pPr lvl="1" eaLnBrk="1" hangingPunct="1"/>
            <a:r>
              <a:rPr lang="zh-CN" altLang="en-US" dirty="0"/>
              <a:t>客户端步骤</a:t>
            </a:r>
            <a:endParaRPr lang="zh-CN" altLang="en-US" dirty="0"/>
          </a:p>
          <a:p>
            <a:pPr lvl="2" eaLnBrk="1" hangingPunct="1"/>
            <a:r>
              <a:rPr lang="zh-CN" altLang="en-US" sz="2000" dirty="0"/>
              <a:t>创建套接字</a:t>
            </a:r>
            <a:endParaRPr lang="zh-CN" altLang="en-US" sz="2000" dirty="0"/>
          </a:p>
          <a:p>
            <a:pPr lvl="2" eaLnBrk="1" hangingPunct="1"/>
            <a:r>
              <a:rPr lang="zh-CN" altLang="en-US" sz="2000" dirty="0"/>
              <a:t>与远程服务程序连接</a:t>
            </a:r>
            <a:endParaRPr lang="zh-CN" altLang="en-US" sz="2000" dirty="0"/>
          </a:p>
          <a:p>
            <a:pPr lvl="2" eaLnBrk="1" hangingPunct="1"/>
            <a:r>
              <a:rPr lang="zh-CN" altLang="en-US" sz="2000" dirty="0"/>
              <a:t>读</a:t>
            </a:r>
            <a:r>
              <a:rPr lang="en-US" altLang="zh-CN" sz="2000" dirty="0"/>
              <a:t>/</a:t>
            </a:r>
            <a:r>
              <a:rPr lang="zh-CN" altLang="en-US" sz="2000" dirty="0"/>
              <a:t>写数据</a:t>
            </a:r>
            <a:endParaRPr lang="zh-CN" altLang="en-US" sz="2000" dirty="0"/>
          </a:p>
          <a:p>
            <a:pPr lvl="2" eaLnBrk="1" hangingPunct="1"/>
            <a:r>
              <a:rPr lang="zh-CN" altLang="en-US" sz="2000" dirty="0"/>
              <a:t>终止连接</a:t>
            </a:r>
            <a:endParaRPr lang="zh-CN" altLang="en-US" sz="2000" dirty="0"/>
          </a:p>
        </p:txBody>
      </p:sp>
    </p:spTree>
  </p:cSld>
  <p:clrMapOvr>
    <a:masterClrMapping/>
  </p:clrMapOvr>
  <p:transition>
    <p:random/>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Rectangle 2"/>
          <p:cNvSpPr>
            <a:spLocks noGrp="1"/>
          </p:cNvSpPr>
          <p:nvPr>
            <p:ph type="title"/>
          </p:nvPr>
        </p:nvSpPr>
        <p:spPr/>
        <p:txBody>
          <a:bodyPr vert="horz" wrap="square" lIns="91440" tIns="45720" rIns="91440" bIns="45720" anchor="b" anchorCtr="0"/>
          <a:p>
            <a:pPr eaLnBrk="1" hangingPunct="1"/>
            <a:endParaRPr lang="zh-CN" altLang="zh-CN" dirty="0"/>
          </a:p>
        </p:txBody>
      </p:sp>
      <p:sp>
        <p:nvSpPr>
          <p:cNvPr id="79875" name="Rectangle 3"/>
          <p:cNvSpPr>
            <a:spLocks noGrp="1"/>
          </p:cNvSpPr>
          <p:nvPr>
            <p:ph idx="1"/>
          </p:nvPr>
        </p:nvSpPr>
        <p:spPr/>
        <p:txBody>
          <a:bodyPr vert="horz" wrap="square" lIns="91440" tIns="45720" rIns="91440" bIns="45720" anchor="t" anchorCtr="0"/>
          <a:p>
            <a:pPr eaLnBrk="1" hangingPunct="1"/>
            <a:r>
              <a:rPr lang="en-US" altLang="zh-CN" dirty="0"/>
              <a:t>socket</a:t>
            </a:r>
            <a:r>
              <a:rPr lang="zh-CN" altLang="en-US" dirty="0"/>
              <a:t>类似于电话插座。以一个国家级电话网为例。电话的通话双方相当于相互通信的</a:t>
            </a:r>
            <a:r>
              <a:rPr lang="en-US" altLang="zh-CN" dirty="0"/>
              <a:t>2</a:t>
            </a:r>
            <a:r>
              <a:rPr lang="zh-CN" altLang="en-US" dirty="0"/>
              <a:t>个进程，区号是它的网络地址；区内一个单位的</a:t>
            </a:r>
            <a:r>
              <a:rPr lang="zh-CN" altLang="en-US" dirty="0">
                <a:hlinkClick r:id="rId1"/>
              </a:rPr>
              <a:t>交换机</a:t>
            </a:r>
            <a:r>
              <a:rPr lang="zh-CN" altLang="en-US" dirty="0"/>
              <a:t>相当于一台</a:t>
            </a:r>
            <a:r>
              <a:rPr lang="zh-CN" altLang="en-US" dirty="0">
                <a:hlinkClick r:id="rId2"/>
              </a:rPr>
              <a:t>主机</a:t>
            </a:r>
            <a:r>
              <a:rPr lang="zh-CN" altLang="en-US" dirty="0"/>
              <a:t>，主机分配给每个用户的局内号码相当于</a:t>
            </a:r>
            <a:r>
              <a:rPr lang="en-US" altLang="zh-CN" dirty="0"/>
              <a:t>socket</a:t>
            </a:r>
            <a:r>
              <a:rPr lang="zh-CN" altLang="en-US" dirty="0"/>
              <a:t>号。任何用户在通话之前，首先要占有一部电话机，相当于申请一个</a:t>
            </a:r>
            <a:r>
              <a:rPr lang="en-US" altLang="zh-CN" dirty="0"/>
              <a:t>socket</a:t>
            </a:r>
            <a:r>
              <a:rPr lang="zh-CN" altLang="en-US" dirty="0"/>
              <a:t>；同时要知道对方的号码，相当于对方有一个固定的</a:t>
            </a:r>
            <a:r>
              <a:rPr lang="en-US" altLang="zh-CN" dirty="0"/>
              <a:t>socket</a:t>
            </a:r>
            <a:r>
              <a:rPr lang="zh-CN" altLang="en-US" dirty="0"/>
              <a:t>。</a:t>
            </a:r>
            <a:endParaRPr lang="zh-CN" altLang="en-US" dirty="0"/>
          </a:p>
        </p:txBody>
      </p:sp>
    </p:spTree>
  </p:cSld>
  <p:clrMapOvr>
    <a:masterClrMapping/>
  </p:clrMapOvr>
  <p:transition>
    <p:random/>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Rectangle 2"/>
          <p:cNvSpPr>
            <a:spLocks noGrp="1"/>
          </p:cNvSpPr>
          <p:nvPr>
            <p:ph type="title"/>
          </p:nvPr>
        </p:nvSpPr>
        <p:spPr/>
        <p:txBody>
          <a:bodyPr vert="horz" wrap="square" lIns="91440" tIns="45720" rIns="91440" bIns="45720" anchor="b" anchorCtr="0"/>
          <a:p>
            <a:pPr eaLnBrk="1" hangingPunct="1"/>
            <a:endParaRPr lang="zh-CN" altLang="zh-CN" dirty="0"/>
          </a:p>
        </p:txBody>
      </p:sp>
      <p:sp>
        <p:nvSpPr>
          <p:cNvPr id="81923" name="Rectangle 3"/>
          <p:cNvSpPr>
            <a:spLocks noGrp="1"/>
          </p:cNvSpPr>
          <p:nvPr>
            <p:ph idx="1"/>
          </p:nvPr>
        </p:nvSpPr>
        <p:spPr/>
        <p:txBody>
          <a:bodyPr vert="horz" wrap="square" lIns="91440" tIns="45720" rIns="91440" bIns="45720" anchor="t" anchorCtr="0"/>
          <a:p>
            <a:pPr eaLnBrk="1" hangingPunct="1"/>
            <a:r>
              <a:rPr lang="en-US" altLang="zh-CN" dirty="0"/>
              <a:t>socket</a:t>
            </a:r>
            <a:r>
              <a:rPr lang="zh-CN" altLang="en-US" dirty="0"/>
              <a:t>实质上提供了进程通信的端点。进程通信之前，双方首先必须各自创建一个端点，否则是没有办法建立联系并相互通信的。正如打电话之前，双方必须各自拥有一台电话机一样。在网间网内部，每一个</a:t>
            </a:r>
            <a:r>
              <a:rPr lang="en-US" altLang="zh-CN" dirty="0"/>
              <a:t>socket</a:t>
            </a:r>
            <a:r>
              <a:rPr lang="zh-CN" altLang="en-US" dirty="0"/>
              <a:t>用一个半相关描述</a:t>
            </a:r>
            <a:r>
              <a:rPr lang="en-US" altLang="zh-CN" dirty="0"/>
              <a:t>: </a:t>
            </a:r>
            <a:endParaRPr lang="en-US" altLang="zh-CN" dirty="0"/>
          </a:p>
          <a:p>
            <a:pPr eaLnBrk="1" hangingPunct="1">
              <a:buNone/>
            </a:pPr>
            <a:r>
              <a:rPr lang="en-US" altLang="zh-CN" dirty="0"/>
              <a:t>		(</a:t>
            </a:r>
            <a:r>
              <a:rPr lang="zh-CN" altLang="en-US" dirty="0"/>
              <a:t>协议族，本地</a:t>
            </a:r>
            <a:r>
              <a:rPr lang="zh-CN" altLang="en-US" dirty="0">
                <a:hlinkClick r:id="rId1"/>
              </a:rPr>
              <a:t>地址</a:t>
            </a:r>
            <a:r>
              <a:rPr lang="zh-CN" altLang="en-US" dirty="0"/>
              <a:t>，本地端口</a:t>
            </a:r>
            <a:r>
              <a:rPr lang="en-US" altLang="zh-CN" dirty="0"/>
              <a:t>) </a:t>
            </a:r>
            <a:endParaRPr lang="en-US" altLang="zh-CN" dirty="0"/>
          </a:p>
          <a:p>
            <a:pPr eaLnBrk="1" hangingPunct="1">
              <a:buNone/>
            </a:pPr>
            <a:r>
              <a:rPr lang="en-US" altLang="zh-CN" dirty="0"/>
              <a:t>	</a:t>
            </a:r>
            <a:r>
              <a:rPr lang="zh-CN" altLang="en-US" dirty="0"/>
              <a:t>一个完整的</a:t>
            </a:r>
            <a:r>
              <a:rPr lang="en-US" altLang="zh-CN" dirty="0"/>
              <a:t>socket</a:t>
            </a:r>
            <a:r>
              <a:rPr lang="zh-CN" altLang="en-US" dirty="0"/>
              <a:t>有一个本地唯一的</a:t>
            </a:r>
            <a:r>
              <a:rPr lang="en-US" altLang="zh-CN" dirty="0"/>
              <a:t>socket</a:t>
            </a:r>
            <a:r>
              <a:rPr lang="zh-CN" altLang="en-US" dirty="0"/>
              <a:t>号，由</a:t>
            </a:r>
            <a:r>
              <a:rPr lang="zh-CN" altLang="en-US" dirty="0">
                <a:hlinkClick r:id="rId2"/>
              </a:rPr>
              <a:t>操作系统</a:t>
            </a:r>
            <a:r>
              <a:rPr lang="zh-CN" altLang="en-US" dirty="0"/>
              <a:t>分配。 </a:t>
            </a:r>
            <a:endParaRPr lang="zh-CN" altLang="en-US" dirty="0"/>
          </a:p>
        </p:txBody>
      </p:sp>
    </p:spTree>
  </p:cSld>
  <p:clrMapOvr>
    <a:masterClrMapping/>
  </p:clrMapOvr>
  <p:transition>
    <p:random/>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0" name="Rectangle 5"/>
          <p:cNvSpPr>
            <a:spLocks noGrp="1"/>
          </p:cNvSpPr>
          <p:nvPr>
            <p:ph idx="1"/>
          </p:nvPr>
        </p:nvSpPr>
        <p:spPr>
          <a:xfrm>
            <a:off x="327025" y="1868488"/>
            <a:ext cx="8689975" cy="5016500"/>
          </a:xfrm>
        </p:spPr>
        <p:txBody>
          <a:bodyPr vert="horz" wrap="square" lIns="92075" tIns="46038" rIns="92075" bIns="46038" anchor="t" anchorCtr="0"/>
          <a:p>
            <a:pPr eaLnBrk="1" hangingPunct="1">
              <a:lnSpc>
                <a:spcPct val="120000"/>
              </a:lnSpc>
            </a:pPr>
            <a:r>
              <a:rPr lang="zh-CN" altLang="en-US" sz="2400" dirty="0"/>
              <a:t>对于基于</a:t>
            </a:r>
            <a:r>
              <a:rPr lang="en-US" altLang="zh-CN" sz="2400" dirty="0"/>
              <a:t>TCP</a:t>
            </a:r>
            <a:r>
              <a:rPr lang="zh-CN" altLang="en-US" sz="2400" dirty="0"/>
              <a:t>的通信，无论是服务器还是客户，都必须首先产生其</a:t>
            </a:r>
            <a:r>
              <a:rPr lang="en-US" altLang="zh-CN" sz="2400" dirty="0"/>
              <a:t>TCP</a:t>
            </a:r>
            <a:r>
              <a:rPr lang="zh-CN" altLang="en-US" sz="2400" dirty="0"/>
              <a:t>通信传输端点，即</a:t>
            </a:r>
            <a:r>
              <a:rPr lang="en-US" altLang="zh-CN" sz="2400" dirty="0"/>
              <a:t>TCP</a:t>
            </a:r>
            <a:r>
              <a:rPr lang="zh-CN" altLang="en-US" sz="2400" dirty="0"/>
              <a:t>套接字。</a:t>
            </a:r>
            <a:endParaRPr lang="zh-CN" altLang="en-US" sz="2400" dirty="0"/>
          </a:p>
          <a:p>
            <a:pPr eaLnBrk="1" hangingPunct="1">
              <a:lnSpc>
                <a:spcPct val="120000"/>
              </a:lnSpc>
            </a:pPr>
            <a:r>
              <a:rPr lang="zh-CN" altLang="en-US" sz="2400" dirty="0"/>
              <a:t>应用程序通过调用</a:t>
            </a:r>
            <a:r>
              <a:rPr lang="en-US" altLang="zh-CN" sz="2400" dirty="0"/>
              <a:t>socket()</a:t>
            </a:r>
            <a:r>
              <a:rPr lang="zh-CN" altLang="en-US" sz="2400" dirty="0"/>
              <a:t>产生套接字。该函数调用必须给出所使用的</a:t>
            </a:r>
            <a:r>
              <a:rPr lang="zh-CN" altLang="en-US" sz="2400" b="1" dirty="0">
                <a:solidFill>
                  <a:srgbClr val="0070C0"/>
                </a:solidFill>
              </a:rPr>
              <a:t>地址簇</a:t>
            </a:r>
            <a:r>
              <a:rPr lang="zh-CN" altLang="en-US" sz="2400" dirty="0"/>
              <a:t>、</a:t>
            </a:r>
            <a:r>
              <a:rPr lang="zh-CN" altLang="en-US" sz="2400" b="1" dirty="0">
                <a:solidFill>
                  <a:srgbClr val="0070C0"/>
                </a:solidFill>
              </a:rPr>
              <a:t>套接字类型</a:t>
            </a:r>
            <a:r>
              <a:rPr lang="zh-CN" altLang="en-US" sz="2400" dirty="0"/>
              <a:t>和</a:t>
            </a:r>
            <a:r>
              <a:rPr lang="zh-CN" altLang="en-US" sz="2400" b="1" dirty="0">
                <a:solidFill>
                  <a:srgbClr val="0070C0"/>
                </a:solidFill>
              </a:rPr>
              <a:t>协议标志</a:t>
            </a:r>
            <a:r>
              <a:rPr lang="zh-CN" altLang="en-US" sz="2400" dirty="0"/>
              <a:t>。该函数</a:t>
            </a:r>
            <a:r>
              <a:rPr lang="zh-CN" altLang="en-US" sz="2400" b="1" dirty="0">
                <a:solidFill>
                  <a:srgbClr val="FF0000"/>
                </a:solidFill>
              </a:rPr>
              <a:t>返回一个套接字描述符</a:t>
            </a:r>
            <a:r>
              <a:rPr lang="zh-CN" altLang="en-US" sz="2400" dirty="0"/>
              <a:t>。</a:t>
            </a:r>
            <a:endParaRPr lang="zh-CN" altLang="en-US" sz="2400" dirty="0"/>
          </a:p>
          <a:p>
            <a:pPr eaLnBrk="1" hangingPunct="1">
              <a:lnSpc>
                <a:spcPct val="120000"/>
              </a:lnSpc>
            </a:pPr>
            <a:r>
              <a:rPr lang="zh-CN" altLang="en-US" sz="2400" dirty="0"/>
              <a:t>由于系统中套接字也是一种文件，所以套接字描述符可以看成是一种文件描述符。之后的任何</a:t>
            </a:r>
            <a:r>
              <a:rPr lang="en-US" altLang="zh-CN" sz="2400" dirty="0"/>
              <a:t>I/O</a:t>
            </a:r>
            <a:r>
              <a:rPr lang="zh-CN" altLang="en-US" sz="2400" dirty="0"/>
              <a:t>操作都是作用于该套接字描述符。其数据结构包括一个网络连接的</a:t>
            </a:r>
            <a:r>
              <a:rPr lang="en-US" altLang="zh-CN" sz="2400" dirty="0"/>
              <a:t>5</a:t>
            </a:r>
            <a:r>
              <a:rPr lang="zh-CN" altLang="en-US" sz="2400" dirty="0"/>
              <a:t>种信息：通信协议、本地地址、本机主机端口、远程主机地址和远程协议端口。</a:t>
            </a:r>
            <a:endParaRPr lang="zh-CN" altLang="en-US" sz="2400" dirty="0"/>
          </a:p>
          <a:p>
            <a:pPr eaLnBrk="1" hangingPunct="1">
              <a:lnSpc>
                <a:spcPct val="90000"/>
              </a:lnSpc>
            </a:pPr>
            <a:endParaRPr lang="en-US" altLang="zh-CN" sz="2800" dirty="0"/>
          </a:p>
        </p:txBody>
      </p:sp>
    </p:spTree>
  </p:cSld>
  <p:clrMapOvr>
    <a:masterClrMapping/>
  </p:clrMapOvr>
  <p:transition>
    <p:random/>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Rectangle 9"/>
          <p:cNvSpPr>
            <a:spLocks noGrp="1"/>
          </p:cNvSpPr>
          <p:nvPr>
            <p:ph type="title"/>
          </p:nvPr>
        </p:nvSpPr>
        <p:spPr>
          <a:xfrm>
            <a:off x="458788" y="388938"/>
            <a:ext cx="7445375" cy="673100"/>
          </a:xfrm>
        </p:spPr>
        <p:txBody>
          <a:bodyPr vert="horz" wrap="square" lIns="92075" tIns="46038" rIns="92075" bIns="46038" anchor="ctr" anchorCtr="0"/>
          <a:p>
            <a:pPr eaLnBrk="1" hangingPunct="1"/>
            <a:endParaRPr lang="zh-CN" altLang="zh-CN" dirty="0"/>
          </a:p>
        </p:txBody>
      </p:sp>
      <p:sp>
        <p:nvSpPr>
          <p:cNvPr id="86019" name="Rectangle 10"/>
          <p:cNvSpPr>
            <a:spLocks noGrp="1"/>
          </p:cNvSpPr>
          <p:nvPr>
            <p:ph idx="1"/>
          </p:nvPr>
        </p:nvSpPr>
        <p:spPr>
          <a:xfrm>
            <a:off x="395288" y="1365250"/>
            <a:ext cx="8689975" cy="5376863"/>
          </a:xfrm>
        </p:spPr>
        <p:txBody>
          <a:bodyPr vert="horz" wrap="square" lIns="92075" tIns="46038" rIns="92075" bIns="46038" anchor="t" anchorCtr="0"/>
          <a:p>
            <a:pPr eaLnBrk="1" hangingPunct="1"/>
            <a:r>
              <a:rPr lang="en-US" altLang="zh-CN" sz="2800" dirty="0"/>
              <a:t>socket</a:t>
            </a:r>
            <a:r>
              <a:rPr lang="zh-CN" altLang="en-US" sz="2800" dirty="0"/>
              <a:t>函数：为了执行网络输入输出，一个进程必须做的第一件事就是调用</a:t>
            </a:r>
            <a:r>
              <a:rPr lang="en-US" altLang="zh-CN" sz="2800" dirty="0"/>
              <a:t>socket</a:t>
            </a:r>
            <a:r>
              <a:rPr lang="zh-CN" altLang="en-US" sz="2800" dirty="0"/>
              <a:t>函数获得一个文件描述符。 </a:t>
            </a:r>
            <a:endParaRPr lang="zh-CN" altLang="en-US" sz="2800" dirty="0"/>
          </a:p>
        </p:txBody>
      </p:sp>
      <p:sp>
        <p:nvSpPr>
          <p:cNvPr id="82948" name="Rectangle 11"/>
          <p:cNvSpPr>
            <a:spLocks noChangeArrowheads="1"/>
          </p:cNvSpPr>
          <p:nvPr/>
        </p:nvSpPr>
        <p:spPr bwMode="auto">
          <a:xfrm>
            <a:off x="1042988" y="2890838"/>
            <a:ext cx="6929438" cy="1371600"/>
          </a:xfrm>
          <a:prstGeom prst="rect">
            <a:avLst/>
          </a:prstGeom>
          <a:solidFill>
            <a:schemeClr val="tx1">
              <a:lumMod val="65000"/>
              <a:lumOff val="35000"/>
            </a:schemeClr>
          </a:solidFill>
          <a:ln w="9525" algn="ctr">
            <a:solidFill>
              <a:schemeClr val="tx1"/>
            </a:solidFill>
            <a:miter lim="800000"/>
          </a:ln>
          <a:effectLst/>
        </p:spPr>
        <p:txBody>
          <a:bodyPr wrap="none" lIns="92075" tIns="46038" rIns="92075" bIns="46038"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0"/>
              </a:spcBef>
              <a:spcAft>
                <a:spcPct val="0"/>
              </a:spcAft>
              <a:buClrTx/>
              <a:buSzTx/>
              <a:buFontTx/>
              <a:buNone/>
              <a:defRPr/>
            </a:pPr>
            <a:r>
              <a:rPr kumimoji="1" lang="en-US" altLang="zh-CN" sz="2400" b="0" i="0" u="none" strike="noStrike" kern="1200" cap="none" spc="0" normalizeH="0" baseline="0" noProof="0">
                <a:ln>
                  <a:noFill/>
                </a:ln>
                <a:solidFill>
                  <a:schemeClr val="bg1"/>
                </a:solidFill>
                <a:effectLst/>
                <a:uLnTx/>
                <a:uFillTx/>
                <a:latin typeface="Tahoma" panose="020B0604030504040204" pitchFamily="34" charset="0"/>
                <a:ea typeface="黑体" panose="02010609060101010101" pitchFamily="49" charset="-122"/>
                <a:cs typeface="+mn-cs"/>
              </a:rPr>
              <a:t>#include &lt;sys/socket.h&gt;</a:t>
            </a:r>
            <a:br>
              <a:rPr kumimoji="1" lang="en-US" altLang="zh-CN" sz="2400" b="0" i="0" u="none" strike="noStrike" kern="1200" cap="none" spc="0" normalizeH="0" baseline="0" noProof="0">
                <a:ln>
                  <a:noFill/>
                </a:ln>
                <a:solidFill>
                  <a:schemeClr val="bg1"/>
                </a:solidFill>
                <a:effectLst/>
                <a:uLnTx/>
                <a:uFillTx/>
                <a:latin typeface="Tahoma" panose="020B0604030504040204" pitchFamily="34" charset="0"/>
                <a:ea typeface="黑体" panose="02010609060101010101" pitchFamily="49" charset="-122"/>
                <a:cs typeface="+mn-cs"/>
              </a:rPr>
            </a:br>
            <a:r>
              <a:rPr kumimoji="1" lang="en-US" altLang="zh-CN" sz="2400" b="0" i="0" u="none" strike="noStrike" kern="1200" cap="none" spc="0" normalizeH="0" baseline="0" noProof="0">
                <a:ln>
                  <a:noFill/>
                </a:ln>
                <a:solidFill>
                  <a:schemeClr val="bg1"/>
                </a:solidFill>
                <a:effectLst/>
                <a:uLnTx/>
                <a:uFillTx/>
                <a:latin typeface="Tahoma" panose="020B0604030504040204" pitchFamily="34" charset="0"/>
                <a:ea typeface="黑体" panose="02010609060101010101" pitchFamily="49" charset="-122"/>
                <a:cs typeface="+mn-cs"/>
              </a:rPr>
              <a:t>int socket(int family,int type,int protocol); </a:t>
            </a:r>
            <a:r>
              <a:rPr kumimoji="1" lang="zh-CN" altLang="en-US" sz="2400" b="0" i="0" u="none" strike="noStrike" kern="1200" cap="none" spc="0" normalizeH="0" baseline="0" noProof="0">
                <a:ln>
                  <a:noFill/>
                </a:ln>
                <a:solidFill>
                  <a:schemeClr val="bg1"/>
                </a:solidFill>
                <a:effectLst/>
                <a:uLnTx/>
                <a:uFillTx/>
                <a:latin typeface="Tahoma" panose="020B0604030504040204" pitchFamily="34" charset="0"/>
                <a:ea typeface="黑体" panose="02010609060101010101" pitchFamily="49" charset="-122"/>
                <a:cs typeface="+mn-cs"/>
              </a:rPr>
              <a:t>　　　</a:t>
            </a:r>
            <a:br>
              <a:rPr kumimoji="1" lang="zh-CN" altLang="en-US" sz="2400" b="0" i="0" u="none" strike="noStrike" kern="1200" cap="none" spc="0" normalizeH="0" baseline="0" noProof="0">
                <a:ln>
                  <a:noFill/>
                </a:ln>
                <a:solidFill>
                  <a:schemeClr val="bg1"/>
                </a:solidFill>
                <a:effectLst/>
                <a:uLnTx/>
                <a:uFillTx/>
                <a:latin typeface="Tahoma" panose="020B0604030504040204" pitchFamily="34" charset="0"/>
                <a:ea typeface="黑体" panose="02010609060101010101" pitchFamily="49" charset="-122"/>
                <a:cs typeface="+mn-cs"/>
              </a:rPr>
            </a:br>
            <a:r>
              <a:rPr kumimoji="1" lang="zh-CN" altLang="en-US" sz="2400" b="0" i="0" u="none" strike="noStrike" kern="1200" cap="none" spc="0" normalizeH="0" baseline="0" noProof="0">
                <a:ln>
                  <a:noFill/>
                </a:ln>
                <a:solidFill>
                  <a:schemeClr val="bg1"/>
                </a:solidFill>
                <a:effectLst/>
                <a:uLnTx/>
                <a:uFillTx/>
                <a:latin typeface="Tahoma" panose="020B0604030504040204" pitchFamily="34" charset="0"/>
                <a:ea typeface="黑体" panose="02010609060101010101" pitchFamily="49" charset="-122"/>
                <a:cs typeface="+mn-cs"/>
              </a:rPr>
              <a:t>返回：非负描述字－－－成功　　　</a:t>
            </a:r>
            <a:r>
              <a:rPr kumimoji="1" lang="en-US" altLang="zh-CN" sz="2400" b="0" i="0" u="none" strike="noStrike" kern="1200" cap="none" spc="0" normalizeH="0" baseline="0" noProof="0">
                <a:ln>
                  <a:noFill/>
                </a:ln>
                <a:solidFill>
                  <a:schemeClr val="bg1"/>
                </a:solidFill>
                <a:effectLst/>
                <a:uLnTx/>
                <a:uFillTx/>
                <a:latin typeface="Tahoma" panose="020B0604030504040204" pitchFamily="34" charset="0"/>
                <a:ea typeface="黑体" panose="02010609060101010101" pitchFamily="49" charset="-122"/>
                <a:cs typeface="+mn-cs"/>
              </a:rPr>
              <a:t>-1</a:t>
            </a:r>
            <a:r>
              <a:rPr kumimoji="1" lang="zh-CN" altLang="en-US" sz="2400" b="0" i="0" u="none" strike="noStrike" kern="1200" cap="none" spc="0" normalizeH="0" baseline="0" noProof="0">
                <a:ln>
                  <a:noFill/>
                </a:ln>
                <a:solidFill>
                  <a:schemeClr val="bg1"/>
                </a:solidFill>
                <a:effectLst/>
                <a:uLnTx/>
                <a:uFillTx/>
                <a:latin typeface="Tahoma" panose="020B0604030504040204" pitchFamily="34" charset="0"/>
                <a:ea typeface="黑体" panose="02010609060101010101" pitchFamily="49" charset="-122"/>
                <a:cs typeface="+mn-cs"/>
              </a:rPr>
              <a:t>－－－失败</a:t>
            </a:r>
            <a:endParaRPr kumimoji="1" lang="zh-CN" altLang="en-US" sz="2400" b="0" i="0" u="none" strike="noStrike" kern="1200" cap="none" spc="0" normalizeH="0" baseline="0" noProof="0">
              <a:ln>
                <a:noFill/>
              </a:ln>
              <a:solidFill>
                <a:schemeClr val="bg1"/>
              </a:solidFill>
              <a:effectLst/>
              <a:uLnTx/>
              <a:uFillTx/>
              <a:latin typeface="Tahoma" panose="020B0604030504040204" pitchFamily="34" charset="0"/>
              <a:ea typeface="黑体" panose="02010609060101010101" pitchFamily="49" charset="-122"/>
              <a:cs typeface="+mn-cs"/>
            </a:endParaRPr>
          </a:p>
        </p:txBody>
      </p:sp>
      <p:sp>
        <p:nvSpPr>
          <p:cNvPr id="269324" name="Rectangle 12"/>
          <p:cNvSpPr>
            <a:spLocks noChangeArrowheads="1"/>
          </p:cNvSpPr>
          <p:nvPr/>
        </p:nvSpPr>
        <p:spPr bwMode="auto">
          <a:xfrm>
            <a:off x="755650" y="4527550"/>
            <a:ext cx="8302625" cy="2070100"/>
          </a:xfrm>
          <a:prstGeom prst="rect">
            <a:avLst/>
          </a:prstGeom>
          <a:noFill/>
          <a:ln>
            <a:noFill/>
          </a:ln>
          <a:effectLst/>
        </p:spPr>
        <p:txBody>
          <a:bodyPr lIns="92075" tIns="46038" rIns="92075" bIns="46038" anchor="ctr">
            <a:spAutoFit/>
          </a:bodyPr>
          <a:lstStyle/>
          <a:p>
            <a:pPr marL="0" marR="0" lvl="0" indent="0" algn="l" defTabSz="914400" rtl="0" eaLnBrk="1" fontAlgn="base" latinLnBrk="0" hangingPunct="1">
              <a:lnSpc>
                <a:spcPct val="120000"/>
              </a:lnSpc>
              <a:spcBef>
                <a:spcPct val="0"/>
              </a:spcBef>
              <a:spcAft>
                <a:spcPct val="0"/>
              </a:spcAft>
              <a:buClrTx/>
              <a:buSzTx/>
              <a:buFontTx/>
              <a:buNone/>
              <a:defRPr/>
            </a:pPr>
            <a:r>
              <a:rPr kumimoji="1" lang="zh-CN" altLang="en-US" sz="2200" b="0" i="0" u="none" strike="noStrike" kern="1200" cap="none" spc="0" normalizeH="0" baseline="0" noProof="0">
                <a:ln>
                  <a:noFill/>
                </a:ln>
                <a:solidFill>
                  <a:schemeClr val="tx2"/>
                </a:solidFill>
                <a:effectLst/>
                <a:uLnTx/>
                <a:uFillTx/>
                <a:latin typeface="微软雅黑" panose="020B0503020204020204" charset="-122"/>
                <a:ea typeface="微软雅黑" panose="020B0503020204020204" charset="-122"/>
                <a:cs typeface="+mn-cs"/>
              </a:rPr>
              <a:t>第一个参数指明了协议簇，目前支持</a:t>
            </a:r>
            <a:r>
              <a:rPr kumimoji="1" lang="en-US" altLang="zh-CN" sz="2200" b="0" i="0" u="none" strike="noStrike" kern="1200" cap="none" spc="0" normalizeH="0" baseline="0" noProof="0">
                <a:ln>
                  <a:noFill/>
                </a:ln>
                <a:solidFill>
                  <a:schemeClr val="tx2"/>
                </a:solidFill>
                <a:effectLst/>
                <a:uLnTx/>
                <a:uFillTx/>
                <a:latin typeface="微软雅黑" panose="020B0503020204020204" charset="-122"/>
                <a:ea typeface="微软雅黑" panose="020B0503020204020204" charset="-122"/>
                <a:cs typeface="+mn-cs"/>
              </a:rPr>
              <a:t>5</a:t>
            </a:r>
            <a:r>
              <a:rPr kumimoji="1" lang="zh-CN" altLang="en-US" sz="2200" b="0" i="0" u="none" strike="noStrike" kern="1200" cap="none" spc="0" normalizeH="0" baseline="0" noProof="0">
                <a:ln>
                  <a:noFill/>
                </a:ln>
                <a:solidFill>
                  <a:schemeClr val="tx2"/>
                </a:solidFill>
                <a:effectLst/>
                <a:uLnTx/>
                <a:uFillTx/>
                <a:latin typeface="微软雅黑" panose="020B0503020204020204" charset="-122"/>
                <a:ea typeface="微软雅黑" panose="020B0503020204020204" charset="-122"/>
                <a:cs typeface="+mn-cs"/>
              </a:rPr>
              <a:t>种协议簇，最常用的有</a:t>
            </a:r>
            <a:r>
              <a:rPr kumimoji="1" lang="en-US" altLang="zh-CN" sz="2200" b="0" i="0" u="none" strike="noStrike" kern="1200" cap="none" spc="0" normalizeH="0" baseline="0" noProof="0">
                <a:ln>
                  <a:noFill/>
                </a:ln>
                <a:solidFill>
                  <a:schemeClr val="tx2"/>
                </a:solidFill>
                <a:effectLst/>
                <a:uLnTx/>
                <a:uFillTx/>
                <a:latin typeface="微软雅黑" panose="020B0503020204020204" charset="-122"/>
                <a:ea typeface="微软雅黑" panose="020B0503020204020204" charset="-122"/>
                <a:cs typeface="+mn-cs"/>
              </a:rPr>
              <a:t>AF_INET(IPv4</a:t>
            </a:r>
            <a:r>
              <a:rPr kumimoji="1" lang="zh-CN" altLang="en-US" sz="2200" b="0" i="0" u="none" strike="noStrike" kern="1200" cap="none" spc="0" normalizeH="0" baseline="0" noProof="0">
                <a:ln>
                  <a:noFill/>
                </a:ln>
                <a:solidFill>
                  <a:schemeClr val="tx2"/>
                </a:solidFill>
                <a:effectLst/>
                <a:uLnTx/>
                <a:uFillTx/>
                <a:latin typeface="微软雅黑" panose="020B0503020204020204" charset="-122"/>
                <a:ea typeface="微软雅黑" panose="020B0503020204020204" charset="-122"/>
                <a:cs typeface="+mn-cs"/>
              </a:rPr>
              <a:t>协议</a:t>
            </a:r>
            <a:r>
              <a:rPr kumimoji="1" lang="en-US" altLang="zh-CN" sz="2200" b="0" i="0" u="none" strike="noStrike" kern="1200" cap="none" spc="0" normalizeH="0" baseline="0" noProof="0">
                <a:ln>
                  <a:noFill/>
                </a:ln>
                <a:solidFill>
                  <a:schemeClr val="tx2"/>
                </a:solidFill>
                <a:effectLst/>
                <a:uLnTx/>
                <a:uFillTx/>
                <a:latin typeface="微软雅黑" panose="020B0503020204020204" charset="-122"/>
                <a:ea typeface="微软雅黑" panose="020B0503020204020204" charset="-122"/>
                <a:cs typeface="+mn-cs"/>
              </a:rPr>
              <a:t>)</a:t>
            </a:r>
            <a:r>
              <a:rPr kumimoji="1" lang="zh-CN" altLang="en-US" sz="2200" b="0" i="0" u="none" strike="noStrike" kern="1200" cap="none" spc="0" normalizeH="0" baseline="0" noProof="0">
                <a:ln>
                  <a:noFill/>
                </a:ln>
                <a:solidFill>
                  <a:schemeClr val="tx2"/>
                </a:solidFill>
                <a:effectLst/>
                <a:uLnTx/>
                <a:uFillTx/>
                <a:latin typeface="微软雅黑" panose="020B0503020204020204" charset="-122"/>
                <a:ea typeface="微软雅黑" panose="020B0503020204020204" charset="-122"/>
                <a:cs typeface="+mn-cs"/>
              </a:rPr>
              <a:t>和</a:t>
            </a:r>
            <a:r>
              <a:rPr kumimoji="1" lang="en-US" altLang="zh-CN" sz="2200" b="0" i="0" u="none" strike="noStrike" kern="1200" cap="none" spc="0" normalizeH="0" baseline="0" noProof="0">
                <a:ln>
                  <a:noFill/>
                </a:ln>
                <a:solidFill>
                  <a:schemeClr val="tx2"/>
                </a:solidFill>
                <a:effectLst/>
                <a:uLnTx/>
                <a:uFillTx/>
                <a:latin typeface="微软雅黑" panose="020B0503020204020204" charset="-122"/>
                <a:ea typeface="微软雅黑" panose="020B0503020204020204" charset="-122"/>
                <a:cs typeface="+mn-cs"/>
              </a:rPr>
              <a:t>AF_INET6(IPv6</a:t>
            </a:r>
            <a:r>
              <a:rPr kumimoji="1" lang="zh-CN" altLang="en-US" sz="2200" b="0" i="0" u="none" strike="noStrike" kern="1200" cap="none" spc="0" normalizeH="0" baseline="0" noProof="0">
                <a:ln>
                  <a:noFill/>
                </a:ln>
                <a:solidFill>
                  <a:schemeClr val="tx2"/>
                </a:solidFill>
                <a:effectLst/>
                <a:uLnTx/>
                <a:uFillTx/>
                <a:latin typeface="微软雅黑" panose="020B0503020204020204" charset="-122"/>
                <a:ea typeface="微软雅黑" panose="020B0503020204020204" charset="-122"/>
                <a:cs typeface="+mn-cs"/>
              </a:rPr>
              <a:t>协议</a:t>
            </a:r>
            <a:r>
              <a:rPr kumimoji="1" lang="en-US" altLang="zh-CN" sz="2200" b="0" i="0" u="none" strike="noStrike" kern="1200" cap="none" spc="0" normalizeH="0" baseline="0" noProof="0">
                <a:ln>
                  <a:noFill/>
                </a:ln>
                <a:solidFill>
                  <a:schemeClr val="tx2"/>
                </a:solidFill>
                <a:effectLst/>
                <a:uLnTx/>
                <a:uFillTx/>
                <a:latin typeface="微软雅黑" panose="020B0503020204020204" charset="-122"/>
                <a:ea typeface="微软雅黑" panose="020B0503020204020204" charset="-122"/>
                <a:cs typeface="+mn-cs"/>
              </a:rPr>
              <a:t>)</a:t>
            </a:r>
            <a:r>
              <a:rPr kumimoji="1" lang="zh-CN" altLang="en-US" sz="2200" b="0" i="0" u="none" strike="noStrike" kern="1200" cap="none" spc="0" normalizeH="0" baseline="0" noProof="0">
                <a:ln>
                  <a:noFill/>
                </a:ln>
                <a:solidFill>
                  <a:schemeClr val="tx2"/>
                </a:solidFill>
                <a:effectLst/>
                <a:uLnTx/>
                <a:uFillTx/>
                <a:latin typeface="微软雅黑" panose="020B0503020204020204" charset="-122"/>
                <a:ea typeface="微软雅黑" panose="020B0503020204020204" charset="-122"/>
                <a:cs typeface="+mn-cs"/>
              </a:rPr>
              <a:t>；第二个参数指明套接口类型，有三种类型可选：</a:t>
            </a:r>
            <a:r>
              <a:rPr kumimoji="1" lang="en-US" altLang="zh-CN" sz="2200" b="0" i="0" u="none" strike="noStrike" kern="1200" cap="none" spc="0" normalizeH="0" baseline="0" noProof="0">
                <a:ln>
                  <a:noFill/>
                </a:ln>
                <a:solidFill>
                  <a:schemeClr val="tx2"/>
                </a:solidFill>
                <a:effectLst/>
                <a:uLnTx/>
                <a:uFillTx/>
                <a:latin typeface="微软雅黑" panose="020B0503020204020204" charset="-122"/>
                <a:ea typeface="微软雅黑" panose="020B0503020204020204" charset="-122"/>
                <a:cs typeface="+mn-cs"/>
              </a:rPr>
              <a:t>SOCK_STREAM(</a:t>
            </a:r>
            <a:r>
              <a:rPr kumimoji="1" lang="zh-CN" altLang="en-US" sz="2200" b="0" i="0" u="none" strike="noStrike" kern="1200" cap="none" spc="0" normalizeH="0" baseline="0" noProof="0">
                <a:ln>
                  <a:noFill/>
                </a:ln>
                <a:solidFill>
                  <a:schemeClr val="tx2"/>
                </a:solidFill>
                <a:effectLst/>
                <a:uLnTx/>
                <a:uFillTx/>
                <a:latin typeface="微软雅黑" panose="020B0503020204020204" charset="-122"/>
                <a:ea typeface="微软雅黑" panose="020B0503020204020204" charset="-122"/>
                <a:cs typeface="+mn-cs"/>
              </a:rPr>
              <a:t>字节流套接口</a:t>
            </a:r>
            <a:r>
              <a:rPr kumimoji="1" lang="en-US" altLang="zh-CN" sz="2200" b="0" i="0" u="none" strike="noStrike" kern="1200" cap="none" spc="0" normalizeH="0" baseline="0" noProof="0">
                <a:ln>
                  <a:noFill/>
                </a:ln>
                <a:solidFill>
                  <a:schemeClr val="tx2"/>
                </a:solidFill>
                <a:effectLst/>
                <a:uLnTx/>
                <a:uFillTx/>
                <a:latin typeface="微软雅黑" panose="020B0503020204020204" charset="-122"/>
                <a:ea typeface="微软雅黑" panose="020B0503020204020204" charset="-122"/>
                <a:cs typeface="+mn-cs"/>
              </a:rPr>
              <a:t>)</a:t>
            </a:r>
            <a:r>
              <a:rPr kumimoji="1" lang="zh-CN" altLang="en-US" sz="2200" b="0" i="0" u="none" strike="noStrike" kern="1200" cap="none" spc="0" normalizeH="0" baseline="0" noProof="0">
                <a:ln>
                  <a:noFill/>
                </a:ln>
                <a:solidFill>
                  <a:schemeClr val="tx2"/>
                </a:solidFill>
                <a:effectLst/>
                <a:uLnTx/>
                <a:uFillTx/>
                <a:latin typeface="微软雅黑" panose="020B0503020204020204" charset="-122"/>
                <a:ea typeface="微软雅黑" panose="020B0503020204020204" charset="-122"/>
                <a:cs typeface="+mn-cs"/>
              </a:rPr>
              <a:t>、</a:t>
            </a:r>
            <a:r>
              <a:rPr kumimoji="1" lang="en-US" altLang="zh-CN" sz="2200" b="0" i="0" u="none" strike="noStrike" kern="1200" cap="none" spc="0" normalizeH="0" baseline="0" noProof="0">
                <a:ln>
                  <a:noFill/>
                </a:ln>
                <a:solidFill>
                  <a:schemeClr val="tx2"/>
                </a:solidFill>
                <a:effectLst/>
                <a:uLnTx/>
                <a:uFillTx/>
                <a:latin typeface="微软雅黑" panose="020B0503020204020204" charset="-122"/>
                <a:ea typeface="微软雅黑" panose="020B0503020204020204" charset="-122"/>
                <a:cs typeface="+mn-cs"/>
              </a:rPr>
              <a:t>SOCK_DGRAM(</a:t>
            </a:r>
            <a:r>
              <a:rPr kumimoji="1" lang="zh-CN" altLang="en-US" sz="2200" b="0" i="0" u="none" strike="noStrike" kern="1200" cap="none" spc="0" normalizeH="0" baseline="0" noProof="0">
                <a:ln>
                  <a:noFill/>
                </a:ln>
                <a:solidFill>
                  <a:schemeClr val="tx2"/>
                </a:solidFill>
                <a:effectLst/>
                <a:uLnTx/>
                <a:uFillTx/>
                <a:latin typeface="微软雅黑" panose="020B0503020204020204" charset="-122"/>
                <a:ea typeface="微软雅黑" panose="020B0503020204020204" charset="-122"/>
                <a:cs typeface="+mn-cs"/>
              </a:rPr>
              <a:t>数据报套接口</a:t>
            </a:r>
            <a:r>
              <a:rPr kumimoji="1" lang="en-US" altLang="zh-CN" sz="2200" b="0" i="0" u="none" strike="noStrike" kern="1200" cap="none" spc="0" normalizeH="0" baseline="0" noProof="0">
                <a:ln>
                  <a:noFill/>
                </a:ln>
                <a:solidFill>
                  <a:schemeClr val="tx2"/>
                </a:solidFill>
                <a:effectLst/>
                <a:uLnTx/>
                <a:uFillTx/>
                <a:latin typeface="微软雅黑" panose="020B0503020204020204" charset="-122"/>
                <a:ea typeface="微软雅黑" panose="020B0503020204020204" charset="-122"/>
                <a:cs typeface="+mn-cs"/>
              </a:rPr>
              <a:t>)</a:t>
            </a:r>
            <a:r>
              <a:rPr kumimoji="1" lang="zh-CN" altLang="en-US" sz="2200" b="0" i="0" u="none" strike="noStrike" kern="1200" cap="none" spc="0" normalizeH="0" baseline="0" noProof="0">
                <a:ln>
                  <a:noFill/>
                </a:ln>
                <a:solidFill>
                  <a:schemeClr val="tx2"/>
                </a:solidFill>
                <a:effectLst/>
                <a:uLnTx/>
                <a:uFillTx/>
                <a:latin typeface="微软雅黑" panose="020B0503020204020204" charset="-122"/>
                <a:ea typeface="微软雅黑" panose="020B0503020204020204" charset="-122"/>
                <a:cs typeface="+mn-cs"/>
              </a:rPr>
              <a:t>和</a:t>
            </a:r>
            <a:r>
              <a:rPr kumimoji="1" lang="en-US" altLang="zh-CN" sz="2200" b="0" i="0" u="none" strike="noStrike" kern="1200" cap="none" spc="0" normalizeH="0" baseline="0" noProof="0">
                <a:ln>
                  <a:noFill/>
                </a:ln>
                <a:solidFill>
                  <a:schemeClr val="tx2"/>
                </a:solidFill>
                <a:effectLst/>
                <a:uLnTx/>
                <a:uFillTx/>
                <a:latin typeface="微软雅黑" panose="020B0503020204020204" charset="-122"/>
                <a:ea typeface="微软雅黑" panose="020B0503020204020204" charset="-122"/>
                <a:cs typeface="+mn-cs"/>
              </a:rPr>
              <a:t>SOCK_RAW(</a:t>
            </a:r>
            <a:r>
              <a:rPr kumimoji="1" lang="zh-CN" altLang="en-US" sz="2200" b="0" i="0" u="none" strike="noStrike" kern="1200" cap="none" spc="0" normalizeH="0" baseline="0" noProof="0">
                <a:ln>
                  <a:noFill/>
                </a:ln>
                <a:solidFill>
                  <a:schemeClr val="tx2"/>
                </a:solidFill>
                <a:effectLst/>
                <a:uLnTx/>
                <a:uFillTx/>
                <a:latin typeface="微软雅黑" panose="020B0503020204020204" charset="-122"/>
                <a:ea typeface="微软雅黑" panose="020B0503020204020204" charset="-122"/>
                <a:cs typeface="+mn-cs"/>
              </a:rPr>
              <a:t>原始套接口</a:t>
            </a:r>
            <a:r>
              <a:rPr kumimoji="1" lang="en-US" altLang="zh-CN" sz="2200" b="0" i="0" u="none" strike="noStrike" kern="1200" cap="none" spc="0" normalizeH="0" baseline="0" noProof="0">
                <a:ln>
                  <a:noFill/>
                </a:ln>
                <a:solidFill>
                  <a:schemeClr val="tx2"/>
                </a:solidFill>
                <a:effectLst/>
                <a:uLnTx/>
                <a:uFillTx/>
                <a:latin typeface="微软雅黑" panose="020B0503020204020204" charset="-122"/>
                <a:ea typeface="微软雅黑" panose="020B0503020204020204" charset="-122"/>
                <a:cs typeface="+mn-cs"/>
              </a:rPr>
              <a:t>)</a:t>
            </a:r>
            <a:r>
              <a:rPr kumimoji="1" lang="zh-CN" altLang="en-US" sz="2200" b="0" i="0" u="none" strike="noStrike" kern="1200" cap="none" spc="0" normalizeH="0" baseline="0" noProof="0">
                <a:ln>
                  <a:noFill/>
                </a:ln>
                <a:solidFill>
                  <a:schemeClr val="tx2"/>
                </a:solidFill>
                <a:effectLst/>
                <a:uLnTx/>
                <a:uFillTx/>
                <a:latin typeface="微软雅黑" panose="020B0503020204020204" charset="-122"/>
                <a:ea typeface="微软雅黑" panose="020B0503020204020204" charset="-122"/>
                <a:cs typeface="+mn-cs"/>
              </a:rPr>
              <a:t>；</a:t>
            </a:r>
            <a:r>
              <a:rPr kumimoji="1" lang="zh-CN" altLang="en-US" sz="2200" b="1" i="0" u="none" strike="noStrike" kern="1200" cap="none" spc="0" normalizeH="0" baseline="0" noProof="0">
                <a:ln>
                  <a:noFill/>
                </a:ln>
                <a:solidFill>
                  <a:srgbClr val="FF0000"/>
                </a:solidFill>
                <a:effectLst/>
                <a:uLnTx/>
                <a:uFillTx/>
                <a:latin typeface="微软雅黑" panose="020B0503020204020204" charset="-122"/>
                <a:ea typeface="微软雅黑" panose="020B0503020204020204" charset="-122"/>
                <a:cs typeface="+mn-cs"/>
              </a:rPr>
              <a:t>如果套接口类型不是原始套接口，那么第三个参数就为</a:t>
            </a:r>
            <a:r>
              <a:rPr kumimoji="1" lang="en-US" altLang="zh-CN" sz="2200" b="1" i="0" u="none" strike="noStrike" kern="1200" cap="none" spc="0" normalizeH="0" baseline="0" noProof="0">
                <a:ln>
                  <a:noFill/>
                </a:ln>
                <a:solidFill>
                  <a:srgbClr val="FF0000"/>
                </a:solidFill>
                <a:effectLst/>
                <a:uLnTx/>
                <a:uFillTx/>
                <a:latin typeface="微软雅黑" panose="020B0503020204020204" charset="-122"/>
                <a:ea typeface="微软雅黑" panose="020B0503020204020204" charset="-122"/>
                <a:cs typeface="+mn-cs"/>
              </a:rPr>
              <a:t>0</a:t>
            </a:r>
            <a:r>
              <a:rPr kumimoji="1" lang="zh-CN" altLang="en-US" sz="2200" b="0" i="0" u="none" strike="noStrike" kern="1200" cap="none" spc="0" normalizeH="0" baseline="0" noProof="0">
                <a:ln>
                  <a:noFill/>
                </a:ln>
                <a:solidFill>
                  <a:schemeClr val="tx2"/>
                </a:solidFill>
                <a:effectLst/>
                <a:uLnTx/>
                <a:uFillTx/>
                <a:latin typeface="微软雅黑" panose="020B0503020204020204" charset="-122"/>
                <a:ea typeface="微软雅黑" panose="020B0503020204020204" charset="-122"/>
                <a:cs typeface="+mn-cs"/>
              </a:rPr>
              <a:t>。</a:t>
            </a:r>
            <a:r>
              <a:rPr kumimoji="1" lang="zh-CN" altLang="en-US" sz="2200" b="1" i="0" u="none" strike="noStrike" kern="1200" cap="none" spc="0" normalizeH="0" baseline="0" noProof="0">
                <a:ln>
                  <a:noFill/>
                </a:ln>
                <a:solidFill>
                  <a:schemeClr val="tx2"/>
                </a:solidFill>
                <a:effectLst>
                  <a:outerShdw blurRad="38100" dist="38100" dir="2700000" algn="tl">
                    <a:srgbClr val="C0C0C0"/>
                  </a:outerShdw>
                </a:effectLst>
                <a:uLnTx/>
                <a:uFillTx/>
                <a:latin typeface="微软雅黑" panose="020B0503020204020204" charset="-122"/>
                <a:ea typeface="微软雅黑" panose="020B0503020204020204" charset="-122"/>
                <a:cs typeface="+mn-cs"/>
              </a:rPr>
              <a:t> </a:t>
            </a:r>
            <a:endParaRPr kumimoji="1" lang="zh-CN" altLang="en-US" sz="2200" b="1" i="0" u="none" strike="noStrike" kern="1200" cap="none" spc="0" normalizeH="0" baseline="0" noProof="0">
              <a:ln>
                <a:noFill/>
              </a:ln>
              <a:solidFill>
                <a:schemeClr val="tx2"/>
              </a:solidFill>
              <a:effectLst>
                <a:outerShdw blurRad="38100" dist="38100" dir="2700000" algn="tl">
                  <a:srgbClr val="C0C0C0"/>
                </a:outerShdw>
              </a:effectLst>
              <a:uLnTx/>
              <a:uFillTx/>
              <a:latin typeface="微软雅黑" panose="020B0503020204020204" charset="-122"/>
              <a:ea typeface="微软雅黑" panose="020B0503020204020204" charset="-122"/>
              <a:cs typeface="+mn-cs"/>
            </a:endParaRPr>
          </a:p>
        </p:txBody>
      </p:sp>
    </p:spTree>
  </p:cSld>
  <p:clrMapOvr>
    <a:masterClrMapping/>
  </p:clrMapOvr>
  <p:transition>
    <p:random/>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Rectangle 2"/>
          <p:cNvSpPr>
            <a:spLocks noGrp="1"/>
          </p:cNvSpPr>
          <p:nvPr>
            <p:ph type="title"/>
          </p:nvPr>
        </p:nvSpPr>
        <p:spPr/>
        <p:txBody>
          <a:bodyPr vert="horz" wrap="square" lIns="91440" tIns="45720" rIns="91440" bIns="45720" anchor="b" anchorCtr="0"/>
          <a:p>
            <a:pPr eaLnBrk="1" hangingPunct="1"/>
            <a:endParaRPr lang="zh-CN" altLang="zh-CN" dirty="0"/>
          </a:p>
        </p:txBody>
      </p:sp>
      <p:sp>
        <p:nvSpPr>
          <p:cNvPr id="88067" name="Rectangle 3"/>
          <p:cNvSpPr>
            <a:spLocks noGrp="1"/>
          </p:cNvSpPr>
          <p:nvPr>
            <p:ph idx="1"/>
          </p:nvPr>
        </p:nvSpPr>
        <p:spPr/>
        <p:txBody>
          <a:bodyPr vert="horz" wrap="square" lIns="91440" tIns="45720" rIns="91440" bIns="45720" anchor="t" anchorCtr="0"/>
          <a:p>
            <a:pPr marL="609600" indent="-609600" eaLnBrk="1" hangingPunct="1">
              <a:lnSpc>
                <a:spcPct val="90000"/>
              </a:lnSpc>
              <a:buNone/>
            </a:pPr>
            <a:r>
              <a:rPr lang="en-US" altLang="zh-CN" sz="2800" dirty="0"/>
              <a:t>#include &lt;sys/socket.h&gt;</a:t>
            </a:r>
            <a:endParaRPr lang="en-US" altLang="zh-CN" sz="2800" dirty="0"/>
          </a:p>
          <a:p>
            <a:pPr marL="609600" indent="-609600" eaLnBrk="1" hangingPunct="1">
              <a:lnSpc>
                <a:spcPct val="90000"/>
              </a:lnSpc>
              <a:buNone/>
            </a:pPr>
            <a:r>
              <a:rPr lang="en-US" altLang="zh-CN" sz="2800" dirty="0">
                <a:latin typeface="Arial" panose="020B0604020202020204" pitchFamily="34" charset="0"/>
              </a:rPr>
              <a:t>……</a:t>
            </a:r>
            <a:endParaRPr lang="en-US" altLang="zh-CN" sz="2800" dirty="0"/>
          </a:p>
          <a:p>
            <a:pPr marL="609600" indent="-609600" eaLnBrk="1" hangingPunct="1">
              <a:lnSpc>
                <a:spcPct val="90000"/>
              </a:lnSpc>
              <a:buNone/>
            </a:pPr>
            <a:r>
              <a:rPr lang="en-US" altLang="zh-CN" sz="2800" dirty="0"/>
              <a:t>    int sockfd;</a:t>
            </a:r>
            <a:endParaRPr lang="en-US" altLang="zh-CN" sz="2800" dirty="0"/>
          </a:p>
          <a:p>
            <a:pPr marL="609600" indent="-609600" eaLnBrk="1" hangingPunct="1">
              <a:lnSpc>
                <a:spcPct val="90000"/>
              </a:lnSpc>
              <a:buNone/>
            </a:pPr>
            <a:r>
              <a:rPr lang="en-US" altLang="zh-CN" sz="2800" dirty="0"/>
              <a:t>   </a:t>
            </a:r>
            <a:r>
              <a:rPr lang="en-US" altLang="zh-CN" sz="2800" dirty="0">
                <a:solidFill>
                  <a:srgbClr val="00B050"/>
                </a:solidFill>
              </a:rPr>
              <a:t>//</a:t>
            </a:r>
            <a:r>
              <a:rPr lang="zh-CN" altLang="en-US" sz="2800" dirty="0">
                <a:solidFill>
                  <a:srgbClr val="00B050"/>
                </a:solidFill>
              </a:rPr>
              <a:t>创建套接字</a:t>
            </a:r>
            <a:endParaRPr lang="en-US" altLang="zh-CN" sz="2800" dirty="0">
              <a:solidFill>
                <a:srgbClr val="00B050"/>
              </a:solidFill>
            </a:endParaRPr>
          </a:p>
          <a:p>
            <a:pPr marL="609600" indent="-609600" eaLnBrk="1" hangingPunct="1">
              <a:lnSpc>
                <a:spcPct val="90000"/>
              </a:lnSpc>
              <a:buNone/>
            </a:pPr>
            <a:r>
              <a:rPr lang="en-US" altLang="zh-CN" sz="2800" dirty="0"/>
              <a:t>if((sockfd = socket(AF_INET, SOCK_STREAM, 0)) = = -1)</a:t>
            </a:r>
            <a:endParaRPr lang="en-US" altLang="zh-CN" sz="2800" dirty="0"/>
          </a:p>
          <a:p>
            <a:pPr marL="609600" indent="-609600" eaLnBrk="1" hangingPunct="1">
              <a:lnSpc>
                <a:spcPct val="90000"/>
              </a:lnSpc>
              <a:buNone/>
            </a:pPr>
            <a:r>
              <a:rPr lang="en-US" altLang="zh-CN" sz="2800" dirty="0"/>
              <a:t>{</a:t>
            </a:r>
            <a:endParaRPr lang="en-US" altLang="zh-CN" sz="2800" dirty="0"/>
          </a:p>
          <a:p>
            <a:pPr marL="609600" indent="-609600" eaLnBrk="1" hangingPunct="1">
              <a:lnSpc>
                <a:spcPct val="90000"/>
              </a:lnSpc>
              <a:buNone/>
            </a:pPr>
            <a:r>
              <a:rPr lang="en-US" altLang="zh-CN" sz="2800" dirty="0"/>
              <a:t>    //handle exception</a:t>
            </a:r>
            <a:endParaRPr lang="en-US" altLang="zh-CN" sz="2800" dirty="0"/>
          </a:p>
          <a:p>
            <a:pPr marL="609600" indent="-609600" eaLnBrk="1" hangingPunct="1">
              <a:lnSpc>
                <a:spcPct val="90000"/>
              </a:lnSpc>
              <a:buNone/>
            </a:pPr>
            <a:r>
              <a:rPr lang="en-US" altLang="zh-CN" sz="2800" dirty="0">
                <a:latin typeface="Arial" panose="020B0604020202020204" pitchFamily="34" charset="0"/>
              </a:rPr>
              <a:t>……</a:t>
            </a:r>
            <a:endParaRPr lang="en-US" altLang="zh-CN" sz="2800" dirty="0"/>
          </a:p>
          <a:p>
            <a:pPr marL="609600" indent="-609600" eaLnBrk="1" hangingPunct="1">
              <a:lnSpc>
                <a:spcPct val="90000"/>
              </a:lnSpc>
              <a:buNone/>
            </a:pPr>
            <a:r>
              <a:rPr lang="en-US" altLang="zh-CN" sz="2800" dirty="0"/>
              <a:t>}</a:t>
            </a:r>
            <a:endParaRPr lang="en-US" altLang="zh-CN" sz="2800" dirty="0"/>
          </a:p>
        </p:txBody>
      </p:sp>
      <p:sp>
        <p:nvSpPr>
          <p:cNvPr id="4" name="AutoShape 10"/>
          <p:cNvSpPr/>
          <p:nvPr/>
        </p:nvSpPr>
        <p:spPr>
          <a:xfrm>
            <a:off x="3276600" y="5373688"/>
            <a:ext cx="5126038" cy="863600"/>
          </a:xfrm>
          <a:prstGeom prst="wedgeRoundRectCallout">
            <a:avLst>
              <a:gd name="adj1" fmla="val 23588"/>
              <a:gd name="adj2" fmla="val -204514"/>
              <a:gd name="adj3" fmla="val 16667"/>
            </a:avLst>
          </a:prstGeom>
          <a:solidFill>
            <a:schemeClr val="bg1"/>
          </a:solidFill>
          <a:ln w="9525" cap="flat" cmpd="sng">
            <a:solidFill>
              <a:schemeClr val="tx1"/>
            </a:solidFill>
            <a:prstDash val="solid"/>
            <a:miter/>
            <a:headEnd type="none" w="med" len="med"/>
            <a:tailEnd type="none" w="med" len="med"/>
          </a:ln>
        </p:spPr>
        <p:txBody>
          <a:bodyPr lIns="92075" tIns="46038" rIns="92075" bIns="46038"/>
          <a:p>
            <a:pPr eaLnBrk="1" hangingPunct="1">
              <a:lnSpc>
                <a:spcPct val="90000"/>
              </a:lnSpc>
              <a:spcBef>
                <a:spcPct val="15000"/>
              </a:spcBef>
            </a:pPr>
            <a:r>
              <a:rPr lang="en-US" altLang="zh-CN" dirty="0">
                <a:solidFill>
                  <a:srgbClr val="0070C0"/>
                </a:solidFill>
                <a:latin typeface="Arial" panose="020B0604020202020204" pitchFamily="34" charset="0"/>
              </a:rPr>
              <a:t>SOCK_STREAM </a:t>
            </a:r>
            <a:r>
              <a:rPr lang="en-US" altLang="zh-CN" dirty="0">
                <a:solidFill>
                  <a:srgbClr val="0070C0"/>
                </a:solidFill>
                <a:latin typeface="Arial" panose="020B0604020202020204" pitchFamily="34" charset="0"/>
                <a:sym typeface="Wingdings" panose="05000000000000000000" pitchFamily="2" charset="2"/>
              </a:rPr>
              <a:t> </a:t>
            </a:r>
            <a:r>
              <a:rPr lang="zh-CN" altLang="en-US" dirty="0">
                <a:solidFill>
                  <a:srgbClr val="0070C0"/>
                </a:solidFill>
                <a:latin typeface="Arial" panose="020B0604020202020204" pitchFamily="34" charset="0"/>
                <a:sym typeface="Wingdings" panose="05000000000000000000" pitchFamily="2" charset="2"/>
              </a:rPr>
              <a:t>对应</a:t>
            </a:r>
            <a:r>
              <a:rPr lang="en-US" altLang="zh-CN" dirty="0">
                <a:solidFill>
                  <a:srgbClr val="0070C0"/>
                </a:solidFill>
                <a:latin typeface="Arial" panose="020B0604020202020204" pitchFamily="34" charset="0"/>
                <a:sym typeface="Wingdings" panose="05000000000000000000" pitchFamily="2" charset="2"/>
              </a:rPr>
              <a:t>  </a:t>
            </a:r>
            <a:r>
              <a:rPr lang="en-US" altLang="zh-CN" dirty="0">
                <a:solidFill>
                  <a:srgbClr val="0070C0"/>
                </a:solidFill>
                <a:latin typeface="Arial" panose="020B0604020202020204" pitchFamily="34" charset="0"/>
              </a:rPr>
              <a:t>TCP</a:t>
            </a:r>
            <a:endParaRPr lang="en-US" altLang="zh-CN" dirty="0">
              <a:solidFill>
                <a:srgbClr val="0070C0"/>
              </a:solidFill>
              <a:latin typeface="Arial" panose="020B0604020202020204" pitchFamily="34" charset="0"/>
            </a:endParaRPr>
          </a:p>
          <a:p>
            <a:pPr eaLnBrk="1" hangingPunct="1">
              <a:lnSpc>
                <a:spcPct val="90000"/>
              </a:lnSpc>
              <a:spcBef>
                <a:spcPct val="15000"/>
              </a:spcBef>
            </a:pPr>
            <a:r>
              <a:rPr lang="en-US" altLang="zh-CN" dirty="0">
                <a:solidFill>
                  <a:srgbClr val="0070C0"/>
                </a:solidFill>
                <a:latin typeface="Arial" panose="020B0604020202020204" pitchFamily="34" charset="0"/>
              </a:rPr>
              <a:t>SOCK_DGRAM  </a:t>
            </a:r>
            <a:r>
              <a:rPr lang="en-US" altLang="zh-CN" dirty="0">
                <a:solidFill>
                  <a:srgbClr val="0070C0"/>
                </a:solidFill>
                <a:latin typeface="Arial" panose="020B0604020202020204" pitchFamily="34" charset="0"/>
                <a:sym typeface="Wingdings" panose="05000000000000000000" pitchFamily="2" charset="2"/>
              </a:rPr>
              <a:t> </a:t>
            </a:r>
            <a:r>
              <a:rPr lang="zh-CN" altLang="en-US" dirty="0">
                <a:solidFill>
                  <a:srgbClr val="0070C0"/>
                </a:solidFill>
                <a:latin typeface="Arial" panose="020B0604020202020204" pitchFamily="34" charset="0"/>
                <a:sym typeface="Wingdings" panose="05000000000000000000" pitchFamily="2" charset="2"/>
              </a:rPr>
              <a:t>对应 </a:t>
            </a:r>
            <a:r>
              <a:rPr lang="en-US" altLang="zh-CN" dirty="0">
                <a:solidFill>
                  <a:srgbClr val="0070C0"/>
                </a:solidFill>
                <a:latin typeface="Arial" panose="020B0604020202020204" pitchFamily="34" charset="0"/>
                <a:sym typeface="Wingdings" panose="05000000000000000000" pitchFamily="2" charset="2"/>
              </a:rPr>
              <a:t></a:t>
            </a:r>
            <a:r>
              <a:rPr lang="en-US" altLang="zh-CN" dirty="0">
                <a:solidFill>
                  <a:srgbClr val="0070C0"/>
                </a:solidFill>
                <a:latin typeface="Arial" panose="020B0604020202020204" pitchFamily="34" charset="0"/>
              </a:rPr>
              <a:t> UDP</a:t>
            </a:r>
            <a:endParaRPr lang="zh-CN" altLang="en-US" dirty="0">
              <a:solidFill>
                <a:srgbClr val="0070C0"/>
              </a:solidFill>
              <a:latin typeface="Arial" panose="020B0604020202020204" pitchFamily="34"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0114" name="图片 2"/>
          <p:cNvPicPr>
            <a:picLocks noChangeAspect="1"/>
          </p:cNvPicPr>
          <p:nvPr/>
        </p:nvPicPr>
        <p:blipFill>
          <a:blip r:embed="rId1"/>
          <a:stretch>
            <a:fillRect/>
          </a:stretch>
        </p:blipFill>
        <p:spPr>
          <a:xfrm>
            <a:off x="539750" y="115888"/>
            <a:ext cx="8404225" cy="2305050"/>
          </a:xfrm>
          <a:prstGeom prst="rect">
            <a:avLst/>
          </a:prstGeom>
          <a:noFill/>
          <a:ln w="9525">
            <a:noFill/>
          </a:ln>
        </p:spPr>
      </p:pic>
      <p:pic>
        <p:nvPicPr>
          <p:cNvPr id="87043" name="图片 3"/>
          <p:cNvPicPr>
            <a:picLocks noChangeAspect="1"/>
          </p:cNvPicPr>
          <p:nvPr/>
        </p:nvPicPr>
        <p:blipFill>
          <a:blip r:embed="rId2"/>
          <a:stretch>
            <a:fillRect/>
          </a:stretch>
        </p:blipFill>
        <p:spPr>
          <a:xfrm>
            <a:off x="539750" y="2708275"/>
            <a:ext cx="8280400" cy="3816350"/>
          </a:xfrm>
          <a:prstGeom prst="rect">
            <a:avLst/>
          </a:prstGeom>
          <a:noFill/>
          <a:ln w="9525">
            <a:noFill/>
          </a:ln>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7043"/>
                                        </p:tgtEl>
                                        <p:attrNameLst>
                                          <p:attrName>style.visibility</p:attrName>
                                        </p:attrNameLst>
                                      </p:cBhvr>
                                      <p:to>
                                        <p:strVal val="visible"/>
                                      </p:to>
                                    </p:set>
                                    <p:animEffect transition="in" filter="fade">
                                      <p:cBhvr>
                                        <p:cTn id="7" dur="1000"/>
                                        <p:tgtEl>
                                          <p:spTgt spid="87043"/>
                                        </p:tgtEl>
                                      </p:cBhvr>
                                    </p:animEffect>
                                    <p:anim calcmode="lin" valueType="num">
                                      <p:cBhvr>
                                        <p:cTn id="8" dur="1000" fill="hold"/>
                                        <p:tgtEl>
                                          <p:spTgt spid="87043"/>
                                        </p:tgtEl>
                                        <p:attrNameLst>
                                          <p:attrName>ppt_x</p:attrName>
                                        </p:attrNameLst>
                                      </p:cBhvr>
                                      <p:tavLst>
                                        <p:tav tm="0">
                                          <p:val>
                                            <p:strVal val="#ppt_x"/>
                                          </p:val>
                                        </p:tav>
                                        <p:tav tm="100000">
                                          <p:val>
                                            <p:strVal val="#ppt_x"/>
                                          </p:val>
                                        </p:tav>
                                      </p:tavLst>
                                    </p:anim>
                                    <p:anim calcmode="lin" valueType="num">
                                      <p:cBhvr>
                                        <p:cTn id="9" dur="1000" fill="hold"/>
                                        <p:tgtEl>
                                          <p:spTgt spid="8704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Rectangle 2"/>
          <p:cNvSpPr/>
          <p:nvPr/>
        </p:nvSpPr>
        <p:spPr>
          <a:xfrm>
            <a:off x="900113" y="1412875"/>
            <a:ext cx="2879725" cy="4968875"/>
          </a:xfrm>
          <a:prstGeom prst="rect">
            <a:avLst/>
          </a:prstGeom>
          <a:noFill/>
          <a:ln w="9525" cap="flat" cmpd="sng">
            <a:solidFill>
              <a:schemeClr val="tx1"/>
            </a:solidFill>
            <a:prstDash val="dash"/>
            <a:miter/>
            <a:headEnd type="none" w="med" len="med"/>
            <a:tailEnd type="none" w="med" len="med"/>
          </a:ln>
        </p:spPr>
        <p:txBody>
          <a:bodyPr wrap="none" anchor="ctr" anchorCtr="0"/>
          <a:p>
            <a:pPr eaLnBrk="1" hangingPunct="1"/>
            <a:endParaRPr lang="zh-CN" altLang="en-US" dirty="0">
              <a:latin typeface="Tahoma" panose="020B0604030504040204" pitchFamily="34" charset="0"/>
            </a:endParaRPr>
          </a:p>
        </p:txBody>
      </p:sp>
      <p:sp>
        <p:nvSpPr>
          <p:cNvPr id="92163" name="Rectangle 3"/>
          <p:cNvSpPr>
            <a:spLocks noGrp="1"/>
          </p:cNvSpPr>
          <p:nvPr>
            <p:ph type="title"/>
          </p:nvPr>
        </p:nvSpPr>
        <p:spPr>
          <a:xfrm>
            <a:off x="228600" y="228600"/>
            <a:ext cx="7467600" cy="762000"/>
          </a:xfrm>
        </p:spPr>
        <p:txBody>
          <a:bodyPr vert="horz" wrap="square" lIns="91440" tIns="45720" rIns="91440" bIns="45720" anchor="b" anchorCtr="0"/>
          <a:p>
            <a:pPr eaLnBrk="1" hangingPunct="1"/>
            <a:r>
              <a:rPr lang="en-US" altLang="zh-CN" dirty="0"/>
              <a:t>TCP</a:t>
            </a:r>
            <a:r>
              <a:rPr lang="zh-CN" altLang="en-US" dirty="0"/>
              <a:t>套接字编程（</a:t>
            </a:r>
            <a:r>
              <a:rPr lang="en-US" altLang="zh-CN" dirty="0"/>
              <a:t>cont.</a:t>
            </a:r>
            <a:r>
              <a:rPr lang="zh-CN" altLang="en-US" dirty="0"/>
              <a:t>）</a:t>
            </a:r>
            <a:endParaRPr lang="zh-CN" altLang="en-US" dirty="0"/>
          </a:p>
        </p:txBody>
      </p:sp>
      <p:sp>
        <p:nvSpPr>
          <p:cNvPr id="92164" name="AutoShape 4"/>
          <p:cNvSpPr/>
          <p:nvPr/>
        </p:nvSpPr>
        <p:spPr>
          <a:xfrm>
            <a:off x="1476375" y="1628775"/>
            <a:ext cx="1655763" cy="360363"/>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socket()</a:t>
            </a:r>
            <a:endParaRPr lang="en-US" altLang="zh-CN" sz="2000" b="0" dirty="0">
              <a:latin typeface="Comic Sans MS" panose="030F0702030302020204" pitchFamily="66" charset="0"/>
            </a:endParaRPr>
          </a:p>
        </p:txBody>
      </p:sp>
      <p:sp>
        <p:nvSpPr>
          <p:cNvPr id="92165" name="AutoShape 5"/>
          <p:cNvSpPr/>
          <p:nvPr/>
        </p:nvSpPr>
        <p:spPr>
          <a:xfrm>
            <a:off x="1476375" y="2205038"/>
            <a:ext cx="1655763" cy="360362"/>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bind()</a:t>
            </a:r>
            <a:endParaRPr lang="en-US" altLang="zh-CN" sz="2000" b="0" dirty="0">
              <a:latin typeface="Comic Sans MS" panose="030F0702030302020204" pitchFamily="66" charset="0"/>
            </a:endParaRPr>
          </a:p>
        </p:txBody>
      </p:sp>
      <p:sp>
        <p:nvSpPr>
          <p:cNvPr id="92166" name="AutoShape 6"/>
          <p:cNvSpPr/>
          <p:nvPr/>
        </p:nvSpPr>
        <p:spPr>
          <a:xfrm>
            <a:off x="1476375" y="2781300"/>
            <a:ext cx="1655763" cy="360363"/>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listen()</a:t>
            </a:r>
            <a:endParaRPr lang="en-US" altLang="zh-CN" sz="2000" b="0" dirty="0">
              <a:latin typeface="Comic Sans MS" panose="030F0702030302020204" pitchFamily="66" charset="0"/>
            </a:endParaRPr>
          </a:p>
        </p:txBody>
      </p:sp>
      <p:sp>
        <p:nvSpPr>
          <p:cNvPr id="92167" name="AutoShape 7"/>
          <p:cNvSpPr/>
          <p:nvPr/>
        </p:nvSpPr>
        <p:spPr>
          <a:xfrm>
            <a:off x="1476375" y="3357563"/>
            <a:ext cx="1655763" cy="360362"/>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accept()</a:t>
            </a:r>
            <a:endParaRPr lang="en-US" altLang="zh-CN" sz="2000" b="0" dirty="0">
              <a:latin typeface="Comic Sans MS" panose="030F0702030302020204" pitchFamily="66" charset="0"/>
            </a:endParaRPr>
          </a:p>
        </p:txBody>
      </p:sp>
      <p:sp>
        <p:nvSpPr>
          <p:cNvPr id="92168" name="AutoShape 8"/>
          <p:cNvSpPr/>
          <p:nvPr/>
        </p:nvSpPr>
        <p:spPr>
          <a:xfrm>
            <a:off x="1476375" y="4652963"/>
            <a:ext cx="1655763" cy="360362"/>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read()</a:t>
            </a:r>
            <a:endParaRPr lang="en-US" altLang="zh-CN" sz="2000" b="0" dirty="0">
              <a:latin typeface="Comic Sans MS" panose="030F0702030302020204" pitchFamily="66" charset="0"/>
            </a:endParaRPr>
          </a:p>
        </p:txBody>
      </p:sp>
      <p:sp>
        <p:nvSpPr>
          <p:cNvPr id="92169" name="AutoShape 9"/>
          <p:cNvSpPr/>
          <p:nvPr/>
        </p:nvSpPr>
        <p:spPr>
          <a:xfrm>
            <a:off x="1476375" y="5229225"/>
            <a:ext cx="1655763" cy="360363"/>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write()</a:t>
            </a:r>
            <a:endParaRPr lang="en-US" altLang="zh-CN" sz="2000" b="0" dirty="0">
              <a:latin typeface="Comic Sans MS" panose="030F0702030302020204" pitchFamily="66" charset="0"/>
            </a:endParaRPr>
          </a:p>
        </p:txBody>
      </p:sp>
      <p:sp>
        <p:nvSpPr>
          <p:cNvPr id="92170" name="AutoShape 10"/>
          <p:cNvSpPr/>
          <p:nvPr/>
        </p:nvSpPr>
        <p:spPr>
          <a:xfrm>
            <a:off x="1476375" y="5805488"/>
            <a:ext cx="1655763" cy="360362"/>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close()</a:t>
            </a:r>
            <a:endParaRPr lang="en-US" altLang="zh-CN" sz="2000" b="0" dirty="0">
              <a:latin typeface="Comic Sans MS" panose="030F0702030302020204" pitchFamily="66" charset="0"/>
            </a:endParaRPr>
          </a:p>
        </p:txBody>
      </p:sp>
      <p:sp>
        <p:nvSpPr>
          <p:cNvPr id="92171" name="Line 11"/>
          <p:cNvSpPr/>
          <p:nvPr/>
        </p:nvSpPr>
        <p:spPr>
          <a:xfrm>
            <a:off x="2268538" y="1268413"/>
            <a:ext cx="0" cy="360362"/>
          </a:xfrm>
          <a:prstGeom prst="line">
            <a:avLst/>
          </a:prstGeom>
          <a:ln w="9525" cap="flat" cmpd="sng">
            <a:solidFill>
              <a:schemeClr val="hlink"/>
            </a:solidFill>
            <a:prstDash val="solid"/>
            <a:headEnd type="none" w="med" len="med"/>
            <a:tailEnd type="triangle" w="med" len="med"/>
          </a:ln>
        </p:spPr>
      </p:sp>
      <p:sp>
        <p:nvSpPr>
          <p:cNvPr id="92172" name="Line 12"/>
          <p:cNvSpPr/>
          <p:nvPr/>
        </p:nvSpPr>
        <p:spPr>
          <a:xfrm>
            <a:off x="2268538" y="1989138"/>
            <a:ext cx="0" cy="215900"/>
          </a:xfrm>
          <a:prstGeom prst="line">
            <a:avLst/>
          </a:prstGeom>
          <a:ln w="9525" cap="flat" cmpd="sng">
            <a:solidFill>
              <a:schemeClr val="hlink"/>
            </a:solidFill>
            <a:prstDash val="solid"/>
            <a:headEnd type="none" w="med" len="med"/>
            <a:tailEnd type="triangle" w="med" len="med"/>
          </a:ln>
        </p:spPr>
      </p:sp>
      <p:sp>
        <p:nvSpPr>
          <p:cNvPr id="92173" name="Line 13"/>
          <p:cNvSpPr/>
          <p:nvPr/>
        </p:nvSpPr>
        <p:spPr>
          <a:xfrm>
            <a:off x="2268538" y="2565400"/>
            <a:ext cx="0" cy="215900"/>
          </a:xfrm>
          <a:prstGeom prst="line">
            <a:avLst/>
          </a:prstGeom>
          <a:ln w="9525" cap="flat" cmpd="sng">
            <a:solidFill>
              <a:schemeClr val="hlink"/>
            </a:solidFill>
            <a:prstDash val="solid"/>
            <a:headEnd type="none" w="med" len="med"/>
            <a:tailEnd type="triangle" w="med" len="med"/>
          </a:ln>
        </p:spPr>
      </p:sp>
      <p:sp>
        <p:nvSpPr>
          <p:cNvPr id="92174" name="Line 14"/>
          <p:cNvSpPr/>
          <p:nvPr/>
        </p:nvSpPr>
        <p:spPr>
          <a:xfrm>
            <a:off x="2268538" y="3141663"/>
            <a:ext cx="0" cy="215900"/>
          </a:xfrm>
          <a:prstGeom prst="line">
            <a:avLst/>
          </a:prstGeom>
          <a:ln w="9525" cap="flat" cmpd="sng">
            <a:solidFill>
              <a:schemeClr val="hlink"/>
            </a:solidFill>
            <a:prstDash val="solid"/>
            <a:headEnd type="none" w="med" len="med"/>
            <a:tailEnd type="triangle" w="med" len="med"/>
          </a:ln>
        </p:spPr>
      </p:sp>
      <p:sp>
        <p:nvSpPr>
          <p:cNvPr id="92175" name="Line 15"/>
          <p:cNvSpPr/>
          <p:nvPr/>
        </p:nvSpPr>
        <p:spPr>
          <a:xfrm>
            <a:off x="2268538" y="3716338"/>
            <a:ext cx="0" cy="936625"/>
          </a:xfrm>
          <a:prstGeom prst="line">
            <a:avLst/>
          </a:prstGeom>
          <a:ln w="9525" cap="flat" cmpd="sng">
            <a:solidFill>
              <a:schemeClr val="hlink"/>
            </a:solidFill>
            <a:prstDash val="dash"/>
            <a:headEnd type="none" w="med" len="med"/>
            <a:tailEnd type="triangle" w="med" len="med"/>
          </a:ln>
        </p:spPr>
      </p:sp>
      <p:sp>
        <p:nvSpPr>
          <p:cNvPr id="92176" name="Line 16"/>
          <p:cNvSpPr/>
          <p:nvPr/>
        </p:nvSpPr>
        <p:spPr>
          <a:xfrm>
            <a:off x="2268538" y="5013325"/>
            <a:ext cx="0" cy="215900"/>
          </a:xfrm>
          <a:prstGeom prst="line">
            <a:avLst/>
          </a:prstGeom>
          <a:ln w="9525" cap="flat" cmpd="sng">
            <a:solidFill>
              <a:schemeClr val="hlink"/>
            </a:solidFill>
            <a:prstDash val="solid"/>
            <a:headEnd type="none" w="med" len="med"/>
            <a:tailEnd type="triangle" w="med" len="med"/>
          </a:ln>
        </p:spPr>
      </p:sp>
      <p:sp>
        <p:nvSpPr>
          <p:cNvPr id="92177" name="Line 17"/>
          <p:cNvSpPr/>
          <p:nvPr/>
        </p:nvSpPr>
        <p:spPr>
          <a:xfrm>
            <a:off x="2268538" y="5589588"/>
            <a:ext cx="0" cy="215900"/>
          </a:xfrm>
          <a:prstGeom prst="line">
            <a:avLst/>
          </a:prstGeom>
          <a:ln w="9525" cap="flat" cmpd="sng">
            <a:solidFill>
              <a:schemeClr val="hlink"/>
            </a:solidFill>
            <a:prstDash val="solid"/>
            <a:headEnd type="none" w="med" len="med"/>
            <a:tailEnd type="triangle" w="med" len="med"/>
          </a:ln>
        </p:spPr>
      </p:sp>
      <p:sp>
        <p:nvSpPr>
          <p:cNvPr id="92178" name="Line 18"/>
          <p:cNvSpPr/>
          <p:nvPr/>
        </p:nvSpPr>
        <p:spPr>
          <a:xfrm flipH="1">
            <a:off x="1187450" y="5661025"/>
            <a:ext cx="1081088" cy="0"/>
          </a:xfrm>
          <a:prstGeom prst="line">
            <a:avLst/>
          </a:prstGeom>
          <a:ln w="9525" cap="flat" cmpd="sng">
            <a:solidFill>
              <a:schemeClr val="tx1"/>
            </a:solidFill>
            <a:prstDash val="solid"/>
            <a:headEnd type="none" w="med" len="med"/>
            <a:tailEnd type="none" w="med" len="med"/>
          </a:ln>
        </p:spPr>
      </p:sp>
      <p:sp>
        <p:nvSpPr>
          <p:cNvPr id="92179" name="Line 19"/>
          <p:cNvSpPr/>
          <p:nvPr/>
        </p:nvSpPr>
        <p:spPr>
          <a:xfrm flipV="1">
            <a:off x="1187450" y="4437063"/>
            <a:ext cx="0" cy="1223962"/>
          </a:xfrm>
          <a:prstGeom prst="line">
            <a:avLst/>
          </a:prstGeom>
          <a:ln w="9525" cap="flat" cmpd="sng">
            <a:solidFill>
              <a:schemeClr val="tx1"/>
            </a:solidFill>
            <a:prstDash val="solid"/>
            <a:headEnd type="none" w="med" len="med"/>
            <a:tailEnd type="none" w="med" len="med"/>
          </a:ln>
        </p:spPr>
      </p:sp>
      <p:sp>
        <p:nvSpPr>
          <p:cNvPr id="92180" name="Line 20"/>
          <p:cNvSpPr/>
          <p:nvPr/>
        </p:nvSpPr>
        <p:spPr>
          <a:xfrm>
            <a:off x="1187450" y="4437063"/>
            <a:ext cx="1081088" cy="0"/>
          </a:xfrm>
          <a:prstGeom prst="line">
            <a:avLst/>
          </a:prstGeom>
          <a:ln w="9525" cap="flat" cmpd="sng">
            <a:solidFill>
              <a:schemeClr val="tx1"/>
            </a:solidFill>
            <a:prstDash val="solid"/>
            <a:headEnd type="none" w="med" len="med"/>
            <a:tailEnd type="triangle" w="med" len="med"/>
          </a:ln>
        </p:spPr>
      </p:sp>
      <p:sp>
        <p:nvSpPr>
          <p:cNvPr id="92181" name="AutoShape 21"/>
          <p:cNvSpPr/>
          <p:nvPr/>
        </p:nvSpPr>
        <p:spPr>
          <a:xfrm>
            <a:off x="5724525" y="3500438"/>
            <a:ext cx="1655763" cy="360362"/>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socket()</a:t>
            </a:r>
            <a:endParaRPr lang="en-US" altLang="zh-CN" sz="2000" b="0" dirty="0">
              <a:latin typeface="Comic Sans MS" panose="030F0702030302020204" pitchFamily="66" charset="0"/>
            </a:endParaRPr>
          </a:p>
        </p:txBody>
      </p:sp>
      <p:sp>
        <p:nvSpPr>
          <p:cNvPr id="92182" name="AutoShape 22"/>
          <p:cNvSpPr/>
          <p:nvPr/>
        </p:nvSpPr>
        <p:spPr>
          <a:xfrm>
            <a:off x="5724525" y="4076700"/>
            <a:ext cx="1655763" cy="360363"/>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connect()</a:t>
            </a:r>
            <a:endParaRPr lang="en-US" altLang="zh-CN" sz="2000" b="0" dirty="0">
              <a:latin typeface="Comic Sans MS" panose="030F0702030302020204" pitchFamily="66" charset="0"/>
            </a:endParaRPr>
          </a:p>
        </p:txBody>
      </p:sp>
      <p:sp>
        <p:nvSpPr>
          <p:cNvPr id="92183" name="AutoShape 23"/>
          <p:cNvSpPr/>
          <p:nvPr/>
        </p:nvSpPr>
        <p:spPr>
          <a:xfrm>
            <a:off x="5724525" y="4652963"/>
            <a:ext cx="1655763" cy="360362"/>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write()</a:t>
            </a:r>
            <a:endParaRPr lang="en-US" altLang="zh-CN" sz="2000" b="0" dirty="0">
              <a:latin typeface="Comic Sans MS" panose="030F0702030302020204" pitchFamily="66" charset="0"/>
            </a:endParaRPr>
          </a:p>
        </p:txBody>
      </p:sp>
      <p:sp>
        <p:nvSpPr>
          <p:cNvPr id="92184" name="AutoShape 24"/>
          <p:cNvSpPr/>
          <p:nvPr/>
        </p:nvSpPr>
        <p:spPr>
          <a:xfrm>
            <a:off x="5724525" y="5229225"/>
            <a:ext cx="1655763" cy="360363"/>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read()</a:t>
            </a:r>
            <a:endParaRPr lang="en-US" altLang="zh-CN" sz="2000" b="0" dirty="0">
              <a:latin typeface="Comic Sans MS" panose="030F0702030302020204" pitchFamily="66" charset="0"/>
            </a:endParaRPr>
          </a:p>
        </p:txBody>
      </p:sp>
      <p:sp>
        <p:nvSpPr>
          <p:cNvPr id="92185" name="AutoShape 25"/>
          <p:cNvSpPr/>
          <p:nvPr/>
        </p:nvSpPr>
        <p:spPr>
          <a:xfrm>
            <a:off x="5724525" y="5805488"/>
            <a:ext cx="1655763" cy="360362"/>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close()</a:t>
            </a:r>
            <a:endParaRPr lang="en-US" altLang="zh-CN" sz="2000" b="0" dirty="0">
              <a:latin typeface="Comic Sans MS" panose="030F0702030302020204" pitchFamily="66" charset="0"/>
            </a:endParaRPr>
          </a:p>
        </p:txBody>
      </p:sp>
      <p:sp>
        <p:nvSpPr>
          <p:cNvPr id="92186" name="Line 26"/>
          <p:cNvSpPr/>
          <p:nvPr/>
        </p:nvSpPr>
        <p:spPr>
          <a:xfrm>
            <a:off x="6516688" y="3860800"/>
            <a:ext cx="0" cy="215900"/>
          </a:xfrm>
          <a:prstGeom prst="line">
            <a:avLst/>
          </a:prstGeom>
          <a:ln w="9525" cap="flat" cmpd="sng">
            <a:solidFill>
              <a:schemeClr val="hlink"/>
            </a:solidFill>
            <a:prstDash val="solid"/>
            <a:headEnd type="none" w="med" len="med"/>
            <a:tailEnd type="triangle" w="med" len="med"/>
          </a:ln>
        </p:spPr>
      </p:sp>
      <p:sp>
        <p:nvSpPr>
          <p:cNvPr id="92187" name="Line 27"/>
          <p:cNvSpPr/>
          <p:nvPr/>
        </p:nvSpPr>
        <p:spPr>
          <a:xfrm>
            <a:off x="6516688" y="4437063"/>
            <a:ext cx="0" cy="215900"/>
          </a:xfrm>
          <a:prstGeom prst="line">
            <a:avLst/>
          </a:prstGeom>
          <a:ln w="9525" cap="flat" cmpd="sng">
            <a:solidFill>
              <a:schemeClr val="hlink"/>
            </a:solidFill>
            <a:prstDash val="solid"/>
            <a:headEnd type="none" w="med" len="med"/>
            <a:tailEnd type="triangle" w="med" len="med"/>
          </a:ln>
        </p:spPr>
      </p:sp>
      <p:sp>
        <p:nvSpPr>
          <p:cNvPr id="92188" name="Line 28"/>
          <p:cNvSpPr/>
          <p:nvPr/>
        </p:nvSpPr>
        <p:spPr>
          <a:xfrm>
            <a:off x="6516688" y="5013325"/>
            <a:ext cx="0" cy="215900"/>
          </a:xfrm>
          <a:prstGeom prst="line">
            <a:avLst/>
          </a:prstGeom>
          <a:ln w="9525" cap="flat" cmpd="sng">
            <a:solidFill>
              <a:schemeClr val="hlink"/>
            </a:solidFill>
            <a:prstDash val="solid"/>
            <a:headEnd type="none" w="med" len="med"/>
            <a:tailEnd type="triangle" w="med" len="med"/>
          </a:ln>
        </p:spPr>
      </p:sp>
      <p:sp>
        <p:nvSpPr>
          <p:cNvPr id="92189" name="Line 29"/>
          <p:cNvSpPr/>
          <p:nvPr/>
        </p:nvSpPr>
        <p:spPr>
          <a:xfrm>
            <a:off x="6516688" y="5589588"/>
            <a:ext cx="0" cy="215900"/>
          </a:xfrm>
          <a:prstGeom prst="line">
            <a:avLst/>
          </a:prstGeom>
          <a:ln w="9525" cap="flat" cmpd="sng">
            <a:solidFill>
              <a:schemeClr val="hlink"/>
            </a:solidFill>
            <a:prstDash val="solid"/>
            <a:headEnd type="none" w="med" len="med"/>
            <a:tailEnd type="triangle" w="med" len="med"/>
          </a:ln>
        </p:spPr>
      </p:sp>
      <p:sp>
        <p:nvSpPr>
          <p:cNvPr id="92190" name="Text Box 30"/>
          <p:cNvSpPr txBox="1"/>
          <p:nvPr/>
        </p:nvSpPr>
        <p:spPr>
          <a:xfrm>
            <a:off x="2206625" y="3860800"/>
            <a:ext cx="1428750" cy="517525"/>
          </a:xfrm>
          <a:prstGeom prst="rect">
            <a:avLst/>
          </a:prstGeom>
          <a:noFill/>
          <a:ln w="9525">
            <a:noFill/>
          </a:ln>
        </p:spPr>
        <p:txBody>
          <a:bodyPr wrap="none">
            <a:spAutoFit/>
          </a:bodyPr>
          <a:p>
            <a:pPr eaLnBrk="1" hangingPunct="1"/>
            <a:r>
              <a:rPr lang="zh-CN" altLang="en-US" sz="1400" b="0" dirty="0">
                <a:latin typeface="Arial" panose="020B0604020202020204" pitchFamily="34" charset="0"/>
              </a:rPr>
              <a:t>阻塞直到接收</a:t>
            </a:r>
            <a:endParaRPr lang="zh-CN" altLang="en-US" sz="1400" b="0" dirty="0">
              <a:latin typeface="Arial" panose="020B0604020202020204" pitchFamily="34" charset="0"/>
            </a:endParaRPr>
          </a:p>
          <a:p>
            <a:pPr eaLnBrk="1" hangingPunct="1"/>
            <a:r>
              <a:rPr lang="zh-CN" altLang="en-US" sz="1400" b="0" dirty="0">
                <a:latin typeface="Arial" panose="020B0604020202020204" pitchFamily="34" charset="0"/>
              </a:rPr>
              <a:t>到客户连接请求</a:t>
            </a:r>
            <a:endParaRPr lang="zh-CN" altLang="en-US" sz="1400" b="0" dirty="0">
              <a:latin typeface="Arial" panose="020B0604020202020204" pitchFamily="34" charset="0"/>
            </a:endParaRPr>
          </a:p>
        </p:txBody>
      </p:sp>
      <p:sp>
        <p:nvSpPr>
          <p:cNvPr id="92191" name="Line 31"/>
          <p:cNvSpPr/>
          <p:nvPr/>
        </p:nvSpPr>
        <p:spPr>
          <a:xfrm>
            <a:off x="6516688" y="3141663"/>
            <a:ext cx="0" cy="360362"/>
          </a:xfrm>
          <a:prstGeom prst="line">
            <a:avLst/>
          </a:prstGeom>
          <a:ln w="9525" cap="flat" cmpd="sng">
            <a:solidFill>
              <a:schemeClr val="hlink"/>
            </a:solidFill>
            <a:prstDash val="solid"/>
            <a:headEnd type="none" w="med" len="med"/>
            <a:tailEnd type="triangle" w="med" len="med"/>
          </a:ln>
        </p:spPr>
      </p:sp>
      <p:sp>
        <p:nvSpPr>
          <p:cNvPr id="92192" name="Rectangle 32"/>
          <p:cNvSpPr/>
          <p:nvPr/>
        </p:nvSpPr>
        <p:spPr>
          <a:xfrm>
            <a:off x="5435600" y="2924175"/>
            <a:ext cx="2232025" cy="3457575"/>
          </a:xfrm>
          <a:prstGeom prst="rect">
            <a:avLst/>
          </a:prstGeom>
          <a:noFill/>
          <a:ln w="9525" cap="flat" cmpd="sng">
            <a:solidFill>
              <a:schemeClr val="tx1"/>
            </a:solidFill>
            <a:prstDash val="dash"/>
            <a:miter/>
            <a:headEnd type="none" w="med" len="med"/>
            <a:tailEnd type="none" w="med" len="med"/>
          </a:ln>
        </p:spPr>
        <p:txBody>
          <a:bodyPr wrap="none" anchor="ctr" anchorCtr="0"/>
          <a:p>
            <a:pPr eaLnBrk="1" hangingPunct="1"/>
            <a:endParaRPr lang="zh-CN" altLang="en-US" dirty="0">
              <a:latin typeface="Tahoma" panose="020B0604030504040204" pitchFamily="34" charset="0"/>
            </a:endParaRPr>
          </a:p>
        </p:txBody>
      </p:sp>
      <p:sp>
        <p:nvSpPr>
          <p:cNvPr id="92193" name="Line 33"/>
          <p:cNvSpPr/>
          <p:nvPr/>
        </p:nvSpPr>
        <p:spPr>
          <a:xfrm>
            <a:off x="3563938" y="4221163"/>
            <a:ext cx="2160587" cy="0"/>
          </a:xfrm>
          <a:prstGeom prst="line">
            <a:avLst/>
          </a:prstGeom>
          <a:ln w="9525" cap="flat" cmpd="sng">
            <a:solidFill>
              <a:schemeClr val="tx1"/>
            </a:solidFill>
            <a:prstDash val="solid"/>
            <a:headEnd type="triangle" w="med" len="med"/>
            <a:tailEnd type="triangle" w="med" len="med"/>
          </a:ln>
        </p:spPr>
      </p:sp>
      <p:sp>
        <p:nvSpPr>
          <p:cNvPr id="92194" name="Line 34"/>
          <p:cNvSpPr/>
          <p:nvPr/>
        </p:nvSpPr>
        <p:spPr>
          <a:xfrm>
            <a:off x="3203575" y="4868863"/>
            <a:ext cx="2449513" cy="0"/>
          </a:xfrm>
          <a:prstGeom prst="line">
            <a:avLst/>
          </a:prstGeom>
          <a:ln w="9525" cap="flat" cmpd="sng">
            <a:solidFill>
              <a:schemeClr val="tx1"/>
            </a:solidFill>
            <a:prstDash val="solid"/>
            <a:headEnd type="triangle" w="med" len="med"/>
            <a:tailEnd type="triangle" w="med" len="med"/>
          </a:ln>
        </p:spPr>
      </p:sp>
      <p:sp>
        <p:nvSpPr>
          <p:cNvPr id="92195" name="Line 35"/>
          <p:cNvSpPr/>
          <p:nvPr/>
        </p:nvSpPr>
        <p:spPr>
          <a:xfrm>
            <a:off x="3203575" y="5373688"/>
            <a:ext cx="2449513" cy="0"/>
          </a:xfrm>
          <a:prstGeom prst="line">
            <a:avLst/>
          </a:prstGeom>
          <a:ln w="9525" cap="flat" cmpd="sng">
            <a:solidFill>
              <a:schemeClr val="tx1"/>
            </a:solidFill>
            <a:prstDash val="solid"/>
            <a:headEnd type="triangle" w="med" len="med"/>
            <a:tailEnd type="triangle" w="med" len="med"/>
          </a:ln>
        </p:spPr>
      </p:sp>
      <p:sp>
        <p:nvSpPr>
          <p:cNvPr id="92196" name="Line 36"/>
          <p:cNvSpPr/>
          <p:nvPr/>
        </p:nvSpPr>
        <p:spPr>
          <a:xfrm>
            <a:off x="3203575" y="6021388"/>
            <a:ext cx="2449513" cy="0"/>
          </a:xfrm>
          <a:prstGeom prst="line">
            <a:avLst/>
          </a:prstGeom>
          <a:ln w="9525" cap="flat" cmpd="sng">
            <a:solidFill>
              <a:schemeClr val="tx1"/>
            </a:solidFill>
            <a:prstDash val="solid"/>
            <a:headEnd type="triangle" w="med" len="med"/>
            <a:tailEnd type="triangle" w="med" len="med"/>
          </a:ln>
        </p:spPr>
      </p:sp>
      <p:sp>
        <p:nvSpPr>
          <p:cNvPr id="92197" name="Text Box 37"/>
          <p:cNvSpPr txBox="1"/>
          <p:nvPr/>
        </p:nvSpPr>
        <p:spPr>
          <a:xfrm>
            <a:off x="323850" y="2159000"/>
            <a:ext cx="458788" cy="1463675"/>
          </a:xfrm>
          <a:prstGeom prst="rect">
            <a:avLst/>
          </a:prstGeom>
          <a:noFill/>
          <a:ln w="9525">
            <a:noFill/>
          </a:ln>
        </p:spPr>
        <p:txBody>
          <a:bodyPr vert="eaVert" wrap="none">
            <a:spAutoFit/>
          </a:bodyPr>
          <a:p>
            <a:pPr eaLnBrk="1" hangingPunct="1"/>
            <a:r>
              <a:rPr lang="en-US" altLang="zh-CN" sz="1800" b="0" dirty="0">
                <a:latin typeface="Arial" panose="020B0604020202020204" pitchFamily="34" charset="0"/>
              </a:rPr>
              <a:t>TCP</a:t>
            </a:r>
            <a:r>
              <a:rPr lang="zh-CN" altLang="en-US" sz="1800" b="0" dirty="0">
                <a:latin typeface="Arial" panose="020B0604020202020204" pitchFamily="34" charset="0"/>
              </a:rPr>
              <a:t>服务器端</a:t>
            </a:r>
            <a:endParaRPr lang="zh-CN" altLang="en-US" sz="1800" b="0" dirty="0">
              <a:latin typeface="Arial" panose="020B0604020202020204" pitchFamily="34" charset="0"/>
            </a:endParaRPr>
          </a:p>
        </p:txBody>
      </p:sp>
      <p:sp>
        <p:nvSpPr>
          <p:cNvPr id="92198" name="Text Box 38"/>
          <p:cNvSpPr txBox="1"/>
          <p:nvPr/>
        </p:nvSpPr>
        <p:spPr>
          <a:xfrm>
            <a:off x="7885113" y="3573463"/>
            <a:ext cx="458787" cy="1235075"/>
          </a:xfrm>
          <a:prstGeom prst="rect">
            <a:avLst/>
          </a:prstGeom>
          <a:noFill/>
          <a:ln w="9525">
            <a:noFill/>
          </a:ln>
        </p:spPr>
        <p:txBody>
          <a:bodyPr vert="eaVert" wrap="none">
            <a:spAutoFit/>
          </a:bodyPr>
          <a:p>
            <a:pPr eaLnBrk="1" hangingPunct="1"/>
            <a:r>
              <a:rPr lang="en-US" altLang="zh-CN" sz="1800" b="0" dirty="0">
                <a:latin typeface="Arial" panose="020B0604020202020204" pitchFamily="34" charset="0"/>
              </a:rPr>
              <a:t>TCP</a:t>
            </a:r>
            <a:r>
              <a:rPr lang="zh-CN" altLang="en-US" sz="1800" b="0" dirty="0">
                <a:latin typeface="Arial" panose="020B0604020202020204" pitchFamily="34" charset="0"/>
              </a:rPr>
              <a:t>客户端</a:t>
            </a:r>
            <a:endParaRPr lang="zh-CN" altLang="en-US" sz="1800" b="0" dirty="0">
              <a:latin typeface="Arial" panose="020B0604020202020204" pitchFamily="34" charset="0"/>
            </a:endParaRPr>
          </a:p>
        </p:txBody>
      </p:sp>
    </p:spTree>
  </p:cSld>
  <p:clrMapOvr>
    <a:masterClrMapping/>
  </p:clrMapOvr>
  <p:transition>
    <p:random/>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Rectangle 2"/>
          <p:cNvSpPr>
            <a:spLocks noGrp="1"/>
          </p:cNvSpPr>
          <p:nvPr>
            <p:ph type="title"/>
          </p:nvPr>
        </p:nvSpPr>
        <p:spPr/>
        <p:txBody>
          <a:bodyPr vert="horz" wrap="square" lIns="91440" tIns="45720" rIns="91440" bIns="45720" anchor="b" anchorCtr="0"/>
          <a:p>
            <a:pPr eaLnBrk="1" hangingPunct="1"/>
            <a:endParaRPr lang="zh-CN" altLang="zh-CN" dirty="0"/>
          </a:p>
        </p:txBody>
      </p:sp>
      <p:sp>
        <p:nvSpPr>
          <p:cNvPr id="94211" name="Rectangle 3"/>
          <p:cNvSpPr>
            <a:spLocks noGrp="1"/>
          </p:cNvSpPr>
          <p:nvPr>
            <p:ph idx="1"/>
          </p:nvPr>
        </p:nvSpPr>
        <p:spPr/>
        <p:txBody>
          <a:bodyPr vert="horz" wrap="square" lIns="91440" tIns="45720" rIns="91440" bIns="45720" anchor="t" anchorCtr="0"/>
          <a:p>
            <a:pPr eaLnBrk="1" hangingPunct="1">
              <a:buNone/>
            </a:pPr>
            <a:endParaRPr lang="en-US" altLang="zh-CN" sz="2800" dirty="0"/>
          </a:p>
          <a:p>
            <a:pPr eaLnBrk="1" hangingPunct="1"/>
            <a:r>
              <a:rPr lang="zh-CN" altLang="en-US" sz="2800" dirty="0"/>
              <a:t>当用</a:t>
            </a:r>
            <a:r>
              <a:rPr lang="en-US" altLang="zh-CN" sz="2800" dirty="0"/>
              <a:t>socket</a:t>
            </a:r>
            <a:r>
              <a:rPr lang="zh-CN" altLang="en-US" sz="2800" dirty="0"/>
              <a:t>创建一个套接口后，该套接口还是不能直接使用，因为它只存在于一个名字空间中，</a:t>
            </a:r>
            <a:r>
              <a:rPr lang="zh-CN" altLang="en-US" sz="2800" b="1" dirty="0">
                <a:solidFill>
                  <a:srgbClr val="0070C0"/>
                </a:solidFill>
              </a:rPr>
              <a:t>也就是只确定了通信所希望使用的服务类型，并没有与该主机上提供服务的某个端口联系在一起</a:t>
            </a:r>
            <a:r>
              <a:rPr lang="zh-CN" altLang="en-US" sz="2800" dirty="0"/>
              <a:t>，称之为：未命名的套接口。</a:t>
            </a:r>
            <a:r>
              <a:rPr lang="en-US" altLang="zh-CN" sz="2800" dirty="0"/>
              <a:t>bind()</a:t>
            </a:r>
            <a:r>
              <a:rPr lang="zh-CN" altLang="en-US" sz="2800" dirty="0"/>
              <a:t>函数通过给一个未命名套接口分配一个本地名字来为套接口建立本地捆绑（主机地址</a:t>
            </a:r>
            <a:r>
              <a:rPr lang="en-US" altLang="zh-CN" sz="2800" dirty="0"/>
              <a:t>/</a:t>
            </a:r>
            <a:r>
              <a:rPr lang="zh-CN" altLang="en-US" sz="2800" dirty="0"/>
              <a:t>端口号）。</a:t>
            </a:r>
            <a:endParaRPr lang="zh-CN" altLang="en-US" sz="2800" dirty="0"/>
          </a:p>
        </p:txBody>
      </p:sp>
    </p:spTree>
  </p:cSld>
  <p:clrMapOvr>
    <a:masterClrMapping/>
  </p:clrMapOvr>
  <p:transition>
    <p:random/>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4" name="Rectangle 2"/>
          <p:cNvSpPr>
            <a:spLocks noGrp="1"/>
          </p:cNvSpPr>
          <p:nvPr>
            <p:ph type="title"/>
          </p:nvPr>
        </p:nvSpPr>
        <p:spPr>
          <a:xfrm>
            <a:off x="228600" y="228600"/>
            <a:ext cx="7467600" cy="762000"/>
          </a:xfrm>
        </p:spPr>
        <p:txBody>
          <a:bodyPr vert="horz" wrap="square" lIns="91440" tIns="45720" rIns="91440" bIns="45720" anchor="b" anchorCtr="0"/>
          <a:p>
            <a:pPr eaLnBrk="1" hangingPunct="1"/>
            <a:r>
              <a:rPr lang="zh-CN" altLang="en-US" dirty="0"/>
              <a:t>基本套接字函数－</a:t>
            </a:r>
            <a:r>
              <a:rPr lang="en-US" altLang="zh-CN" dirty="0"/>
              <a:t>bind</a:t>
            </a:r>
            <a:endParaRPr lang="en-US" altLang="zh-CN" dirty="0"/>
          </a:p>
        </p:txBody>
      </p:sp>
      <p:sp>
        <p:nvSpPr>
          <p:cNvPr id="95235" name="Rectangle 3"/>
          <p:cNvSpPr>
            <a:spLocks noGrp="1"/>
          </p:cNvSpPr>
          <p:nvPr>
            <p:ph idx="1"/>
          </p:nvPr>
        </p:nvSpPr>
        <p:spPr>
          <a:xfrm>
            <a:off x="603250" y="2205038"/>
            <a:ext cx="8540750" cy="4652962"/>
          </a:xfrm>
        </p:spPr>
        <p:txBody>
          <a:bodyPr vert="horz" wrap="square" lIns="91440" tIns="45720" rIns="91440" bIns="45720" anchor="t" anchorCtr="0"/>
          <a:p>
            <a:pPr eaLnBrk="1" hangingPunct="1">
              <a:lnSpc>
                <a:spcPct val="85000"/>
              </a:lnSpc>
              <a:buNone/>
            </a:pPr>
            <a:r>
              <a:rPr lang="en-US" altLang="zh-CN" sz="2400" dirty="0"/>
              <a:t>#include &lt;sys/socket.h&gt;</a:t>
            </a:r>
            <a:endParaRPr lang="en-US" altLang="zh-CN" sz="2400" dirty="0"/>
          </a:p>
          <a:p>
            <a:pPr eaLnBrk="1" hangingPunct="1">
              <a:lnSpc>
                <a:spcPct val="85000"/>
              </a:lnSpc>
              <a:buNone/>
            </a:pPr>
            <a:r>
              <a:rPr lang="en-US" altLang="zh-CN" sz="2400" dirty="0"/>
              <a:t>int bind(int sockfd, const struct sockaddr *addr, socklen_len len)</a:t>
            </a:r>
            <a:endParaRPr lang="en-US" altLang="zh-CN" sz="2400" dirty="0"/>
          </a:p>
          <a:p>
            <a:pPr eaLnBrk="1" hangingPunct="1">
              <a:lnSpc>
                <a:spcPct val="85000"/>
              </a:lnSpc>
              <a:buNone/>
            </a:pPr>
            <a:r>
              <a:rPr lang="en-US" altLang="zh-CN" sz="2400" dirty="0"/>
              <a:t>                                 </a:t>
            </a:r>
            <a:r>
              <a:rPr lang="zh-CN" altLang="en-US" sz="2400" dirty="0"/>
              <a:t>返回：</a:t>
            </a:r>
            <a:r>
              <a:rPr lang="en-US" altLang="zh-CN" sz="2400" dirty="0"/>
              <a:t>0</a:t>
            </a:r>
            <a:r>
              <a:rPr lang="zh-CN" altLang="en-US" sz="2400" dirty="0"/>
              <a:t>－成功；</a:t>
            </a:r>
            <a:r>
              <a:rPr lang="en-US" altLang="zh-CN" sz="2400" dirty="0"/>
              <a:t>-1</a:t>
            </a:r>
            <a:r>
              <a:rPr lang="zh-CN" altLang="en-US" sz="2400" dirty="0"/>
              <a:t>－出错并置</a:t>
            </a:r>
            <a:r>
              <a:rPr lang="en-US" altLang="zh-CN" sz="2400" dirty="0"/>
              <a:t>errno</a:t>
            </a:r>
            <a:endParaRPr lang="en-US" altLang="zh-CN" sz="2400" dirty="0"/>
          </a:p>
          <a:p>
            <a:pPr eaLnBrk="1" hangingPunct="1">
              <a:lnSpc>
                <a:spcPct val="85000"/>
              </a:lnSpc>
            </a:pPr>
            <a:r>
              <a:rPr lang="zh-CN" altLang="en-US" sz="2400" dirty="0"/>
              <a:t>该函数指明套接字将使用本地的哪一个协议族进行数据传送（</a:t>
            </a:r>
            <a:r>
              <a:rPr lang="en-US" altLang="zh-CN" sz="2400" dirty="0"/>
              <a:t>IP</a:t>
            </a:r>
            <a:r>
              <a:rPr lang="zh-CN" altLang="en-US" sz="2400" dirty="0"/>
              <a:t>地址和端口号），注意：协议地址</a:t>
            </a:r>
            <a:r>
              <a:rPr lang="en-US" altLang="zh-CN" sz="2400" dirty="0"/>
              <a:t>addr</a:t>
            </a:r>
            <a:r>
              <a:rPr lang="zh-CN" altLang="en-US" sz="2400" dirty="0"/>
              <a:t>是通用地址。</a:t>
            </a:r>
            <a:endParaRPr lang="zh-CN" altLang="en-US" sz="2400" dirty="0"/>
          </a:p>
          <a:p>
            <a:pPr eaLnBrk="1" hangingPunct="1">
              <a:lnSpc>
                <a:spcPct val="85000"/>
              </a:lnSpc>
            </a:pPr>
            <a:r>
              <a:rPr lang="en-US" altLang="zh-CN" sz="2400" dirty="0"/>
              <a:t>Len</a:t>
            </a:r>
            <a:r>
              <a:rPr lang="zh-CN" altLang="en-US" sz="2400" dirty="0"/>
              <a:t>是该地址结构（第二个参数）的长度。</a:t>
            </a:r>
            <a:endParaRPr lang="zh-CN" altLang="en-US" sz="2400" dirty="0"/>
          </a:p>
          <a:p>
            <a:pPr eaLnBrk="1" hangingPunct="1">
              <a:lnSpc>
                <a:spcPct val="85000"/>
              </a:lnSpc>
            </a:pPr>
            <a:r>
              <a:rPr lang="zh-CN" altLang="en-US" sz="2400" dirty="0">
                <a:solidFill>
                  <a:srgbClr val="FF0000"/>
                </a:solidFill>
                <a:latin typeface="Cambria" panose="02040503050406030204" pitchFamily="18" charset="0"/>
                <a:ea typeface="仿宋" panose="02010609060101010101" pitchFamily="49" charset="-122"/>
              </a:rPr>
              <a:t>一般而言，服务器调用此函数，而客户则很少调用它？？？</a:t>
            </a:r>
            <a:endParaRPr lang="zh-CN" altLang="en-US" sz="2400" dirty="0">
              <a:solidFill>
                <a:srgbClr val="FF0000"/>
              </a:solidFill>
              <a:latin typeface="Cambria" panose="02040503050406030204" pitchFamily="18" charset="0"/>
              <a:ea typeface="仿宋" panose="02010609060101010101" pitchFamily="49" charset="-122"/>
            </a:endParaRPr>
          </a:p>
          <a:p>
            <a:pPr eaLnBrk="1" hangingPunct="1">
              <a:lnSpc>
                <a:spcPct val="85000"/>
              </a:lnSpc>
            </a:pPr>
            <a:r>
              <a:rPr lang="zh-CN" altLang="en-US" sz="2400" dirty="0">
                <a:solidFill>
                  <a:srgbClr val="0070C0"/>
                </a:solidFill>
                <a:latin typeface="Cambria" panose="02040503050406030204" pitchFamily="18" charset="0"/>
                <a:ea typeface="仿宋" panose="02010609060101010101" pitchFamily="49" charset="-122"/>
              </a:rPr>
              <a:t>因为：客户端是主动向服务器发出请求的，客户开始发送数据，系统就给客户端分配一个随机的端口，这个端口和客户端的</a:t>
            </a:r>
            <a:r>
              <a:rPr lang="en-US" altLang="zh-CN" sz="2400" dirty="0">
                <a:solidFill>
                  <a:srgbClr val="0070C0"/>
                </a:solidFill>
                <a:latin typeface="Cambria" panose="02040503050406030204" pitchFamily="18" charset="0"/>
                <a:ea typeface="仿宋" panose="02010609060101010101" pitchFamily="49" charset="-122"/>
              </a:rPr>
              <a:t>IP</a:t>
            </a:r>
            <a:r>
              <a:rPr lang="zh-CN" altLang="en-US" sz="2400" dirty="0">
                <a:solidFill>
                  <a:srgbClr val="0070C0"/>
                </a:solidFill>
                <a:latin typeface="Cambria" panose="02040503050406030204" pitchFamily="18" charset="0"/>
                <a:ea typeface="仿宋" panose="02010609060101010101" pitchFamily="49" charset="-122"/>
              </a:rPr>
              <a:t>会随着数据一起发给服务器，服务器就可以从中或得客户的</a:t>
            </a:r>
            <a:r>
              <a:rPr lang="en-US" altLang="zh-CN" sz="2400" dirty="0">
                <a:solidFill>
                  <a:srgbClr val="0070C0"/>
                </a:solidFill>
                <a:latin typeface="Cambria" panose="02040503050406030204" pitchFamily="18" charset="0"/>
                <a:ea typeface="仿宋" panose="02010609060101010101" pitchFamily="49" charset="-122"/>
              </a:rPr>
              <a:t>IP</a:t>
            </a:r>
            <a:r>
              <a:rPr lang="zh-CN" altLang="en-US" sz="2400" dirty="0">
                <a:solidFill>
                  <a:srgbClr val="0070C0"/>
                </a:solidFill>
                <a:latin typeface="Cambria" panose="02040503050406030204" pitchFamily="18" charset="0"/>
                <a:ea typeface="仿宋" panose="02010609060101010101" pitchFamily="49" charset="-122"/>
              </a:rPr>
              <a:t>和端口，接下来服务器就可以利用获得的</a:t>
            </a:r>
            <a:r>
              <a:rPr lang="en-US" altLang="zh-CN" sz="2400" dirty="0">
                <a:solidFill>
                  <a:srgbClr val="0070C0"/>
                </a:solidFill>
                <a:latin typeface="Cambria" panose="02040503050406030204" pitchFamily="18" charset="0"/>
                <a:ea typeface="仿宋" panose="02010609060101010101" pitchFamily="49" charset="-122"/>
              </a:rPr>
              <a:t>IP</a:t>
            </a:r>
            <a:r>
              <a:rPr lang="zh-CN" altLang="en-US" sz="2400" dirty="0">
                <a:solidFill>
                  <a:srgbClr val="0070C0"/>
                </a:solidFill>
                <a:latin typeface="Cambria" panose="02040503050406030204" pitchFamily="18" charset="0"/>
                <a:ea typeface="仿宋" panose="02010609060101010101" pitchFamily="49" charset="-122"/>
              </a:rPr>
              <a:t>和端口给客户端回应消息。</a:t>
            </a:r>
            <a:endParaRPr lang="zh-CN" altLang="en-US" sz="2400" dirty="0">
              <a:solidFill>
                <a:srgbClr val="0070C0"/>
              </a:solidFill>
              <a:latin typeface="Cambria" panose="02040503050406030204" pitchFamily="18" charset="0"/>
              <a:ea typeface="仿宋" panose="02010609060101010101" pitchFamily="49" charset="-122"/>
            </a:endParaRPr>
          </a:p>
          <a:p>
            <a:pPr eaLnBrk="1" hangingPunct="1">
              <a:lnSpc>
                <a:spcPct val="85000"/>
              </a:lnSpc>
            </a:pPr>
            <a:endParaRPr lang="zh-CN" altLang="en-US" sz="2400" dirty="0"/>
          </a:p>
          <a:p>
            <a:pPr eaLnBrk="1" hangingPunct="1">
              <a:lnSpc>
                <a:spcPct val="85000"/>
              </a:lnSpc>
              <a:buNone/>
            </a:pPr>
            <a:r>
              <a:rPr lang="zh-CN" altLang="en-US" sz="2400" dirty="0"/>
              <a:t>  </a:t>
            </a:r>
            <a:endParaRPr lang="zh-CN" altLang="en-US" sz="2000" dirty="0"/>
          </a:p>
        </p:txBody>
      </p:sp>
    </p:spTree>
  </p:cSld>
  <p:clrMapOvr>
    <a:masterClrMapping/>
  </p:clrMapOvr>
  <p:transition>
    <p:random/>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2" name="Rectangle 4"/>
          <p:cNvSpPr/>
          <p:nvPr/>
        </p:nvSpPr>
        <p:spPr>
          <a:xfrm>
            <a:off x="827088" y="1763713"/>
            <a:ext cx="8137525" cy="4524375"/>
          </a:xfrm>
          <a:prstGeom prst="rect">
            <a:avLst/>
          </a:prstGeom>
          <a:noFill/>
          <a:ln w="9525">
            <a:noFill/>
          </a:ln>
        </p:spPr>
        <p:txBody>
          <a:bodyPr>
            <a:spAutoFit/>
          </a:bodyPr>
          <a:p>
            <a:pPr eaLnBrk="1" hangingPunct="1"/>
            <a:r>
              <a:rPr lang="zh-CN" altLang="en-US" b="0" dirty="0">
                <a:latin typeface="Tahoma" panose="020B0604030504040204" pitchFamily="34" charset="0"/>
              </a:rPr>
              <a:t>一般情况下，如果你要建立</a:t>
            </a:r>
            <a:r>
              <a:rPr lang="zh-CN" altLang="en-US" b="0" dirty="0">
                <a:latin typeface="Tahoma" panose="020B0604030504040204" pitchFamily="34" charset="0"/>
                <a:hlinkClick r:id="rId1"/>
              </a:rPr>
              <a:t>网络服务器</a:t>
            </a:r>
            <a:r>
              <a:rPr lang="zh-CN" altLang="en-US" b="0" dirty="0">
                <a:latin typeface="Tahoma" panose="020B0604030504040204" pitchFamily="34" charset="0"/>
                <a:hlinkClick r:id="rId2"/>
              </a:rPr>
              <a:t>应用程序</a:t>
            </a:r>
            <a:r>
              <a:rPr lang="zh-CN" altLang="en-US" b="0" dirty="0">
                <a:latin typeface="Tahoma" panose="020B0604030504040204" pitchFamily="34" charset="0"/>
              </a:rPr>
              <a:t>，则你要通知</a:t>
            </a:r>
            <a:r>
              <a:rPr lang="zh-CN" altLang="en-US" b="0" dirty="0">
                <a:latin typeface="Tahoma" panose="020B0604030504040204" pitchFamily="34" charset="0"/>
                <a:hlinkClick r:id="rId3"/>
              </a:rPr>
              <a:t>服务器操作系统</a:t>
            </a:r>
            <a:r>
              <a:rPr lang="zh-CN" altLang="en-US" b="0" dirty="0">
                <a:latin typeface="Tahoma" panose="020B0604030504040204" pitchFamily="34" charset="0"/>
              </a:rPr>
              <a:t>：请在某地址 </a:t>
            </a:r>
            <a:r>
              <a:rPr lang="en-US" altLang="zh-CN" b="0" dirty="0">
                <a:latin typeface="Tahoma" panose="020B0604030504040204" pitchFamily="34" charset="0"/>
              </a:rPr>
              <a:t>xxx.xxx.xxx.xxx</a:t>
            </a:r>
            <a:r>
              <a:rPr lang="zh-CN" altLang="en-US" b="0" dirty="0">
                <a:latin typeface="Tahoma" panose="020B0604030504040204" pitchFamily="34" charset="0"/>
              </a:rPr>
              <a:t>上的某端口 </a:t>
            </a:r>
            <a:r>
              <a:rPr lang="en-US" altLang="zh-CN" b="0" dirty="0">
                <a:latin typeface="Tahoma" panose="020B0604030504040204" pitchFamily="34" charset="0"/>
              </a:rPr>
              <a:t>yyyy</a:t>
            </a:r>
            <a:r>
              <a:rPr lang="zh-CN" altLang="en-US" b="0" dirty="0">
                <a:latin typeface="Tahoma" panose="020B0604030504040204" pitchFamily="34" charset="0"/>
              </a:rPr>
              <a:t>上进行侦听，并且把侦听到的数据包发送给我。 </a:t>
            </a:r>
            <a:endParaRPr lang="zh-CN" altLang="en-US" b="0" dirty="0">
              <a:latin typeface="Tahoma" panose="020B0604030504040204" pitchFamily="34" charset="0"/>
            </a:endParaRPr>
          </a:p>
          <a:p>
            <a:pPr eaLnBrk="1" hangingPunct="1"/>
            <a:r>
              <a:rPr lang="zh-CN" altLang="en-US" b="0" dirty="0">
                <a:latin typeface="Tahoma" panose="020B0604030504040204" pitchFamily="34" charset="0"/>
              </a:rPr>
              <a:t>如果你的服务器有多个网卡（每个网卡上有不同的</a:t>
            </a:r>
            <a:r>
              <a:rPr lang="en-US" altLang="zh-CN" b="0" dirty="0">
                <a:latin typeface="Tahoma" panose="020B0604030504040204" pitchFamily="34" charset="0"/>
              </a:rPr>
              <a:t>IP</a:t>
            </a:r>
            <a:r>
              <a:rPr lang="zh-CN" altLang="en-US" b="0" dirty="0">
                <a:latin typeface="Tahoma" panose="020B0604030504040204" pitchFamily="34" charset="0"/>
              </a:rPr>
              <a:t>地址），而你的服务（不管是在</a:t>
            </a:r>
            <a:r>
              <a:rPr lang="en-US" altLang="zh-CN" b="0" dirty="0">
                <a:latin typeface="Tahoma" panose="020B0604030504040204" pitchFamily="34" charset="0"/>
              </a:rPr>
              <a:t>udp</a:t>
            </a:r>
            <a:r>
              <a:rPr lang="zh-CN" altLang="en-US" b="0" dirty="0">
                <a:latin typeface="Tahoma" panose="020B0604030504040204" pitchFamily="34" charset="0"/>
              </a:rPr>
              <a:t>端口上侦听，还是在</a:t>
            </a:r>
            <a:r>
              <a:rPr lang="en-US" altLang="zh-CN" b="0" dirty="0">
                <a:latin typeface="Tahoma" panose="020B0604030504040204" pitchFamily="34" charset="0"/>
              </a:rPr>
              <a:t>tcp</a:t>
            </a:r>
            <a:r>
              <a:rPr lang="zh-CN" altLang="en-US" b="0" dirty="0">
                <a:latin typeface="Tahoma" panose="020B0604030504040204" pitchFamily="34" charset="0"/>
              </a:rPr>
              <a:t>端口上侦听），出于某种原因：可能是你的服务器操作系统可能随时增减</a:t>
            </a:r>
            <a:r>
              <a:rPr lang="en-US" altLang="zh-CN" b="0" dirty="0">
                <a:latin typeface="Tahoma" panose="020B0604030504040204" pitchFamily="34" charset="0"/>
              </a:rPr>
              <a:t>IP</a:t>
            </a:r>
            <a:r>
              <a:rPr lang="zh-CN" altLang="en-US" b="0" dirty="0">
                <a:latin typeface="Tahoma" panose="020B0604030504040204" pitchFamily="34" charset="0"/>
              </a:rPr>
              <a:t>地址，也有可能是为了省去确定服务器上有什么</a:t>
            </a:r>
            <a:r>
              <a:rPr lang="zh-CN" altLang="en-US" b="0" dirty="0">
                <a:latin typeface="Tahoma" panose="020B0604030504040204" pitchFamily="34" charset="0"/>
                <a:hlinkClick r:id="rId4"/>
              </a:rPr>
              <a:t>网络端口</a:t>
            </a:r>
            <a:r>
              <a:rPr lang="zh-CN" altLang="en-US" b="0" dirty="0">
                <a:latin typeface="Tahoma" panose="020B0604030504040204" pitchFamily="34" charset="0"/>
              </a:rPr>
              <a:t>（</a:t>
            </a:r>
            <a:r>
              <a:rPr lang="zh-CN" altLang="en-US" b="0" dirty="0">
                <a:latin typeface="Tahoma" panose="020B0604030504040204" pitchFamily="34" charset="0"/>
                <a:hlinkClick r:id="rId5"/>
              </a:rPr>
              <a:t>网卡</a:t>
            </a:r>
            <a:r>
              <a:rPr lang="zh-CN" altLang="en-US" b="0" dirty="0">
                <a:latin typeface="Tahoma" panose="020B0604030504040204" pitchFamily="34" charset="0"/>
              </a:rPr>
              <a:t>）的麻烦 </a:t>
            </a:r>
            <a:r>
              <a:rPr lang="en-US" altLang="zh-CN" b="0" dirty="0">
                <a:latin typeface="Arial" panose="020B0604020202020204" pitchFamily="34" charset="0"/>
              </a:rPr>
              <a:t>——</a:t>
            </a:r>
            <a:r>
              <a:rPr lang="en-US" altLang="zh-CN" b="0" dirty="0">
                <a:latin typeface="Tahoma" panose="020B0604030504040204" pitchFamily="34" charset="0"/>
              </a:rPr>
              <a:t> </a:t>
            </a:r>
            <a:r>
              <a:rPr lang="zh-CN" altLang="en-US" b="0" dirty="0">
                <a:latin typeface="Tahoma" panose="020B0604030504040204" pitchFamily="34" charset="0"/>
              </a:rPr>
              <a:t>可以要在调用</a:t>
            </a:r>
            <a:r>
              <a:rPr lang="en-US" altLang="zh-CN" b="0" dirty="0">
                <a:latin typeface="Tahoma" panose="020B0604030504040204" pitchFamily="34" charset="0"/>
                <a:hlinkClick r:id="rId6"/>
              </a:rPr>
              <a:t>bind()</a:t>
            </a:r>
            <a:r>
              <a:rPr lang="zh-CN" altLang="en-US" b="0" dirty="0">
                <a:latin typeface="Tahoma" panose="020B0604030504040204" pitchFamily="34" charset="0"/>
              </a:rPr>
              <a:t>的时候，告诉操作系统：</a:t>
            </a:r>
            <a:r>
              <a:rPr lang="zh-CN" altLang="en-US" b="0" dirty="0">
                <a:latin typeface="Arial" panose="020B0604020202020204" pitchFamily="34" charset="0"/>
              </a:rPr>
              <a:t>“</a:t>
            </a:r>
            <a:r>
              <a:rPr lang="zh-CN" altLang="en-US" b="0" dirty="0">
                <a:latin typeface="Tahoma" panose="020B0604030504040204" pitchFamily="34" charset="0"/>
              </a:rPr>
              <a:t>我需要在 </a:t>
            </a:r>
            <a:r>
              <a:rPr lang="en-US" altLang="zh-CN" b="0" dirty="0">
                <a:latin typeface="Tahoma" panose="020B0604030504040204" pitchFamily="34" charset="0"/>
              </a:rPr>
              <a:t>yyyy </a:t>
            </a:r>
            <a:r>
              <a:rPr lang="zh-CN" altLang="en-US" b="0" dirty="0">
                <a:latin typeface="Tahoma" panose="020B0604030504040204" pitchFamily="34" charset="0"/>
              </a:rPr>
              <a:t>端口上侦听，所有发送到服务器的这个端口，不管是哪个网卡</a:t>
            </a:r>
            <a:r>
              <a:rPr lang="en-US" altLang="zh-CN" b="0" dirty="0">
                <a:latin typeface="Tahoma" panose="020B0604030504040204" pitchFamily="34" charset="0"/>
              </a:rPr>
              <a:t>/</a:t>
            </a:r>
            <a:r>
              <a:rPr lang="zh-CN" altLang="en-US" b="0" dirty="0">
                <a:latin typeface="Tahoma" panose="020B0604030504040204" pitchFamily="34" charset="0"/>
              </a:rPr>
              <a:t>哪个</a:t>
            </a:r>
            <a:r>
              <a:rPr lang="en-US" altLang="zh-CN" b="0" dirty="0">
                <a:latin typeface="Tahoma" panose="020B0604030504040204" pitchFamily="34" charset="0"/>
              </a:rPr>
              <a:t>IP</a:t>
            </a:r>
            <a:r>
              <a:rPr lang="zh-CN" altLang="en-US" b="0" dirty="0">
                <a:latin typeface="Tahoma" panose="020B0604030504040204" pitchFamily="34" charset="0"/>
              </a:rPr>
              <a:t>地址接收到的数据，都是我处理的。</a:t>
            </a:r>
            <a:r>
              <a:rPr lang="zh-CN" altLang="en-US" b="0" dirty="0">
                <a:latin typeface="Arial" panose="020B0604020202020204" pitchFamily="34" charset="0"/>
              </a:rPr>
              <a:t>”</a:t>
            </a:r>
            <a:r>
              <a:rPr lang="zh-CN" altLang="en-US" b="0" dirty="0">
                <a:latin typeface="Tahoma" panose="020B0604030504040204" pitchFamily="34" charset="0"/>
              </a:rPr>
              <a:t>这时候，服务器程序则在</a:t>
            </a:r>
            <a:r>
              <a:rPr lang="en-US" altLang="zh-CN" b="0" dirty="0">
                <a:latin typeface="Tahoma" panose="020B0604030504040204" pitchFamily="34" charset="0"/>
              </a:rPr>
              <a:t>0.0.0.0</a:t>
            </a:r>
            <a:r>
              <a:rPr lang="zh-CN" altLang="en-US" b="0" dirty="0">
                <a:latin typeface="Tahoma" panose="020B0604030504040204" pitchFamily="34" charset="0"/>
              </a:rPr>
              <a:t>这个地址上进行侦听。</a:t>
            </a:r>
            <a:endParaRPr lang="zh-CN" altLang="en-US" b="0" dirty="0">
              <a:latin typeface="Tahoma" panose="020B0604030504040204" pitchFamily="34" charset="0"/>
            </a:endParaRPr>
          </a:p>
        </p:txBody>
      </p:sp>
    </p:spTree>
  </p:cSld>
  <p:clrMapOvr>
    <a:masterClrMapping/>
  </p:clrMapOvr>
  <p:transition>
    <p:random/>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6" name="Rectangle 2"/>
          <p:cNvSpPr>
            <a:spLocks noGrp="1"/>
          </p:cNvSpPr>
          <p:nvPr>
            <p:ph type="title"/>
          </p:nvPr>
        </p:nvSpPr>
        <p:spPr>
          <a:xfrm>
            <a:off x="1150938" y="285750"/>
            <a:ext cx="7793037" cy="911225"/>
          </a:xfrm>
        </p:spPr>
        <p:txBody>
          <a:bodyPr vert="horz" wrap="square" lIns="91440" tIns="45720" rIns="91440" bIns="45720" anchor="b" anchorCtr="0"/>
          <a:p>
            <a:pPr eaLnBrk="1" hangingPunct="1"/>
            <a:endParaRPr lang="zh-CN" altLang="zh-CN" dirty="0"/>
          </a:p>
        </p:txBody>
      </p:sp>
      <p:sp>
        <p:nvSpPr>
          <p:cNvPr id="98307" name="Rectangle 3"/>
          <p:cNvSpPr>
            <a:spLocks noGrp="1"/>
          </p:cNvSpPr>
          <p:nvPr>
            <p:ph idx="1"/>
          </p:nvPr>
        </p:nvSpPr>
        <p:spPr>
          <a:xfrm>
            <a:off x="682625" y="1844675"/>
            <a:ext cx="8353425" cy="4752975"/>
          </a:xfrm>
        </p:spPr>
        <p:txBody>
          <a:bodyPr vert="horz" wrap="square" lIns="91440" tIns="45720" rIns="91440" bIns="45720" anchor="t" anchorCtr="0"/>
          <a:p>
            <a:pPr eaLnBrk="1" hangingPunct="1">
              <a:lnSpc>
                <a:spcPct val="85000"/>
              </a:lnSpc>
              <a:buNone/>
            </a:pPr>
            <a:r>
              <a:rPr lang="en-US" altLang="zh-CN" sz="2400" dirty="0"/>
              <a:t>          </a:t>
            </a:r>
            <a:r>
              <a:rPr lang="zh-CN" altLang="en-US" sz="2400" dirty="0"/>
              <a:t>绑定地址时，可以指定地址和端口号，也可以指定其中之一，甚至一个也不指定。通配地址：</a:t>
            </a:r>
            <a:r>
              <a:rPr lang="en-US" altLang="zh-CN" sz="2400" dirty="0"/>
              <a:t>INADDR_ANY</a:t>
            </a:r>
            <a:r>
              <a:rPr lang="zh-CN" altLang="en-US" sz="2400" dirty="0"/>
              <a:t>，其值一般为</a:t>
            </a:r>
            <a:r>
              <a:rPr lang="en-US" altLang="zh-CN" sz="2400" dirty="0"/>
              <a:t>0</a:t>
            </a:r>
            <a:r>
              <a:rPr lang="zh-CN" altLang="en-US" sz="2400" dirty="0"/>
              <a:t>，它通知内核选择</a:t>
            </a:r>
            <a:r>
              <a:rPr lang="en-US" altLang="zh-CN" sz="2400" dirty="0"/>
              <a:t>IP</a:t>
            </a:r>
            <a:r>
              <a:rPr lang="zh-CN" altLang="en-US" sz="2400" dirty="0"/>
              <a:t>地址。</a:t>
            </a:r>
            <a:endParaRPr lang="zh-CN" altLang="en-US" sz="2400" dirty="0">
              <a:solidFill>
                <a:schemeClr val="hlink"/>
              </a:solidFill>
            </a:endParaRPr>
          </a:p>
          <a:p>
            <a:pPr eaLnBrk="1" hangingPunct="1">
              <a:lnSpc>
                <a:spcPct val="85000"/>
              </a:lnSpc>
              <a:buNone/>
            </a:pPr>
            <a:endParaRPr lang="en-US" altLang="zh-CN" sz="2400" dirty="0"/>
          </a:p>
          <a:p>
            <a:pPr eaLnBrk="1" hangingPunct="1">
              <a:lnSpc>
                <a:spcPct val="85000"/>
              </a:lnSpc>
              <a:buNone/>
            </a:pPr>
            <a:endParaRPr lang="en-US" altLang="zh-CN" sz="2400" dirty="0"/>
          </a:p>
          <a:p>
            <a:pPr eaLnBrk="1" hangingPunct="1">
              <a:lnSpc>
                <a:spcPct val="85000"/>
              </a:lnSpc>
              <a:buNone/>
            </a:pPr>
            <a:endParaRPr lang="en-US" altLang="zh-CN" sz="2400" dirty="0"/>
          </a:p>
          <a:p>
            <a:pPr eaLnBrk="1" hangingPunct="1">
              <a:lnSpc>
                <a:spcPct val="85000"/>
              </a:lnSpc>
              <a:buNone/>
            </a:pPr>
            <a:endParaRPr lang="en-US" altLang="zh-CN" sz="2400" dirty="0"/>
          </a:p>
          <a:p>
            <a:pPr eaLnBrk="1" hangingPunct="1">
              <a:lnSpc>
                <a:spcPct val="85000"/>
              </a:lnSpc>
              <a:buNone/>
            </a:pPr>
            <a:endParaRPr lang="en-US" altLang="zh-CN" sz="2400" dirty="0"/>
          </a:p>
          <a:p>
            <a:pPr eaLnBrk="1" hangingPunct="1">
              <a:lnSpc>
                <a:spcPct val="85000"/>
              </a:lnSpc>
              <a:buNone/>
            </a:pPr>
            <a:endParaRPr lang="en-US" altLang="zh-CN" sz="2400" dirty="0"/>
          </a:p>
          <a:p>
            <a:pPr eaLnBrk="1" hangingPunct="1">
              <a:lnSpc>
                <a:spcPct val="85000"/>
              </a:lnSpc>
              <a:buNone/>
            </a:pPr>
            <a:r>
              <a:rPr lang="zh-CN" altLang="en-US" sz="2400" dirty="0"/>
              <a:t>若指定端口号为</a:t>
            </a:r>
            <a:r>
              <a:rPr lang="en-US" altLang="zh-CN" sz="2400" dirty="0"/>
              <a:t>0</a:t>
            </a:r>
            <a:r>
              <a:rPr lang="zh-CN" altLang="en-US" sz="2400" dirty="0"/>
              <a:t>，调用函数</a:t>
            </a:r>
            <a:r>
              <a:rPr lang="en-US" altLang="zh-CN" sz="2400" dirty="0"/>
              <a:t>bind</a:t>
            </a:r>
            <a:r>
              <a:rPr lang="zh-CN" altLang="en-US" sz="2400" dirty="0"/>
              <a:t>时，内核选择一个临时端口</a:t>
            </a:r>
            <a:r>
              <a:rPr lang="en-US" altLang="zh-CN" sz="2400" dirty="0"/>
              <a:t>(</a:t>
            </a:r>
            <a:r>
              <a:rPr lang="zh-CN" altLang="en-US" sz="2400" dirty="0"/>
              <a:t>在实际中，端口号都要指定</a:t>
            </a:r>
            <a:r>
              <a:rPr lang="en-US" altLang="zh-CN" sz="2400" dirty="0"/>
              <a:t>)</a:t>
            </a:r>
            <a:r>
              <a:rPr lang="zh-CN" altLang="en-US" sz="2400" dirty="0"/>
              <a:t>；</a:t>
            </a:r>
            <a:r>
              <a:rPr lang="zh-CN" altLang="en-US" sz="2400" b="1" dirty="0"/>
              <a:t>但若指定一个通配</a:t>
            </a:r>
            <a:r>
              <a:rPr lang="en-US" altLang="zh-CN" sz="2400" b="1" dirty="0"/>
              <a:t>IP</a:t>
            </a:r>
            <a:r>
              <a:rPr lang="zh-CN" altLang="en-US" sz="2400" b="1" dirty="0"/>
              <a:t>地址，则直到套接字已连接（</a:t>
            </a:r>
            <a:r>
              <a:rPr lang="en-US" altLang="zh-CN" sz="2400" b="1" dirty="0"/>
              <a:t>TCP</a:t>
            </a:r>
            <a:r>
              <a:rPr lang="zh-CN" altLang="en-US" sz="2400" b="1" dirty="0"/>
              <a:t>）或数据报已在套接字上发出（</a:t>
            </a:r>
            <a:r>
              <a:rPr lang="en-US" altLang="zh-CN" sz="2400" b="1" dirty="0"/>
              <a:t>UDP</a:t>
            </a:r>
            <a:r>
              <a:rPr lang="zh-CN" altLang="en-US" sz="2400" b="1" dirty="0"/>
              <a:t>），内核才选择一个本地</a:t>
            </a:r>
            <a:r>
              <a:rPr lang="en-US" altLang="zh-CN" sz="2400" b="1" dirty="0"/>
              <a:t>IP</a:t>
            </a:r>
            <a:r>
              <a:rPr lang="zh-CN" altLang="en-US" sz="2400" b="1" dirty="0"/>
              <a:t>地址。</a:t>
            </a:r>
            <a:endParaRPr lang="zh-CN" altLang="en-US" sz="2400" b="1" dirty="0"/>
          </a:p>
        </p:txBody>
      </p:sp>
      <p:graphicFrame>
        <p:nvGraphicFramePr>
          <p:cNvPr id="2" name="表格 1"/>
          <p:cNvGraphicFramePr>
            <a:graphicFrameLocks noGrp="1"/>
          </p:cNvGraphicFramePr>
          <p:nvPr/>
        </p:nvGraphicFramePr>
        <p:xfrm>
          <a:off x="1331913" y="2997200"/>
          <a:ext cx="6911976" cy="1920875"/>
        </p:xfrm>
        <a:graphic>
          <a:graphicData uri="http://schemas.openxmlformats.org/drawingml/2006/table">
            <a:tbl>
              <a:tblPr firstRow="1" bandRow="1">
                <a:tableStyleId>{C4B1156A-380E-4F78-BDF5-A606A8083BF9}</a:tableStyleId>
              </a:tblPr>
              <a:tblGrid>
                <a:gridCol w="1727994"/>
                <a:gridCol w="1727994"/>
                <a:gridCol w="3455988"/>
              </a:tblGrid>
              <a:tr h="365861">
                <a:tc gridSpan="2">
                  <a:txBody>
                    <a:bodyPr/>
                    <a:lstStyle/>
                    <a:p>
                      <a:pPr algn="ctr"/>
                      <a:r>
                        <a:rPr lang="zh-CN" altLang="en-US" sz="1800"/>
                        <a:t>进程制定</a:t>
                      </a:r>
                      <a:endParaRPr lang="zh-CN" altLang="en-US" sz="1800"/>
                    </a:p>
                  </a:txBody>
                  <a:tcPr marL="91430" marR="91430" marT="45715" marB="45715" anchor="ctr"/>
                </a:tc>
                <a:tc hMerge="1">
                  <a:tcPr/>
                </a:tc>
                <a:tc rowSpan="2">
                  <a:txBody>
                    <a:bodyPr/>
                    <a:lstStyle/>
                    <a:p>
                      <a:pPr algn="ctr"/>
                      <a:r>
                        <a:rPr lang="zh-CN" altLang="en-US" sz="1800"/>
                        <a:t>结果</a:t>
                      </a:r>
                      <a:endParaRPr lang="zh-CN" altLang="en-US" sz="1800"/>
                    </a:p>
                  </a:txBody>
                  <a:tcPr marL="91430" marR="91430" marT="45715" marB="45715" anchor="ctr"/>
                </a:tc>
              </a:tr>
              <a:tr h="365861">
                <a:tc>
                  <a:txBody>
                    <a:bodyPr/>
                    <a:lstStyle/>
                    <a:p>
                      <a:pPr algn="ctr"/>
                      <a:r>
                        <a:rPr lang="en-US" altLang="zh-CN" sz="1800"/>
                        <a:t>IP</a:t>
                      </a:r>
                      <a:r>
                        <a:rPr lang="zh-CN" altLang="en-US" sz="1800"/>
                        <a:t>地址</a:t>
                      </a:r>
                      <a:endParaRPr lang="zh-CN" altLang="en-US" sz="1800"/>
                    </a:p>
                  </a:txBody>
                  <a:tcPr marL="91430" marR="91430" marT="45715" marB="45715"/>
                </a:tc>
                <a:tc>
                  <a:txBody>
                    <a:bodyPr/>
                    <a:lstStyle/>
                    <a:p>
                      <a:pPr algn="ctr"/>
                      <a:r>
                        <a:rPr lang="zh-CN" altLang="en-US" sz="1800"/>
                        <a:t>端口</a:t>
                      </a:r>
                      <a:endParaRPr lang="zh-CN" altLang="en-US" sz="1800"/>
                    </a:p>
                  </a:txBody>
                  <a:tcPr marL="91430" marR="91430" marT="45715" marB="45715"/>
                </a:tc>
                <a:tc vMerge="1">
                  <a:tcPr/>
                </a:tc>
              </a:tr>
              <a:tr h="1189153">
                <a:tc>
                  <a:txBody>
                    <a:bodyPr/>
                    <a:lstStyle/>
                    <a:p>
                      <a:pPr algn="ctr"/>
                      <a:r>
                        <a:rPr lang="zh-CN" altLang="en-US" sz="1800"/>
                        <a:t>通配地址 </a:t>
                      </a:r>
                      <a:endParaRPr lang="en-US" altLang="zh-CN" sz="1800"/>
                    </a:p>
                    <a:p>
                      <a:pPr marL="0" marR="0" indent="0" algn="ctr" defTabSz="914400" rtl="0" eaLnBrk="1" fontAlgn="auto" latinLnBrk="0" hangingPunct="1">
                        <a:lnSpc>
                          <a:spcPct val="100000"/>
                        </a:lnSpc>
                        <a:spcBef>
                          <a:spcPts val="0"/>
                        </a:spcBef>
                        <a:spcAft>
                          <a:spcPts val="0"/>
                        </a:spcAft>
                        <a:buClrTx/>
                        <a:buSzTx/>
                        <a:buFontTx/>
                        <a:buNone/>
                        <a:defRPr/>
                      </a:pPr>
                      <a:r>
                        <a:rPr lang="zh-CN" altLang="en-US" sz="1800"/>
                        <a:t>通配地址 </a:t>
                      </a:r>
                      <a:endParaRPr lang="en-US" altLang="zh-CN" sz="1800"/>
                    </a:p>
                    <a:p>
                      <a:pPr marL="0" marR="0" indent="0" algn="ctr" defTabSz="914400" rtl="0" eaLnBrk="1" fontAlgn="auto" latinLnBrk="0" hangingPunct="1">
                        <a:lnSpc>
                          <a:spcPct val="100000"/>
                        </a:lnSpc>
                        <a:spcBef>
                          <a:spcPts val="0"/>
                        </a:spcBef>
                        <a:spcAft>
                          <a:spcPts val="0"/>
                        </a:spcAft>
                        <a:buClrTx/>
                        <a:buSzTx/>
                        <a:buFontTx/>
                        <a:buNone/>
                        <a:defRPr/>
                      </a:pPr>
                      <a:r>
                        <a:rPr lang="zh-CN" altLang="en-US" sz="1800"/>
                        <a:t>本地</a:t>
                      </a:r>
                      <a:r>
                        <a:rPr lang="en-US" altLang="zh-CN" sz="1800"/>
                        <a:t>IP</a:t>
                      </a:r>
                      <a:r>
                        <a:rPr lang="zh-CN" altLang="en-US" sz="1800"/>
                        <a:t>地址</a:t>
                      </a:r>
                      <a:endParaRPr lang="en-US" altLang="zh-CN" sz="1800"/>
                    </a:p>
                    <a:p>
                      <a:pPr marL="0" marR="0" indent="0" algn="ctr" defTabSz="914400" rtl="0" eaLnBrk="1" fontAlgn="auto" latinLnBrk="0" hangingPunct="1">
                        <a:lnSpc>
                          <a:spcPct val="100000"/>
                        </a:lnSpc>
                        <a:spcBef>
                          <a:spcPts val="0"/>
                        </a:spcBef>
                        <a:spcAft>
                          <a:spcPts val="0"/>
                        </a:spcAft>
                        <a:buClrTx/>
                        <a:buSzTx/>
                        <a:buFontTx/>
                        <a:buNone/>
                        <a:defRPr/>
                      </a:pPr>
                      <a:r>
                        <a:rPr lang="zh-CN" altLang="en-US" sz="1800"/>
                        <a:t>本地</a:t>
                      </a:r>
                      <a:r>
                        <a:rPr lang="en-US" altLang="zh-CN" sz="1800"/>
                        <a:t>IP</a:t>
                      </a:r>
                      <a:r>
                        <a:rPr lang="zh-CN" altLang="en-US" sz="1800"/>
                        <a:t>地址</a:t>
                      </a:r>
                      <a:endParaRPr lang="en-US" altLang="zh-CN" sz="1800"/>
                    </a:p>
                  </a:txBody>
                  <a:tcPr marL="91430" marR="91430" marT="45715" marB="45715" anchor="ctr"/>
                </a:tc>
                <a:tc>
                  <a:txBody>
                    <a:bodyPr/>
                    <a:lstStyle/>
                    <a:p>
                      <a:pPr algn="ctr"/>
                      <a:r>
                        <a:rPr lang="en-US" altLang="zh-CN" sz="1800"/>
                        <a:t>0</a:t>
                      </a:r>
                      <a:endParaRPr lang="en-US" altLang="zh-CN" sz="1800"/>
                    </a:p>
                    <a:p>
                      <a:pPr algn="ctr"/>
                      <a:r>
                        <a:rPr lang="zh-CN" altLang="en-US" sz="1800"/>
                        <a:t>非</a:t>
                      </a:r>
                      <a:r>
                        <a:rPr lang="en-US" altLang="zh-CN" sz="1800"/>
                        <a:t>0</a:t>
                      </a:r>
                      <a:endParaRPr lang="en-US" altLang="zh-CN" sz="1800"/>
                    </a:p>
                    <a:p>
                      <a:pPr algn="ctr"/>
                      <a:r>
                        <a:rPr lang="en-US" altLang="zh-CN" sz="1800"/>
                        <a:t>0</a:t>
                      </a:r>
                      <a:endParaRPr lang="en-US" altLang="zh-CN" sz="1800"/>
                    </a:p>
                    <a:p>
                      <a:pPr marL="0" marR="0" indent="0" algn="ctr" defTabSz="914400" rtl="0" eaLnBrk="1" fontAlgn="auto" latinLnBrk="0" hangingPunct="1">
                        <a:lnSpc>
                          <a:spcPct val="100000"/>
                        </a:lnSpc>
                        <a:spcBef>
                          <a:spcPts val="0"/>
                        </a:spcBef>
                        <a:spcAft>
                          <a:spcPts val="0"/>
                        </a:spcAft>
                        <a:buClrTx/>
                        <a:buSzTx/>
                        <a:buFontTx/>
                        <a:buNone/>
                        <a:defRPr/>
                      </a:pPr>
                      <a:r>
                        <a:rPr lang="zh-CN" altLang="en-US" sz="1800"/>
                        <a:t>非</a:t>
                      </a:r>
                      <a:r>
                        <a:rPr lang="en-US" altLang="zh-CN" sz="1800"/>
                        <a:t>0</a:t>
                      </a:r>
                      <a:endParaRPr lang="en-US" altLang="zh-CN" sz="1800"/>
                    </a:p>
                  </a:txBody>
                  <a:tcPr marL="91430" marR="91430" marT="45715" marB="45715" anchor="ctr"/>
                </a:tc>
                <a:tc>
                  <a:txBody>
                    <a:bodyPr/>
                    <a:lstStyle/>
                    <a:p>
                      <a:r>
                        <a:rPr lang="zh-CN" altLang="en-US" sz="1800" dirty="0"/>
                        <a:t>内核选择</a:t>
                      </a:r>
                      <a:r>
                        <a:rPr lang="en-US" altLang="zh-CN" sz="1800" dirty="0"/>
                        <a:t>IP</a:t>
                      </a:r>
                      <a:r>
                        <a:rPr lang="zh-CN" altLang="en-US" sz="1800" dirty="0"/>
                        <a:t>地址和端口号</a:t>
                      </a:r>
                      <a:endParaRPr lang="en-US" altLang="zh-CN" sz="1800" dirty="0"/>
                    </a:p>
                    <a:p>
                      <a:r>
                        <a:rPr lang="zh-CN" altLang="en-US" sz="1800" dirty="0"/>
                        <a:t>内核选择</a:t>
                      </a:r>
                      <a:r>
                        <a:rPr lang="en-US" altLang="zh-CN" sz="1800" dirty="0"/>
                        <a:t>IP</a:t>
                      </a:r>
                      <a:r>
                        <a:rPr lang="zh-CN" altLang="en-US" sz="1800" dirty="0"/>
                        <a:t>地址，进程指定端口</a:t>
                      </a:r>
                      <a:endParaRPr lang="en-US" altLang="zh-CN" sz="1800" dirty="0"/>
                    </a:p>
                    <a:p>
                      <a:r>
                        <a:rPr lang="zh-CN" altLang="en-US" sz="1800" dirty="0"/>
                        <a:t>进程指定</a:t>
                      </a:r>
                      <a:r>
                        <a:rPr lang="en-US" altLang="zh-CN" sz="1800" dirty="0"/>
                        <a:t>IP</a:t>
                      </a:r>
                      <a:r>
                        <a:rPr lang="zh-CN" altLang="en-US" sz="1800" dirty="0"/>
                        <a:t>地址，内核选择端口</a:t>
                      </a:r>
                      <a:endParaRPr lang="en-US" altLang="zh-CN" sz="1800" dirty="0"/>
                    </a:p>
                    <a:p>
                      <a:r>
                        <a:rPr lang="zh-CN" altLang="en-US" sz="1800" dirty="0"/>
                        <a:t>进程指定</a:t>
                      </a:r>
                      <a:r>
                        <a:rPr lang="en-US" altLang="zh-CN" sz="1800" dirty="0"/>
                        <a:t>IP</a:t>
                      </a:r>
                      <a:r>
                        <a:rPr lang="zh-CN" altLang="en-US" sz="1800" dirty="0"/>
                        <a:t>地址和端口号</a:t>
                      </a:r>
                      <a:endParaRPr lang="zh-CN" altLang="en-US" sz="1800" dirty="0"/>
                    </a:p>
                  </a:txBody>
                  <a:tcPr marL="91430" marR="91430" marT="45715" marB="45715"/>
                </a:tc>
              </a:tr>
            </a:tbl>
          </a:graphicData>
        </a:graphic>
      </p:graphicFrame>
    </p:spTree>
  </p:cSld>
  <p:clrMapOvr>
    <a:masterClrMapping/>
  </p:clrMapOvr>
  <p:transition>
    <p:random/>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4" name="Rectangle 2"/>
          <p:cNvSpPr>
            <a:spLocks noGrp="1"/>
          </p:cNvSpPr>
          <p:nvPr>
            <p:ph type="title"/>
          </p:nvPr>
        </p:nvSpPr>
        <p:spPr/>
        <p:txBody>
          <a:bodyPr vert="horz" wrap="square" lIns="91440" tIns="45720" rIns="91440" bIns="45720" anchor="b" anchorCtr="0"/>
          <a:p>
            <a:pPr eaLnBrk="1" hangingPunct="1"/>
            <a:r>
              <a:rPr lang="en-US" altLang="zh-CN" dirty="0"/>
              <a:t>bind</a:t>
            </a:r>
            <a:r>
              <a:rPr lang="zh-CN" altLang="en-US" dirty="0"/>
              <a:t>函数（续）</a:t>
            </a:r>
            <a:endParaRPr lang="zh-CN" altLang="en-US" dirty="0"/>
          </a:p>
        </p:txBody>
      </p:sp>
      <p:sp>
        <p:nvSpPr>
          <p:cNvPr id="100355" name="Rectangle 3"/>
          <p:cNvSpPr>
            <a:spLocks noGrp="1"/>
          </p:cNvSpPr>
          <p:nvPr>
            <p:ph idx="1"/>
          </p:nvPr>
        </p:nvSpPr>
        <p:spPr/>
        <p:txBody>
          <a:bodyPr vert="horz" wrap="square" lIns="91440" tIns="45720" rIns="91440" bIns="45720" anchor="t" anchorCtr="0"/>
          <a:p>
            <a:pPr eaLnBrk="1" hangingPunct="1"/>
            <a:r>
              <a:rPr lang="zh-CN" altLang="en-US" sz="2800" dirty="0"/>
              <a:t>另外，需要注意以下几点：</a:t>
            </a:r>
            <a:endParaRPr lang="zh-CN" altLang="en-US" sz="2800" dirty="0"/>
          </a:p>
          <a:p>
            <a:pPr lvl="1" eaLnBrk="1" hangingPunct="1"/>
            <a:r>
              <a:rPr lang="zh-CN" altLang="en-US" sz="2400" dirty="0"/>
              <a:t>参数</a:t>
            </a:r>
            <a:r>
              <a:rPr lang="en-US" altLang="zh-CN" sz="2400" dirty="0"/>
              <a:t>addr</a:t>
            </a:r>
            <a:r>
              <a:rPr lang="zh-CN" altLang="en-US" sz="2400" dirty="0"/>
              <a:t>中的相关字段在初始化时，必须是网络字节序；</a:t>
            </a:r>
            <a:endParaRPr lang="zh-CN" altLang="en-US" sz="2400" dirty="0"/>
          </a:p>
          <a:p>
            <a:pPr lvl="1" eaLnBrk="1" hangingPunct="1"/>
            <a:r>
              <a:rPr lang="zh-CN" altLang="en-US" sz="2400" dirty="0"/>
              <a:t>如果由内核来选择</a:t>
            </a:r>
            <a:r>
              <a:rPr lang="en-US" altLang="zh-CN" sz="2400" dirty="0"/>
              <a:t>IP</a:t>
            </a:r>
            <a:r>
              <a:rPr lang="zh-CN" altLang="en-US" sz="2400" dirty="0"/>
              <a:t>地址和临时端口号，函数并不返回所选择的值。为了获得这些值，进程必须调用</a:t>
            </a:r>
            <a:r>
              <a:rPr lang="en-US" altLang="zh-CN" sz="2400" dirty="0"/>
              <a:t>getsockname</a:t>
            </a:r>
            <a:r>
              <a:rPr lang="zh-CN" altLang="en-US" sz="2400" dirty="0"/>
              <a:t>函数</a:t>
            </a:r>
            <a:endParaRPr lang="zh-CN" altLang="en-US" sz="2400" dirty="0"/>
          </a:p>
          <a:p>
            <a:pPr lvl="1" eaLnBrk="1" hangingPunct="1">
              <a:buNone/>
            </a:pPr>
            <a:r>
              <a:rPr lang="en-US" altLang="zh-CN" sz="2400" dirty="0"/>
              <a:t>getsockname(int sockfd, </a:t>
            </a:r>
            <a:r>
              <a:rPr lang="en-US" altLang="zh-CN" sz="2000" dirty="0"/>
              <a:t>struct sockaddr *localaddr</a:t>
            </a:r>
            <a:r>
              <a:rPr lang="en-US" altLang="zh-CN" sz="2400" dirty="0"/>
              <a:t>, </a:t>
            </a:r>
            <a:r>
              <a:rPr lang="en-US" altLang="zh-CN" sz="2000" dirty="0"/>
              <a:t>socklen_t *localaddrlen</a:t>
            </a:r>
            <a:r>
              <a:rPr lang="en-US" altLang="zh-CN" sz="2400" dirty="0"/>
              <a:t>); </a:t>
            </a:r>
            <a:endParaRPr lang="en-US" altLang="zh-CN" sz="2400" dirty="0"/>
          </a:p>
          <a:p>
            <a:pPr lvl="1" eaLnBrk="1" hangingPunct="1"/>
            <a:r>
              <a:rPr lang="zh-CN" altLang="en-US" sz="2400" dirty="0"/>
              <a:t>函数</a:t>
            </a:r>
            <a:r>
              <a:rPr lang="en-US" altLang="zh-CN" sz="2400" dirty="0"/>
              <a:t>bind</a:t>
            </a:r>
            <a:r>
              <a:rPr lang="zh-CN" altLang="en-US" sz="2400" dirty="0"/>
              <a:t>返回的一个常见错误是：所绑定的地址已被其它进程使用，此时</a:t>
            </a:r>
            <a:r>
              <a:rPr lang="en-US" altLang="zh-CN" sz="2400" dirty="0"/>
              <a:t>errno</a:t>
            </a:r>
            <a:r>
              <a:rPr lang="zh-CN" altLang="en-US" sz="2400" dirty="0"/>
              <a:t>的值为</a:t>
            </a:r>
            <a:r>
              <a:rPr lang="en-US" altLang="zh-CN" sz="2400" dirty="0"/>
              <a:t>EADDRINUSE</a:t>
            </a:r>
            <a:r>
              <a:rPr lang="zh-CN" altLang="en-US" sz="2400" dirty="0"/>
              <a:t>， 我们可以通过设置套接字选项</a:t>
            </a:r>
            <a:r>
              <a:rPr lang="en-US" altLang="zh-CN" sz="2400" dirty="0"/>
              <a:t>SO_REUSEADDR</a:t>
            </a:r>
            <a:r>
              <a:rPr lang="zh-CN" altLang="en-US" sz="2400" dirty="0"/>
              <a:t>。</a:t>
            </a:r>
            <a:endParaRPr lang="zh-CN" altLang="en-US" sz="2400" dirty="0"/>
          </a:p>
        </p:txBody>
      </p:sp>
    </p:spTree>
  </p:cSld>
  <p:clrMapOvr>
    <a:masterClrMapping/>
  </p:clrMapOvr>
  <p:transition>
    <p:random/>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2" name="标题 1"/>
          <p:cNvSpPr>
            <a:spLocks noGrp="1"/>
          </p:cNvSpPr>
          <p:nvPr>
            <p:ph type="title"/>
          </p:nvPr>
        </p:nvSpPr>
        <p:spPr/>
        <p:txBody>
          <a:bodyPr vert="horz" wrap="square" lIns="91440" tIns="45720" rIns="91440" bIns="45720" anchor="b" anchorCtr="0"/>
          <a:p>
            <a:endParaRPr lang="zh-CN" altLang="en-US" dirty="0"/>
          </a:p>
        </p:txBody>
      </p:sp>
      <p:sp>
        <p:nvSpPr>
          <p:cNvPr id="102403" name="内容占位符 2"/>
          <p:cNvSpPr>
            <a:spLocks noGrp="1"/>
          </p:cNvSpPr>
          <p:nvPr>
            <p:ph idx="1"/>
          </p:nvPr>
        </p:nvSpPr>
        <p:spPr/>
        <p:txBody>
          <a:bodyPr vert="horz" wrap="square" lIns="91440" tIns="45720" rIns="91440" bIns="45720" anchor="t" anchorCtr="0"/>
          <a:p>
            <a:r>
              <a:rPr lang="en-US" altLang="zh-CN" sz="2400" dirty="0"/>
              <a:t>SO_REUSEADDR:</a:t>
            </a:r>
            <a:r>
              <a:rPr lang="zh-CN" altLang="en-US" sz="2400" dirty="0"/>
              <a:t>端口复用</a:t>
            </a:r>
            <a:endParaRPr lang="en-US" altLang="zh-CN" sz="2400" dirty="0"/>
          </a:p>
          <a:p>
            <a:r>
              <a:rPr lang="zh-CN" altLang="en-US" sz="2400" dirty="0"/>
              <a:t>端口复用允许在一个应用程序可以把 </a:t>
            </a:r>
            <a:r>
              <a:rPr lang="en-US" altLang="zh-CN" sz="2400" dirty="0"/>
              <a:t>n </a:t>
            </a:r>
            <a:r>
              <a:rPr lang="zh-CN" altLang="en-US" sz="2400" dirty="0"/>
              <a:t>个套接字绑在一个端口上而不出错。同时，这 </a:t>
            </a:r>
            <a:r>
              <a:rPr lang="en-US" altLang="zh-CN" sz="2400" dirty="0"/>
              <a:t>n </a:t>
            </a:r>
            <a:r>
              <a:rPr lang="zh-CN" altLang="en-US" sz="2400" dirty="0"/>
              <a:t>个套接字发送信息都正常，没有问题。但是，</a:t>
            </a:r>
            <a:r>
              <a:rPr lang="zh-CN" altLang="en-US" sz="2400" b="1" dirty="0"/>
              <a:t>这些套接字并不是所有都能读取信息，只有最后一个套接字会正常接收数据</a:t>
            </a:r>
            <a:r>
              <a:rPr lang="zh-CN" altLang="en-US" sz="2400" dirty="0"/>
              <a:t>。</a:t>
            </a:r>
            <a:endParaRPr lang="zh-CN" altLang="en-US" sz="2400" dirty="0"/>
          </a:p>
          <a:p>
            <a:r>
              <a:rPr lang="zh-CN" altLang="en-US" sz="2400" b="1" dirty="0">
                <a:solidFill>
                  <a:srgbClr val="FF0000"/>
                </a:solidFill>
              </a:rPr>
              <a:t>端口复用最常用的用途是防止服务器重启之前绑定的端口还未释放或者程序突然退出而系统没有释放端口</a:t>
            </a:r>
            <a:r>
              <a:rPr lang="zh-CN" altLang="en-US" sz="2400" dirty="0"/>
              <a:t>。这种情况下如果设定了端口复用，则新启动的服务器进程可以直接绑定端口。如果没有设定端口复用，绑定会失败。</a:t>
            </a:r>
            <a:endParaRPr lang="zh-CN" altLang="en-US" sz="2400" dirty="0"/>
          </a:p>
        </p:txBody>
      </p:sp>
    </p:spTree>
  </p:cSld>
  <p:clrMapOvr>
    <a:masterClrMapping/>
  </p:clrMapOvr>
  <p:transition>
    <p:random/>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Rectangle 2"/>
          <p:cNvSpPr>
            <a:spLocks noGrp="1"/>
          </p:cNvSpPr>
          <p:nvPr>
            <p:ph type="title"/>
          </p:nvPr>
        </p:nvSpPr>
        <p:spPr>
          <a:xfrm>
            <a:off x="762000" y="304800"/>
            <a:ext cx="7913688" cy="762000"/>
          </a:xfrm>
        </p:spPr>
        <p:txBody>
          <a:bodyPr vert="horz" wrap="square" lIns="91440" tIns="45720" rIns="91440" bIns="45720" anchor="b" anchorCtr="0"/>
          <a:p>
            <a:pPr eaLnBrk="1" hangingPunct="1"/>
            <a:r>
              <a:rPr lang="en-US" altLang="zh-CN" b="1" dirty="0"/>
              <a:t>setsockopt</a:t>
            </a:r>
            <a:r>
              <a:rPr lang="zh-CN" altLang="en-US" b="1" dirty="0"/>
              <a:t>函数</a:t>
            </a:r>
            <a:endParaRPr lang="zh-CN" altLang="en-US" b="1" dirty="0"/>
          </a:p>
        </p:txBody>
      </p:sp>
      <p:sp>
        <p:nvSpPr>
          <p:cNvPr id="103427" name="Rectangle 3"/>
          <p:cNvSpPr>
            <a:spLocks noGrp="1"/>
          </p:cNvSpPr>
          <p:nvPr>
            <p:ph idx="1"/>
          </p:nvPr>
        </p:nvSpPr>
        <p:spPr>
          <a:xfrm>
            <a:off x="323850" y="1268413"/>
            <a:ext cx="8540750" cy="5400675"/>
          </a:xfrm>
          <a:solidFill>
            <a:schemeClr val="bg1">
              <a:alpha val="100000"/>
            </a:schemeClr>
          </a:solidFill>
        </p:spPr>
        <p:txBody>
          <a:bodyPr vert="horz" wrap="square" lIns="91440" tIns="45720" rIns="91440" bIns="45720" anchor="t" anchorCtr="0"/>
          <a:p>
            <a:pPr eaLnBrk="1" hangingPunct="1">
              <a:lnSpc>
                <a:spcPct val="90000"/>
              </a:lnSpc>
              <a:buNone/>
            </a:pPr>
            <a:r>
              <a:rPr lang="en-US" altLang="zh-CN" sz="2400" dirty="0"/>
              <a:t>#include &lt;sys/socktet.h&gt;</a:t>
            </a:r>
            <a:endParaRPr lang="en-US" altLang="zh-CN" sz="2400" dirty="0"/>
          </a:p>
          <a:p>
            <a:pPr eaLnBrk="1" hangingPunct="1">
              <a:lnSpc>
                <a:spcPct val="90000"/>
              </a:lnSpc>
              <a:buNone/>
            </a:pPr>
            <a:r>
              <a:rPr lang="en-US" altLang="zh-CN" sz="2400" dirty="0"/>
              <a:t>int setsockopt(int sockfd, int level, int optname, const void *optval, socklen_t optlen);</a:t>
            </a:r>
            <a:endParaRPr lang="en-US" altLang="zh-CN" sz="2400" dirty="0"/>
          </a:p>
          <a:p>
            <a:pPr eaLnBrk="1" hangingPunct="1">
              <a:lnSpc>
                <a:spcPct val="90000"/>
              </a:lnSpc>
              <a:buNone/>
            </a:pPr>
            <a:r>
              <a:rPr lang="en-US" altLang="zh-CN" sz="2400" dirty="0"/>
              <a:t>                                  </a:t>
            </a:r>
            <a:r>
              <a:rPr lang="zh-CN" altLang="en-US" sz="2400" dirty="0"/>
              <a:t>返回：</a:t>
            </a:r>
            <a:r>
              <a:rPr lang="en-US" altLang="zh-CN" sz="2400" dirty="0"/>
              <a:t>0</a:t>
            </a:r>
            <a:r>
              <a:rPr lang="zh-CN" altLang="en-US" sz="2400" dirty="0"/>
              <a:t>－</a:t>
            </a:r>
            <a:r>
              <a:rPr lang="en-US" altLang="zh-CN" sz="2400" dirty="0"/>
              <a:t>OK</a:t>
            </a:r>
            <a:r>
              <a:rPr lang="zh-CN" altLang="en-US" sz="2400" dirty="0"/>
              <a:t>；</a:t>
            </a:r>
            <a:r>
              <a:rPr lang="en-US" altLang="zh-CN" sz="2400" dirty="0"/>
              <a:t>-1</a:t>
            </a:r>
            <a:r>
              <a:rPr lang="zh-CN" altLang="en-US" sz="2400" dirty="0"/>
              <a:t>－出错。</a:t>
            </a:r>
            <a:endParaRPr lang="zh-CN" altLang="en-US" sz="2400" dirty="0"/>
          </a:p>
          <a:p>
            <a:pPr eaLnBrk="1" hangingPunct="1">
              <a:lnSpc>
                <a:spcPct val="150000"/>
              </a:lnSpc>
              <a:buClr>
                <a:schemeClr val="tx1"/>
              </a:buClr>
            </a:pPr>
            <a:r>
              <a:rPr lang="zh-CN" altLang="en-US" sz="2400" dirty="0"/>
              <a:t>此函数设置套接字选项为地址可重用，</a:t>
            </a:r>
            <a:r>
              <a:rPr lang="zh-CN" altLang="en-US" sz="2400" u="sng" dirty="0">
                <a:solidFill>
                  <a:srgbClr val="FF0000"/>
                </a:solidFill>
              </a:rPr>
              <a:t>主要用于调试</a:t>
            </a:r>
            <a:r>
              <a:rPr lang="zh-CN" altLang="en-US" sz="2400" dirty="0"/>
              <a:t>。</a:t>
            </a:r>
            <a:endParaRPr lang="en-US" altLang="zh-CN" sz="2400" dirty="0"/>
          </a:p>
          <a:p>
            <a:pPr eaLnBrk="1" hangingPunct="1">
              <a:lnSpc>
                <a:spcPct val="150000"/>
              </a:lnSpc>
              <a:buClr>
                <a:schemeClr val="tx1"/>
              </a:buClr>
            </a:pPr>
            <a:r>
              <a:rPr lang="zh-CN" altLang="en-US" sz="2400" dirty="0"/>
              <a:t>由于系统默认只允许一个套接字绑定在一个特定的地址上（</a:t>
            </a:r>
            <a:r>
              <a:rPr lang="en-US" altLang="zh-CN" sz="2400" dirty="0"/>
              <a:t>IP</a:t>
            </a:r>
            <a:r>
              <a:rPr lang="zh-CN" altLang="en-US" sz="2400" dirty="0"/>
              <a:t>地址和端口号），并且当该套接字关闭后，系统仍不允许在该地址上绑定其他套接字。</a:t>
            </a:r>
            <a:endParaRPr lang="zh-CN" altLang="en-US" sz="2400" dirty="0"/>
          </a:p>
          <a:p>
            <a:pPr eaLnBrk="1" hangingPunct="1">
              <a:lnSpc>
                <a:spcPct val="90000"/>
              </a:lnSpc>
              <a:buClr>
                <a:schemeClr val="tx1"/>
              </a:buClr>
            </a:pPr>
            <a:endParaRPr lang="en-US" altLang="zh-CN" sz="2400" dirty="0"/>
          </a:p>
        </p:txBody>
      </p:sp>
    </p:spTree>
  </p:cSld>
  <p:clrMapOvr>
    <a:masterClrMapping/>
  </p:clrMapOvr>
  <p:transition spd="slow">
    <p:wipe dir="r"/>
    <p:sndAc>
      <p:endSnd/>
    </p:sndAc>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4" name="Rectangle 2"/>
          <p:cNvSpPr>
            <a:spLocks noGrp="1"/>
          </p:cNvSpPr>
          <p:nvPr>
            <p:ph type="title"/>
          </p:nvPr>
        </p:nvSpPr>
        <p:spPr/>
        <p:txBody>
          <a:bodyPr vert="horz" wrap="square" lIns="91440" tIns="45720" rIns="91440" bIns="45720" anchor="b" anchorCtr="0"/>
          <a:p>
            <a:pPr eaLnBrk="1" hangingPunct="1"/>
            <a:endParaRPr lang="zh-CN" altLang="zh-CN" dirty="0"/>
          </a:p>
        </p:txBody>
      </p:sp>
      <p:sp>
        <p:nvSpPr>
          <p:cNvPr id="105475" name="Rectangle 3"/>
          <p:cNvSpPr>
            <a:spLocks noGrp="1"/>
          </p:cNvSpPr>
          <p:nvPr>
            <p:ph idx="1"/>
          </p:nvPr>
        </p:nvSpPr>
        <p:spPr/>
        <p:txBody>
          <a:bodyPr vert="horz" wrap="square" lIns="91440" tIns="45720" rIns="91440" bIns="45720" anchor="t" anchorCtr="0"/>
          <a:p>
            <a:pPr eaLnBrk="1" hangingPunct="1">
              <a:buClr>
                <a:schemeClr val="tx1"/>
              </a:buClr>
            </a:pPr>
            <a:r>
              <a:rPr lang="en-US" altLang="zh-CN" sz="2800" dirty="0"/>
              <a:t>sockfd</a:t>
            </a:r>
            <a:r>
              <a:rPr lang="zh-CN" altLang="en-US" sz="2800" dirty="0"/>
              <a:t>必须指向一个打开的套接字描述字。</a:t>
            </a:r>
            <a:endParaRPr lang="zh-CN" altLang="en-US" sz="2800" dirty="0"/>
          </a:p>
          <a:p>
            <a:pPr eaLnBrk="1" hangingPunct="1">
              <a:buClr>
                <a:schemeClr val="tx1"/>
              </a:buClr>
            </a:pPr>
            <a:r>
              <a:rPr lang="en-US" altLang="zh-CN" sz="2800" dirty="0"/>
              <a:t>Level</a:t>
            </a:r>
            <a:r>
              <a:rPr lang="zh-CN" altLang="en-US" sz="2800" dirty="0"/>
              <a:t>是选项所在的层及协议，有如下值</a:t>
            </a:r>
            <a:r>
              <a:rPr lang="en-US" altLang="zh-CN" sz="2800" dirty="0"/>
              <a:t>:</a:t>
            </a:r>
            <a:endParaRPr lang="en-US" altLang="zh-CN" sz="2800" dirty="0"/>
          </a:p>
          <a:p>
            <a:pPr eaLnBrk="1" hangingPunct="1">
              <a:buClr>
                <a:schemeClr val="tx1"/>
              </a:buClr>
              <a:buNone/>
            </a:pPr>
            <a:r>
              <a:rPr lang="en-US" altLang="zh-CN" sz="2800" dirty="0"/>
              <a:t>    </a:t>
            </a:r>
            <a:r>
              <a:rPr lang="en-US" altLang="zh-CN" sz="2800" dirty="0">
                <a:solidFill>
                  <a:srgbClr val="FF0000"/>
                </a:solidFill>
              </a:rPr>
              <a:t>SOL_SOCKET</a:t>
            </a:r>
            <a:r>
              <a:rPr lang="en-US" altLang="zh-CN" sz="2800" dirty="0"/>
              <a:t> (</a:t>
            </a:r>
            <a:r>
              <a:rPr lang="zh-CN" altLang="en-US" sz="2800" dirty="0"/>
              <a:t>通用套接字 </a:t>
            </a:r>
            <a:r>
              <a:rPr lang="en-US" altLang="zh-CN" sz="2800" dirty="0"/>
              <a:t>)</a:t>
            </a:r>
            <a:endParaRPr lang="en-US" altLang="zh-CN" sz="2800" dirty="0"/>
          </a:p>
          <a:p>
            <a:pPr eaLnBrk="1" hangingPunct="1">
              <a:buClr>
                <a:schemeClr val="tx1"/>
              </a:buClr>
              <a:buNone/>
            </a:pPr>
            <a:r>
              <a:rPr lang="en-US" altLang="zh-CN" sz="2800" dirty="0"/>
              <a:t>    IPPROTO_TCP(</a:t>
            </a:r>
            <a:r>
              <a:rPr lang="zh-CN" altLang="en-US" sz="2800" dirty="0"/>
              <a:t>传输层，</a:t>
            </a:r>
            <a:r>
              <a:rPr lang="en-US" altLang="zh-CN" sz="2800" dirty="0"/>
              <a:t>TCP</a:t>
            </a:r>
            <a:r>
              <a:rPr lang="zh-CN" altLang="en-US" sz="2800" dirty="0"/>
              <a:t>协议</a:t>
            </a:r>
            <a:r>
              <a:rPr lang="en-US" altLang="zh-CN" sz="2800" dirty="0"/>
              <a:t>)</a:t>
            </a:r>
            <a:endParaRPr lang="en-US" altLang="zh-CN" sz="2800" dirty="0"/>
          </a:p>
          <a:p>
            <a:pPr eaLnBrk="1" hangingPunct="1">
              <a:buClr>
                <a:schemeClr val="tx1"/>
              </a:buClr>
              <a:buNone/>
            </a:pPr>
            <a:r>
              <a:rPr lang="en-US" altLang="zh-CN" sz="2800" dirty="0"/>
              <a:t>    IPPROTO_IP(</a:t>
            </a:r>
            <a:r>
              <a:rPr lang="zh-CN" altLang="en-US" sz="2800" dirty="0"/>
              <a:t>网际层，</a:t>
            </a:r>
            <a:r>
              <a:rPr lang="en-US" altLang="zh-CN" sz="2800" dirty="0"/>
              <a:t>IP</a:t>
            </a:r>
            <a:r>
              <a:rPr lang="zh-CN" altLang="en-US" sz="2800" dirty="0"/>
              <a:t>协议</a:t>
            </a:r>
            <a:r>
              <a:rPr lang="en-US" altLang="zh-CN" sz="2800" dirty="0"/>
              <a:t>)</a:t>
            </a:r>
            <a:endParaRPr lang="en-US" altLang="zh-CN" sz="2800" dirty="0"/>
          </a:p>
          <a:p>
            <a:pPr eaLnBrk="1" hangingPunct="1">
              <a:buClr>
                <a:schemeClr val="tx1"/>
              </a:buClr>
            </a:pPr>
            <a:r>
              <a:rPr lang="en-US" altLang="zh-CN" sz="2800" dirty="0"/>
              <a:t>Optname</a:t>
            </a:r>
            <a:r>
              <a:rPr lang="zh-CN" altLang="en-US" sz="2800" dirty="0"/>
              <a:t>是所要操作的选项名。</a:t>
            </a:r>
            <a:r>
              <a:rPr lang="en-US" altLang="zh-CN" sz="2800" dirty="0"/>
              <a:t>(SO_</a:t>
            </a:r>
            <a:r>
              <a:rPr lang="zh-CN" altLang="en-US" sz="2800" dirty="0"/>
              <a:t>、</a:t>
            </a:r>
            <a:r>
              <a:rPr lang="en-US" altLang="zh-CN" sz="2800" dirty="0"/>
              <a:t>IP_</a:t>
            </a:r>
            <a:r>
              <a:rPr lang="zh-CN" altLang="en-US" sz="2800" dirty="0"/>
              <a:t>、</a:t>
            </a:r>
            <a:r>
              <a:rPr lang="en-US" altLang="zh-CN" sz="2800" dirty="0"/>
              <a:t>TCP_</a:t>
            </a:r>
            <a:r>
              <a:rPr lang="zh-CN" altLang="en-US" sz="2800" dirty="0"/>
              <a:t>是选项名的前缀，不同的</a:t>
            </a:r>
            <a:r>
              <a:rPr lang="en-US" altLang="zh-CN" sz="2800" dirty="0"/>
              <a:t>level</a:t>
            </a:r>
            <a:r>
              <a:rPr lang="zh-CN" altLang="en-US" sz="2800" dirty="0"/>
              <a:t>有不同的前缀。</a:t>
            </a:r>
            <a:r>
              <a:rPr lang="en-US" altLang="zh-CN" sz="2800" dirty="0"/>
              <a:t>)</a:t>
            </a:r>
            <a:endParaRPr lang="en-US" altLang="zh-CN" sz="2800" dirty="0"/>
          </a:p>
          <a:p>
            <a:pPr eaLnBrk="1" hangingPunct="1">
              <a:buClr>
                <a:schemeClr val="tx1"/>
              </a:buClr>
            </a:pPr>
            <a:r>
              <a:rPr lang="en-US" altLang="zh-CN" sz="2800" dirty="0"/>
              <a:t>optval</a:t>
            </a:r>
            <a:r>
              <a:rPr lang="zh-CN" altLang="en-US" sz="2800" dirty="0"/>
              <a:t>是一个指向变量的指针，通过它设置选项的新值，此变量的大小由最后一个参数指定。</a:t>
            </a:r>
            <a:endParaRPr lang="zh-CN" altLang="en-US" sz="2800" dirty="0"/>
          </a:p>
        </p:txBody>
      </p:sp>
    </p:spTree>
  </p:cSld>
  <p:clrMapOvr>
    <a:masterClrMapping/>
  </p:clrMapOvr>
  <p:transition>
    <p:random/>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2" name="Rectangle 2"/>
          <p:cNvSpPr>
            <a:spLocks noGrp="1"/>
          </p:cNvSpPr>
          <p:nvPr>
            <p:ph type="title"/>
          </p:nvPr>
        </p:nvSpPr>
        <p:spPr/>
        <p:txBody>
          <a:bodyPr vert="horz" wrap="square" lIns="91440" tIns="45720" rIns="91440" bIns="45720" anchor="b" anchorCtr="0"/>
          <a:p>
            <a:pPr eaLnBrk="1" hangingPunct="1"/>
            <a:r>
              <a:rPr lang="en-US" altLang="zh-CN" dirty="0"/>
              <a:t>bind</a:t>
            </a:r>
            <a:r>
              <a:rPr lang="zh-CN" altLang="en-US" dirty="0"/>
              <a:t>函数的用法</a:t>
            </a:r>
            <a:endParaRPr lang="zh-CN" altLang="en-US" dirty="0"/>
          </a:p>
        </p:txBody>
      </p:sp>
      <p:sp>
        <p:nvSpPr>
          <p:cNvPr id="107523" name="Rectangle 3"/>
          <p:cNvSpPr>
            <a:spLocks noGrp="1"/>
          </p:cNvSpPr>
          <p:nvPr>
            <p:ph idx="1"/>
          </p:nvPr>
        </p:nvSpPr>
        <p:spPr/>
        <p:txBody>
          <a:bodyPr vert="horz" wrap="square" lIns="91440" tIns="45720" rIns="91440" bIns="45720" anchor="t" anchorCtr="0"/>
          <a:p>
            <a:pPr eaLnBrk="1" hangingPunct="1">
              <a:lnSpc>
                <a:spcPct val="80000"/>
              </a:lnSpc>
              <a:buNone/>
            </a:pPr>
            <a:r>
              <a:rPr lang="en-US" altLang="zh-CN" sz="2000" dirty="0"/>
              <a:t>	</a:t>
            </a:r>
            <a:r>
              <a:rPr lang="en-US" altLang="zh-CN" sz="2000" dirty="0">
                <a:latin typeface="Arial" panose="020B0604020202020204" pitchFamily="34" charset="0"/>
              </a:rPr>
              <a:t>…</a:t>
            </a:r>
            <a:endParaRPr lang="en-US" altLang="zh-CN" sz="2000" dirty="0"/>
          </a:p>
          <a:p>
            <a:pPr eaLnBrk="1" hangingPunct="1">
              <a:lnSpc>
                <a:spcPct val="80000"/>
              </a:lnSpc>
              <a:buNone/>
            </a:pPr>
            <a:r>
              <a:rPr lang="en-US" altLang="zh-CN" sz="2000" dirty="0"/>
              <a:t>	struct sockaddr_in addr;</a:t>
            </a:r>
            <a:endParaRPr lang="en-US" altLang="zh-CN" sz="2000" dirty="0"/>
          </a:p>
          <a:p>
            <a:pPr eaLnBrk="1" hangingPunct="1">
              <a:lnSpc>
                <a:spcPct val="80000"/>
              </a:lnSpc>
              <a:buNone/>
            </a:pPr>
            <a:r>
              <a:rPr lang="en-US" altLang="zh-CN" sz="2000" dirty="0"/>
              <a:t>	int port = 1234;</a:t>
            </a:r>
            <a:endParaRPr lang="en-US" altLang="zh-CN" sz="2000" dirty="0"/>
          </a:p>
          <a:p>
            <a:pPr eaLnBrk="1" hangingPunct="1">
              <a:lnSpc>
                <a:spcPct val="80000"/>
              </a:lnSpc>
              <a:buNone/>
            </a:pPr>
            <a:r>
              <a:rPr lang="en-US" altLang="zh-CN" sz="2000" dirty="0"/>
              <a:t>	</a:t>
            </a:r>
            <a:r>
              <a:rPr lang="en-US" altLang="zh-CN" sz="2000" b="1" dirty="0">
                <a:solidFill>
                  <a:srgbClr val="FF0000"/>
                </a:solidFill>
              </a:rPr>
              <a:t>int opt = 1;</a:t>
            </a:r>
            <a:endParaRPr lang="en-US" altLang="zh-CN" sz="2000" b="1" dirty="0">
              <a:solidFill>
                <a:srgbClr val="FF0000"/>
              </a:solidFill>
            </a:endParaRPr>
          </a:p>
          <a:p>
            <a:pPr eaLnBrk="1" hangingPunct="1">
              <a:lnSpc>
                <a:spcPct val="80000"/>
              </a:lnSpc>
              <a:buNone/>
            </a:pPr>
            <a:r>
              <a:rPr lang="en-US" altLang="zh-CN" sz="2000" b="1" dirty="0">
                <a:solidFill>
                  <a:srgbClr val="FF0000"/>
                </a:solidFill>
              </a:rPr>
              <a:t>	setsockopt(fd, SOL_SOCKET, SO_REUSEADDR, &amp;opt, sizeof(opt));</a:t>
            </a:r>
            <a:endParaRPr lang="en-US" altLang="zh-CN" sz="2000" b="1" dirty="0">
              <a:solidFill>
                <a:srgbClr val="FF0000"/>
              </a:solidFill>
            </a:endParaRPr>
          </a:p>
          <a:p>
            <a:pPr eaLnBrk="1" hangingPunct="1">
              <a:lnSpc>
                <a:spcPct val="80000"/>
              </a:lnSpc>
              <a:buNone/>
            </a:pPr>
            <a:r>
              <a:rPr lang="en-US" altLang="zh-CN" sz="2000" dirty="0"/>
              <a:t>    bzero(&amp;addr,sizeof(addr));</a:t>
            </a:r>
            <a:endParaRPr lang="en-US" altLang="zh-CN" sz="2000" dirty="0"/>
          </a:p>
          <a:p>
            <a:pPr eaLnBrk="1" hangingPunct="1">
              <a:lnSpc>
                <a:spcPct val="80000"/>
              </a:lnSpc>
              <a:buNone/>
            </a:pPr>
            <a:r>
              <a:rPr lang="en-US" altLang="zh-CN" sz="2000" dirty="0"/>
              <a:t>	addr.sin_family = AF_INET;</a:t>
            </a:r>
            <a:endParaRPr lang="en-US" altLang="zh-CN" sz="2000" dirty="0"/>
          </a:p>
          <a:p>
            <a:pPr eaLnBrk="1" hangingPunct="1">
              <a:lnSpc>
                <a:spcPct val="80000"/>
              </a:lnSpc>
              <a:buNone/>
            </a:pPr>
            <a:r>
              <a:rPr lang="en-US" altLang="zh-CN" sz="2000" dirty="0"/>
              <a:t>	addr.sin_addr.s_addr = htonl(INADDR_ANY);</a:t>
            </a:r>
            <a:endParaRPr lang="en-US" altLang="zh-CN" sz="2000" dirty="0"/>
          </a:p>
          <a:p>
            <a:pPr eaLnBrk="1" hangingPunct="1">
              <a:lnSpc>
                <a:spcPct val="80000"/>
              </a:lnSpc>
              <a:buNone/>
            </a:pPr>
            <a:r>
              <a:rPr lang="en-US" altLang="zh-CN" sz="2000" dirty="0"/>
              <a:t>	addr.sin_port = htons(port);</a:t>
            </a:r>
            <a:endParaRPr lang="en-US" altLang="zh-CN" sz="2000" dirty="0"/>
          </a:p>
          <a:p>
            <a:pPr eaLnBrk="1" hangingPunct="1">
              <a:lnSpc>
                <a:spcPct val="80000"/>
              </a:lnSpc>
              <a:buNone/>
            </a:pPr>
            <a:endParaRPr lang="en-US" altLang="zh-CN" sz="2000" dirty="0"/>
          </a:p>
          <a:p>
            <a:pPr eaLnBrk="1" hangingPunct="1">
              <a:lnSpc>
                <a:spcPct val="80000"/>
              </a:lnSpc>
              <a:buNone/>
            </a:pPr>
            <a:r>
              <a:rPr lang="en-US" altLang="zh-CN" sz="2000" dirty="0"/>
              <a:t>	</a:t>
            </a:r>
            <a:r>
              <a:rPr lang="en-US" altLang="zh-CN" sz="2000" b="1" dirty="0">
                <a:solidFill>
                  <a:srgbClr val="0070C0"/>
                </a:solidFill>
              </a:rPr>
              <a:t>if (bind(fd, (struct sockaddr *)&amp;addr, sizeof(addr)) == -1)</a:t>
            </a:r>
            <a:endParaRPr lang="en-US" altLang="zh-CN" sz="2000" b="1" dirty="0">
              <a:solidFill>
                <a:srgbClr val="0070C0"/>
              </a:solidFill>
            </a:endParaRPr>
          </a:p>
          <a:p>
            <a:pPr eaLnBrk="1" hangingPunct="1">
              <a:lnSpc>
                <a:spcPct val="80000"/>
              </a:lnSpc>
              <a:buNone/>
            </a:pPr>
            <a:r>
              <a:rPr lang="en-US" altLang="zh-CN" sz="2000" dirty="0"/>
              <a:t>	{</a:t>
            </a:r>
            <a:endParaRPr lang="en-US" altLang="zh-CN" sz="2000" dirty="0"/>
          </a:p>
          <a:p>
            <a:pPr eaLnBrk="1" hangingPunct="1">
              <a:lnSpc>
                <a:spcPct val="80000"/>
              </a:lnSpc>
              <a:buNone/>
            </a:pPr>
            <a:r>
              <a:rPr lang="en-US" altLang="zh-CN" sz="2000" dirty="0"/>
              <a:t>		/* </a:t>
            </a:r>
            <a:r>
              <a:rPr lang="zh-CN" altLang="en-US" sz="2000" dirty="0"/>
              <a:t>错误处理 *</a:t>
            </a:r>
            <a:r>
              <a:rPr lang="en-US" altLang="zh-CN" sz="2000" dirty="0"/>
              <a:t>/</a:t>
            </a:r>
            <a:endParaRPr lang="en-US" altLang="zh-CN" sz="2000" dirty="0"/>
          </a:p>
          <a:p>
            <a:pPr eaLnBrk="1" hangingPunct="1">
              <a:lnSpc>
                <a:spcPct val="80000"/>
              </a:lnSpc>
              <a:buNone/>
            </a:pPr>
            <a:r>
              <a:rPr lang="en-US" altLang="zh-CN" sz="2000" dirty="0"/>
              <a:t>	}</a:t>
            </a:r>
            <a:endParaRPr lang="en-US" altLang="zh-CN" sz="2000" dirty="0"/>
          </a:p>
          <a:p>
            <a:pPr eaLnBrk="1" hangingPunct="1">
              <a:lnSpc>
                <a:spcPct val="80000"/>
              </a:lnSpc>
              <a:buNone/>
            </a:pPr>
            <a:endParaRPr lang="en-US" altLang="zh-CN" sz="2000" dirty="0"/>
          </a:p>
        </p:txBody>
      </p:sp>
    </p:spTree>
  </p:cSld>
  <p:clrMapOvr>
    <a:masterClrMapping/>
  </p:clrMapOvr>
  <p:transition>
    <p:random/>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9570" name="Rectangle 2"/>
          <p:cNvSpPr/>
          <p:nvPr/>
        </p:nvSpPr>
        <p:spPr>
          <a:xfrm>
            <a:off x="900113" y="1412875"/>
            <a:ext cx="2879725" cy="4968875"/>
          </a:xfrm>
          <a:prstGeom prst="rect">
            <a:avLst/>
          </a:prstGeom>
          <a:noFill/>
          <a:ln w="9525" cap="flat" cmpd="sng">
            <a:solidFill>
              <a:schemeClr val="tx1"/>
            </a:solidFill>
            <a:prstDash val="dash"/>
            <a:miter/>
            <a:headEnd type="none" w="med" len="med"/>
            <a:tailEnd type="none" w="med" len="med"/>
          </a:ln>
        </p:spPr>
        <p:txBody>
          <a:bodyPr wrap="none" anchor="ctr" anchorCtr="0"/>
          <a:p>
            <a:pPr eaLnBrk="1" hangingPunct="1"/>
            <a:endParaRPr lang="zh-CN" altLang="en-US" dirty="0">
              <a:latin typeface="Tahoma" panose="020B0604030504040204" pitchFamily="34" charset="0"/>
            </a:endParaRPr>
          </a:p>
        </p:txBody>
      </p:sp>
      <p:sp>
        <p:nvSpPr>
          <p:cNvPr id="109571" name="Rectangle 3"/>
          <p:cNvSpPr>
            <a:spLocks noGrp="1"/>
          </p:cNvSpPr>
          <p:nvPr>
            <p:ph type="title"/>
          </p:nvPr>
        </p:nvSpPr>
        <p:spPr>
          <a:xfrm>
            <a:off x="228600" y="228600"/>
            <a:ext cx="7467600" cy="762000"/>
          </a:xfrm>
        </p:spPr>
        <p:txBody>
          <a:bodyPr vert="horz" wrap="square" lIns="91440" tIns="45720" rIns="91440" bIns="45720" anchor="b" anchorCtr="0"/>
          <a:p>
            <a:pPr eaLnBrk="1" hangingPunct="1"/>
            <a:r>
              <a:rPr lang="en-US" altLang="zh-CN" dirty="0"/>
              <a:t>TCP</a:t>
            </a:r>
            <a:r>
              <a:rPr lang="zh-CN" altLang="en-US" dirty="0"/>
              <a:t>套接字编程（</a:t>
            </a:r>
            <a:r>
              <a:rPr lang="en-US" altLang="zh-CN" dirty="0"/>
              <a:t>cont.</a:t>
            </a:r>
            <a:r>
              <a:rPr lang="zh-CN" altLang="en-US" dirty="0"/>
              <a:t>）</a:t>
            </a:r>
            <a:endParaRPr lang="zh-CN" altLang="en-US" dirty="0"/>
          </a:p>
        </p:txBody>
      </p:sp>
      <p:sp>
        <p:nvSpPr>
          <p:cNvPr id="109572" name="AutoShape 4"/>
          <p:cNvSpPr/>
          <p:nvPr/>
        </p:nvSpPr>
        <p:spPr>
          <a:xfrm>
            <a:off x="1476375" y="1628775"/>
            <a:ext cx="1655763" cy="360363"/>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socket()</a:t>
            </a:r>
            <a:endParaRPr lang="en-US" altLang="zh-CN" sz="2000" b="0" dirty="0">
              <a:latin typeface="Comic Sans MS" panose="030F0702030302020204" pitchFamily="66" charset="0"/>
            </a:endParaRPr>
          </a:p>
        </p:txBody>
      </p:sp>
      <p:sp>
        <p:nvSpPr>
          <p:cNvPr id="109573" name="AutoShape 5"/>
          <p:cNvSpPr/>
          <p:nvPr/>
        </p:nvSpPr>
        <p:spPr>
          <a:xfrm>
            <a:off x="1476375" y="2205038"/>
            <a:ext cx="1655763" cy="360362"/>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bind()</a:t>
            </a:r>
            <a:endParaRPr lang="en-US" altLang="zh-CN" sz="2000" b="0" dirty="0">
              <a:latin typeface="Comic Sans MS" panose="030F0702030302020204" pitchFamily="66" charset="0"/>
            </a:endParaRPr>
          </a:p>
        </p:txBody>
      </p:sp>
      <p:sp>
        <p:nvSpPr>
          <p:cNvPr id="109574" name="AutoShape 6"/>
          <p:cNvSpPr/>
          <p:nvPr/>
        </p:nvSpPr>
        <p:spPr>
          <a:xfrm>
            <a:off x="1476375" y="2781300"/>
            <a:ext cx="1655763" cy="360363"/>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listen()</a:t>
            </a:r>
            <a:endParaRPr lang="en-US" altLang="zh-CN" sz="2000" b="0" dirty="0">
              <a:latin typeface="Comic Sans MS" panose="030F0702030302020204" pitchFamily="66" charset="0"/>
            </a:endParaRPr>
          </a:p>
        </p:txBody>
      </p:sp>
      <p:sp>
        <p:nvSpPr>
          <p:cNvPr id="109575" name="AutoShape 7"/>
          <p:cNvSpPr/>
          <p:nvPr/>
        </p:nvSpPr>
        <p:spPr>
          <a:xfrm>
            <a:off x="1476375" y="3357563"/>
            <a:ext cx="1655763" cy="360362"/>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accept()</a:t>
            </a:r>
            <a:endParaRPr lang="en-US" altLang="zh-CN" sz="2000" b="0" dirty="0">
              <a:latin typeface="Comic Sans MS" panose="030F0702030302020204" pitchFamily="66" charset="0"/>
            </a:endParaRPr>
          </a:p>
        </p:txBody>
      </p:sp>
      <p:sp>
        <p:nvSpPr>
          <p:cNvPr id="109576" name="AutoShape 8"/>
          <p:cNvSpPr/>
          <p:nvPr/>
        </p:nvSpPr>
        <p:spPr>
          <a:xfrm>
            <a:off x="1476375" y="4652963"/>
            <a:ext cx="1655763" cy="360362"/>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read()</a:t>
            </a:r>
            <a:endParaRPr lang="en-US" altLang="zh-CN" sz="2000" b="0" dirty="0">
              <a:latin typeface="Comic Sans MS" panose="030F0702030302020204" pitchFamily="66" charset="0"/>
            </a:endParaRPr>
          </a:p>
        </p:txBody>
      </p:sp>
      <p:sp>
        <p:nvSpPr>
          <p:cNvPr id="109577" name="AutoShape 9"/>
          <p:cNvSpPr/>
          <p:nvPr/>
        </p:nvSpPr>
        <p:spPr>
          <a:xfrm>
            <a:off x="1476375" y="5229225"/>
            <a:ext cx="1655763" cy="360363"/>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write()</a:t>
            </a:r>
            <a:endParaRPr lang="en-US" altLang="zh-CN" sz="2000" b="0" dirty="0">
              <a:latin typeface="Comic Sans MS" panose="030F0702030302020204" pitchFamily="66" charset="0"/>
            </a:endParaRPr>
          </a:p>
        </p:txBody>
      </p:sp>
      <p:sp>
        <p:nvSpPr>
          <p:cNvPr id="109578" name="AutoShape 10"/>
          <p:cNvSpPr/>
          <p:nvPr/>
        </p:nvSpPr>
        <p:spPr>
          <a:xfrm>
            <a:off x="1476375" y="5805488"/>
            <a:ext cx="1655763" cy="360362"/>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close()</a:t>
            </a:r>
            <a:endParaRPr lang="en-US" altLang="zh-CN" sz="2000" b="0" dirty="0">
              <a:latin typeface="Comic Sans MS" panose="030F0702030302020204" pitchFamily="66" charset="0"/>
            </a:endParaRPr>
          </a:p>
        </p:txBody>
      </p:sp>
      <p:sp>
        <p:nvSpPr>
          <p:cNvPr id="109579" name="Line 11"/>
          <p:cNvSpPr/>
          <p:nvPr/>
        </p:nvSpPr>
        <p:spPr>
          <a:xfrm>
            <a:off x="2268538" y="1268413"/>
            <a:ext cx="0" cy="360362"/>
          </a:xfrm>
          <a:prstGeom prst="line">
            <a:avLst/>
          </a:prstGeom>
          <a:ln w="9525" cap="flat" cmpd="sng">
            <a:solidFill>
              <a:schemeClr val="hlink"/>
            </a:solidFill>
            <a:prstDash val="solid"/>
            <a:headEnd type="none" w="med" len="med"/>
            <a:tailEnd type="triangle" w="med" len="med"/>
          </a:ln>
        </p:spPr>
      </p:sp>
      <p:sp>
        <p:nvSpPr>
          <p:cNvPr id="109580" name="Line 12"/>
          <p:cNvSpPr/>
          <p:nvPr/>
        </p:nvSpPr>
        <p:spPr>
          <a:xfrm>
            <a:off x="2268538" y="1989138"/>
            <a:ext cx="0" cy="215900"/>
          </a:xfrm>
          <a:prstGeom prst="line">
            <a:avLst/>
          </a:prstGeom>
          <a:ln w="9525" cap="flat" cmpd="sng">
            <a:solidFill>
              <a:schemeClr val="hlink"/>
            </a:solidFill>
            <a:prstDash val="solid"/>
            <a:headEnd type="none" w="med" len="med"/>
            <a:tailEnd type="triangle" w="med" len="med"/>
          </a:ln>
        </p:spPr>
      </p:sp>
      <p:sp>
        <p:nvSpPr>
          <p:cNvPr id="109581" name="Line 13"/>
          <p:cNvSpPr/>
          <p:nvPr/>
        </p:nvSpPr>
        <p:spPr>
          <a:xfrm>
            <a:off x="2268538" y="2565400"/>
            <a:ext cx="0" cy="215900"/>
          </a:xfrm>
          <a:prstGeom prst="line">
            <a:avLst/>
          </a:prstGeom>
          <a:ln w="9525" cap="flat" cmpd="sng">
            <a:solidFill>
              <a:schemeClr val="hlink"/>
            </a:solidFill>
            <a:prstDash val="solid"/>
            <a:headEnd type="none" w="med" len="med"/>
            <a:tailEnd type="triangle" w="med" len="med"/>
          </a:ln>
        </p:spPr>
      </p:sp>
      <p:sp>
        <p:nvSpPr>
          <p:cNvPr id="109582" name="Line 14"/>
          <p:cNvSpPr/>
          <p:nvPr/>
        </p:nvSpPr>
        <p:spPr>
          <a:xfrm>
            <a:off x="2268538" y="3141663"/>
            <a:ext cx="0" cy="215900"/>
          </a:xfrm>
          <a:prstGeom prst="line">
            <a:avLst/>
          </a:prstGeom>
          <a:ln w="9525" cap="flat" cmpd="sng">
            <a:solidFill>
              <a:schemeClr val="hlink"/>
            </a:solidFill>
            <a:prstDash val="solid"/>
            <a:headEnd type="none" w="med" len="med"/>
            <a:tailEnd type="triangle" w="med" len="med"/>
          </a:ln>
        </p:spPr>
      </p:sp>
      <p:sp>
        <p:nvSpPr>
          <p:cNvPr id="109583" name="Line 15"/>
          <p:cNvSpPr/>
          <p:nvPr/>
        </p:nvSpPr>
        <p:spPr>
          <a:xfrm>
            <a:off x="2268538" y="3716338"/>
            <a:ext cx="0" cy="936625"/>
          </a:xfrm>
          <a:prstGeom prst="line">
            <a:avLst/>
          </a:prstGeom>
          <a:ln w="9525" cap="flat" cmpd="sng">
            <a:solidFill>
              <a:schemeClr val="hlink"/>
            </a:solidFill>
            <a:prstDash val="dash"/>
            <a:headEnd type="none" w="med" len="med"/>
            <a:tailEnd type="triangle" w="med" len="med"/>
          </a:ln>
        </p:spPr>
      </p:sp>
      <p:sp>
        <p:nvSpPr>
          <p:cNvPr id="109584" name="Line 16"/>
          <p:cNvSpPr/>
          <p:nvPr/>
        </p:nvSpPr>
        <p:spPr>
          <a:xfrm>
            <a:off x="2268538" y="5013325"/>
            <a:ext cx="0" cy="215900"/>
          </a:xfrm>
          <a:prstGeom prst="line">
            <a:avLst/>
          </a:prstGeom>
          <a:ln w="9525" cap="flat" cmpd="sng">
            <a:solidFill>
              <a:schemeClr val="hlink"/>
            </a:solidFill>
            <a:prstDash val="solid"/>
            <a:headEnd type="none" w="med" len="med"/>
            <a:tailEnd type="triangle" w="med" len="med"/>
          </a:ln>
        </p:spPr>
      </p:sp>
      <p:sp>
        <p:nvSpPr>
          <p:cNvPr id="109585" name="Line 17"/>
          <p:cNvSpPr/>
          <p:nvPr/>
        </p:nvSpPr>
        <p:spPr>
          <a:xfrm>
            <a:off x="2268538" y="5589588"/>
            <a:ext cx="0" cy="215900"/>
          </a:xfrm>
          <a:prstGeom prst="line">
            <a:avLst/>
          </a:prstGeom>
          <a:ln w="9525" cap="flat" cmpd="sng">
            <a:solidFill>
              <a:schemeClr val="hlink"/>
            </a:solidFill>
            <a:prstDash val="solid"/>
            <a:headEnd type="none" w="med" len="med"/>
            <a:tailEnd type="triangle" w="med" len="med"/>
          </a:ln>
        </p:spPr>
      </p:sp>
      <p:sp>
        <p:nvSpPr>
          <p:cNvPr id="109586" name="Line 18"/>
          <p:cNvSpPr/>
          <p:nvPr/>
        </p:nvSpPr>
        <p:spPr>
          <a:xfrm flipH="1">
            <a:off x="1187450" y="5661025"/>
            <a:ext cx="1081088" cy="0"/>
          </a:xfrm>
          <a:prstGeom prst="line">
            <a:avLst/>
          </a:prstGeom>
          <a:ln w="9525" cap="flat" cmpd="sng">
            <a:solidFill>
              <a:schemeClr val="tx1"/>
            </a:solidFill>
            <a:prstDash val="solid"/>
            <a:headEnd type="none" w="med" len="med"/>
            <a:tailEnd type="none" w="med" len="med"/>
          </a:ln>
        </p:spPr>
      </p:sp>
      <p:sp>
        <p:nvSpPr>
          <p:cNvPr id="109587" name="Line 19"/>
          <p:cNvSpPr/>
          <p:nvPr/>
        </p:nvSpPr>
        <p:spPr>
          <a:xfrm flipV="1">
            <a:off x="1187450" y="4437063"/>
            <a:ext cx="0" cy="1223962"/>
          </a:xfrm>
          <a:prstGeom prst="line">
            <a:avLst/>
          </a:prstGeom>
          <a:ln w="9525" cap="flat" cmpd="sng">
            <a:solidFill>
              <a:schemeClr val="tx1"/>
            </a:solidFill>
            <a:prstDash val="solid"/>
            <a:headEnd type="none" w="med" len="med"/>
            <a:tailEnd type="none" w="med" len="med"/>
          </a:ln>
        </p:spPr>
      </p:sp>
      <p:sp>
        <p:nvSpPr>
          <p:cNvPr id="109588" name="Line 20"/>
          <p:cNvSpPr/>
          <p:nvPr/>
        </p:nvSpPr>
        <p:spPr>
          <a:xfrm>
            <a:off x="1187450" y="4437063"/>
            <a:ext cx="1081088" cy="0"/>
          </a:xfrm>
          <a:prstGeom prst="line">
            <a:avLst/>
          </a:prstGeom>
          <a:ln w="9525" cap="flat" cmpd="sng">
            <a:solidFill>
              <a:schemeClr val="tx1"/>
            </a:solidFill>
            <a:prstDash val="solid"/>
            <a:headEnd type="none" w="med" len="med"/>
            <a:tailEnd type="triangle" w="med" len="med"/>
          </a:ln>
        </p:spPr>
      </p:sp>
      <p:sp>
        <p:nvSpPr>
          <p:cNvPr id="109589" name="AutoShape 21"/>
          <p:cNvSpPr/>
          <p:nvPr/>
        </p:nvSpPr>
        <p:spPr>
          <a:xfrm>
            <a:off x="5724525" y="3500438"/>
            <a:ext cx="1655763" cy="360362"/>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socket()</a:t>
            </a:r>
            <a:endParaRPr lang="en-US" altLang="zh-CN" sz="2000" b="0" dirty="0">
              <a:latin typeface="Comic Sans MS" panose="030F0702030302020204" pitchFamily="66" charset="0"/>
            </a:endParaRPr>
          </a:p>
        </p:txBody>
      </p:sp>
      <p:sp>
        <p:nvSpPr>
          <p:cNvPr id="109590" name="AutoShape 22"/>
          <p:cNvSpPr/>
          <p:nvPr/>
        </p:nvSpPr>
        <p:spPr>
          <a:xfrm>
            <a:off x="5724525" y="4076700"/>
            <a:ext cx="1655763" cy="360363"/>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connect()</a:t>
            </a:r>
            <a:endParaRPr lang="en-US" altLang="zh-CN" sz="2000" b="0" dirty="0">
              <a:latin typeface="Comic Sans MS" panose="030F0702030302020204" pitchFamily="66" charset="0"/>
            </a:endParaRPr>
          </a:p>
        </p:txBody>
      </p:sp>
      <p:sp>
        <p:nvSpPr>
          <p:cNvPr id="109591" name="AutoShape 23"/>
          <p:cNvSpPr/>
          <p:nvPr/>
        </p:nvSpPr>
        <p:spPr>
          <a:xfrm>
            <a:off x="5724525" y="4652963"/>
            <a:ext cx="1655763" cy="360362"/>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write()</a:t>
            </a:r>
            <a:endParaRPr lang="en-US" altLang="zh-CN" sz="2000" b="0" dirty="0">
              <a:latin typeface="Comic Sans MS" panose="030F0702030302020204" pitchFamily="66" charset="0"/>
            </a:endParaRPr>
          </a:p>
        </p:txBody>
      </p:sp>
      <p:sp>
        <p:nvSpPr>
          <p:cNvPr id="109592" name="AutoShape 24"/>
          <p:cNvSpPr/>
          <p:nvPr/>
        </p:nvSpPr>
        <p:spPr>
          <a:xfrm>
            <a:off x="5724525" y="5229225"/>
            <a:ext cx="1655763" cy="360363"/>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read()</a:t>
            </a:r>
            <a:endParaRPr lang="en-US" altLang="zh-CN" sz="2000" b="0" dirty="0">
              <a:latin typeface="Comic Sans MS" panose="030F0702030302020204" pitchFamily="66" charset="0"/>
            </a:endParaRPr>
          </a:p>
        </p:txBody>
      </p:sp>
      <p:sp>
        <p:nvSpPr>
          <p:cNvPr id="109593" name="AutoShape 25"/>
          <p:cNvSpPr/>
          <p:nvPr/>
        </p:nvSpPr>
        <p:spPr>
          <a:xfrm>
            <a:off x="5724525" y="5805488"/>
            <a:ext cx="1655763" cy="360362"/>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close()</a:t>
            </a:r>
            <a:endParaRPr lang="en-US" altLang="zh-CN" sz="2000" b="0" dirty="0">
              <a:latin typeface="Comic Sans MS" panose="030F0702030302020204" pitchFamily="66" charset="0"/>
            </a:endParaRPr>
          </a:p>
        </p:txBody>
      </p:sp>
      <p:sp>
        <p:nvSpPr>
          <p:cNvPr id="109594" name="Line 26"/>
          <p:cNvSpPr/>
          <p:nvPr/>
        </p:nvSpPr>
        <p:spPr>
          <a:xfrm>
            <a:off x="6516688" y="3860800"/>
            <a:ext cx="0" cy="215900"/>
          </a:xfrm>
          <a:prstGeom prst="line">
            <a:avLst/>
          </a:prstGeom>
          <a:ln w="9525" cap="flat" cmpd="sng">
            <a:solidFill>
              <a:schemeClr val="hlink"/>
            </a:solidFill>
            <a:prstDash val="solid"/>
            <a:headEnd type="none" w="med" len="med"/>
            <a:tailEnd type="triangle" w="med" len="med"/>
          </a:ln>
        </p:spPr>
      </p:sp>
      <p:sp>
        <p:nvSpPr>
          <p:cNvPr id="109595" name="Line 27"/>
          <p:cNvSpPr/>
          <p:nvPr/>
        </p:nvSpPr>
        <p:spPr>
          <a:xfrm>
            <a:off x="6516688" y="4437063"/>
            <a:ext cx="0" cy="215900"/>
          </a:xfrm>
          <a:prstGeom prst="line">
            <a:avLst/>
          </a:prstGeom>
          <a:ln w="9525" cap="flat" cmpd="sng">
            <a:solidFill>
              <a:schemeClr val="hlink"/>
            </a:solidFill>
            <a:prstDash val="solid"/>
            <a:headEnd type="none" w="med" len="med"/>
            <a:tailEnd type="triangle" w="med" len="med"/>
          </a:ln>
        </p:spPr>
      </p:sp>
      <p:sp>
        <p:nvSpPr>
          <p:cNvPr id="109596" name="Line 28"/>
          <p:cNvSpPr/>
          <p:nvPr/>
        </p:nvSpPr>
        <p:spPr>
          <a:xfrm>
            <a:off x="6516688" y="5013325"/>
            <a:ext cx="0" cy="215900"/>
          </a:xfrm>
          <a:prstGeom prst="line">
            <a:avLst/>
          </a:prstGeom>
          <a:ln w="9525" cap="flat" cmpd="sng">
            <a:solidFill>
              <a:schemeClr val="hlink"/>
            </a:solidFill>
            <a:prstDash val="solid"/>
            <a:headEnd type="none" w="med" len="med"/>
            <a:tailEnd type="triangle" w="med" len="med"/>
          </a:ln>
        </p:spPr>
      </p:sp>
      <p:sp>
        <p:nvSpPr>
          <p:cNvPr id="109597" name="Line 29"/>
          <p:cNvSpPr/>
          <p:nvPr/>
        </p:nvSpPr>
        <p:spPr>
          <a:xfrm>
            <a:off x="6516688" y="5589588"/>
            <a:ext cx="0" cy="215900"/>
          </a:xfrm>
          <a:prstGeom prst="line">
            <a:avLst/>
          </a:prstGeom>
          <a:ln w="9525" cap="flat" cmpd="sng">
            <a:solidFill>
              <a:schemeClr val="hlink"/>
            </a:solidFill>
            <a:prstDash val="solid"/>
            <a:headEnd type="none" w="med" len="med"/>
            <a:tailEnd type="triangle" w="med" len="med"/>
          </a:ln>
        </p:spPr>
      </p:sp>
      <p:sp>
        <p:nvSpPr>
          <p:cNvPr id="109598" name="Text Box 30"/>
          <p:cNvSpPr txBox="1"/>
          <p:nvPr/>
        </p:nvSpPr>
        <p:spPr>
          <a:xfrm>
            <a:off x="2206625" y="3860800"/>
            <a:ext cx="1428750" cy="517525"/>
          </a:xfrm>
          <a:prstGeom prst="rect">
            <a:avLst/>
          </a:prstGeom>
          <a:noFill/>
          <a:ln w="9525">
            <a:noFill/>
          </a:ln>
        </p:spPr>
        <p:txBody>
          <a:bodyPr wrap="none">
            <a:spAutoFit/>
          </a:bodyPr>
          <a:p>
            <a:pPr eaLnBrk="1" hangingPunct="1"/>
            <a:r>
              <a:rPr lang="zh-CN" altLang="en-US" sz="1400" b="0" dirty="0">
                <a:latin typeface="Arial" panose="020B0604020202020204" pitchFamily="34" charset="0"/>
              </a:rPr>
              <a:t>阻塞直到接收</a:t>
            </a:r>
            <a:endParaRPr lang="zh-CN" altLang="en-US" sz="1400" b="0" dirty="0">
              <a:latin typeface="Arial" panose="020B0604020202020204" pitchFamily="34" charset="0"/>
            </a:endParaRPr>
          </a:p>
          <a:p>
            <a:pPr eaLnBrk="1" hangingPunct="1"/>
            <a:r>
              <a:rPr lang="zh-CN" altLang="en-US" sz="1400" b="0" dirty="0">
                <a:latin typeface="Arial" panose="020B0604020202020204" pitchFamily="34" charset="0"/>
              </a:rPr>
              <a:t>到客户连接请求</a:t>
            </a:r>
            <a:endParaRPr lang="zh-CN" altLang="en-US" sz="1400" b="0" dirty="0">
              <a:latin typeface="Arial" panose="020B0604020202020204" pitchFamily="34" charset="0"/>
            </a:endParaRPr>
          </a:p>
        </p:txBody>
      </p:sp>
      <p:sp>
        <p:nvSpPr>
          <p:cNvPr id="109599" name="Line 31"/>
          <p:cNvSpPr/>
          <p:nvPr/>
        </p:nvSpPr>
        <p:spPr>
          <a:xfrm>
            <a:off x="6516688" y="3141663"/>
            <a:ext cx="0" cy="360362"/>
          </a:xfrm>
          <a:prstGeom prst="line">
            <a:avLst/>
          </a:prstGeom>
          <a:ln w="9525" cap="flat" cmpd="sng">
            <a:solidFill>
              <a:schemeClr val="hlink"/>
            </a:solidFill>
            <a:prstDash val="solid"/>
            <a:headEnd type="none" w="med" len="med"/>
            <a:tailEnd type="triangle" w="med" len="med"/>
          </a:ln>
        </p:spPr>
      </p:sp>
      <p:sp>
        <p:nvSpPr>
          <p:cNvPr id="109600" name="Rectangle 32"/>
          <p:cNvSpPr/>
          <p:nvPr/>
        </p:nvSpPr>
        <p:spPr>
          <a:xfrm>
            <a:off x="5435600" y="2924175"/>
            <a:ext cx="2232025" cy="3457575"/>
          </a:xfrm>
          <a:prstGeom prst="rect">
            <a:avLst/>
          </a:prstGeom>
          <a:noFill/>
          <a:ln w="9525" cap="flat" cmpd="sng">
            <a:solidFill>
              <a:schemeClr val="tx1"/>
            </a:solidFill>
            <a:prstDash val="dash"/>
            <a:miter/>
            <a:headEnd type="none" w="med" len="med"/>
            <a:tailEnd type="none" w="med" len="med"/>
          </a:ln>
        </p:spPr>
        <p:txBody>
          <a:bodyPr wrap="none" anchor="ctr" anchorCtr="0"/>
          <a:p>
            <a:pPr eaLnBrk="1" hangingPunct="1"/>
            <a:endParaRPr lang="zh-CN" altLang="en-US" dirty="0">
              <a:latin typeface="Tahoma" panose="020B0604030504040204" pitchFamily="34" charset="0"/>
            </a:endParaRPr>
          </a:p>
        </p:txBody>
      </p:sp>
      <p:sp>
        <p:nvSpPr>
          <p:cNvPr id="109601" name="Line 33"/>
          <p:cNvSpPr/>
          <p:nvPr/>
        </p:nvSpPr>
        <p:spPr>
          <a:xfrm>
            <a:off x="3563938" y="4221163"/>
            <a:ext cx="2160587" cy="0"/>
          </a:xfrm>
          <a:prstGeom prst="line">
            <a:avLst/>
          </a:prstGeom>
          <a:ln w="9525" cap="flat" cmpd="sng">
            <a:solidFill>
              <a:schemeClr val="tx1"/>
            </a:solidFill>
            <a:prstDash val="solid"/>
            <a:headEnd type="triangle" w="med" len="med"/>
            <a:tailEnd type="triangle" w="med" len="med"/>
          </a:ln>
        </p:spPr>
      </p:sp>
      <p:sp>
        <p:nvSpPr>
          <p:cNvPr id="109602" name="Line 34"/>
          <p:cNvSpPr/>
          <p:nvPr/>
        </p:nvSpPr>
        <p:spPr>
          <a:xfrm>
            <a:off x="3203575" y="4868863"/>
            <a:ext cx="2449513" cy="0"/>
          </a:xfrm>
          <a:prstGeom prst="line">
            <a:avLst/>
          </a:prstGeom>
          <a:ln w="9525" cap="flat" cmpd="sng">
            <a:solidFill>
              <a:schemeClr val="tx1"/>
            </a:solidFill>
            <a:prstDash val="solid"/>
            <a:headEnd type="triangle" w="med" len="med"/>
            <a:tailEnd type="triangle" w="med" len="med"/>
          </a:ln>
        </p:spPr>
      </p:sp>
      <p:sp>
        <p:nvSpPr>
          <p:cNvPr id="109603" name="Line 35"/>
          <p:cNvSpPr/>
          <p:nvPr/>
        </p:nvSpPr>
        <p:spPr>
          <a:xfrm>
            <a:off x="3203575" y="5373688"/>
            <a:ext cx="2449513" cy="0"/>
          </a:xfrm>
          <a:prstGeom prst="line">
            <a:avLst/>
          </a:prstGeom>
          <a:ln w="9525" cap="flat" cmpd="sng">
            <a:solidFill>
              <a:schemeClr val="tx1"/>
            </a:solidFill>
            <a:prstDash val="solid"/>
            <a:headEnd type="triangle" w="med" len="med"/>
            <a:tailEnd type="triangle" w="med" len="med"/>
          </a:ln>
        </p:spPr>
      </p:sp>
      <p:sp>
        <p:nvSpPr>
          <p:cNvPr id="109604" name="Line 36"/>
          <p:cNvSpPr/>
          <p:nvPr/>
        </p:nvSpPr>
        <p:spPr>
          <a:xfrm>
            <a:off x="3203575" y="6021388"/>
            <a:ext cx="2449513" cy="0"/>
          </a:xfrm>
          <a:prstGeom prst="line">
            <a:avLst/>
          </a:prstGeom>
          <a:ln w="9525" cap="flat" cmpd="sng">
            <a:solidFill>
              <a:schemeClr val="tx1"/>
            </a:solidFill>
            <a:prstDash val="solid"/>
            <a:headEnd type="triangle" w="med" len="med"/>
            <a:tailEnd type="triangle" w="med" len="med"/>
          </a:ln>
        </p:spPr>
      </p:sp>
      <p:sp>
        <p:nvSpPr>
          <p:cNvPr id="109605" name="Text Box 37"/>
          <p:cNvSpPr txBox="1"/>
          <p:nvPr/>
        </p:nvSpPr>
        <p:spPr>
          <a:xfrm>
            <a:off x="323850" y="2159000"/>
            <a:ext cx="458788" cy="1463675"/>
          </a:xfrm>
          <a:prstGeom prst="rect">
            <a:avLst/>
          </a:prstGeom>
          <a:noFill/>
          <a:ln w="9525">
            <a:noFill/>
          </a:ln>
        </p:spPr>
        <p:txBody>
          <a:bodyPr vert="eaVert" wrap="none">
            <a:spAutoFit/>
          </a:bodyPr>
          <a:p>
            <a:pPr eaLnBrk="1" hangingPunct="1"/>
            <a:r>
              <a:rPr lang="en-US" altLang="zh-CN" sz="1800" b="0" dirty="0">
                <a:latin typeface="Arial" panose="020B0604020202020204" pitchFamily="34" charset="0"/>
              </a:rPr>
              <a:t>TCP</a:t>
            </a:r>
            <a:r>
              <a:rPr lang="zh-CN" altLang="en-US" sz="1800" b="0" dirty="0">
                <a:latin typeface="Arial" panose="020B0604020202020204" pitchFamily="34" charset="0"/>
              </a:rPr>
              <a:t>服务器端</a:t>
            </a:r>
            <a:endParaRPr lang="zh-CN" altLang="en-US" sz="1800" b="0" dirty="0">
              <a:latin typeface="Arial" panose="020B0604020202020204" pitchFamily="34" charset="0"/>
            </a:endParaRPr>
          </a:p>
        </p:txBody>
      </p:sp>
      <p:sp>
        <p:nvSpPr>
          <p:cNvPr id="109606" name="Text Box 38"/>
          <p:cNvSpPr txBox="1"/>
          <p:nvPr/>
        </p:nvSpPr>
        <p:spPr>
          <a:xfrm>
            <a:off x="7885113" y="3573463"/>
            <a:ext cx="458787" cy="1235075"/>
          </a:xfrm>
          <a:prstGeom prst="rect">
            <a:avLst/>
          </a:prstGeom>
          <a:noFill/>
          <a:ln w="9525">
            <a:noFill/>
          </a:ln>
        </p:spPr>
        <p:txBody>
          <a:bodyPr vert="eaVert" wrap="none">
            <a:spAutoFit/>
          </a:bodyPr>
          <a:p>
            <a:pPr eaLnBrk="1" hangingPunct="1"/>
            <a:r>
              <a:rPr lang="en-US" altLang="zh-CN" sz="1800" b="0" dirty="0">
                <a:latin typeface="Arial" panose="020B0604020202020204" pitchFamily="34" charset="0"/>
              </a:rPr>
              <a:t>TCP</a:t>
            </a:r>
            <a:r>
              <a:rPr lang="zh-CN" altLang="en-US" sz="1800" b="0" dirty="0">
                <a:latin typeface="Arial" panose="020B0604020202020204" pitchFamily="34" charset="0"/>
              </a:rPr>
              <a:t>客户端</a:t>
            </a:r>
            <a:endParaRPr lang="zh-CN" altLang="en-US" sz="1800" b="0" dirty="0">
              <a:latin typeface="Arial" panose="020B0604020202020204" pitchFamily="34" charset="0"/>
            </a:endParaRPr>
          </a:p>
        </p:txBody>
      </p:sp>
    </p:spTree>
  </p:cSld>
  <p:clrMapOvr>
    <a:masterClrMapping/>
  </p:clrMapOvr>
  <p:transition>
    <p:random/>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8" name="Rectangle 2"/>
          <p:cNvSpPr>
            <a:spLocks noGrp="1"/>
          </p:cNvSpPr>
          <p:nvPr>
            <p:ph type="title"/>
          </p:nvPr>
        </p:nvSpPr>
        <p:spPr>
          <a:xfrm>
            <a:off x="827088" y="549275"/>
            <a:ext cx="7793037" cy="485775"/>
          </a:xfrm>
        </p:spPr>
        <p:txBody>
          <a:bodyPr vert="horz" wrap="square" lIns="91440" tIns="45720" rIns="91440" bIns="45720" anchor="b" anchorCtr="0"/>
          <a:p>
            <a:pPr eaLnBrk="1" hangingPunct="1"/>
            <a:r>
              <a:rPr lang="zh-CN" altLang="en-US" dirty="0"/>
              <a:t>基本套接字函数－</a:t>
            </a:r>
            <a:r>
              <a:rPr lang="en-US" altLang="zh-CN" dirty="0"/>
              <a:t>listen</a:t>
            </a:r>
            <a:endParaRPr lang="en-US" altLang="zh-CN" dirty="0"/>
          </a:p>
        </p:txBody>
      </p:sp>
      <p:sp>
        <p:nvSpPr>
          <p:cNvPr id="111619" name="Rectangle 7"/>
          <p:cNvSpPr>
            <a:spLocks noGrp="1"/>
          </p:cNvSpPr>
          <p:nvPr>
            <p:ph idx="1"/>
          </p:nvPr>
        </p:nvSpPr>
        <p:spPr>
          <a:xfrm>
            <a:off x="327025" y="1797050"/>
            <a:ext cx="8689975" cy="5016500"/>
          </a:xfrm>
        </p:spPr>
        <p:txBody>
          <a:bodyPr vert="horz" wrap="square" lIns="92075" tIns="46038" rIns="92075" bIns="46038" anchor="t" anchorCtr="0"/>
          <a:p>
            <a:pPr eaLnBrk="1" hangingPunct="1"/>
            <a:r>
              <a:rPr lang="en-US" altLang="zh-CN" sz="2800" dirty="0">
                <a:latin typeface="微软雅黑" panose="020B0503020204020204" charset="-122"/>
              </a:rPr>
              <a:t>listen</a:t>
            </a:r>
            <a:r>
              <a:rPr lang="zh-CN" altLang="en-US" sz="2800" dirty="0">
                <a:latin typeface="微软雅黑" panose="020B0503020204020204" charset="-122"/>
              </a:rPr>
              <a:t>函数：</a:t>
            </a:r>
            <a:r>
              <a:rPr lang="en-US" altLang="zh-CN" sz="2800" dirty="0">
                <a:solidFill>
                  <a:srgbClr val="0070C0"/>
                </a:solidFill>
                <a:latin typeface="微软雅黑" panose="020B0503020204020204" charset="-122"/>
              </a:rPr>
              <a:t>listen</a:t>
            </a:r>
            <a:r>
              <a:rPr lang="zh-CN" altLang="en-US" sz="2800" dirty="0">
                <a:solidFill>
                  <a:srgbClr val="0070C0"/>
                </a:solidFill>
                <a:latin typeface="微软雅黑" panose="020B0503020204020204" charset="-122"/>
              </a:rPr>
              <a:t>函数仅被</a:t>
            </a:r>
            <a:r>
              <a:rPr lang="en-US" altLang="zh-CN" sz="2800" dirty="0">
                <a:solidFill>
                  <a:srgbClr val="0070C0"/>
                </a:solidFill>
                <a:latin typeface="微软雅黑" panose="020B0503020204020204" charset="-122"/>
              </a:rPr>
              <a:t>TCP</a:t>
            </a:r>
            <a:r>
              <a:rPr lang="zh-CN" altLang="en-US" sz="2800" dirty="0">
                <a:solidFill>
                  <a:srgbClr val="0070C0"/>
                </a:solidFill>
                <a:latin typeface="微软雅黑" panose="020B0503020204020204" charset="-122"/>
              </a:rPr>
              <a:t>服务器调用</a:t>
            </a:r>
            <a:r>
              <a:rPr lang="zh-CN" altLang="en-US" sz="2800" dirty="0">
                <a:latin typeface="微软雅黑" panose="020B0503020204020204" charset="-122"/>
              </a:rPr>
              <a:t>，它的作用是将用</a:t>
            </a:r>
            <a:r>
              <a:rPr lang="en-US" altLang="zh-CN" sz="2800" dirty="0">
                <a:latin typeface="微软雅黑" panose="020B0503020204020204" charset="-122"/>
              </a:rPr>
              <a:t>sock</a:t>
            </a:r>
            <a:r>
              <a:rPr lang="zh-CN" altLang="en-US" sz="2800" dirty="0">
                <a:latin typeface="微软雅黑" panose="020B0503020204020204" charset="-122"/>
              </a:rPr>
              <a:t>创建的</a:t>
            </a:r>
            <a:r>
              <a:rPr lang="zh-CN" altLang="en-US" sz="2800" dirty="0">
                <a:solidFill>
                  <a:srgbClr val="FF0000"/>
                </a:solidFill>
                <a:latin typeface="微软雅黑" panose="020B0503020204020204" charset="-122"/>
              </a:rPr>
              <a:t>主动套接字转换成被动套接字</a:t>
            </a:r>
            <a:r>
              <a:rPr lang="zh-CN" altLang="en-US" sz="2800" dirty="0">
                <a:latin typeface="微软雅黑" panose="020B0503020204020204" charset="-122"/>
              </a:rPr>
              <a:t>，并等待来自客户端的连接请求</a:t>
            </a:r>
            <a:r>
              <a:rPr lang="zh-CN" altLang="en-US" dirty="0"/>
              <a:t>。 </a:t>
            </a:r>
            <a:endParaRPr lang="zh-CN" altLang="en-US" dirty="0"/>
          </a:p>
        </p:txBody>
      </p:sp>
      <p:sp>
        <p:nvSpPr>
          <p:cNvPr id="106500" name="Rectangle 8"/>
          <p:cNvSpPr>
            <a:spLocks noChangeArrowheads="1"/>
          </p:cNvSpPr>
          <p:nvPr/>
        </p:nvSpPr>
        <p:spPr bwMode="auto">
          <a:xfrm>
            <a:off x="768350" y="3355975"/>
            <a:ext cx="7913688" cy="1200150"/>
          </a:xfrm>
          <a:prstGeom prst="rect">
            <a:avLst/>
          </a:prstGeom>
          <a:solidFill>
            <a:schemeClr val="tx1">
              <a:lumMod val="65000"/>
              <a:lumOff val="35000"/>
            </a:schemeClr>
          </a:solidFill>
          <a:ln w="9525" algn="ctr">
            <a:solidFill>
              <a:schemeClr val="tx2">
                <a:lumMod val="75000"/>
              </a:schemeClr>
            </a:solidFill>
            <a:miter lim="800000"/>
          </a:ln>
          <a:effectLst/>
        </p:spPr>
        <p:txBody>
          <a:bodyPr lIns="92075" tIns="46038" rIns="92075" bIns="46038"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400" b="0" i="0" u="none" strike="noStrike" kern="1200" cap="none" spc="0" normalizeH="0" baseline="0" noProof="0">
                <a:ln>
                  <a:noFill/>
                </a:ln>
                <a:solidFill>
                  <a:schemeClr val="bg1"/>
                </a:solidFill>
                <a:effectLst/>
                <a:uLnTx/>
                <a:uFillTx/>
                <a:latin typeface="+mj-lt"/>
                <a:ea typeface="黑体" panose="02010609060101010101" pitchFamily="49" charset="-122"/>
                <a:cs typeface="+mn-cs"/>
              </a:rPr>
              <a:t>#include &lt;sys/socket.h&gt;</a:t>
            </a:r>
            <a:br>
              <a:rPr kumimoji="1" lang="en-US" altLang="zh-CN" sz="2400" b="0" i="0" u="none" strike="noStrike" kern="1200" cap="none" spc="0" normalizeH="0" baseline="0" noProof="0">
                <a:ln>
                  <a:noFill/>
                </a:ln>
                <a:solidFill>
                  <a:schemeClr val="bg1"/>
                </a:solidFill>
                <a:effectLst/>
                <a:uLnTx/>
                <a:uFillTx/>
                <a:latin typeface="+mj-lt"/>
                <a:ea typeface="黑体" panose="02010609060101010101" pitchFamily="49" charset="-122"/>
                <a:cs typeface="+mn-cs"/>
              </a:rPr>
            </a:br>
            <a:r>
              <a:rPr kumimoji="1" lang="en-US" altLang="zh-CN" sz="2400" b="0" i="0" u="none" strike="noStrike" kern="1200" cap="none" spc="0" normalizeH="0" baseline="0" noProof="0">
                <a:ln>
                  <a:noFill/>
                </a:ln>
                <a:solidFill>
                  <a:schemeClr val="bg1"/>
                </a:solidFill>
                <a:effectLst/>
                <a:uLnTx/>
                <a:uFillTx/>
                <a:latin typeface="+mj-lt"/>
                <a:ea typeface="黑体" panose="02010609060101010101" pitchFamily="49" charset="-122"/>
                <a:cs typeface="+mn-cs"/>
              </a:rPr>
              <a:t> int listen(int sockfd,int backlog); </a:t>
            </a:r>
            <a:r>
              <a:rPr kumimoji="1" lang="zh-CN" altLang="en-US" sz="2400" b="0" i="0" u="none" strike="noStrike" kern="1200" cap="none" spc="0" normalizeH="0" baseline="0" noProof="0">
                <a:ln>
                  <a:noFill/>
                </a:ln>
                <a:solidFill>
                  <a:schemeClr val="bg1"/>
                </a:solidFill>
                <a:effectLst/>
                <a:uLnTx/>
                <a:uFillTx/>
                <a:latin typeface="+mj-lt"/>
                <a:ea typeface="黑体" panose="02010609060101010101" pitchFamily="49" charset="-122"/>
                <a:cs typeface="+mn-cs"/>
              </a:rPr>
              <a:t>　</a:t>
            </a:r>
            <a:r>
              <a:rPr kumimoji="1" lang="zh-CN" altLang="en-US" sz="2400" b="0" i="0" u="none" strike="noStrike" kern="1200" cap="none" spc="0" normalizeH="0" baseline="0" noProof="0">
                <a:ln>
                  <a:noFill/>
                </a:ln>
                <a:solidFill>
                  <a:schemeClr val="bg1"/>
                </a:solidFill>
                <a:effectLst/>
                <a:uLnTx/>
                <a:uFillTx/>
                <a:latin typeface="Comic Sans MS" panose="030F0702030302020204" pitchFamily="66" charset="0"/>
                <a:ea typeface="黑体" panose="02010609060101010101" pitchFamily="49" charset="-122"/>
                <a:cs typeface="+mn-cs"/>
              </a:rPr>
              <a:t>　</a:t>
            </a:r>
            <a:br>
              <a:rPr kumimoji="1" lang="zh-CN" altLang="en-US" sz="2400" b="0" i="0" u="none" strike="noStrike" kern="1200" cap="none" spc="0" normalizeH="0" baseline="0" noProof="0">
                <a:ln>
                  <a:noFill/>
                </a:ln>
                <a:solidFill>
                  <a:schemeClr val="bg1"/>
                </a:solidFill>
                <a:effectLst/>
                <a:uLnTx/>
                <a:uFillTx/>
                <a:latin typeface="Comic Sans MS" panose="030F0702030302020204" pitchFamily="66" charset="0"/>
                <a:ea typeface="黑体" panose="02010609060101010101" pitchFamily="49" charset="-122"/>
                <a:cs typeface="+mn-cs"/>
              </a:rPr>
            </a:br>
            <a:r>
              <a:rPr kumimoji="1" lang="zh-CN" altLang="en-US" sz="2400" b="0" i="0" u="none" strike="noStrike" kern="1200" cap="none" spc="0" normalizeH="0" baseline="0" noProof="0">
                <a:ln>
                  <a:noFill/>
                </a:ln>
                <a:solidFill>
                  <a:schemeClr val="bg1"/>
                </a:solidFill>
                <a:effectLst/>
                <a:uLnTx/>
                <a:uFillTx/>
                <a:latin typeface="Comic Sans MS" panose="030F0702030302020204" pitchFamily="66" charset="0"/>
                <a:ea typeface="黑体" panose="02010609060101010101" pitchFamily="49" charset="-122"/>
                <a:cs typeface="+mn-cs"/>
              </a:rPr>
              <a:t> 返回：</a:t>
            </a:r>
            <a:r>
              <a:rPr kumimoji="1" lang="en-US" altLang="zh-CN" sz="2400" b="0" i="0" u="none" strike="noStrike" kern="1200" cap="none" spc="0" normalizeH="0" baseline="0" noProof="0">
                <a:ln>
                  <a:noFill/>
                </a:ln>
                <a:solidFill>
                  <a:schemeClr val="bg1"/>
                </a:solidFill>
                <a:effectLst/>
                <a:uLnTx/>
                <a:uFillTx/>
                <a:latin typeface="Comic Sans MS" panose="030F0702030302020204" pitchFamily="66" charset="0"/>
                <a:ea typeface="黑体" panose="02010609060101010101" pitchFamily="49" charset="-122"/>
                <a:cs typeface="+mn-cs"/>
              </a:rPr>
              <a:t>0</a:t>
            </a:r>
            <a:r>
              <a:rPr kumimoji="1" lang="zh-CN" altLang="en-US" sz="2400" b="0" i="0" u="none" strike="noStrike" kern="1200" cap="none" spc="0" normalizeH="0" baseline="0" noProof="0">
                <a:ln>
                  <a:noFill/>
                </a:ln>
                <a:solidFill>
                  <a:schemeClr val="bg1"/>
                </a:solidFill>
                <a:effectLst/>
                <a:uLnTx/>
                <a:uFillTx/>
                <a:latin typeface="Comic Sans MS" panose="030F0702030302020204" pitchFamily="66" charset="0"/>
                <a:ea typeface="黑体" panose="02010609060101010101" pitchFamily="49" charset="-122"/>
                <a:cs typeface="+mn-cs"/>
              </a:rPr>
              <a:t>－－－成功　　　</a:t>
            </a:r>
            <a:r>
              <a:rPr kumimoji="1" lang="en-US" altLang="zh-CN" sz="2400" b="0" i="0" u="none" strike="noStrike" kern="1200" cap="none" spc="0" normalizeH="0" baseline="0" noProof="0">
                <a:ln>
                  <a:noFill/>
                </a:ln>
                <a:solidFill>
                  <a:schemeClr val="bg1"/>
                </a:solidFill>
                <a:effectLst/>
                <a:uLnTx/>
                <a:uFillTx/>
                <a:latin typeface="Comic Sans MS" panose="030F0702030302020204" pitchFamily="66" charset="0"/>
                <a:ea typeface="黑体" panose="02010609060101010101" pitchFamily="49" charset="-122"/>
                <a:cs typeface="+mn-cs"/>
              </a:rPr>
              <a:t>-1</a:t>
            </a:r>
            <a:r>
              <a:rPr kumimoji="1" lang="zh-CN" altLang="en-US" sz="2400" b="0" i="0" u="none" strike="noStrike" kern="1200" cap="none" spc="0" normalizeH="0" baseline="0" noProof="0">
                <a:ln>
                  <a:noFill/>
                </a:ln>
                <a:solidFill>
                  <a:schemeClr val="bg1"/>
                </a:solidFill>
                <a:effectLst/>
                <a:uLnTx/>
                <a:uFillTx/>
                <a:latin typeface="Comic Sans MS" panose="030F0702030302020204" pitchFamily="66" charset="0"/>
                <a:ea typeface="黑体" panose="02010609060101010101" pitchFamily="49" charset="-122"/>
                <a:cs typeface="+mn-cs"/>
              </a:rPr>
              <a:t>－－－失败</a:t>
            </a:r>
            <a:endParaRPr kumimoji="1" lang="zh-CN" altLang="en-US" sz="2400" b="0" i="0" u="none" strike="noStrike" kern="1200" cap="none" spc="0" normalizeH="0" baseline="0" noProof="0">
              <a:ln>
                <a:noFill/>
              </a:ln>
              <a:solidFill>
                <a:schemeClr val="bg1"/>
              </a:solidFill>
              <a:effectLst/>
              <a:uLnTx/>
              <a:uFillTx/>
              <a:latin typeface="Comic Sans MS" panose="030F0702030302020204" pitchFamily="66" charset="0"/>
              <a:ea typeface="黑体" panose="02010609060101010101" pitchFamily="49" charset="-122"/>
              <a:cs typeface="+mn-cs"/>
            </a:endParaRPr>
          </a:p>
        </p:txBody>
      </p:sp>
    </p:spTree>
  </p:cSld>
  <p:clrMapOvr>
    <a:masterClrMapping/>
  </p:clrMapOvr>
  <p:transition>
    <p:random/>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3666" name="Rectangle 2"/>
          <p:cNvSpPr>
            <a:spLocks noGrp="1"/>
          </p:cNvSpPr>
          <p:nvPr>
            <p:ph type="title"/>
          </p:nvPr>
        </p:nvSpPr>
        <p:spPr>
          <a:xfrm>
            <a:off x="827088" y="549275"/>
            <a:ext cx="7793037" cy="485775"/>
          </a:xfrm>
        </p:spPr>
        <p:txBody>
          <a:bodyPr vert="horz" wrap="square" lIns="91440" tIns="45720" rIns="91440" bIns="45720" anchor="b" anchorCtr="0"/>
          <a:p>
            <a:pPr eaLnBrk="1" hangingPunct="1"/>
            <a:r>
              <a:rPr lang="zh-CN" altLang="en-US" dirty="0"/>
              <a:t>基本套接字函数－</a:t>
            </a:r>
            <a:r>
              <a:rPr lang="en-US" altLang="zh-CN" dirty="0"/>
              <a:t>listen</a:t>
            </a:r>
            <a:endParaRPr lang="en-US" altLang="zh-CN" dirty="0"/>
          </a:p>
        </p:txBody>
      </p:sp>
      <p:sp>
        <p:nvSpPr>
          <p:cNvPr id="113667" name="Rectangle 7"/>
          <p:cNvSpPr>
            <a:spLocks noGrp="1"/>
          </p:cNvSpPr>
          <p:nvPr>
            <p:ph idx="1"/>
          </p:nvPr>
        </p:nvSpPr>
        <p:spPr>
          <a:xfrm>
            <a:off x="327025" y="1797050"/>
            <a:ext cx="8689975" cy="5016500"/>
          </a:xfrm>
        </p:spPr>
        <p:txBody>
          <a:bodyPr vert="horz" wrap="square" lIns="92075" tIns="46038" rIns="92075" bIns="46038" anchor="t" anchorCtr="0"/>
          <a:p>
            <a:pPr eaLnBrk="1" hangingPunct="1"/>
            <a:endParaRPr lang="en-US" altLang="zh-CN" dirty="0"/>
          </a:p>
        </p:txBody>
      </p:sp>
      <p:sp>
        <p:nvSpPr>
          <p:cNvPr id="208905" name="Rectangle 9"/>
          <p:cNvSpPr>
            <a:spLocks noChangeArrowheads="1"/>
          </p:cNvSpPr>
          <p:nvPr/>
        </p:nvSpPr>
        <p:spPr bwMode="auto">
          <a:xfrm>
            <a:off x="536575" y="2420938"/>
            <a:ext cx="8270875" cy="3933825"/>
          </a:xfrm>
          <a:prstGeom prst="rect">
            <a:avLst/>
          </a:prstGeom>
          <a:noFill/>
          <a:ln>
            <a:noFill/>
          </a:ln>
          <a:effectLst/>
        </p:spPr>
        <p:txBody>
          <a:bodyPr lIns="92075" tIns="46038" rIns="92075" bIns="46038" anchor="ctr">
            <a:spAutoFit/>
          </a:bodyPr>
          <a:lstStyle/>
          <a:p>
            <a:pPr marL="0" marR="0" lvl="0" indent="0" algn="l" defTabSz="914400" rtl="0" eaLnBrk="1" fontAlgn="base" latinLnBrk="0" hangingPunct="1">
              <a:lnSpc>
                <a:spcPct val="130000"/>
              </a:lnSpc>
              <a:spcBef>
                <a:spcPct val="0"/>
              </a:spcBef>
              <a:spcAft>
                <a:spcPct val="0"/>
              </a:spcAft>
              <a:buClrTx/>
              <a:buSzTx/>
              <a:buFontTx/>
              <a:buNone/>
              <a:defRPr/>
            </a:pPr>
            <a:r>
              <a:rPr kumimoji="1" lang="zh-CN" altLang="en-US" sz="2800" b="0" i="0" u="none" strike="noStrike" kern="1200" cap="none" spc="0" normalizeH="0" baseline="0" noProof="0">
                <a:ln>
                  <a:noFill/>
                </a:ln>
                <a:solidFill>
                  <a:schemeClr val="tx1"/>
                </a:solidFill>
                <a:effectLst/>
                <a:uLnTx/>
                <a:uFillTx/>
                <a:latin typeface="+mn-ea"/>
                <a:ea typeface="+mn-ea"/>
                <a:cs typeface="+mn-cs"/>
              </a:rPr>
              <a:t>第一个参数是</a:t>
            </a:r>
            <a:r>
              <a:rPr kumimoji="1" lang="en-US" altLang="zh-CN" sz="2800" b="0" i="0" u="none" strike="noStrike" kern="1200" cap="none" spc="0" normalizeH="0" baseline="0" noProof="0">
                <a:ln>
                  <a:noFill/>
                </a:ln>
                <a:solidFill>
                  <a:schemeClr val="tx1"/>
                </a:solidFill>
                <a:effectLst/>
                <a:uLnTx/>
                <a:uFillTx/>
                <a:latin typeface="+mn-ea"/>
                <a:ea typeface="+mn-ea"/>
                <a:cs typeface="+mn-cs"/>
              </a:rPr>
              <a:t>socket</a:t>
            </a:r>
            <a:r>
              <a:rPr kumimoji="1" lang="zh-CN" altLang="en-US" sz="2800" b="0" i="0" u="none" strike="noStrike" kern="1200" cap="none" spc="0" normalizeH="0" baseline="0" noProof="0">
                <a:ln>
                  <a:noFill/>
                </a:ln>
                <a:solidFill>
                  <a:schemeClr val="tx1"/>
                </a:solidFill>
                <a:effectLst/>
                <a:uLnTx/>
                <a:uFillTx/>
                <a:latin typeface="+mn-ea"/>
                <a:ea typeface="+mn-ea"/>
                <a:cs typeface="+mn-cs"/>
              </a:rPr>
              <a:t>函数返回的套接口描述字；第二个参数规定了内核为此套接口排队的最大连接个数。</a:t>
            </a:r>
            <a:r>
              <a:rPr kumimoji="1" lang="zh-CN" altLang="en-US" sz="2800" b="1" i="0" u="none" strike="noStrike" kern="1200" cap="none" spc="0" normalizeH="0" baseline="0" noProof="0">
                <a:ln>
                  <a:noFill/>
                </a:ln>
                <a:solidFill>
                  <a:srgbClr val="FF0000"/>
                </a:solidFill>
                <a:effectLst/>
                <a:uLnTx/>
                <a:uFillTx/>
                <a:latin typeface="Tahoma" panose="020B0604030504040204" pitchFamily="34" charset="0"/>
                <a:ea typeface="+mn-ea"/>
                <a:cs typeface="+mn-cs"/>
              </a:rPr>
              <a:t>由于</a:t>
            </a:r>
            <a:r>
              <a:rPr kumimoji="1" lang="en-US" altLang="zh-CN" sz="2800" b="1" i="0" u="none" strike="noStrike" kern="1200" cap="none" spc="0" normalizeH="0" baseline="0" noProof="0">
                <a:ln>
                  <a:noFill/>
                </a:ln>
                <a:solidFill>
                  <a:srgbClr val="FF0000"/>
                </a:solidFill>
                <a:effectLst/>
                <a:uLnTx/>
                <a:uFillTx/>
                <a:latin typeface="Tahoma" panose="020B0604030504040204" pitchFamily="34" charset="0"/>
                <a:ea typeface="+mn-ea"/>
                <a:cs typeface="+mn-cs"/>
              </a:rPr>
              <a:t>listen</a:t>
            </a:r>
            <a:r>
              <a:rPr kumimoji="1" lang="zh-CN" altLang="en-US" sz="2800" b="1" i="0" u="none" strike="noStrike" kern="1200" cap="none" spc="0" normalizeH="0" baseline="0" noProof="0">
                <a:ln>
                  <a:noFill/>
                </a:ln>
                <a:solidFill>
                  <a:srgbClr val="FF0000"/>
                </a:solidFill>
                <a:effectLst/>
                <a:uLnTx/>
                <a:uFillTx/>
                <a:latin typeface="Tahoma" panose="020B0604030504040204" pitchFamily="34" charset="0"/>
                <a:ea typeface="+mn-ea"/>
                <a:cs typeface="+mn-cs"/>
              </a:rPr>
              <a:t>函数第二个参数的原因，内核要维护两个队列</a:t>
            </a:r>
            <a:r>
              <a:rPr kumimoji="1" lang="zh-CN" altLang="en-US" sz="2800" b="0" i="0" u="none" strike="noStrike" kern="1200" cap="none" spc="0" normalizeH="0" baseline="0" noProof="0">
                <a:ln>
                  <a:noFill/>
                </a:ln>
                <a:solidFill>
                  <a:srgbClr val="0070C0"/>
                </a:solidFill>
                <a:effectLst/>
                <a:uLnTx/>
                <a:uFillTx/>
                <a:latin typeface="+mn-ea"/>
                <a:ea typeface="+mn-ea"/>
                <a:cs typeface="+mn-cs"/>
              </a:rPr>
              <a:t>：</a:t>
            </a:r>
            <a:r>
              <a:rPr kumimoji="1" lang="zh-CN" altLang="en-US" sz="2800" b="0" i="0" u="none" strike="noStrike" kern="1200" cap="none" spc="0" normalizeH="0" baseline="0" noProof="0">
                <a:ln>
                  <a:noFill/>
                </a:ln>
                <a:solidFill>
                  <a:schemeClr val="tx1"/>
                </a:solidFill>
                <a:effectLst/>
                <a:uLnTx/>
                <a:uFillTx/>
                <a:latin typeface="+mn-ea"/>
                <a:ea typeface="+mn-ea"/>
                <a:cs typeface="+mn-cs"/>
              </a:rPr>
              <a:t>已完成连接队列和未完成连接队列。未完成队列中存放的是</a:t>
            </a:r>
            <a:r>
              <a:rPr kumimoji="1" lang="en-US" altLang="zh-CN" sz="2800" b="0" i="0" u="none" strike="noStrike" kern="1200" cap="none" spc="0" normalizeH="0" baseline="0" noProof="0">
                <a:ln>
                  <a:noFill/>
                </a:ln>
                <a:solidFill>
                  <a:schemeClr val="tx1"/>
                </a:solidFill>
                <a:effectLst/>
                <a:uLnTx/>
                <a:uFillTx/>
                <a:latin typeface="+mn-ea"/>
                <a:ea typeface="+mn-ea"/>
                <a:cs typeface="+mn-cs"/>
              </a:rPr>
              <a:t>TCP</a:t>
            </a:r>
            <a:r>
              <a:rPr kumimoji="1" lang="zh-CN" altLang="en-US" sz="2800" b="0" i="0" u="none" strike="noStrike" kern="1200" cap="none" spc="0" normalizeH="0" baseline="0" noProof="0">
                <a:ln>
                  <a:noFill/>
                </a:ln>
                <a:solidFill>
                  <a:schemeClr val="tx1"/>
                </a:solidFill>
                <a:effectLst/>
                <a:uLnTx/>
                <a:uFillTx/>
                <a:latin typeface="+mn-ea"/>
                <a:ea typeface="+mn-ea"/>
                <a:cs typeface="+mn-cs"/>
              </a:rPr>
              <a:t>连接的三次握手未完成的连接，</a:t>
            </a:r>
            <a:r>
              <a:rPr kumimoji="1" lang="en-US" altLang="zh-CN" sz="2800" b="0" i="0" u="none" strike="noStrike" kern="1200" cap="none" spc="0" normalizeH="0" baseline="0" noProof="0">
                <a:ln>
                  <a:noFill/>
                </a:ln>
                <a:solidFill>
                  <a:schemeClr val="tx1"/>
                </a:solidFill>
                <a:effectLst/>
                <a:uLnTx/>
                <a:uFillTx/>
                <a:latin typeface="+mn-ea"/>
                <a:ea typeface="+mn-ea"/>
                <a:cs typeface="+mn-cs"/>
              </a:rPr>
              <a:t>accept</a:t>
            </a:r>
            <a:r>
              <a:rPr kumimoji="1" lang="zh-CN" altLang="en-US" sz="2800" b="0" i="0" u="none" strike="noStrike" kern="1200" cap="none" spc="0" normalizeH="0" baseline="0" noProof="0">
                <a:ln>
                  <a:noFill/>
                </a:ln>
                <a:solidFill>
                  <a:schemeClr val="tx1"/>
                </a:solidFill>
                <a:effectLst/>
                <a:uLnTx/>
                <a:uFillTx/>
                <a:latin typeface="+mn-ea"/>
                <a:ea typeface="+mn-ea"/>
                <a:cs typeface="+mn-cs"/>
              </a:rPr>
              <a:t>函数是从已连接队列中取连接返回给进程；当以连接队列为空时，进程将进入睡眠状态。</a:t>
            </a:r>
            <a:r>
              <a:rPr kumimoji="1" lang="zh-CN"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mn-ea"/>
                <a:ea typeface="+mn-ea"/>
                <a:cs typeface="+mn-cs"/>
              </a:rPr>
              <a:t> </a:t>
            </a:r>
            <a:endParaRPr kumimoji="1" lang="zh-CN"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mn-ea"/>
              <a:ea typeface="+mn-ea"/>
              <a:cs typeface="+mn-cs"/>
            </a:endParaRPr>
          </a:p>
        </p:txBody>
      </p:sp>
    </p:spTree>
  </p:cSld>
  <p:clrMapOvr>
    <a:masterClrMapping/>
  </p:clrMapOvr>
  <p:transition>
    <p:random/>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5714" name="Rectangle 2"/>
          <p:cNvSpPr>
            <a:spLocks noGrp="1"/>
          </p:cNvSpPr>
          <p:nvPr>
            <p:ph type="title"/>
          </p:nvPr>
        </p:nvSpPr>
        <p:spPr/>
        <p:txBody>
          <a:bodyPr vert="horz" wrap="square" lIns="91440" tIns="45720" rIns="91440" bIns="45720" anchor="b" anchorCtr="0"/>
          <a:p>
            <a:pPr eaLnBrk="1" hangingPunct="1"/>
            <a:endParaRPr lang="zh-CN" altLang="zh-CN" dirty="0"/>
          </a:p>
        </p:txBody>
      </p:sp>
      <p:sp>
        <p:nvSpPr>
          <p:cNvPr id="115715" name="Line 4"/>
          <p:cNvSpPr/>
          <p:nvPr/>
        </p:nvSpPr>
        <p:spPr>
          <a:xfrm>
            <a:off x="2843213" y="1773238"/>
            <a:ext cx="0" cy="4176712"/>
          </a:xfrm>
          <a:prstGeom prst="line">
            <a:avLst/>
          </a:prstGeom>
          <a:ln w="28575" cap="flat" cmpd="sng">
            <a:solidFill>
              <a:srgbClr val="000000"/>
            </a:solidFill>
            <a:prstDash val="solid"/>
            <a:headEnd type="none" w="med" len="med"/>
            <a:tailEnd type="arrow" w="med" len="med"/>
          </a:ln>
        </p:spPr>
      </p:sp>
      <p:sp>
        <p:nvSpPr>
          <p:cNvPr id="115716" name="Line 5"/>
          <p:cNvSpPr/>
          <p:nvPr/>
        </p:nvSpPr>
        <p:spPr>
          <a:xfrm>
            <a:off x="5795963" y="1773238"/>
            <a:ext cx="0" cy="4176712"/>
          </a:xfrm>
          <a:prstGeom prst="line">
            <a:avLst/>
          </a:prstGeom>
          <a:ln w="28575" cap="flat" cmpd="sng">
            <a:solidFill>
              <a:srgbClr val="000000"/>
            </a:solidFill>
            <a:prstDash val="solid"/>
            <a:headEnd type="none" w="med" len="med"/>
            <a:tailEnd type="arrow" w="med" len="med"/>
          </a:ln>
        </p:spPr>
      </p:sp>
      <p:sp>
        <p:nvSpPr>
          <p:cNvPr id="115717" name="Line 6"/>
          <p:cNvSpPr/>
          <p:nvPr/>
        </p:nvSpPr>
        <p:spPr>
          <a:xfrm>
            <a:off x="2843213" y="2132013"/>
            <a:ext cx="2952750" cy="865187"/>
          </a:xfrm>
          <a:prstGeom prst="line">
            <a:avLst/>
          </a:prstGeom>
          <a:ln w="19050" cap="flat" cmpd="sng">
            <a:solidFill>
              <a:srgbClr val="FF0000"/>
            </a:solidFill>
            <a:prstDash val="solid"/>
            <a:headEnd type="none" w="med" len="med"/>
            <a:tailEnd type="triangle" w="med" len="med"/>
          </a:ln>
        </p:spPr>
      </p:sp>
      <p:sp>
        <p:nvSpPr>
          <p:cNvPr id="115718" name="Line 7"/>
          <p:cNvSpPr/>
          <p:nvPr/>
        </p:nvSpPr>
        <p:spPr>
          <a:xfrm>
            <a:off x="2843213" y="4221163"/>
            <a:ext cx="2952750" cy="865187"/>
          </a:xfrm>
          <a:prstGeom prst="line">
            <a:avLst/>
          </a:prstGeom>
          <a:ln w="19050" cap="flat" cmpd="sng">
            <a:solidFill>
              <a:srgbClr val="FF0000"/>
            </a:solidFill>
            <a:prstDash val="solid"/>
            <a:headEnd type="none" w="med" len="med"/>
            <a:tailEnd type="triangle" w="med" len="med"/>
          </a:ln>
        </p:spPr>
      </p:sp>
      <p:sp>
        <p:nvSpPr>
          <p:cNvPr id="115719" name="Line 8"/>
          <p:cNvSpPr/>
          <p:nvPr/>
        </p:nvSpPr>
        <p:spPr>
          <a:xfrm flipH="1">
            <a:off x="2843213" y="3068638"/>
            <a:ext cx="2952750" cy="1079500"/>
          </a:xfrm>
          <a:prstGeom prst="line">
            <a:avLst/>
          </a:prstGeom>
          <a:ln w="19050" cap="flat" cmpd="sng">
            <a:solidFill>
              <a:srgbClr val="FF0000"/>
            </a:solidFill>
            <a:prstDash val="solid"/>
            <a:headEnd type="none" w="med" len="med"/>
            <a:tailEnd type="triangle" w="med" len="med"/>
          </a:ln>
        </p:spPr>
      </p:sp>
      <p:sp>
        <p:nvSpPr>
          <p:cNvPr id="115720" name="Text Box 9"/>
          <p:cNvSpPr txBox="1"/>
          <p:nvPr/>
        </p:nvSpPr>
        <p:spPr>
          <a:xfrm>
            <a:off x="2463800" y="1327150"/>
            <a:ext cx="895350" cy="519113"/>
          </a:xfrm>
          <a:prstGeom prst="rect">
            <a:avLst/>
          </a:prstGeom>
          <a:noFill/>
          <a:ln w="12700">
            <a:noFill/>
          </a:ln>
        </p:spPr>
        <p:txBody>
          <a:bodyPr wrap="none">
            <a:spAutoFit/>
          </a:bodyPr>
          <a:p>
            <a:pPr eaLnBrk="1" hangingPunct="1"/>
            <a:r>
              <a:rPr lang="zh-CN" altLang="en-US" sz="2800" b="0" dirty="0">
                <a:solidFill>
                  <a:srgbClr val="000000"/>
                </a:solidFill>
                <a:latin typeface="Arial" panose="020B0604020202020204" pitchFamily="34" charset="0"/>
                <a:ea typeface="华文新魏" panose="02010800040101010101" pitchFamily="2" charset="-122"/>
              </a:rPr>
              <a:t>客户</a:t>
            </a:r>
            <a:endParaRPr lang="zh-CN" altLang="en-US" sz="2800" b="0" dirty="0">
              <a:solidFill>
                <a:srgbClr val="000000"/>
              </a:solidFill>
              <a:latin typeface="Arial" panose="020B0604020202020204" pitchFamily="34" charset="0"/>
              <a:ea typeface="华文新魏" panose="02010800040101010101" pitchFamily="2" charset="-122"/>
            </a:endParaRPr>
          </a:p>
        </p:txBody>
      </p:sp>
      <p:sp>
        <p:nvSpPr>
          <p:cNvPr id="115721" name="Text Box 10"/>
          <p:cNvSpPr txBox="1"/>
          <p:nvPr/>
        </p:nvSpPr>
        <p:spPr>
          <a:xfrm>
            <a:off x="5148263" y="1268413"/>
            <a:ext cx="1250950" cy="519112"/>
          </a:xfrm>
          <a:prstGeom prst="rect">
            <a:avLst/>
          </a:prstGeom>
          <a:noFill/>
          <a:ln w="12700">
            <a:noFill/>
          </a:ln>
        </p:spPr>
        <p:txBody>
          <a:bodyPr wrap="none">
            <a:spAutoFit/>
          </a:bodyPr>
          <a:p>
            <a:pPr eaLnBrk="1" hangingPunct="1"/>
            <a:r>
              <a:rPr lang="zh-CN" altLang="en-US" sz="2800" b="0" dirty="0">
                <a:solidFill>
                  <a:srgbClr val="000000"/>
                </a:solidFill>
                <a:latin typeface="Arial" panose="020B0604020202020204" pitchFamily="34" charset="0"/>
                <a:ea typeface="华文新魏" panose="02010800040101010101" pitchFamily="2" charset="-122"/>
              </a:rPr>
              <a:t>服务器</a:t>
            </a:r>
            <a:endParaRPr lang="zh-CN" altLang="en-US" sz="2800" b="0" dirty="0">
              <a:solidFill>
                <a:srgbClr val="000000"/>
              </a:solidFill>
              <a:latin typeface="Arial" panose="020B0604020202020204" pitchFamily="34" charset="0"/>
              <a:ea typeface="华文新魏" panose="02010800040101010101" pitchFamily="2" charset="-122"/>
            </a:endParaRPr>
          </a:p>
        </p:txBody>
      </p:sp>
      <p:sp>
        <p:nvSpPr>
          <p:cNvPr id="115722" name="Text Box 11"/>
          <p:cNvSpPr txBox="1"/>
          <p:nvPr/>
        </p:nvSpPr>
        <p:spPr>
          <a:xfrm>
            <a:off x="827088" y="1844675"/>
            <a:ext cx="1976437" cy="641350"/>
          </a:xfrm>
          <a:prstGeom prst="rect">
            <a:avLst/>
          </a:prstGeom>
          <a:noFill/>
          <a:ln w="12700">
            <a:noFill/>
          </a:ln>
        </p:spPr>
        <p:txBody>
          <a:bodyPr>
            <a:spAutoFit/>
          </a:bodyPr>
          <a:p>
            <a:pPr algn="r" eaLnBrk="1" hangingPunct="1"/>
            <a:endParaRPr lang="en-US" altLang="zh-CN" sz="1800" b="0" dirty="0">
              <a:solidFill>
                <a:srgbClr val="000000"/>
              </a:solidFill>
              <a:latin typeface="Arial" panose="020B0604020202020204" pitchFamily="34" charset="0"/>
              <a:ea typeface="华文新魏" panose="02010800040101010101" pitchFamily="2" charset="-122"/>
            </a:endParaRPr>
          </a:p>
          <a:p>
            <a:pPr algn="r" eaLnBrk="1" hangingPunct="1"/>
            <a:r>
              <a:rPr lang="en-US" altLang="zh-CN" sz="1800" b="0" dirty="0">
                <a:solidFill>
                  <a:srgbClr val="000000"/>
                </a:solidFill>
                <a:latin typeface="Arial" panose="020B0604020202020204" pitchFamily="34" charset="0"/>
                <a:ea typeface="华文新魏" panose="02010800040101010101" pitchFamily="2" charset="-122"/>
              </a:rPr>
              <a:t>Connect</a:t>
            </a:r>
            <a:r>
              <a:rPr lang="zh-CN" altLang="en-US" sz="1800" b="0" dirty="0">
                <a:solidFill>
                  <a:srgbClr val="000000"/>
                </a:solidFill>
                <a:latin typeface="Arial" panose="020B0604020202020204" pitchFamily="34" charset="0"/>
                <a:ea typeface="华文新魏" panose="02010800040101010101" pitchFamily="2" charset="-122"/>
              </a:rPr>
              <a:t>调用</a:t>
            </a:r>
            <a:endParaRPr lang="zh-CN" altLang="en-US" sz="1800" b="0" dirty="0">
              <a:solidFill>
                <a:srgbClr val="000000"/>
              </a:solidFill>
              <a:latin typeface="Arial" panose="020B0604020202020204" pitchFamily="34" charset="0"/>
              <a:ea typeface="华文新魏" panose="02010800040101010101" pitchFamily="2" charset="-122"/>
            </a:endParaRPr>
          </a:p>
        </p:txBody>
      </p:sp>
      <p:sp>
        <p:nvSpPr>
          <p:cNvPr id="115723" name="Text Box 12"/>
          <p:cNvSpPr txBox="1"/>
          <p:nvPr/>
        </p:nvSpPr>
        <p:spPr>
          <a:xfrm>
            <a:off x="5867400" y="2781300"/>
            <a:ext cx="2592388" cy="366713"/>
          </a:xfrm>
          <a:prstGeom prst="rect">
            <a:avLst/>
          </a:prstGeom>
          <a:noFill/>
          <a:ln w="12700">
            <a:noFill/>
          </a:ln>
        </p:spPr>
        <p:txBody>
          <a:bodyPr>
            <a:spAutoFit/>
          </a:bodyPr>
          <a:p>
            <a:pPr eaLnBrk="1" hangingPunct="1"/>
            <a:r>
              <a:rPr lang="zh-CN" altLang="en-US" sz="1800" b="0" dirty="0">
                <a:solidFill>
                  <a:srgbClr val="000000"/>
                </a:solidFill>
                <a:latin typeface="Arial" panose="020B0604020202020204" pitchFamily="34" charset="0"/>
                <a:ea typeface="华文新魏" panose="02010800040101010101" pitchFamily="2" charset="-122"/>
              </a:rPr>
              <a:t>在未完成队列建立条目</a:t>
            </a:r>
            <a:endParaRPr lang="zh-CN" altLang="en-US" sz="1800" b="0" dirty="0">
              <a:solidFill>
                <a:srgbClr val="000000"/>
              </a:solidFill>
              <a:latin typeface="Arial" panose="020B0604020202020204" pitchFamily="34" charset="0"/>
              <a:ea typeface="华文新魏" panose="02010800040101010101" pitchFamily="2" charset="-122"/>
            </a:endParaRPr>
          </a:p>
        </p:txBody>
      </p:sp>
      <p:sp>
        <p:nvSpPr>
          <p:cNvPr id="115724" name="Text Box 13"/>
          <p:cNvSpPr txBox="1"/>
          <p:nvPr/>
        </p:nvSpPr>
        <p:spPr>
          <a:xfrm>
            <a:off x="3708400" y="2060575"/>
            <a:ext cx="1976438" cy="366713"/>
          </a:xfrm>
          <a:prstGeom prst="rect">
            <a:avLst/>
          </a:prstGeom>
          <a:noFill/>
          <a:ln w="12700">
            <a:noFill/>
          </a:ln>
        </p:spPr>
        <p:txBody>
          <a:bodyPr>
            <a:spAutoFit/>
          </a:bodyPr>
          <a:p>
            <a:pPr eaLnBrk="1" hangingPunct="1"/>
            <a:r>
              <a:rPr lang="en-US" altLang="zh-CN" sz="1800" b="0" dirty="0">
                <a:solidFill>
                  <a:srgbClr val="000000"/>
                </a:solidFill>
                <a:latin typeface="Arial" panose="020B0604020202020204" pitchFamily="34" charset="0"/>
                <a:ea typeface="华文新魏" panose="02010800040101010101" pitchFamily="2" charset="-122"/>
              </a:rPr>
              <a:t>SYN   J</a:t>
            </a:r>
            <a:endParaRPr lang="en-US" altLang="zh-CN" sz="1800" b="0" dirty="0">
              <a:solidFill>
                <a:srgbClr val="000000"/>
              </a:solidFill>
              <a:latin typeface="Arial" panose="020B0604020202020204" pitchFamily="34" charset="0"/>
              <a:ea typeface="华文新魏" panose="02010800040101010101" pitchFamily="2" charset="-122"/>
            </a:endParaRPr>
          </a:p>
        </p:txBody>
      </p:sp>
      <p:sp>
        <p:nvSpPr>
          <p:cNvPr id="115725" name="Text Box 14"/>
          <p:cNvSpPr txBox="1"/>
          <p:nvPr/>
        </p:nvSpPr>
        <p:spPr>
          <a:xfrm>
            <a:off x="3276600" y="3068638"/>
            <a:ext cx="1976438" cy="366712"/>
          </a:xfrm>
          <a:prstGeom prst="rect">
            <a:avLst/>
          </a:prstGeom>
          <a:noFill/>
          <a:ln w="12700">
            <a:noFill/>
          </a:ln>
        </p:spPr>
        <p:txBody>
          <a:bodyPr>
            <a:spAutoFit/>
          </a:bodyPr>
          <a:p>
            <a:pPr eaLnBrk="1" hangingPunct="1"/>
            <a:r>
              <a:rPr lang="en-US" altLang="zh-CN" sz="1800" b="0" dirty="0">
                <a:solidFill>
                  <a:srgbClr val="000000"/>
                </a:solidFill>
                <a:latin typeface="Arial" panose="020B0604020202020204" pitchFamily="34" charset="0"/>
                <a:ea typeface="华文新魏" panose="02010800040101010101" pitchFamily="2" charset="-122"/>
              </a:rPr>
              <a:t>SYN  K,  ack J+1</a:t>
            </a:r>
            <a:endParaRPr lang="en-US" altLang="zh-CN" sz="1800" b="0" dirty="0">
              <a:solidFill>
                <a:srgbClr val="000000"/>
              </a:solidFill>
              <a:latin typeface="Arial" panose="020B0604020202020204" pitchFamily="34" charset="0"/>
              <a:ea typeface="华文新魏" panose="02010800040101010101" pitchFamily="2" charset="-122"/>
            </a:endParaRPr>
          </a:p>
        </p:txBody>
      </p:sp>
      <p:sp>
        <p:nvSpPr>
          <p:cNvPr id="115726" name="Text Box 15"/>
          <p:cNvSpPr txBox="1"/>
          <p:nvPr/>
        </p:nvSpPr>
        <p:spPr>
          <a:xfrm>
            <a:off x="3748088" y="4221163"/>
            <a:ext cx="1976437" cy="366712"/>
          </a:xfrm>
          <a:prstGeom prst="rect">
            <a:avLst/>
          </a:prstGeom>
          <a:noFill/>
          <a:ln w="12700">
            <a:noFill/>
          </a:ln>
        </p:spPr>
        <p:txBody>
          <a:bodyPr>
            <a:spAutoFit/>
          </a:bodyPr>
          <a:p>
            <a:pPr eaLnBrk="1" hangingPunct="1"/>
            <a:r>
              <a:rPr lang="en-US" altLang="zh-CN" sz="1800" b="0" dirty="0">
                <a:solidFill>
                  <a:srgbClr val="000000"/>
                </a:solidFill>
                <a:latin typeface="Arial" panose="020B0604020202020204" pitchFamily="34" charset="0"/>
                <a:ea typeface="华文新魏" panose="02010800040101010101" pitchFamily="2" charset="-122"/>
              </a:rPr>
              <a:t>ack K+1</a:t>
            </a:r>
            <a:endParaRPr lang="en-US" altLang="zh-CN" sz="1800" b="0" dirty="0">
              <a:solidFill>
                <a:srgbClr val="000000"/>
              </a:solidFill>
              <a:latin typeface="Arial" panose="020B0604020202020204" pitchFamily="34" charset="0"/>
              <a:ea typeface="华文新魏" panose="02010800040101010101" pitchFamily="2" charset="-122"/>
            </a:endParaRPr>
          </a:p>
        </p:txBody>
      </p:sp>
      <p:sp>
        <p:nvSpPr>
          <p:cNvPr id="115727" name="Text Box 16"/>
          <p:cNvSpPr txBox="1"/>
          <p:nvPr/>
        </p:nvSpPr>
        <p:spPr>
          <a:xfrm>
            <a:off x="5867400" y="4724400"/>
            <a:ext cx="1976438" cy="915988"/>
          </a:xfrm>
          <a:prstGeom prst="rect">
            <a:avLst/>
          </a:prstGeom>
          <a:noFill/>
          <a:ln w="12700">
            <a:noFill/>
          </a:ln>
        </p:spPr>
        <p:txBody>
          <a:bodyPr>
            <a:spAutoFit/>
          </a:bodyPr>
          <a:p>
            <a:pPr eaLnBrk="1" hangingPunct="1"/>
            <a:r>
              <a:rPr lang="zh-CN" altLang="en-US" sz="1800" b="0" dirty="0">
                <a:solidFill>
                  <a:srgbClr val="000000"/>
                </a:solidFill>
                <a:latin typeface="Arial" panose="020B0604020202020204" pitchFamily="34" charset="0"/>
                <a:ea typeface="华文新魏" panose="02010800040101010101" pitchFamily="2" charset="-122"/>
              </a:rPr>
              <a:t>该条目从未完成队列移至已完成队列，</a:t>
            </a:r>
            <a:r>
              <a:rPr lang="en-US" altLang="zh-CN" sz="1800" b="0" dirty="0">
                <a:solidFill>
                  <a:srgbClr val="000000"/>
                </a:solidFill>
                <a:latin typeface="Arial" panose="020B0604020202020204" pitchFamily="34" charset="0"/>
                <a:ea typeface="华文新魏" panose="02010800040101010101" pitchFamily="2" charset="-122"/>
              </a:rPr>
              <a:t>accept</a:t>
            </a:r>
            <a:endParaRPr lang="en-US" altLang="zh-CN" sz="1800" b="0" dirty="0">
              <a:solidFill>
                <a:srgbClr val="000000"/>
              </a:solidFill>
              <a:latin typeface="Arial" panose="020B0604020202020204" pitchFamily="34" charset="0"/>
              <a:ea typeface="华文新魏" panose="02010800040101010101" pitchFamily="2" charset="-122"/>
            </a:endParaRPr>
          </a:p>
        </p:txBody>
      </p:sp>
      <p:sp>
        <p:nvSpPr>
          <p:cNvPr id="115728" name="Text Box 17"/>
          <p:cNvSpPr txBox="1"/>
          <p:nvPr/>
        </p:nvSpPr>
        <p:spPr>
          <a:xfrm>
            <a:off x="827088" y="3789363"/>
            <a:ext cx="1976437" cy="366712"/>
          </a:xfrm>
          <a:prstGeom prst="rect">
            <a:avLst/>
          </a:prstGeom>
          <a:noFill/>
          <a:ln w="12700">
            <a:noFill/>
          </a:ln>
        </p:spPr>
        <p:txBody>
          <a:bodyPr>
            <a:spAutoFit/>
          </a:bodyPr>
          <a:p>
            <a:pPr algn="r" eaLnBrk="1" hangingPunct="1"/>
            <a:r>
              <a:rPr lang="en-US" altLang="zh-CN" sz="1800" b="0" dirty="0">
                <a:solidFill>
                  <a:srgbClr val="000000"/>
                </a:solidFill>
                <a:latin typeface="Arial" panose="020B0604020202020204" pitchFamily="34" charset="0"/>
                <a:ea typeface="华文新魏" panose="02010800040101010101" pitchFamily="2" charset="-122"/>
              </a:rPr>
              <a:t>Connect</a:t>
            </a:r>
            <a:r>
              <a:rPr lang="zh-CN" altLang="en-US" sz="1800" b="0" dirty="0">
                <a:solidFill>
                  <a:srgbClr val="000000"/>
                </a:solidFill>
                <a:latin typeface="Arial" panose="020B0604020202020204" pitchFamily="34" charset="0"/>
                <a:ea typeface="华文新魏" panose="02010800040101010101" pitchFamily="2" charset="-122"/>
              </a:rPr>
              <a:t>返回</a:t>
            </a:r>
            <a:endParaRPr lang="zh-CN" altLang="en-US" sz="1800" b="0" dirty="0">
              <a:solidFill>
                <a:srgbClr val="000000"/>
              </a:solidFill>
              <a:latin typeface="Arial" panose="020B0604020202020204" pitchFamily="34" charset="0"/>
              <a:ea typeface="华文新魏" panose="02010800040101010101" pitchFamily="2" charset="-122"/>
            </a:endParaRPr>
          </a:p>
        </p:txBody>
      </p:sp>
      <p:sp>
        <p:nvSpPr>
          <p:cNvPr id="115729" name="Text Box 18"/>
          <p:cNvSpPr txBox="1"/>
          <p:nvPr/>
        </p:nvSpPr>
        <p:spPr>
          <a:xfrm>
            <a:off x="2484438" y="6165850"/>
            <a:ext cx="4967287" cy="366713"/>
          </a:xfrm>
          <a:prstGeom prst="rect">
            <a:avLst/>
          </a:prstGeom>
          <a:noFill/>
          <a:ln w="12700">
            <a:noFill/>
          </a:ln>
        </p:spPr>
        <p:txBody>
          <a:bodyPr>
            <a:spAutoFit/>
          </a:bodyPr>
          <a:p>
            <a:pPr eaLnBrk="1" hangingPunct="1"/>
            <a:r>
              <a:rPr lang="en-US" altLang="zh-CN" sz="1800" b="0" dirty="0">
                <a:solidFill>
                  <a:srgbClr val="000000"/>
                </a:solidFill>
                <a:latin typeface="Arial" panose="020B0604020202020204" pitchFamily="34" charset="0"/>
                <a:ea typeface="华文新魏" panose="02010800040101010101" pitchFamily="2" charset="-122"/>
              </a:rPr>
              <a:t>TCP</a:t>
            </a:r>
            <a:r>
              <a:rPr lang="zh-CN" altLang="en-US" sz="1800" b="0" dirty="0">
                <a:solidFill>
                  <a:srgbClr val="000000"/>
                </a:solidFill>
                <a:latin typeface="Arial" panose="020B0604020202020204" pitchFamily="34" charset="0"/>
                <a:ea typeface="华文新魏" panose="02010800040101010101" pitchFamily="2" charset="-122"/>
              </a:rPr>
              <a:t>三路握手和监听套接口的两个队列</a:t>
            </a:r>
            <a:endParaRPr lang="zh-CN" altLang="en-US" sz="1800" b="0" dirty="0">
              <a:solidFill>
                <a:srgbClr val="000000"/>
              </a:solidFill>
              <a:latin typeface="Arial" panose="020B0604020202020204" pitchFamily="34" charset="0"/>
              <a:ea typeface="华文新魏" panose="02010800040101010101" pitchFamily="2" charset="-122"/>
            </a:endParaRPr>
          </a:p>
        </p:txBody>
      </p:sp>
    </p:spTree>
  </p:cSld>
  <p:clrMapOvr>
    <a:masterClrMapping/>
  </p:clrMapOvr>
  <p:transition>
    <p:random/>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7762" name="Rectangle 2"/>
          <p:cNvSpPr>
            <a:spLocks noGrp="1"/>
          </p:cNvSpPr>
          <p:nvPr>
            <p:ph type="title"/>
          </p:nvPr>
        </p:nvSpPr>
        <p:spPr>
          <a:xfrm>
            <a:off x="457200" y="457200"/>
            <a:ext cx="7467600" cy="762000"/>
          </a:xfrm>
        </p:spPr>
        <p:txBody>
          <a:bodyPr vert="horz" wrap="square" lIns="91440" tIns="45720" rIns="91440" bIns="45720" anchor="b" anchorCtr="0"/>
          <a:p>
            <a:pPr eaLnBrk="1" hangingPunct="1"/>
            <a:r>
              <a:rPr lang="en-US" altLang="zh-CN" dirty="0"/>
              <a:t>listen</a:t>
            </a:r>
            <a:r>
              <a:rPr lang="zh-CN" altLang="en-US" dirty="0"/>
              <a:t>函数（续）</a:t>
            </a:r>
            <a:endParaRPr lang="zh-CN" altLang="en-US" dirty="0"/>
          </a:p>
        </p:txBody>
      </p:sp>
      <p:sp>
        <p:nvSpPr>
          <p:cNvPr id="117763" name="Rectangle 3"/>
          <p:cNvSpPr/>
          <p:nvPr/>
        </p:nvSpPr>
        <p:spPr>
          <a:xfrm>
            <a:off x="2557463" y="2825750"/>
            <a:ext cx="358775" cy="360363"/>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Tahoma" panose="020B0604030504040204" pitchFamily="34" charset="0"/>
            </a:endParaRPr>
          </a:p>
        </p:txBody>
      </p:sp>
      <p:sp>
        <p:nvSpPr>
          <p:cNvPr id="117764" name="Rectangle 4"/>
          <p:cNvSpPr/>
          <p:nvPr/>
        </p:nvSpPr>
        <p:spPr>
          <a:xfrm>
            <a:off x="3565525" y="2825750"/>
            <a:ext cx="358775" cy="360363"/>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Tahoma" panose="020B0604030504040204" pitchFamily="34" charset="0"/>
            </a:endParaRPr>
          </a:p>
        </p:txBody>
      </p:sp>
      <p:sp>
        <p:nvSpPr>
          <p:cNvPr id="117765" name="Rectangle 5"/>
          <p:cNvSpPr/>
          <p:nvPr/>
        </p:nvSpPr>
        <p:spPr>
          <a:xfrm>
            <a:off x="2557463" y="3978275"/>
            <a:ext cx="358775" cy="360363"/>
          </a:xfrm>
          <a:prstGeom prst="rect">
            <a:avLst/>
          </a:prstGeom>
          <a:solidFill>
            <a:srgbClr val="99CC00"/>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Tahoma" panose="020B0604030504040204" pitchFamily="34" charset="0"/>
            </a:endParaRPr>
          </a:p>
        </p:txBody>
      </p:sp>
      <p:sp>
        <p:nvSpPr>
          <p:cNvPr id="117766" name="Rectangle 6"/>
          <p:cNvSpPr/>
          <p:nvPr/>
        </p:nvSpPr>
        <p:spPr>
          <a:xfrm>
            <a:off x="3565525" y="3978275"/>
            <a:ext cx="358775" cy="360363"/>
          </a:xfrm>
          <a:prstGeom prst="rect">
            <a:avLst/>
          </a:prstGeom>
          <a:solidFill>
            <a:srgbClr val="99CC00"/>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Tahoma" panose="020B0604030504040204" pitchFamily="34" charset="0"/>
            </a:endParaRPr>
          </a:p>
        </p:txBody>
      </p:sp>
      <p:sp>
        <p:nvSpPr>
          <p:cNvPr id="117767" name="Rectangle 7"/>
          <p:cNvSpPr/>
          <p:nvPr/>
        </p:nvSpPr>
        <p:spPr>
          <a:xfrm>
            <a:off x="4500563" y="3978275"/>
            <a:ext cx="358775" cy="360363"/>
          </a:xfrm>
          <a:prstGeom prst="rect">
            <a:avLst/>
          </a:prstGeom>
          <a:noFill/>
          <a:ln w="9525" cap="flat" cmpd="sng">
            <a:solidFill>
              <a:schemeClr val="tx1"/>
            </a:solidFill>
            <a:prstDash val="dashDot"/>
            <a:miter/>
            <a:headEnd type="none" w="med" len="med"/>
            <a:tailEnd type="none" w="med" len="med"/>
          </a:ln>
        </p:spPr>
        <p:txBody>
          <a:bodyPr wrap="none" anchor="ctr" anchorCtr="0"/>
          <a:p>
            <a:pPr eaLnBrk="1" hangingPunct="1"/>
            <a:endParaRPr lang="zh-CN" altLang="en-US" dirty="0">
              <a:latin typeface="Tahoma" panose="020B0604030504040204" pitchFamily="34" charset="0"/>
            </a:endParaRPr>
          </a:p>
        </p:txBody>
      </p:sp>
      <p:sp>
        <p:nvSpPr>
          <p:cNvPr id="117768" name="Rectangle 8"/>
          <p:cNvSpPr/>
          <p:nvPr/>
        </p:nvSpPr>
        <p:spPr>
          <a:xfrm>
            <a:off x="5365750" y="3978275"/>
            <a:ext cx="358775" cy="360363"/>
          </a:xfrm>
          <a:prstGeom prst="rect">
            <a:avLst/>
          </a:prstGeom>
          <a:solidFill>
            <a:srgbClr val="99CC00"/>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Tahoma" panose="020B0604030504040204" pitchFamily="34" charset="0"/>
            </a:endParaRPr>
          </a:p>
        </p:txBody>
      </p:sp>
      <p:sp>
        <p:nvSpPr>
          <p:cNvPr id="117769" name="Rectangle 9"/>
          <p:cNvSpPr/>
          <p:nvPr/>
        </p:nvSpPr>
        <p:spPr>
          <a:xfrm>
            <a:off x="2268538" y="2465388"/>
            <a:ext cx="3889375" cy="2305050"/>
          </a:xfrm>
          <a:prstGeom prst="rect">
            <a:avLst/>
          </a:prstGeom>
          <a:noFill/>
          <a:ln w="9525" cap="flat" cmpd="sng">
            <a:solidFill>
              <a:schemeClr val="tx1"/>
            </a:solidFill>
            <a:prstDash val="lgDash"/>
            <a:miter/>
            <a:headEnd type="none" w="med" len="med"/>
            <a:tailEnd type="none" w="med" len="med"/>
          </a:ln>
        </p:spPr>
        <p:txBody>
          <a:bodyPr wrap="none" anchor="ctr" anchorCtr="0"/>
          <a:p>
            <a:pPr eaLnBrk="1" hangingPunct="1"/>
            <a:endParaRPr lang="zh-CN" altLang="en-US" dirty="0">
              <a:latin typeface="Tahoma" panose="020B0604030504040204" pitchFamily="34" charset="0"/>
            </a:endParaRPr>
          </a:p>
        </p:txBody>
      </p:sp>
      <p:sp>
        <p:nvSpPr>
          <p:cNvPr id="117770" name="Line 10"/>
          <p:cNvSpPr/>
          <p:nvPr/>
        </p:nvSpPr>
        <p:spPr>
          <a:xfrm flipH="1" flipV="1">
            <a:off x="3781425" y="3186113"/>
            <a:ext cx="863600" cy="792162"/>
          </a:xfrm>
          <a:prstGeom prst="line">
            <a:avLst/>
          </a:prstGeom>
          <a:ln w="9525" cap="flat" cmpd="sng">
            <a:solidFill>
              <a:schemeClr val="tx1"/>
            </a:solidFill>
            <a:prstDash val="solid"/>
            <a:headEnd type="none" w="med" len="med"/>
            <a:tailEnd type="triangle" w="med" len="med"/>
          </a:ln>
        </p:spPr>
      </p:sp>
      <p:sp>
        <p:nvSpPr>
          <p:cNvPr id="117771" name="Text Box 11"/>
          <p:cNvSpPr txBox="1"/>
          <p:nvPr/>
        </p:nvSpPr>
        <p:spPr>
          <a:xfrm>
            <a:off x="3992563" y="3160713"/>
            <a:ext cx="1708150" cy="396875"/>
          </a:xfrm>
          <a:prstGeom prst="rect">
            <a:avLst/>
          </a:prstGeom>
          <a:noFill/>
          <a:ln w="9525">
            <a:noFill/>
          </a:ln>
        </p:spPr>
        <p:txBody>
          <a:bodyPr wrap="none">
            <a:spAutoFit/>
          </a:bodyPr>
          <a:p>
            <a:pPr algn="ctr" eaLnBrk="1" hangingPunct="1"/>
            <a:r>
              <a:rPr lang="zh-CN" altLang="en-US" sz="2000" b="0" dirty="0">
                <a:latin typeface="Arial" panose="020B0604020202020204" pitchFamily="34" charset="0"/>
              </a:rPr>
              <a:t>三路握手完成</a:t>
            </a:r>
            <a:endParaRPr lang="zh-CN" altLang="en-US" sz="2000" b="0" dirty="0">
              <a:latin typeface="Arial" panose="020B0604020202020204" pitchFamily="34" charset="0"/>
            </a:endParaRPr>
          </a:p>
        </p:txBody>
      </p:sp>
      <p:sp>
        <p:nvSpPr>
          <p:cNvPr id="117772" name="Line 12"/>
          <p:cNvSpPr/>
          <p:nvPr/>
        </p:nvSpPr>
        <p:spPr>
          <a:xfrm flipH="1" flipV="1">
            <a:off x="3419475" y="1700213"/>
            <a:ext cx="1588" cy="765175"/>
          </a:xfrm>
          <a:prstGeom prst="line">
            <a:avLst/>
          </a:prstGeom>
          <a:ln w="9525" cap="flat" cmpd="sng">
            <a:solidFill>
              <a:schemeClr val="tx1"/>
            </a:solidFill>
            <a:prstDash val="solid"/>
            <a:headEnd type="none" w="med" len="med"/>
            <a:tailEnd type="none" w="med" len="med"/>
          </a:ln>
        </p:spPr>
      </p:sp>
      <p:sp>
        <p:nvSpPr>
          <p:cNvPr id="117773" name="Line 13"/>
          <p:cNvSpPr/>
          <p:nvPr/>
        </p:nvSpPr>
        <p:spPr>
          <a:xfrm>
            <a:off x="3419475" y="1700213"/>
            <a:ext cx="720725" cy="0"/>
          </a:xfrm>
          <a:prstGeom prst="line">
            <a:avLst/>
          </a:prstGeom>
          <a:ln w="9525" cap="flat" cmpd="sng">
            <a:solidFill>
              <a:schemeClr val="tx1"/>
            </a:solidFill>
            <a:prstDash val="solid"/>
            <a:headEnd type="none" w="med" len="med"/>
            <a:tailEnd type="triangle" w="med" len="med"/>
          </a:ln>
        </p:spPr>
      </p:sp>
      <p:sp>
        <p:nvSpPr>
          <p:cNvPr id="117774" name="Text Box 14"/>
          <p:cNvSpPr txBox="1"/>
          <p:nvPr/>
        </p:nvSpPr>
        <p:spPr>
          <a:xfrm>
            <a:off x="4114800" y="1600200"/>
            <a:ext cx="2160588" cy="701675"/>
          </a:xfrm>
          <a:prstGeom prst="rect">
            <a:avLst/>
          </a:prstGeom>
          <a:noFill/>
          <a:ln w="9525">
            <a:noFill/>
          </a:ln>
        </p:spPr>
        <p:txBody>
          <a:bodyPr>
            <a:spAutoFit/>
          </a:bodyPr>
          <a:p>
            <a:pPr eaLnBrk="1" hangingPunct="1"/>
            <a:r>
              <a:rPr lang="zh-CN" altLang="en-US" sz="2000" b="0" dirty="0">
                <a:latin typeface="Arial" panose="020B0604020202020204" pitchFamily="34" charset="0"/>
              </a:rPr>
              <a:t>两队列之和不能</a:t>
            </a:r>
            <a:endParaRPr lang="zh-CN" altLang="en-US" sz="2000" b="0" dirty="0">
              <a:latin typeface="Arial" panose="020B0604020202020204" pitchFamily="34" charset="0"/>
            </a:endParaRPr>
          </a:p>
          <a:p>
            <a:pPr eaLnBrk="1" hangingPunct="1"/>
            <a:r>
              <a:rPr lang="zh-CN" altLang="en-US" sz="2000" b="0" dirty="0">
                <a:latin typeface="Arial" panose="020B0604020202020204" pitchFamily="34" charset="0"/>
              </a:rPr>
              <a:t>超过</a:t>
            </a:r>
            <a:r>
              <a:rPr lang="en-US" altLang="zh-CN" sz="2000" b="0" dirty="0">
                <a:latin typeface="Arial" panose="020B0604020202020204" pitchFamily="34" charset="0"/>
              </a:rPr>
              <a:t>backlog</a:t>
            </a:r>
            <a:endParaRPr lang="en-US" altLang="zh-CN" sz="2000" b="0" dirty="0">
              <a:latin typeface="Arial" panose="020B0604020202020204" pitchFamily="34" charset="0"/>
            </a:endParaRPr>
          </a:p>
        </p:txBody>
      </p:sp>
      <p:sp>
        <p:nvSpPr>
          <p:cNvPr id="117775" name="AutoShape 15"/>
          <p:cNvSpPr/>
          <p:nvPr/>
        </p:nvSpPr>
        <p:spPr>
          <a:xfrm>
            <a:off x="6373813" y="2465388"/>
            <a:ext cx="71437" cy="1081087"/>
          </a:xfrm>
          <a:prstGeom prst="rightBrace">
            <a:avLst>
              <a:gd name="adj1" fmla="val 126041"/>
              <a:gd name="adj2" fmla="val 50000"/>
            </a:avLst>
          </a:prstGeom>
          <a:noFill/>
          <a:ln w="9525" cap="flat" cmpd="sng">
            <a:solidFill>
              <a:schemeClr val="tx1"/>
            </a:solidFill>
            <a:prstDash val="solid"/>
            <a:headEnd type="none" w="med" len="med"/>
            <a:tailEnd type="none" w="med" len="med"/>
          </a:ln>
        </p:spPr>
        <p:txBody>
          <a:bodyPr wrap="none" anchor="ctr" anchorCtr="0"/>
          <a:p>
            <a:pPr eaLnBrk="1" hangingPunct="1"/>
            <a:endParaRPr lang="zh-CN" altLang="en-US" dirty="0">
              <a:latin typeface="Tahoma" panose="020B0604030504040204" pitchFamily="34" charset="0"/>
            </a:endParaRPr>
          </a:p>
        </p:txBody>
      </p:sp>
      <p:sp>
        <p:nvSpPr>
          <p:cNvPr id="117776" name="AutoShape 16"/>
          <p:cNvSpPr/>
          <p:nvPr/>
        </p:nvSpPr>
        <p:spPr>
          <a:xfrm>
            <a:off x="6373813" y="3617913"/>
            <a:ext cx="71437" cy="1152525"/>
          </a:xfrm>
          <a:prstGeom prst="rightBrace">
            <a:avLst>
              <a:gd name="adj1" fmla="val 134370"/>
              <a:gd name="adj2" fmla="val 50000"/>
            </a:avLst>
          </a:prstGeom>
          <a:noFill/>
          <a:ln w="9525" cap="flat" cmpd="sng">
            <a:solidFill>
              <a:schemeClr val="tx1"/>
            </a:solidFill>
            <a:prstDash val="solid"/>
            <a:headEnd type="none" w="med" len="med"/>
            <a:tailEnd type="none" w="med" len="med"/>
          </a:ln>
        </p:spPr>
        <p:txBody>
          <a:bodyPr wrap="none" anchor="ctr" anchorCtr="0"/>
          <a:p>
            <a:pPr eaLnBrk="1" hangingPunct="1"/>
            <a:endParaRPr lang="zh-CN" altLang="en-US" dirty="0">
              <a:latin typeface="Tahoma" panose="020B0604030504040204" pitchFamily="34" charset="0"/>
            </a:endParaRPr>
          </a:p>
        </p:txBody>
      </p:sp>
      <p:sp>
        <p:nvSpPr>
          <p:cNvPr id="117777" name="Text Box 17"/>
          <p:cNvSpPr txBox="1"/>
          <p:nvPr/>
        </p:nvSpPr>
        <p:spPr>
          <a:xfrm>
            <a:off x="6380163" y="2689225"/>
            <a:ext cx="2368550" cy="641350"/>
          </a:xfrm>
          <a:prstGeom prst="rect">
            <a:avLst/>
          </a:prstGeom>
          <a:solidFill>
            <a:schemeClr val="bg1"/>
          </a:solidFill>
          <a:ln w="9525">
            <a:noFill/>
          </a:ln>
        </p:spPr>
        <p:txBody>
          <a:bodyPr wrap="none">
            <a:spAutoFit/>
          </a:bodyPr>
          <a:p>
            <a:pPr eaLnBrk="1" hangingPunct="1"/>
            <a:r>
              <a:rPr lang="zh-CN" altLang="en-US" sz="1800" b="0" dirty="0">
                <a:latin typeface="Arial" panose="020B0604020202020204" pitchFamily="34" charset="0"/>
              </a:rPr>
              <a:t>已完成连接队列</a:t>
            </a:r>
            <a:endParaRPr lang="zh-CN" altLang="en-US" sz="1800" b="0" dirty="0">
              <a:latin typeface="Arial" panose="020B0604020202020204" pitchFamily="34" charset="0"/>
            </a:endParaRPr>
          </a:p>
          <a:p>
            <a:pPr eaLnBrk="1" hangingPunct="1"/>
            <a:r>
              <a:rPr lang="en-US" altLang="zh-CN" sz="1800" b="0" dirty="0">
                <a:latin typeface="Arial" panose="020B0604020202020204" pitchFamily="34" charset="0"/>
              </a:rPr>
              <a:t>(ESTABLISHED</a:t>
            </a:r>
            <a:r>
              <a:rPr lang="zh-CN" altLang="en-US" sz="1800" b="0" dirty="0">
                <a:latin typeface="Arial" panose="020B0604020202020204" pitchFamily="34" charset="0"/>
              </a:rPr>
              <a:t>状态</a:t>
            </a:r>
            <a:r>
              <a:rPr lang="en-US" altLang="zh-CN" sz="1800" b="0" dirty="0">
                <a:latin typeface="Arial" panose="020B0604020202020204" pitchFamily="34" charset="0"/>
              </a:rPr>
              <a:t>)</a:t>
            </a:r>
            <a:endParaRPr lang="en-US" altLang="zh-CN" sz="1800" b="0" dirty="0">
              <a:latin typeface="Arial" panose="020B0604020202020204" pitchFamily="34" charset="0"/>
            </a:endParaRPr>
          </a:p>
        </p:txBody>
      </p:sp>
      <p:sp>
        <p:nvSpPr>
          <p:cNvPr id="117778" name="Text Box 18"/>
          <p:cNvSpPr txBox="1"/>
          <p:nvPr/>
        </p:nvSpPr>
        <p:spPr>
          <a:xfrm>
            <a:off x="6445250" y="3840163"/>
            <a:ext cx="2038350" cy="641350"/>
          </a:xfrm>
          <a:prstGeom prst="rect">
            <a:avLst/>
          </a:prstGeom>
          <a:solidFill>
            <a:schemeClr val="bg1"/>
          </a:solidFill>
          <a:ln w="9525">
            <a:noFill/>
          </a:ln>
        </p:spPr>
        <p:txBody>
          <a:bodyPr wrap="none">
            <a:spAutoFit/>
          </a:bodyPr>
          <a:p>
            <a:pPr eaLnBrk="1" hangingPunct="1"/>
            <a:r>
              <a:rPr lang="zh-CN" altLang="en-US" sz="1800" b="0" dirty="0">
                <a:latin typeface="Arial" panose="020B0604020202020204" pitchFamily="34" charset="0"/>
              </a:rPr>
              <a:t>未完成连接队列</a:t>
            </a:r>
            <a:endParaRPr lang="zh-CN" altLang="en-US" sz="1800" b="0" dirty="0">
              <a:latin typeface="Arial" panose="020B0604020202020204" pitchFamily="34" charset="0"/>
            </a:endParaRPr>
          </a:p>
          <a:p>
            <a:pPr eaLnBrk="1" hangingPunct="1"/>
            <a:r>
              <a:rPr lang="en-US" altLang="zh-CN" sz="1800" b="0" dirty="0">
                <a:latin typeface="Arial" panose="020B0604020202020204" pitchFamily="34" charset="0"/>
              </a:rPr>
              <a:t>(SYN_RCVD</a:t>
            </a:r>
            <a:r>
              <a:rPr lang="zh-CN" altLang="en-US" sz="1800" b="0" dirty="0">
                <a:latin typeface="Arial" panose="020B0604020202020204" pitchFamily="34" charset="0"/>
              </a:rPr>
              <a:t>状态</a:t>
            </a:r>
            <a:r>
              <a:rPr lang="en-US" altLang="zh-CN" sz="1800" b="0" dirty="0">
                <a:latin typeface="Arial" panose="020B0604020202020204" pitchFamily="34" charset="0"/>
              </a:rPr>
              <a:t>)</a:t>
            </a:r>
            <a:endParaRPr lang="en-US" altLang="zh-CN" sz="1800" b="0" dirty="0">
              <a:latin typeface="Arial" panose="020B0604020202020204" pitchFamily="34" charset="0"/>
            </a:endParaRPr>
          </a:p>
        </p:txBody>
      </p:sp>
      <p:sp>
        <p:nvSpPr>
          <p:cNvPr id="117779" name="Line 19"/>
          <p:cNvSpPr/>
          <p:nvPr/>
        </p:nvSpPr>
        <p:spPr>
          <a:xfrm flipV="1">
            <a:off x="5581650" y="4338638"/>
            <a:ext cx="0" cy="719137"/>
          </a:xfrm>
          <a:prstGeom prst="line">
            <a:avLst/>
          </a:prstGeom>
          <a:ln w="9525" cap="flat" cmpd="sng">
            <a:solidFill>
              <a:schemeClr val="tx1"/>
            </a:solidFill>
            <a:prstDash val="solid"/>
            <a:headEnd type="none" w="med" len="med"/>
            <a:tailEnd type="triangle" w="med" len="med"/>
          </a:ln>
        </p:spPr>
      </p:sp>
      <p:sp>
        <p:nvSpPr>
          <p:cNvPr id="117780" name="Text Box 20"/>
          <p:cNvSpPr txBox="1"/>
          <p:nvPr/>
        </p:nvSpPr>
        <p:spPr>
          <a:xfrm>
            <a:off x="4495800" y="5078413"/>
            <a:ext cx="2025650" cy="366712"/>
          </a:xfrm>
          <a:prstGeom prst="rect">
            <a:avLst/>
          </a:prstGeom>
          <a:noFill/>
          <a:ln w="9525">
            <a:noFill/>
          </a:ln>
        </p:spPr>
        <p:txBody>
          <a:bodyPr wrap="none">
            <a:spAutoFit/>
          </a:bodyPr>
          <a:p>
            <a:pPr algn="ctr" eaLnBrk="1" hangingPunct="1"/>
            <a:r>
              <a:rPr lang="zh-CN" altLang="en-US" sz="1800" b="0" dirty="0">
                <a:latin typeface="Arial" panose="020B0604020202020204" pitchFamily="34" charset="0"/>
              </a:rPr>
              <a:t>新到达的</a:t>
            </a:r>
            <a:r>
              <a:rPr lang="en-US" altLang="zh-CN" sz="1800" b="0" dirty="0">
                <a:latin typeface="Arial" panose="020B0604020202020204" pitchFamily="34" charset="0"/>
              </a:rPr>
              <a:t>SYN</a:t>
            </a:r>
            <a:r>
              <a:rPr lang="zh-CN" altLang="en-US" sz="1800" b="0" dirty="0">
                <a:latin typeface="Arial" panose="020B0604020202020204" pitchFamily="34" charset="0"/>
              </a:rPr>
              <a:t>分节</a:t>
            </a:r>
            <a:endParaRPr lang="zh-CN" altLang="en-US" sz="1800" b="0" dirty="0">
              <a:latin typeface="Arial" panose="020B0604020202020204" pitchFamily="34" charset="0"/>
            </a:endParaRPr>
          </a:p>
        </p:txBody>
      </p:sp>
      <p:sp>
        <p:nvSpPr>
          <p:cNvPr id="117781" name="Text Box 21"/>
          <p:cNvSpPr txBox="1"/>
          <p:nvPr/>
        </p:nvSpPr>
        <p:spPr>
          <a:xfrm>
            <a:off x="741363" y="1801813"/>
            <a:ext cx="879475" cy="376237"/>
          </a:xfrm>
          <a:prstGeom prst="rect">
            <a:avLst/>
          </a:prstGeom>
          <a:noFill/>
          <a:ln w="9525" cap="flat" cmpd="sng">
            <a:solidFill>
              <a:srgbClr val="080808"/>
            </a:solidFill>
            <a:prstDash val="solid"/>
            <a:miter/>
            <a:headEnd type="none" w="med" len="med"/>
            <a:tailEnd type="none" w="med" len="med"/>
          </a:ln>
        </p:spPr>
        <p:txBody>
          <a:bodyPr wrap="none">
            <a:spAutoFit/>
          </a:bodyPr>
          <a:p>
            <a:pPr algn="ctr" eaLnBrk="1" hangingPunct="1"/>
            <a:r>
              <a:rPr lang="zh-CN" altLang="en-US" sz="1800" b="0" dirty="0">
                <a:latin typeface="Arial" panose="020B0604020202020204" pitchFamily="34" charset="0"/>
              </a:rPr>
              <a:t>服务器</a:t>
            </a:r>
            <a:endParaRPr lang="zh-CN" altLang="en-US" sz="1800" b="0" dirty="0">
              <a:latin typeface="Arial" panose="020B0604020202020204" pitchFamily="34" charset="0"/>
            </a:endParaRPr>
          </a:p>
        </p:txBody>
      </p:sp>
      <p:sp>
        <p:nvSpPr>
          <p:cNvPr id="117782" name="Text Box 22"/>
          <p:cNvSpPr txBox="1"/>
          <p:nvPr/>
        </p:nvSpPr>
        <p:spPr>
          <a:xfrm>
            <a:off x="681038" y="3925888"/>
            <a:ext cx="650875" cy="376237"/>
          </a:xfrm>
          <a:prstGeom prst="rect">
            <a:avLst/>
          </a:prstGeom>
          <a:noFill/>
          <a:ln w="9525" cap="flat" cmpd="sng">
            <a:solidFill>
              <a:srgbClr val="080808"/>
            </a:solidFill>
            <a:prstDash val="solid"/>
            <a:miter/>
            <a:headEnd type="none" w="med" len="med"/>
            <a:tailEnd type="none" w="med" len="med"/>
          </a:ln>
        </p:spPr>
        <p:txBody>
          <a:bodyPr wrap="none">
            <a:spAutoFit/>
          </a:bodyPr>
          <a:p>
            <a:pPr algn="ctr" eaLnBrk="1" hangingPunct="1"/>
            <a:r>
              <a:rPr lang="en-US" altLang="zh-CN" sz="1800" b="0" dirty="0">
                <a:latin typeface="Arial" panose="020B0604020202020204" pitchFamily="34" charset="0"/>
              </a:rPr>
              <a:t>TCP</a:t>
            </a:r>
            <a:endParaRPr lang="en-US" altLang="zh-CN" sz="1800" b="0" dirty="0">
              <a:latin typeface="Arial" panose="020B0604020202020204" pitchFamily="34" charset="0"/>
            </a:endParaRPr>
          </a:p>
        </p:txBody>
      </p:sp>
      <p:sp>
        <p:nvSpPr>
          <p:cNvPr id="117783" name="Line 23"/>
          <p:cNvSpPr/>
          <p:nvPr/>
        </p:nvSpPr>
        <p:spPr>
          <a:xfrm flipH="1" flipV="1">
            <a:off x="1476375" y="2178050"/>
            <a:ext cx="1223963" cy="647700"/>
          </a:xfrm>
          <a:prstGeom prst="line">
            <a:avLst/>
          </a:prstGeom>
          <a:ln w="9525" cap="flat" cmpd="sng">
            <a:solidFill>
              <a:schemeClr val="tx1"/>
            </a:solidFill>
            <a:prstDash val="solid"/>
            <a:headEnd type="none" w="med" len="med"/>
            <a:tailEnd type="triangle" w="med" len="med"/>
          </a:ln>
        </p:spPr>
      </p:sp>
      <p:sp>
        <p:nvSpPr>
          <p:cNvPr id="117784" name="Text Box 24"/>
          <p:cNvSpPr txBox="1"/>
          <p:nvPr/>
        </p:nvSpPr>
        <p:spPr>
          <a:xfrm>
            <a:off x="1050925" y="2393950"/>
            <a:ext cx="857250" cy="366713"/>
          </a:xfrm>
          <a:prstGeom prst="rect">
            <a:avLst/>
          </a:prstGeom>
          <a:noFill/>
          <a:ln w="9525">
            <a:noFill/>
          </a:ln>
        </p:spPr>
        <p:txBody>
          <a:bodyPr wrap="none">
            <a:spAutoFit/>
          </a:bodyPr>
          <a:p>
            <a:pPr algn="ctr" eaLnBrk="1" hangingPunct="1"/>
            <a:r>
              <a:rPr lang="en-US" altLang="zh-CN" sz="1800" b="0" dirty="0">
                <a:latin typeface="Arial" panose="020B0604020202020204" pitchFamily="34" charset="0"/>
              </a:rPr>
              <a:t>accept</a:t>
            </a:r>
            <a:endParaRPr lang="en-US" altLang="zh-CN" sz="1800" b="0" dirty="0">
              <a:latin typeface="Arial" panose="020B0604020202020204" pitchFamily="34" charset="0"/>
            </a:endParaRPr>
          </a:p>
        </p:txBody>
      </p:sp>
      <p:sp>
        <p:nvSpPr>
          <p:cNvPr id="209945" name="Text Box 25"/>
          <p:cNvSpPr txBox="1">
            <a:spLocks noChangeArrowheads="1"/>
          </p:cNvSpPr>
          <p:nvPr/>
        </p:nvSpPr>
        <p:spPr bwMode="auto">
          <a:xfrm>
            <a:off x="2024063" y="5749925"/>
            <a:ext cx="4852988" cy="457200"/>
          </a:xfrm>
          <a:prstGeom prst="rect">
            <a:avLst/>
          </a:prstGeom>
          <a:noFill/>
          <a:ln>
            <a:noFill/>
          </a:ln>
          <a:effectLst/>
        </p:spPr>
        <p:txBody>
          <a:bodyPr wrap="none">
            <a:spAutoFit/>
          </a:bodyPr>
          <a:lstStyle/>
          <a:p>
            <a:pPr marR="0" algn="ctr" defTabSz="914400" eaLnBrk="1" hangingPunct="1">
              <a:buClrTx/>
              <a:buSzTx/>
              <a:buFontTx/>
              <a:buNone/>
              <a:defRPr/>
            </a:pPr>
            <a:r>
              <a:rPr kumimoji="0" lang="en-US" altLang="zh-CN" b="0" kern="1200" cap="none" spc="0" normalizeH="0" baseline="0" noProof="0">
                <a:solidFill>
                  <a:schemeClr val="folHlink"/>
                </a:solidFill>
                <a:effectLst>
                  <a:outerShdw blurRad="38100" dist="38100" dir="2700000" algn="tl">
                    <a:srgbClr val="C0C0C0"/>
                  </a:outerShdw>
                </a:effectLst>
                <a:latin typeface="方正剪纸简体" pitchFamily="65" charset="-122"/>
                <a:ea typeface="方正剪纸简体" pitchFamily="65" charset="-122"/>
                <a:cs typeface="+mn-cs"/>
              </a:rPr>
              <a:t>TCP</a:t>
            </a:r>
            <a:r>
              <a:rPr kumimoji="0" lang="zh-CN" altLang="en-US" b="0" kern="1200" cap="none" spc="0" normalizeH="0" baseline="0" noProof="0">
                <a:solidFill>
                  <a:schemeClr val="folHlink"/>
                </a:solidFill>
                <a:effectLst>
                  <a:outerShdw blurRad="38100" dist="38100" dir="2700000" algn="tl">
                    <a:srgbClr val="C0C0C0"/>
                  </a:outerShdw>
                </a:effectLst>
                <a:latin typeface="方正剪纸简体" pitchFamily="65" charset="-122"/>
                <a:ea typeface="方正剪纸简体" pitchFamily="65" charset="-122"/>
                <a:cs typeface="+mn-cs"/>
              </a:rPr>
              <a:t>为监听套接口维护的两个队列</a:t>
            </a:r>
            <a:endParaRPr kumimoji="0" lang="zh-CN" altLang="en-US" b="0" kern="1200" cap="none" spc="0" normalizeH="0" baseline="0" noProof="0">
              <a:solidFill>
                <a:schemeClr val="folHlink"/>
              </a:solidFill>
              <a:effectLst>
                <a:outerShdw blurRad="38100" dist="38100" dir="2700000" algn="tl">
                  <a:srgbClr val="C0C0C0"/>
                </a:outerShdw>
              </a:effectLst>
              <a:latin typeface="方正剪纸简体" pitchFamily="65" charset="-122"/>
              <a:ea typeface="方正剪纸简体" pitchFamily="65" charset="-122"/>
              <a:cs typeface="+mn-cs"/>
            </a:endParaRPr>
          </a:p>
        </p:txBody>
      </p:sp>
    </p:spTree>
  </p:cSld>
  <p:clrMapOvr>
    <a:masterClrMapping/>
  </p:clrMapOvr>
  <p:transition>
    <p:random/>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9810" name="Rectangle 2"/>
          <p:cNvSpPr>
            <a:spLocks noGrp="1"/>
          </p:cNvSpPr>
          <p:nvPr>
            <p:ph type="title"/>
          </p:nvPr>
        </p:nvSpPr>
        <p:spPr>
          <a:xfrm>
            <a:off x="971550" y="620713"/>
            <a:ext cx="7793038" cy="484187"/>
          </a:xfrm>
        </p:spPr>
        <p:txBody>
          <a:bodyPr vert="horz" wrap="square" lIns="91440" tIns="45720" rIns="91440" bIns="45720" anchor="b" anchorCtr="0"/>
          <a:p>
            <a:pPr eaLnBrk="1" hangingPunct="1"/>
            <a:r>
              <a:rPr lang="en-US" altLang="zh-CN" dirty="0"/>
              <a:t>listen</a:t>
            </a:r>
            <a:r>
              <a:rPr lang="zh-CN" altLang="en-US" dirty="0"/>
              <a:t>函数（续）</a:t>
            </a:r>
            <a:endParaRPr lang="zh-CN" altLang="en-US" dirty="0"/>
          </a:p>
        </p:txBody>
      </p:sp>
      <p:sp>
        <p:nvSpPr>
          <p:cNvPr id="210947" name="Rectangle 3"/>
          <p:cNvSpPr>
            <a:spLocks noGrp="1" noChangeArrowheads="1"/>
          </p:cNvSpPr>
          <p:nvPr>
            <p:ph idx="1"/>
          </p:nvPr>
        </p:nvSpPr>
        <p:spPr>
          <a:xfrm>
            <a:off x="827088" y="1484313"/>
            <a:ext cx="8066088" cy="3840163"/>
          </a:xfrm>
        </p:spPr>
        <p:txBody>
          <a:bodyPr vert="horz" wrap="square" lIns="91440" tIns="45720" rIns="91440" bIns="45720" numCol="1" anchor="t" anchorCtr="0" compatLnSpc="1"/>
          <a:lstStyle/>
          <a:p>
            <a:pPr marL="342900" marR="0" lvl="0" indent="-34290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None/>
              <a:defRPr/>
            </a:pPr>
            <a:r>
              <a:rPr kumimoji="0" lang="zh-CN" altLang="en-US" sz="2000" b="0" i="0" u="none" strike="noStrike" kern="0" cap="none" spc="0" normalizeH="0" baseline="0" noProof="0">
                <a:ln>
                  <a:noFill/>
                </a:ln>
                <a:solidFill>
                  <a:schemeClr val="tx1"/>
                </a:solidFill>
                <a:effectLst/>
                <a:uLnTx/>
                <a:uFillTx/>
                <a:latin typeface="+mn-lt"/>
                <a:ea typeface="+mn-ea"/>
                <a:cs typeface="+mn-cs"/>
              </a:rPr>
              <a:t>另外几点说明：</a:t>
            </a:r>
            <a:endParaRPr kumimoji="0" lang="zh-CN" altLang="en-US" sz="2000" b="0" i="0" u="none" strike="noStrike" kern="0" cap="none" spc="0" normalizeH="0" baseline="0" noProof="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Char char="n"/>
              <a:defRPr/>
            </a:pPr>
            <a:r>
              <a:rPr kumimoji="0" lang="zh-CN" altLang="en-US" sz="2400" b="0" i="0" u="none" strike="noStrike" kern="0" cap="none" spc="0" normalizeH="0" baseline="0" noProof="0">
                <a:ln>
                  <a:noFill/>
                </a:ln>
                <a:solidFill>
                  <a:schemeClr val="tx1"/>
                </a:solidFill>
                <a:effectLst/>
                <a:uLnTx/>
                <a:uFillTx/>
                <a:latin typeface="+mn-lt"/>
                <a:ea typeface="+mn-ea"/>
                <a:cs typeface="+mn-cs"/>
              </a:rPr>
              <a:t>不同的实现对</a:t>
            </a:r>
            <a:r>
              <a:rPr kumimoji="0" lang="en-US" altLang="zh-CN" sz="2400" b="0" i="0" u="none" strike="noStrike" kern="0" cap="none" spc="0" normalizeH="0" baseline="0" noProof="0">
                <a:ln>
                  <a:noFill/>
                </a:ln>
                <a:solidFill>
                  <a:schemeClr val="tx1"/>
                </a:solidFill>
                <a:effectLst/>
                <a:uLnTx/>
                <a:uFillTx/>
                <a:latin typeface="+mn-lt"/>
                <a:ea typeface="+mn-ea"/>
                <a:cs typeface="+mn-cs"/>
              </a:rPr>
              <a:t>backlog</a:t>
            </a:r>
            <a:r>
              <a:rPr kumimoji="0" lang="zh-CN" altLang="en-US" sz="2400" b="0" i="0" u="none" strike="noStrike" kern="0" cap="none" spc="0" normalizeH="0" baseline="0" noProof="0">
                <a:ln>
                  <a:noFill/>
                </a:ln>
                <a:solidFill>
                  <a:schemeClr val="tx1"/>
                </a:solidFill>
                <a:effectLst/>
                <a:uLnTx/>
                <a:uFillTx/>
                <a:latin typeface="+mn-lt"/>
                <a:ea typeface="+mn-ea"/>
                <a:cs typeface="+mn-cs"/>
              </a:rPr>
              <a:t>有不同的解释，如源自</a:t>
            </a:r>
            <a:r>
              <a:rPr kumimoji="0" lang="en-US" altLang="zh-CN" sz="2400" b="0" i="0" u="none" strike="noStrike" kern="0" cap="none" spc="0" normalizeH="0" baseline="0" noProof="0">
                <a:ln>
                  <a:noFill/>
                </a:ln>
                <a:solidFill>
                  <a:schemeClr val="tx1"/>
                </a:solidFill>
                <a:effectLst/>
                <a:uLnTx/>
                <a:uFillTx/>
                <a:latin typeface="+mn-lt"/>
                <a:ea typeface="+mn-ea"/>
                <a:cs typeface="+mn-cs"/>
              </a:rPr>
              <a:t>Berkeley</a:t>
            </a:r>
            <a:r>
              <a:rPr kumimoji="0" lang="zh-CN" altLang="en-US" sz="2400" b="0" i="0" u="none" strike="noStrike" kern="0" cap="none" spc="0" normalizeH="0" baseline="0" noProof="0">
                <a:ln>
                  <a:noFill/>
                </a:ln>
                <a:solidFill>
                  <a:schemeClr val="tx1"/>
                </a:solidFill>
                <a:effectLst/>
                <a:uLnTx/>
                <a:uFillTx/>
                <a:latin typeface="+mn-lt"/>
                <a:ea typeface="+mn-ea"/>
                <a:cs typeface="+mn-cs"/>
              </a:rPr>
              <a:t>的实现将</a:t>
            </a:r>
            <a:r>
              <a:rPr kumimoji="0" lang="en-US" altLang="zh-CN" sz="2400" b="0" i="0" u="none" strike="noStrike" kern="0" cap="none" spc="0" normalizeH="0" baseline="0" noProof="0">
                <a:ln>
                  <a:noFill/>
                </a:ln>
                <a:solidFill>
                  <a:schemeClr val="tx1"/>
                </a:solidFill>
                <a:effectLst/>
                <a:uLnTx/>
                <a:uFillTx/>
                <a:latin typeface="+mn-lt"/>
                <a:ea typeface="+mn-ea"/>
                <a:cs typeface="+mn-cs"/>
              </a:rPr>
              <a:t>backlog</a:t>
            </a:r>
            <a:r>
              <a:rPr kumimoji="0" lang="zh-CN" altLang="en-US" sz="2400" b="0" i="0" u="none" strike="noStrike" kern="0" cap="none" spc="0" normalizeH="0" baseline="0" noProof="0">
                <a:ln>
                  <a:noFill/>
                </a:ln>
                <a:solidFill>
                  <a:schemeClr val="tx1"/>
                </a:solidFill>
                <a:effectLst/>
                <a:uLnTx/>
                <a:uFillTx/>
                <a:latin typeface="+mn-lt"/>
                <a:ea typeface="+mn-ea"/>
                <a:cs typeface="+mn-cs"/>
              </a:rPr>
              <a:t>增加一个模糊因子，把它乘以</a:t>
            </a:r>
            <a:r>
              <a:rPr kumimoji="0" lang="en-US" altLang="zh-CN" sz="2400" b="0" i="0" u="none" strike="noStrike" kern="0" cap="none" spc="0" normalizeH="0" baseline="0" noProof="0">
                <a:ln>
                  <a:noFill/>
                </a:ln>
                <a:solidFill>
                  <a:schemeClr val="tx1"/>
                </a:solidFill>
                <a:effectLst/>
                <a:uLnTx/>
                <a:uFillTx/>
                <a:latin typeface="+mn-lt"/>
                <a:ea typeface="+mn-ea"/>
                <a:cs typeface="+mn-cs"/>
              </a:rPr>
              <a:t>1.5</a:t>
            </a:r>
            <a:r>
              <a:rPr kumimoji="0" lang="zh-CN" altLang="en-US" sz="2400" b="0" i="0" u="none" strike="noStrike" kern="0" cap="none" spc="0" normalizeH="0" baseline="0" noProof="0">
                <a:ln>
                  <a:noFill/>
                </a:ln>
                <a:solidFill>
                  <a:schemeClr val="tx1"/>
                </a:solidFill>
                <a:effectLst/>
                <a:uLnTx/>
                <a:uFillTx/>
                <a:latin typeface="+mn-lt"/>
                <a:ea typeface="+mn-ea"/>
                <a:cs typeface="+mn-cs"/>
              </a:rPr>
              <a:t>，再作为两个队列之和；</a:t>
            </a:r>
            <a:endParaRPr kumimoji="0" lang="zh-CN" altLang="en-US" sz="2400" b="0" i="0" u="none" strike="noStrike" kern="0" cap="none" spc="0" normalizeH="0" baseline="0" noProof="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Char char="n"/>
              <a:defRPr/>
            </a:pPr>
            <a:r>
              <a:rPr kumimoji="0" lang="zh-CN" altLang="en-US" sz="2400" b="0" i="0" u="none" strike="noStrike" kern="0" cap="none" spc="0" normalizeH="0" baseline="0" noProof="0">
                <a:ln>
                  <a:noFill/>
                </a:ln>
                <a:solidFill>
                  <a:schemeClr val="tx1"/>
                </a:solidFill>
                <a:effectLst/>
                <a:uLnTx/>
                <a:uFillTx/>
                <a:latin typeface="+mn-lt"/>
                <a:ea typeface="+mn-ea"/>
                <a:cs typeface="+mn-cs"/>
              </a:rPr>
              <a:t>不要把</a:t>
            </a:r>
            <a:r>
              <a:rPr kumimoji="0" lang="en-US" altLang="zh-CN" sz="2400" b="0" i="0" u="none" strike="noStrike" kern="0" cap="none" spc="0" normalizeH="0" baseline="0" noProof="0">
                <a:ln>
                  <a:noFill/>
                </a:ln>
                <a:solidFill>
                  <a:schemeClr val="tx1"/>
                </a:solidFill>
                <a:effectLst/>
                <a:uLnTx/>
                <a:uFillTx/>
                <a:latin typeface="+mn-lt"/>
                <a:ea typeface="+mn-ea"/>
                <a:cs typeface="+mn-cs"/>
              </a:rPr>
              <a:t>backlog</a:t>
            </a:r>
            <a:r>
              <a:rPr kumimoji="0" lang="zh-CN" altLang="en-US" sz="2400" b="0" i="0" u="none" strike="noStrike" kern="0" cap="none" spc="0" normalizeH="0" baseline="0" noProof="0">
                <a:ln>
                  <a:noFill/>
                </a:ln>
                <a:solidFill>
                  <a:schemeClr val="tx1"/>
                </a:solidFill>
                <a:effectLst/>
                <a:uLnTx/>
                <a:uFillTx/>
                <a:latin typeface="+mn-lt"/>
                <a:ea typeface="+mn-ea"/>
                <a:cs typeface="+mn-cs"/>
              </a:rPr>
              <a:t>定义为</a:t>
            </a:r>
            <a:r>
              <a:rPr kumimoji="0" lang="en-US" altLang="zh-CN" sz="2400" b="0" i="0" u="none" strike="noStrike" kern="0" cap="none" spc="0" normalizeH="0" baseline="0" noProof="0">
                <a:ln>
                  <a:noFill/>
                </a:ln>
                <a:solidFill>
                  <a:schemeClr val="tx1"/>
                </a:solidFill>
                <a:effectLst/>
                <a:uLnTx/>
                <a:uFillTx/>
                <a:latin typeface="+mn-lt"/>
                <a:ea typeface="+mn-ea"/>
                <a:cs typeface="+mn-cs"/>
              </a:rPr>
              <a:t>0</a:t>
            </a:r>
            <a:r>
              <a:rPr kumimoji="0" lang="zh-CN" altLang="en-US" sz="2400" b="0" i="0" u="none" strike="noStrike" kern="0" cap="none" spc="0" normalizeH="0" baseline="0" noProof="0">
                <a:ln>
                  <a:noFill/>
                </a:ln>
                <a:solidFill>
                  <a:schemeClr val="tx1"/>
                </a:solidFill>
                <a:effectLst/>
                <a:uLnTx/>
                <a:uFillTx/>
                <a:latin typeface="+mn-lt"/>
                <a:ea typeface="+mn-ea"/>
                <a:cs typeface="+mn-cs"/>
              </a:rPr>
              <a:t>，因为不同的操作系统下对这个参数有不同解释；</a:t>
            </a:r>
            <a:endParaRPr kumimoji="0" lang="zh-CN" altLang="en-US" sz="2400" b="0" i="0" u="none" strike="noStrike" kern="0" cap="none" spc="0" normalizeH="0" baseline="0" noProof="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Char char="n"/>
              <a:defRPr/>
            </a:pPr>
            <a:r>
              <a:rPr kumimoji="0" lang="zh-CN" altLang="en-US" sz="2400" b="0" i="0" u="none" strike="noStrike" kern="0" cap="none" spc="0" normalizeH="0" baseline="0" noProof="0">
                <a:ln>
                  <a:noFill/>
                </a:ln>
                <a:solidFill>
                  <a:schemeClr val="tx1"/>
                </a:solidFill>
                <a:effectLst/>
                <a:uLnTx/>
                <a:uFillTx/>
                <a:latin typeface="+mn-lt"/>
                <a:ea typeface="+mn-ea"/>
                <a:cs typeface="+mn-cs"/>
              </a:rPr>
              <a:t>当一个客户</a:t>
            </a:r>
            <a:r>
              <a:rPr kumimoji="0" lang="en-US" altLang="zh-CN" sz="2400" b="0" i="0" u="none" strike="noStrike" kern="0" cap="none" spc="0" normalizeH="0" baseline="0" noProof="0">
                <a:ln>
                  <a:noFill/>
                </a:ln>
                <a:solidFill>
                  <a:schemeClr val="tx1"/>
                </a:solidFill>
                <a:effectLst/>
                <a:uLnTx/>
                <a:uFillTx/>
                <a:latin typeface="+mn-lt"/>
                <a:ea typeface="+mn-ea"/>
                <a:cs typeface="+mn-cs"/>
              </a:rPr>
              <a:t>SYN</a:t>
            </a:r>
            <a:r>
              <a:rPr kumimoji="0" lang="zh-CN" altLang="en-US" sz="2400" b="0" i="0" u="none" strike="noStrike" kern="0" cap="none" spc="0" normalizeH="0" baseline="0" noProof="0">
                <a:ln>
                  <a:noFill/>
                </a:ln>
                <a:solidFill>
                  <a:schemeClr val="tx1"/>
                </a:solidFill>
                <a:effectLst/>
                <a:uLnTx/>
                <a:uFillTx/>
                <a:latin typeface="+mn-lt"/>
                <a:ea typeface="+mn-ea"/>
                <a:cs typeface="+mn-cs"/>
              </a:rPr>
              <a:t>到达时，若两个队列都是满的，</a:t>
            </a:r>
            <a:r>
              <a:rPr kumimoji="0" lang="en-US" altLang="zh-CN" sz="2400" b="0" i="0" u="none" strike="noStrike" kern="0" cap="none" spc="0" normalizeH="0" baseline="0" noProof="0">
                <a:ln>
                  <a:noFill/>
                </a:ln>
                <a:solidFill>
                  <a:schemeClr val="tx1"/>
                </a:solidFill>
                <a:effectLst/>
                <a:uLnTx/>
                <a:uFillTx/>
                <a:latin typeface="+mn-lt"/>
                <a:ea typeface="+mn-ea"/>
                <a:cs typeface="+mn-cs"/>
              </a:rPr>
              <a:t>tcp</a:t>
            </a:r>
            <a:r>
              <a:rPr kumimoji="0" lang="zh-CN" altLang="en-US" sz="2400" b="0" i="0" u="none" strike="noStrike" kern="0" cap="none" spc="0" normalizeH="0" baseline="0" noProof="0">
                <a:ln>
                  <a:noFill/>
                </a:ln>
                <a:solidFill>
                  <a:schemeClr val="tx1"/>
                </a:solidFill>
                <a:effectLst/>
                <a:uLnTx/>
                <a:uFillTx/>
                <a:latin typeface="+mn-lt"/>
                <a:ea typeface="+mn-ea"/>
                <a:cs typeface="+mn-cs"/>
              </a:rPr>
              <a:t>就忽略此分节，且不发送</a:t>
            </a:r>
            <a:r>
              <a:rPr kumimoji="0" lang="en-US" altLang="zh-CN" sz="2400" b="0" i="0" u="none" strike="noStrike" kern="0" cap="none" spc="0" normalizeH="0" baseline="0" noProof="0">
                <a:ln>
                  <a:noFill/>
                </a:ln>
                <a:solidFill>
                  <a:schemeClr val="tx1"/>
                </a:solidFill>
                <a:effectLst/>
                <a:uLnTx/>
                <a:uFillTx/>
                <a:latin typeface="+mn-lt"/>
                <a:ea typeface="+mn-ea"/>
                <a:cs typeface="+mn-cs"/>
              </a:rPr>
              <a:t>RST</a:t>
            </a:r>
            <a:r>
              <a:rPr kumimoji="0" lang="zh-CN" altLang="en-US" sz="2400" b="0" i="0" u="none" strike="noStrike" kern="0" cap="none" spc="0" normalizeH="0" baseline="0" noProof="0">
                <a:ln>
                  <a:noFill/>
                </a:ln>
                <a:solidFill>
                  <a:schemeClr val="tx1"/>
                </a:solidFill>
                <a:effectLst/>
                <a:uLnTx/>
                <a:uFillTx/>
                <a:latin typeface="+mn-lt"/>
                <a:ea typeface="+mn-ea"/>
                <a:cs typeface="+mn-cs"/>
              </a:rPr>
              <a:t>。这是因为，这种情况是暂时的，客户</a:t>
            </a:r>
            <a:r>
              <a:rPr kumimoji="0" lang="en-US" altLang="zh-CN" sz="2400" b="0" i="0" u="none" strike="noStrike" kern="0" cap="none" spc="0" normalizeH="0" baseline="0" noProof="0">
                <a:ln>
                  <a:noFill/>
                </a:ln>
                <a:solidFill>
                  <a:schemeClr val="tx1"/>
                </a:solidFill>
                <a:effectLst/>
                <a:uLnTx/>
                <a:uFillTx/>
                <a:latin typeface="+mn-lt"/>
                <a:ea typeface="+mn-ea"/>
                <a:cs typeface="+mn-cs"/>
              </a:rPr>
              <a:t>tcp</a:t>
            </a:r>
            <a:r>
              <a:rPr kumimoji="0" lang="zh-CN" altLang="en-US" sz="2400" b="0" i="0" u="none" strike="noStrike" kern="0" cap="none" spc="0" normalizeH="0" baseline="0" noProof="0">
                <a:ln>
                  <a:noFill/>
                </a:ln>
                <a:solidFill>
                  <a:schemeClr val="tx1"/>
                </a:solidFill>
                <a:effectLst/>
                <a:uLnTx/>
                <a:uFillTx/>
                <a:latin typeface="+mn-lt"/>
                <a:ea typeface="+mn-ea"/>
                <a:cs typeface="+mn-cs"/>
              </a:rPr>
              <a:t>将重发</a:t>
            </a:r>
            <a:r>
              <a:rPr kumimoji="0" lang="en-US" altLang="zh-CN" sz="2400" b="0" i="0" u="none" strike="noStrike" kern="0" cap="none" spc="0" normalizeH="0" baseline="0" noProof="0">
                <a:ln>
                  <a:noFill/>
                </a:ln>
                <a:solidFill>
                  <a:schemeClr val="tx1"/>
                </a:solidFill>
                <a:effectLst/>
                <a:uLnTx/>
                <a:uFillTx/>
                <a:latin typeface="+mn-lt"/>
                <a:ea typeface="+mn-ea"/>
                <a:cs typeface="+mn-cs"/>
              </a:rPr>
              <a:t>SYN</a:t>
            </a:r>
            <a:r>
              <a:rPr kumimoji="0" lang="zh-CN" altLang="en-US" sz="2400" b="0" i="0" u="none" strike="noStrike" kern="0" cap="none" spc="0" normalizeH="0" baseline="0" noProof="0">
                <a:ln>
                  <a:noFill/>
                </a:ln>
                <a:solidFill>
                  <a:schemeClr val="tx1"/>
                </a:solidFill>
                <a:effectLst/>
                <a:uLnTx/>
                <a:uFillTx/>
                <a:latin typeface="+mn-lt"/>
                <a:ea typeface="+mn-ea"/>
                <a:cs typeface="+mn-cs"/>
              </a:rPr>
              <a:t>，期望不久的将来就能在队列中找到空闲条目。</a:t>
            </a:r>
            <a:r>
              <a:rPr kumimoji="0" lang="zh-CN" altLang="en-US" sz="2400" b="0"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mn-cs"/>
              </a:rPr>
              <a:t>如果发送</a:t>
            </a:r>
            <a:r>
              <a:rPr kumimoji="0" lang="en-US" altLang="zh-CN" sz="2400" b="0"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mn-cs"/>
              </a:rPr>
              <a:t>RST</a:t>
            </a:r>
            <a:r>
              <a:rPr kumimoji="0" lang="zh-CN" altLang="en-US" sz="2400" b="0"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mn-cs"/>
              </a:rPr>
              <a:t>，将会出现？</a:t>
            </a:r>
            <a:endParaRPr kumimoji="0" lang="zh-CN" altLang="en-US" sz="2400" b="0"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mn-cs"/>
            </a:endParaRPr>
          </a:p>
        </p:txBody>
      </p:sp>
      <p:sp>
        <p:nvSpPr>
          <p:cNvPr id="210948" name="Text Box 4"/>
          <p:cNvSpPr txBox="1"/>
          <p:nvPr/>
        </p:nvSpPr>
        <p:spPr>
          <a:xfrm>
            <a:off x="1187450" y="5084763"/>
            <a:ext cx="7632700" cy="1616075"/>
          </a:xfrm>
          <a:prstGeom prst="rect">
            <a:avLst/>
          </a:prstGeom>
          <a:noFill/>
          <a:ln w="12700">
            <a:noFill/>
          </a:ln>
        </p:spPr>
        <p:txBody>
          <a:bodyPr>
            <a:spAutoFit/>
          </a:bodyPr>
          <a:p>
            <a:pPr eaLnBrk="1" hangingPunct="1"/>
            <a:r>
              <a:rPr lang="zh-CN" altLang="en-US" sz="2000" b="0" dirty="0">
                <a:solidFill>
                  <a:srgbClr val="000000"/>
                </a:solidFill>
                <a:latin typeface="Arial" panose="020B0604020202020204" pitchFamily="34" charset="0"/>
                <a:ea typeface="华文新魏" panose="02010800040101010101" pitchFamily="2" charset="-122"/>
              </a:rPr>
              <a:t>要是</a:t>
            </a:r>
            <a:r>
              <a:rPr lang="en-US" altLang="zh-CN" sz="2000" b="0" dirty="0">
                <a:solidFill>
                  <a:srgbClr val="000000"/>
                </a:solidFill>
                <a:latin typeface="Arial" panose="020B0604020202020204" pitchFamily="34" charset="0"/>
                <a:ea typeface="华文新魏" panose="02010800040101010101" pitchFamily="2" charset="-122"/>
              </a:rPr>
              <a:t>TCP</a:t>
            </a:r>
            <a:r>
              <a:rPr lang="zh-CN" altLang="en-US" sz="2000" b="0" dirty="0">
                <a:solidFill>
                  <a:srgbClr val="000000"/>
                </a:solidFill>
                <a:latin typeface="Arial" panose="020B0604020202020204" pitchFamily="34" charset="0"/>
                <a:ea typeface="华文新魏" panose="02010800040101010101" pitchFamily="2" charset="-122"/>
              </a:rPr>
              <a:t>服务器发送一个</a:t>
            </a:r>
            <a:r>
              <a:rPr lang="en-US" altLang="zh-CN" sz="2000" b="0" dirty="0">
                <a:solidFill>
                  <a:srgbClr val="000000"/>
                </a:solidFill>
                <a:latin typeface="Arial" panose="020B0604020202020204" pitchFamily="34" charset="0"/>
                <a:ea typeface="华文新魏" panose="02010800040101010101" pitchFamily="2" charset="-122"/>
              </a:rPr>
              <a:t>RST</a:t>
            </a:r>
            <a:r>
              <a:rPr lang="zh-CN" altLang="en-US" sz="2000" b="0" dirty="0">
                <a:solidFill>
                  <a:srgbClr val="000000"/>
                </a:solidFill>
                <a:latin typeface="Arial" panose="020B0604020202020204" pitchFamily="34" charset="0"/>
                <a:ea typeface="华文新魏" panose="02010800040101010101" pitchFamily="2" charset="-122"/>
              </a:rPr>
              <a:t>，客户的</a:t>
            </a:r>
            <a:r>
              <a:rPr lang="en-US" altLang="zh-CN" sz="2000" b="0" dirty="0">
                <a:solidFill>
                  <a:srgbClr val="000000"/>
                </a:solidFill>
                <a:latin typeface="Arial" panose="020B0604020202020204" pitchFamily="34" charset="0"/>
                <a:ea typeface="华文新魏" panose="02010800040101010101" pitchFamily="2" charset="-122"/>
              </a:rPr>
              <a:t>connect</a:t>
            </a:r>
            <a:r>
              <a:rPr lang="zh-CN" altLang="en-US" sz="2000" b="0" dirty="0">
                <a:solidFill>
                  <a:srgbClr val="000000"/>
                </a:solidFill>
                <a:latin typeface="Arial" panose="020B0604020202020204" pitchFamily="34" charset="0"/>
                <a:ea typeface="华文新魏" panose="02010800040101010101" pitchFamily="2" charset="-122"/>
              </a:rPr>
              <a:t>函数立即返回一个错误，强制应用进程处理这种情况，而不是让</a:t>
            </a:r>
            <a:r>
              <a:rPr lang="en-US" altLang="zh-CN" sz="2000" b="0" dirty="0">
                <a:solidFill>
                  <a:srgbClr val="000000"/>
                </a:solidFill>
                <a:latin typeface="Arial" panose="020B0604020202020204" pitchFamily="34" charset="0"/>
                <a:ea typeface="华文新魏" panose="02010800040101010101" pitchFamily="2" charset="-122"/>
              </a:rPr>
              <a:t>TCP</a:t>
            </a:r>
            <a:r>
              <a:rPr lang="zh-CN" altLang="en-US" sz="2000" b="0" dirty="0">
                <a:solidFill>
                  <a:srgbClr val="000000"/>
                </a:solidFill>
                <a:latin typeface="Arial" panose="020B0604020202020204" pitchFamily="34" charset="0"/>
                <a:ea typeface="华文新魏" panose="02010800040101010101" pitchFamily="2" charset="-122"/>
              </a:rPr>
              <a:t>正常的重传机制处理。客户区别不了两种情况，作为</a:t>
            </a:r>
            <a:r>
              <a:rPr lang="en-US" altLang="zh-CN" sz="2000" b="0" dirty="0">
                <a:solidFill>
                  <a:srgbClr val="000000"/>
                </a:solidFill>
                <a:latin typeface="Arial" panose="020B0604020202020204" pitchFamily="34" charset="0"/>
                <a:ea typeface="华文新魏" panose="02010800040101010101" pitchFamily="2" charset="-122"/>
              </a:rPr>
              <a:t>SYN</a:t>
            </a:r>
            <a:r>
              <a:rPr lang="zh-CN" altLang="en-US" sz="2000" b="0" dirty="0">
                <a:solidFill>
                  <a:srgbClr val="000000"/>
                </a:solidFill>
                <a:latin typeface="Arial" panose="020B0604020202020204" pitchFamily="34" charset="0"/>
                <a:ea typeface="华文新魏" panose="02010800040101010101" pitchFamily="2" charset="-122"/>
              </a:rPr>
              <a:t>的响应，意为“此端口上没有服务器”的</a:t>
            </a:r>
            <a:r>
              <a:rPr lang="en-US" altLang="zh-CN" sz="2000" b="0" dirty="0">
                <a:solidFill>
                  <a:srgbClr val="000000"/>
                </a:solidFill>
                <a:latin typeface="Arial" panose="020B0604020202020204" pitchFamily="34" charset="0"/>
                <a:ea typeface="华文新魏" panose="02010800040101010101" pitchFamily="2" charset="-122"/>
              </a:rPr>
              <a:t>RST</a:t>
            </a:r>
            <a:r>
              <a:rPr lang="zh-CN" altLang="en-US" sz="2000" b="0" dirty="0">
                <a:solidFill>
                  <a:srgbClr val="000000"/>
                </a:solidFill>
                <a:latin typeface="Arial" panose="020B0604020202020204" pitchFamily="34" charset="0"/>
                <a:ea typeface="华文新魏" panose="02010800040101010101" pitchFamily="2" charset="-122"/>
              </a:rPr>
              <a:t>和意为“有服务器在此端口上但其队列满”的</a:t>
            </a:r>
            <a:r>
              <a:rPr lang="en-US" altLang="zh-CN" sz="2000" b="0" dirty="0">
                <a:solidFill>
                  <a:srgbClr val="000000"/>
                </a:solidFill>
                <a:latin typeface="Arial" panose="020B0604020202020204" pitchFamily="34" charset="0"/>
                <a:ea typeface="华文新魏" panose="02010800040101010101" pitchFamily="2" charset="-122"/>
              </a:rPr>
              <a:t>RST</a:t>
            </a:r>
            <a:r>
              <a:rPr lang="zh-CN" altLang="en-US" sz="2000" b="0" dirty="0">
                <a:solidFill>
                  <a:srgbClr val="000000"/>
                </a:solidFill>
                <a:latin typeface="Arial" panose="020B0604020202020204" pitchFamily="34" charset="0"/>
                <a:ea typeface="华文新魏" panose="02010800040101010101" pitchFamily="2" charset="-122"/>
              </a:rPr>
              <a:t>。</a:t>
            </a:r>
            <a:endParaRPr lang="zh-CN" altLang="en-US" sz="2000" b="0" dirty="0">
              <a:solidFill>
                <a:srgbClr val="000000"/>
              </a:solidFill>
              <a:latin typeface="Arial" panose="020B0604020202020204" pitchFamily="34" charset="0"/>
              <a:ea typeface="华文新魏" panose="0201080004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0948"/>
                                        </p:tgtEl>
                                        <p:attrNameLst>
                                          <p:attrName>style.visibility</p:attrName>
                                        </p:attrNameLst>
                                      </p:cBhvr>
                                      <p:to>
                                        <p:strVal val="visible"/>
                                      </p:to>
                                    </p:set>
                                    <p:anim calcmode="lin" valueType="num">
                                      <p:cBhvr additive="base">
                                        <p:cTn id="7" dur="500" fill="hold"/>
                                        <p:tgtEl>
                                          <p:spTgt spid="210948"/>
                                        </p:tgtEl>
                                        <p:attrNameLst>
                                          <p:attrName>ppt_x</p:attrName>
                                        </p:attrNameLst>
                                      </p:cBhvr>
                                      <p:tavLst>
                                        <p:tav tm="0">
                                          <p:val>
                                            <p:strVal val="#ppt_x"/>
                                          </p:val>
                                        </p:tav>
                                        <p:tav tm="100000">
                                          <p:val>
                                            <p:strVal val="#ppt_x"/>
                                          </p:val>
                                        </p:tav>
                                      </p:tavLst>
                                    </p:anim>
                                    <p:anim calcmode="lin" valueType="num">
                                      <p:cBhvr additive="base">
                                        <p:cTn id="8" dur="500" fill="hold"/>
                                        <p:tgtEl>
                                          <p:spTgt spid="21094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0948"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1858" name="Rectangle 2"/>
          <p:cNvSpPr/>
          <p:nvPr/>
        </p:nvSpPr>
        <p:spPr>
          <a:xfrm>
            <a:off x="900113" y="1412875"/>
            <a:ext cx="2879725" cy="4968875"/>
          </a:xfrm>
          <a:prstGeom prst="rect">
            <a:avLst/>
          </a:prstGeom>
          <a:noFill/>
          <a:ln w="9525" cap="flat" cmpd="sng">
            <a:solidFill>
              <a:schemeClr val="tx1"/>
            </a:solidFill>
            <a:prstDash val="dash"/>
            <a:miter/>
            <a:headEnd type="none" w="med" len="med"/>
            <a:tailEnd type="none" w="med" len="med"/>
          </a:ln>
        </p:spPr>
        <p:txBody>
          <a:bodyPr wrap="none" anchor="ctr" anchorCtr="0"/>
          <a:p>
            <a:pPr eaLnBrk="1" hangingPunct="1"/>
            <a:endParaRPr lang="zh-CN" altLang="en-US" dirty="0">
              <a:latin typeface="Tahoma" panose="020B0604030504040204" pitchFamily="34" charset="0"/>
            </a:endParaRPr>
          </a:p>
        </p:txBody>
      </p:sp>
      <p:sp>
        <p:nvSpPr>
          <p:cNvPr id="121859" name="Rectangle 3"/>
          <p:cNvSpPr>
            <a:spLocks noGrp="1"/>
          </p:cNvSpPr>
          <p:nvPr>
            <p:ph type="title"/>
          </p:nvPr>
        </p:nvSpPr>
        <p:spPr>
          <a:xfrm>
            <a:off x="228600" y="228600"/>
            <a:ext cx="7467600" cy="762000"/>
          </a:xfrm>
        </p:spPr>
        <p:txBody>
          <a:bodyPr vert="horz" wrap="square" lIns="91440" tIns="45720" rIns="91440" bIns="45720" anchor="b" anchorCtr="0"/>
          <a:p>
            <a:pPr eaLnBrk="1" hangingPunct="1"/>
            <a:r>
              <a:rPr lang="en-US" altLang="zh-CN" dirty="0"/>
              <a:t>TCP</a:t>
            </a:r>
            <a:r>
              <a:rPr lang="zh-CN" altLang="en-US" dirty="0"/>
              <a:t>套接字编程（</a:t>
            </a:r>
            <a:r>
              <a:rPr lang="en-US" altLang="zh-CN" dirty="0"/>
              <a:t>cont.</a:t>
            </a:r>
            <a:r>
              <a:rPr lang="zh-CN" altLang="en-US" dirty="0"/>
              <a:t>）</a:t>
            </a:r>
            <a:endParaRPr lang="zh-CN" altLang="en-US" dirty="0"/>
          </a:p>
        </p:txBody>
      </p:sp>
      <p:sp>
        <p:nvSpPr>
          <p:cNvPr id="121860" name="AutoShape 4"/>
          <p:cNvSpPr/>
          <p:nvPr/>
        </p:nvSpPr>
        <p:spPr>
          <a:xfrm>
            <a:off x="1476375" y="1628775"/>
            <a:ext cx="1655763" cy="360363"/>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socket()</a:t>
            </a:r>
            <a:endParaRPr lang="en-US" altLang="zh-CN" sz="2000" b="0" dirty="0">
              <a:latin typeface="Comic Sans MS" panose="030F0702030302020204" pitchFamily="66" charset="0"/>
            </a:endParaRPr>
          </a:p>
        </p:txBody>
      </p:sp>
      <p:sp>
        <p:nvSpPr>
          <p:cNvPr id="121861" name="AutoShape 5"/>
          <p:cNvSpPr/>
          <p:nvPr/>
        </p:nvSpPr>
        <p:spPr>
          <a:xfrm>
            <a:off x="1476375" y="2205038"/>
            <a:ext cx="1655763" cy="360362"/>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bind()</a:t>
            </a:r>
            <a:endParaRPr lang="en-US" altLang="zh-CN" sz="2000" b="0" dirty="0">
              <a:latin typeface="Comic Sans MS" panose="030F0702030302020204" pitchFamily="66" charset="0"/>
            </a:endParaRPr>
          </a:p>
        </p:txBody>
      </p:sp>
      <p:sp>
        <p:nvSpPr>
          <p:cNvPr id="121862" name="AutoShape 6"/>
          <p:cNvSpPr/>
          <p:nvPr/>
        </p:nvSpPr>
        <p:spPr>
          <a:xfrm>
            <a:off x="1476375" y="2781300"/>
            <a:ext cx="1655763" cy="360363"/>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listen()</a:t>
            </a:r>
            <a:endParaRPr lang="en-US" altLang="zh-CN" sz="2000" b="0" dirty="0">
              <a:latin typeface="Comic Sans MS" panose="030F0702030302020204" pitchFamily="66" charset="0"/>
            </a:endParaRPr>
          </a:p>
        </p:txBody>
      </p:sp>
      <p:sp>
        <p:nvSpPr>
          <p:cNvPr id="121863" name="AutoShape 7"/>
          <p:cNvSpPr/>
          <p:nvPr/>
        </p:nvSpPr>
        <p:spPr>
          <a:xfrm>
            <a:off x="1476375" y="3357563"/>
            <a:ext cx="1655763" cy="360362"/>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accept()</a:t>
            </a:r>
            <a:endParaRPr lang="en-US" altLang="zh-CN" sz="2000" b="0" dirty="0">
              <a:latin typeface="Comic Sans MS" panose="030F0702030302020204" pitchFamily="66" charset="0"/>
            </a:endParaRPr>
          </a:p>
        </p:txBody>
      </p:sp>
      <p:sp>
        <p:nvSpPr>
          <p:cNvPr id="121864" name="AutoShape 8"/>
          <p:cNvSpPr/>
          <p:nvPr/>
        </p:nvSpPr>
        <p:spPr>
          <a:xfrm>
            <a:off x="1476375" y="4652963"/>
            <a:ext cx="1655763" cy="360362"/>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read()</a:t>
            </a:r>
            <a:endParaRPr lang="en-US" altLang="zh-CN" sz="2000" b="0" dirty="0">
              <a:latin typeface="Comic Sans MS" panose="030F0702030302020204" pitchFamily="66" charset="0"/>
            </a:endParaRPr>
          </a:p>
        </p:txBody>
      </p:sp>
      <p:sp>
        <p:nvSpPr>
          <p:cNvPr id="121865" name="AutoShape 9"/>
          <p:cNvSpPr/>
          <p:nvPr/>
        </p:nvSpPr>
        <p:spPr>
          <a:xfrm>
            <a:off x="1476375" y="5229225"/>
            <a:ext cx="1655763" cy="360363"/>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write()</a:t>
            </a:r>
            <a:endParaRPr lang="en-US" altLang="zh-CN" sz="2000" b="0" dirty="0">
              <a:latin typeface="Comic Sans MS" panose="030F0702030302020204" pitchFamily="66" charset="0"/>
            </a:endParaRPr>
          </a:p>
        </p:txBody>
      </p:sp>
      <p:sp>
        <p:nvSpPr>
          <p:cNvPr id="121866" name="AutoShape 10"/>
          <p:cNvSpPr/>
          <p:nvPr/>
        </p:nvSpPr>
        <p:spPr>
          <a:xfrm>
            <a:off x="1476375" y="5805488"/>
            <a:ext cx="1655763" cy="360362"/>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close()</a:t>
            </a:r>
            <a:endParaRPr lang="en-US" altLang="zh-CN" sz="2000" b="0" dirty="0">
              <a:latin typeface="Comic Sans MS" panose="030F0702030302020204" pitchFamily="66" charset="0"/>
            </a:endParaRPr>
          </a:p>
        </p:txBody>
      </p:sp>
      <p:sp>
        <p:nvSpPr>
          <p:cNvPr id="121867" name="Line 11"/>
          <p:cNvSpPr/>
          <p:nvPr/>
        </p:nvSpPr>
        <p:spPr>
          <a:xfrm>
            <a:off x="2268538" y="1268413"/>
            <a:ext cx="0" cy="360362"/>
          </a:xfrm>
          <a:prstGeom prst="line">
            <a:avLst/>
          </a:prstGeom>
          <a:ln w="9525" cap="flat" cmpd="sng">
            <a:solidFill>
              <a:schemeClr val="hlink"/>
            </a:solidFill>
            <a:prstDash val="solid"/>
            <a:headEnd type="none" w="med" len="med"/>
            <a:tailEnd type="triangle" w="med" len="med"/>
          </a:ln>
        </p:spPr>
      </p:sp>
      <p:sp>
        <p:nvSpPr>
          <p:cNvPr id="121868" name="Line 12"/>
          <p:cNvSpPr/>
          <p:nvPr/>
        </p:nvSpPr>
        <p:spPr>
          <a:xfrm>
            <a:off x="2268538" y="1989138"/>
            <a:ext cx="0" cy="215900"/>
          </a:xfrm>
          <a:prstGeom prst="line">
            <a:avLst/>
          </a:prstGeom>
          <a:ln w="9525" cap="flat" cmpd="sng">
            <a:solidFill>
              <a:schemeClr val="hlink"/>
            </a:solidFill>
            <a:prstDash val="solid"/>
            <a:headEnd type="none" w="med" len="med"/>
            <a:tailEnd type="triangle" w="med" len="med"/>
          </a:ln>
        </p:spPr>
      </p:sp>
      <p:sp>
        <p:nvSpPr>
          <p:cNvPr id="121869" name="Line 13"/>
          <p:cNvSpPr/>
          <p:nvPr/>
        </p:nvSpPr>
        <p:spPr>
          <a:xfrm>
            <a:off x="2268538" y="2565400"/>
            <a:ext cx="0" cy="215900"/>
          </a:xfrm>
          <a:prstGeom prst="line">
            <a:avLst/>
          </a:prstGeom>
          <a:ln w="9525" cap="flat" cmpd="sng">
            <a:solidFill>
              <a:schemeClr val="hlink"/>
            </a:solidFill>
            <a:prstDash val="solid"/>
            <a:headEnd type="none" w="med" len="med"/>
            <a:tailEnd type="triangle" w="med" len="med"/>
          </a:ln>
        </p:spPr>
      </p:sp>
      <p:sp>
        <p:nvSpPr>
          <p:cNvPr id="121870" name="Line 14"/>
          <p:cNvSpPr/>
          <p:nvPr/>
        </p:nvSpPr>
        <p:spPr>
          <a:xfrm>
            <a:off x="2268538" y="3141663"/>
            <a:ext cx="0" cy="215900"/>
          </a:xfrm>
          <a:prstGeom prst="line">
            <a:avLst/>
          </a:prstGeom>
          <a:ln w="9525" cap="flat" cmpd="sng">
            <a:solidFill>
              <a:schemeClr val="hlink"/>
            </a:solidFill>
            <a:prstDash val="solid"/>
            <a:headEnd type="none" w="med" len="med"/>
            <a:tailEnd type="triangle" w="med" len="med"/>
          </a:ln>
        </p:spPr>
      </p:sp>
      <p:sp>
        <p:nvSpPr>
          <p:cNvPr id="121871" name="Line 15"/>
          <p:cNvSpPr/>
          <p:nvPr/>
        </p:nvSpPr>
        <p:spPr>
          <a:xfrm>
            <a:off x="2268538" y="3716338"/>
            <a:ext cx="0" cy="936625"/>
          </a:xfrm>
          <a:prstGeom prst="line">
            <a:avLst/>
          </a:prstGeom>
          <a:ln w="9525" cap="flat" cmpd="sng">
            <a:solidFill>
              <a:schemeClr val="hlink"/>
            </a:solidFill>
            <a:prstDash val="dash"/>
            <a:headEnd type="none" w="med" len="med"/>
            <a:tailEnd type="triangle" w="med" len="med"/>
          </a:ln>
        </p:spPr>
      </p:sp>
      <p:sp>
        <p:nvSpPr>
          <p:cNvPr id="121872" name="Line 16"/>
          <p:cNvSpPr/>
          <p:nvPr/>
        </p:nvSpPr>
        <p:spPr>
          <a:xfrm>
            <a:off x="2268538" y="5013325"/>
            <a:ext cx="0" cy="215900"/>
          </a:xfrm>
          <a:prstGeom prst="line">
            <a:avLst/>
          </a:prstGeom>
          <a:ln w="9525" cap="flat" cmpd="sng">
            <a:solidFill>
              <a:schemeClr val="hlink"/>
            </a:solidFill>
            <a:prstDash val="solid"/>
            <a:headEnd type="none" w="med" len="med"/>
            <a:tailEnd type="triangle" w="med" len="med"/>
          </a:ln>
        </p:spPr>
      </p:sp>
      <p:sp>
        <p:nvSpPr>
          <p:cNvPr id="121873" name="Line 17"/>
          <p:cNvSpPr/>
          <p:nvPr/>
        </p:nvSpPr>
        <p:spPr>
          <a:xfrm>
            <a:off x="2268538" y="5589588"/>
            <a:ext cx="0" cy="215900"/>
          </a:xfrm>
          <a:prstGeom prst="line">
            <a:avLst/>
          </a:prstGeom>
          <a:ln w="9525" cap="flat" cmpd="sng">
            <a:solidFill>
              <a:schemeClr val="hlink"/>
            </a:solidFill>
            <a:prstDash val="solid"/>
            <a:headEnd type="none" w="med" len="med"/>
            <a:tailEnd type="triangle" w="med" len="med"/>
          </a:ln>
        </p:spPr>
      </p:sp>
      <p:sp>
        <p:nvSpPr>
          <p:cNvPr id="121874" name="Line 18"/>
          <p:cNvSpPr/>
          <p:nvPr/>
        </p:nvSpPr>
        <p:spPr>
          <a:xfrm flipH="1">
            <a:off x="1187450" y="5661025"/>
            <a:ext cx="1081088" cy="0"/>
          </a:xfrm>
          <a:prstGeom prst="line">
            <a:avLst/>
          </a:prstGeom>
          <a:ln w="9525" cap="flat" cmpd="sng">
            <a:solidFill>
              <a:schemeClr val="tx1"/>
            </a:solidFill>
            <a:prstDash val="solid"/>
            <a:headEnd type="none" w="med" len="med"/>
            <a:tailEnd type="none" w="med" len="med"/>
          </a:ln>
        </p:spPr>
      </p:sp>
      <p:sp>
        <p:nvSpPr>
          <p:cNvPr id="121875" name="Line 19"/>
          <p:cNvSpPr/>
          <p:nvPr/>
        </p:nvSpPr>
        <p:spPr>
          <a:xfrm flipV="1">
            <a:off x="1187450" y="4437063"/>
            <a:ext cx="0" cy="1223962"/>
          </a:xfrm>
          <a:prstGeom prst="line">
            <a:avLst/>
          </a:prstGeom>
          <a:ln w="9525" cap="flat" cmpd="sng">
            <a:solidFill>
              <a:schemeClr val="tx1"/>
            </a:solidFill>
            <a:prstDash val="solid"/>
            <a:headEnd type="none" w="med" len="med"/>
            <a:tailEnd type="none" w="med" len="med"/>
          </a:ln>
        </p:spPr>
      </p:sp>
      <p:sp>
        <p:nvSpPr>
          <p:cNvPr id="121876" name="Line 20"/>
          <p:cNvSpPr/>
          <p:nvPr/>
        </p:nvSpPr>
        <p:spPr>
          <a:xfrm>
            <a:off x="1187450" y="4437063"/>
            <a:ext cx="1081088" cy="0"/>
          </a:xfrm>
          <a:prstGeom prst="line">
            <a:avLst/>
          </a:prstGeom>
          <a:ln w="9525" cap="flat" cmpd="sng">
            <a:solidFill>
              <a:schemeClr val="tx1"/>
            </a:solidFill>
            <a:prstDash val="solid"/>
            <a:headEnd type="none" w="med" len="med"/>
            <a:tailEnd type="triangle" w="med" len="med"/>
          </a:ln>
        </p:spPr>
      </p:sp>
      <p:sp>
        <p:nvSpPr>
          <p:cNvPr id="121877" name="AutoShape 21"/>
          <p:cNvSpPr/>
          <p:nvPr/>
        </p:nvSpPr>
        <p:spPr>
          <a:xfrm>
            <a:off x="5724525" y="3500438"/>
            <a:ext cx="1655763" cy="360362"/>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socket()</a:t>
            </a:r>
            <a:endParaRPr lang="en-US" altLang="zh-CN" sz="2000" b="0" dirty="0">
              <a:latin typeface="Comic Sans MS" panose="030F0702030302020204" pitchFamily="66" charset="0"/>
            </a:endParaRPr>
          </a:p>
        </p:txBody>
      </p:sp>
      <p:sp>
        <p:nvSpPr>
          <p:cNvPr id="121878" name="AutoShape 22"/>
          <p:cNvSpPr/>
          <p:nvPr/>
        </p:nvSpPr>
        <p:spPr>
          <a:xfrm>
            <a:off x="5724525" y="4076700"/>
            <a:ext cx="1655763" cy="360363"/>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connect()</a:t>
            </a:r>
            <a:endParaRPr lang="en-US" altLang="zh-CN" sz="2000" b="0" dirty="0">
              <a:latin typeface="Comic Sans MS" panose="030F0702030302020204" pitchFamily="66" charset="0"/>
            </a:endParaRPr>
          </a:p>
        </p:txBody>
      </p:sp>
      <p:sp>
        <p:nvSpPr>
          <p:cNvPr id="121879" name="AutoShape 23"/>
          <p:cNvSpPr/>
          <p:nvPr/>
        </p:nvSpPr>
        <p:spPr>
          <a:xfrm>
            <a:off x="5724525" y="4652963"/>
            <a:ext cx="1655763" cy="360362"/>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write()</a:t>
            </a:r>
            <a:endParaRPr lang="en-US" altLang="zh-CN" sz="2000" b="0" dirty="0">
              <a:latin typeface="Comic Sans MS" panose="030F0702030302020204" pitchFamily="66" charset="0"/>
            </a:endParaRPr>
          </a:p>
        </p:txBody>
      </p:sp>
      <p:sp>
        <p:nvSpPr>
          <p:cNvPr id="121880" name="AutoShape 24"/>
          <p:cNvSpPr/>
          <p:nvPr/>
        </p:nvSpPr>
        <p:spPr>
          <a:xfrm>
            <a:off x="5724525" y="5229225"/>
            <a:ext cx="1655763" cy="360363"/>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read()</a:t>
            </a:r>
            <a:endParaRPr lang="en-US" altLang="zh-CN" sz="2000" b="0" dirty="0">
              <a:latin typeface="Comic Sans MS" panose="030F0702030302020204" pitchFamily="66" charset="0"/>
            </a:endParaRPr>
          </a:p>
        </p:txBody>
      </p:sp>
      <p:sp>
        <p:nvSpPr>
          <p:cNvPr id="121881" name="AutoShape 25"/>
          <p:cNvSpPr/>
          <p:nvPr/>
        </p:nvSpPr>
        <p:spPr>
          <a:xfrm>
            <a:off x="5724525" y="5805488"/>
            <a:ext cx="1655763" cy="360362"/>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close()</a:t>
            </a:r>
            <a:endParaRPr lang="en-US" altLang="zh-CN" sz="2000" b="0" dirty="0">
              <a:latin typeface="Comic Sans MS" panose="030F0702030302020204" pitchFamily="66" charset="0"/>
            </a:endParaRPr>
          </a:p>
        </p:txBody>
      </p:sp>
      <p:sp>
        <p:nvSpPr>
          <p:cNvPr id="121882" name="Line 26"/>
          <p:cNvSpPr/>
          <p:nvPr/>
        </p:nvSpPr>
        <p:spPr>
          <a:xfrm>
            <a:off x="6516688" y="3860800"/>
            <a:ext cx="0" cy="215900"/>
          </a:xfrm>
          <a:prstGeom prst="line">
            <a:avLst/>
          </a:prstGeom>
          <a:ln w="9525" cap="flat" cmpd="sng">
            <a:solidFill>
              <a:schemeClr val="hlink"/>
            </a:solidFill>
            <a:prstDash val="solid"/>
            <a:headEnd type="none" w="med" len="med"/>
            <a:tailEnd type="triangle" w="med" len="med"/>
          </a:ln>
        </p:spPr>
      </p:sp>
      <p:sp>
        <p:nvSpPr>
          <p:cNvPr id="121883" name="Line 27"/>
          <p:cNvSpPr/>
          <p:nvPr/>
        </p:nvSpPr>
        <p:spPr>
          <a:xfrm>
            <a:off x="6516688" y="4437063"/>
            <a:ext cx="0" cy="215900"/>
          </a:xfrm>
          <a:prstGeom prst="line">
            <a:avLst/>
          </a:prstGeom>
          <a:ln w="9525" cap="flat" cmpd="sng">
            <a:solidFill>
              <a:schemeClr val="hlink"/>
            </a:solidFill>
            <a:prstDash val="solid"/>
            <a:headEnd type="none" w="med" len="med"/>
            <a:tailEnd type="triangle" w="med" len="med"/>
          </a:ln>
        </p:spPr>
      </p:sp>
      <p:sp>
        <p:nvSpPr>
          <p:cNvPr id="121884" name="Line 28"/>
          <p:cNvSpPr/>
          <p:nvPr/>
        </p:nvSpPr>
        <p:spPr>
          <a:xfrm>
            <a:off x="6516688" y="5013325"/>
            <a:ext cx="0" cy="215900"/>
          </a:xfrm>
          <a:prstGeom prst="line">
            <a:avLst/>
          </a:prstGeom>
          <a:ln w="9525" cap="flat" cmpd="sng">
            <a:solidFill>
              <a:schemeClr val="hlink"/>
            </a:solidFill>
            <a:prstDash val="solid"/>
            <a:headEnd type="none" w="med" len="med"/>
            <a:tailEnd type="triangle" w="med" len="med"/>
          </a:ln>
        </p:spPr>
      </p:sp>
      <p:sp>
        <p:nvSpPr>
          <p:cNvPr id="121885" name="Line 29"/>
          <p:cNvSpPr/>
          <p:nvPr/>
        </p:nvSpPr>
        <p:spPr>
          <a:xfrm>
            <a:off x="6516688" y="5589588"/>
            <a:ext cx="0" cy="215900"/>
          </a:xfrm>
          <a:prstGeom prst="line">
            <a:avLst/>
          </a:prstGeom>
          <a:ln w="9525" cap="flat" cmpd="sng">
            <a:solidFill>
              <a:schemeClr val="hlink"/>
            </a:solidFill>
            <a:prstDash val="solid"/>
            <a:headEnd type="none" w="med" len="med"/>
            <a:tailEnd type="triangle" w="med" len="med"/>
          </a:ln>
        </p:spPr>
      </p:sp>
      <p:sp>
        <p:nvSpPr>
          <p:cNvPr id="121886" name="Text Box 30"/>
          <p:cNvSpPr txBox="1"/>
          <p:nvPr/>
        </p:nvSpPr>
        <p:spPr>
          <a:xfrm>
            <a:off x="2206625" y="3860800"/>
            <a:ext cx="1428750" cy="517525"/>
          </a:xfrm>
          <a:prstGeom prst="rect">
            <a:avLst/>
          </a:prstGeom>
          <a:noFill/>
          <a:ln w="9525">
            <a:noFill/>
          </a:ln>
        </p:spPr>
        <p:txBody>
          <a:bodyPr wrap="none">
            <a:spAutoFit/>
          </a:bodyPr>
          <a:p>
            <a:pPr eaLnBrk="1" hangingPunct="1"/>
            <a:r>
              <a:rPr lang="zh-CN" altLang="en-US" sz="1400" b="0" dirty="0">
                <a:latin typeface="Arial" panose="020B0604020202020204" pitchFamily="34" charset="0"/>
              </a:rPr>
              <a:t>阻塞直到接收</a:t>
            </a:r>
            <a:endParaRPr lang="zh-CN" altLang="en-US" sz="1400" b="0" dirty="0">
              <a:latin typeface="Arial" panose="020B0604020202020204" pitchFamily="34" charset="0"/>
            </a:endParaRPr>
          </a:p>
          <a:p>
            <a:pPr eaLnBrk="1" hangingPunct="1"/>
            <a:r>
              <a:rPr lang="zh-CN" altLang="en-US" sz="1400" b="0" dirty="0">
                <a:latin typeface="Arial" panose="020B0604020202020204" pitchFamily="34" charset="0"/>
              </a:rPr>
              <a:t>到客户连接请求</a:t>
            </a:r>
            <a:endParaRPr lang="zh-CN" altLang="en-US" sz="1400" b="0" dirty="0">
              <a:latin typeface="Arial" panose="020B0604020202020204" pitchFamily="34" charset="0"/>
            </a:endParaRPr>
          </a:p>
        </p:txBody>
      </p:sp>
      <p:sp>
        <p:nvSpPr>
          <p:cNvPr id="121887" name="Line 31"/>
          <p:cNvSpPr/>
          <p:nvPr/>
        </p:nvSpPr>
        <p:spPr>
          <a:xfrm>
            <a:off x="6516688" y="3141663"/>
            <a:ext cx="0" cy="360362"/>
          </a:xfrm>
          <a:prstGeom prst="line">
            <a:avLst/>
          </a:prstGeom>
          <a:ln w="9525" cap="flat" cmpd="sng">
            <a:solidFill>
              <a:schemeClr val="hlink"/>
            </a:solidFill>
            <a:prstDash val="solid"/>
            <a:headEnd type="none" w="med" len="med"/>
            <a:tailEnd type="triangle" w="med" len="med"/>
          </a:ln>
        </p:spPr>
      </p:sp>
      <p:sp>
        <p:nvSpPr>
          <p:cNvPr id="121888" name="Rectangle 32"/>
          <p:cNvSpPr/>
          <p:nvPr/>
        </p:nvSpPr>
        <p:spPr>
          <a:xfrm>
            <a:off x="5435600" y="2924175"/>
            <a:ext cx="2232025" cy="3457575"/>
          </a:xfrm>
          <a:prstGeom prst="rect">
            <a:avLst/>
          </a:prstGeom>
          <a:noFill/>
          <a:ln w="9525" cap="flat" cmpd="sng">
            <a:solidFill>
              <a:schemeClr val="tx1"/>
            </a:solidFill>
            <a:prstDash val="dash"/>
            <a:miter/>
            <a:headEnd type="none" w="med" len="med"/>
            <a:tailEnd type="none" w="med" len="med"/>
          </a:ln>
        </p:spPr>
        <p:txBody>
          <a:bodyPr wrap="none" anchor="ctr" anchorCtr="0"/>
          <a:p>
            <a:pPr eaLnBrk="1" hangingPunct="1"/>
            <a:endParaRPr lang="zh-CN" altLang="en-US" dirty="0">
              <a:latin typeface="Tahoma" panose="020B0604030504040204" pitchFamily="34" charset="0"/>
            </a:endParaRPr>
          </a:p>
        </p:txBody>
      </p:sp>
      <p:sp>
        <p:nvSpPr>
          <p:cNvPr id="121889" name="Line 33"/>
          <p:cNvSpPr/>
          <p:nvPr/>
        </p:nvSpPr>
        <p:spPr>
          <a:xfrm>
            <a:off x="3563938" y="4221163"/>
            <a:ext cx="2160587" cy="0"/>
          </a:xfrm>
          <a:prstGeom prst="line">
            <a:avLst/>
          </a:prstGeom>
          <a:ln w="9525" cap="flat" cmpd="sng">
            <a:solidFill>
              <a:schemeClr val="tx1"/>
            </a:solidFill>
            <a:prstDash val="solid"/>
            <a:headEnd type="triangle" w="med" len="med"/>
            <a:tailEnd type="triangle" w="med" len="med"/>
          </a:ln>
        </p:spPr>
      </p:sp>
      <p:sp>
        <p:nvSpPr>
          <p:cNvPr id="121890" name="Line 34"/>
          <p:cNvSpPr/>
          <p:nvPr/>
        </p:nvSpPr>
        <p:spPr>
          <a:xfrm>
            <a:off x="3203575" y="4868863"/>
            <a:ext cx="2449513" cy="0"/>
          </a:xfrm>
          <a:prstGeom prst="line">
            <a:avLst/>
          </a:prstGeom>
          <a:ln w="9525" cap="flat" cmpd="sng">
            <a:solidFill>
              <a:schemeClr val="tx1"/>
            </a:solidFill>
            <a:prstDash val="solid"/>
            <a:headEnd type="triangle" w="med" len="med"/>
            <a:tailEnd type="triangle" w="med" len="med"/>
          </a:ln>
        </p:spPr>
      </p:sp>
      <p:sp>
        <p:nvSpPr>
          <p:cNvPr id="121891" name="Line 35"/>
          <p:cNvSpPr/>
          <p:nvPr/>
        </p:nvSpPr>
        <p:spPr>
          <a:xfrm>
            <a:off x="3203575" y="5373688"/>
            <a:ext cx="2449513" cy="0"/>
          </a:xfrm>
          <a:prstGeom prst="line">
            <a:avLst/>
          </a:prstGeom>
          <a:ln w="9525" cap="flat" cmpd="sng">
            <a:solidFill>
              <a:schemeClr val="tx1"/>
            </a:solidFill>
            <a:prstDash val="solid"/>
            <a:headEnd type="triangle" w="med" len="med"/>
            <a:tailEnd type="triangle" w="med" len="med"/>
          </a:ln>
        </p:spPr>
      </p:sp>
      <p:sp>
        <p:nvSpPr>
          <p:cNvPr id="121892" name="Line 36"/>
          <p:cNvSpPr/>
          <p:nvPr/>
        </p:nvSpPr>
        <p:spPr>
          <a:xfrm>
            <a:off x="3203575" y="6021388"/>
            <a:ext cx="2449513" cy="0"/>
          </a:xfrm>
          <a:prstGeom prst="line">
            <a:avLst/>
          </a:prstGeom>
          <a:ln w="9525" cap="flat" cmpd="sng">
            <a:solidFill>
              <a:schemeClr val="tx1"/>
            </a:solidFill>
            <a:prstDash val="solid"/>
            <a:headEnd type="triangle" w="med" len="med"/>
            <a:tailEnd type="triangle" w="med" len="med"/>
          </a:ln>
        </p:spPr>
      </p:sp>
      <p:sp>
        <p:nvSpPr>
          <p:cNvPr id="121893" name="Text Box 37"/>
          <p:cNvSpPr txBox="1"/>
          <p:nvPr/>
        </p:nvSpPr>
        <p:spPr>
          <a:xfrm>
            <a:off x="323850" y="2159000"/>
            <a:ext cx="458788" cy="1463675"/>
          </a:xfrm>
          <a:prstGeom prst="rect">
            <a:avLst/>
          </a:prstGeom>
          <a:noFill/>
          <a:ln w="9525">
            <a:noFill/>
          </a:ln>
        </p:spPr>
        <p:txBody>
          <a:bodyPr vert="eaVert" wrap="none">
            <a:spAutoFit/>
          </a:bodyPr>
          <a:p>
            <a:pPr eaLnBrk="1" hangingPunct="1"/>
            <a:r>
              <a:rPr lang="en-US" altLang="zh-CN" sz="1800" b="0" dirty="0">
                <a:latin typeface="Arial" panose="020B0604020202020204" pitchFamily="34" charset="0"/>
              </a:rPr>
              <a:t>TCP</a:t>
            </a:r>
            <a:r>
              <a:rPr lang="zh-CN" altLang="en-US" sz="1800" b="0" dirty="0">
                <a:latin typeface="Arial" panose="020B0604020202020204" pitchFamily="34" charset="0"/>
              </a:rPr>
              <a:t>服务器端</a:t>
            </a:r>
            <a:endParaRPr lang="zh-CN" altLang="en-US" sz="1800" b="0" dirty="0">
              <a:latin typeface="Arial" panose="020B0604020202020204" pitchFamily="34" charset="0"/>
            </a:endParaRPr>
          </a:p>
        </p:txBody>
      </p:sp>
      <p:sp>
        <p:nvSpPr>
          <p:cNvPr id="121894" name="Text Box 38"/>
          <p:cNvSpPr txBox="1"/>
          <p:nvPr/>
        </p:nvSpPr>
        <p:spPr>
          <a:xfrm>
            <a:off x="7885113" y="3573463"/>
            <a:ext cx="458787" cy="1235075"/>
          </a:xfrm>
          <a:prstGeom prst="rect">
            <a:avLst/>
          </a:prstGeom>
          <a:noFill/>
          <a:ln w="9525">
            <a:noFill/>
          </a:ln>
        </p:spPr>
        <p:txBody>
          <a:bodyPr vert="eaVert" wrap="none">
            <a:spAutoFit/>
          </a:bodyPr>
          <a:p>
            <a:pPr eaLnBrk="1" hangingPunct="1"/>
            <a:r>
              <a:rPr lang="en-US" altLang="zh-CN" sz="1800" b="0" dirty="0">
                <a:latin typeface="Arial" panose="020B0604020202020204" pitchFamily="34" charset="0"/>
              </a:rPr>
              <a:t>TCP</a:t>
            </a:r>
            <a:r>
              <a:rPr lang="zh-CN" altLang="en-US" sz="1800" b="0" dirty="0">
                <a:latin typeface="Arial" panose="020B0604020202020204" pitchFamily="34" charset="0"/>
              </a:rPr>
              <a:t>客户端</a:t>
            </a:r>
            <a:endParaRPr lang="zh-CN" altLang="en-US" sz="1800" b="0" dirty="0">
              <a:latin typeface="Arial" panose="020B0604020202020204" pitchFamily="34" charset="0"/>
            </a:endParaRPr>
          </a:p>
        </p:txBody>
      </p:sp>
    </p:spTree>
  </p:cSld>
  <p:clrMapOvr>
    <a:masterClrMapping/>
  </p:clrMapOvr>
  <p:transition>
    <p:random/>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3906" name="Rectangle 2"/>
          <p:cNvSpPr>
            <a:spLocks noGrp="1"/>
          </p:cNvSpPr>
          <p:nvPr>
            <p:ph type="title"/>
          </p:nvPr>
        </p:nvSpPr>
        <p:spPr>
          <a:xfrm>
            <a:off x="228600" y="304800"/>
            <a:ext cx="7467600" cy="762000"/>
          </a:xfrm>
        </p:spPr>
        <p:txBody>
          <a:bodyPr vert="horz" wrap="square" lIns="91440" tIns="45720" rIns="91440" bIns="45720" anchor="b" anchorCtr="0"/>
          <a:p>
            <a:pPr eaLnBrk="1" hangingPunct="1"/>
            <a:r>
              <a:rPr lang="zh-CN" altLang="en-US" dirty="0"/>
              <a:t>基本套接字函数－</a:t>
            </a:r>
            <a:r>
              <a:rPr lang="en-US" altLang="zh-CN" dirty="0"/>
              <a:t>connect</a:t>
            </a:r>
            <a:endParaRPr lang="en-US" altLang="zh-CN" dirty="0"/>
          </a:p>
        </p:txBody>
      </p:sp>
      <p:sp>
        <p:nvSpPr>
          <p:cNvPr id="211971" name="Rectangle 3"/>
          <p:cNvSpPr>
            <a:spLocks noGrp="1"/>
          </p:cNvSpPr>
          <p:nvPr>
            <p:ph idx="1"/>
          </p:nvPr>
        </p:nvSpPr>
        <p:spPr>
          <a:xfrm>
            <a:off x="323850" y="1341438"/>
            <a:ext cx="8540750" cy="4895850"/>
          </a:xfrm>
          <a:solidFill>
            <a:schemeClr val="bg1">
              <a:alpha val="100000"/>
            </a:schemeClr>
          </a:solidFill>
        </p:spPr>
        <p:txBody>
          <a:bodyPr vert="horz" wrap="square" lIns="91440" tIns="45720" rIns="91440" bIns="45720" anchor="t" anchorCtr="0"/>
          <a:p>
            <a:pPr eaLnBrk="1" hangingPunct="1">
              <a:buNone/>
            </a:pPr>
            <a:r>
              <a:rPr lang="en-US" altLang="zh-CN" sz="2000" dirty="0"/>
              <a:t>#include &lt;sys/socket.h&gt;</a:t>
            </a:r>
            <a:endParaRPr lang="en-US" altLang="zh-CN" sz="2000" dirty="0"/>
          </a:p>
          <a:p>
            <a:pPr eaLnBrk="1" hangingPunct="1">
              <a:buNone/>
            </a:pPr>
            <a:r>
              <a:rPr lang="en-US" altLang="zh-CN" sz="2000" dirty="0"/>
              <a:t>int connect(int sockfd, const struct sockaddr *addr, socklen_t addrlen);</a:t>
            </a:r>
            <a:endParaRPr lang="en-US" altLang="zh-CN" sz="2000" dirty="0"/>
          </a:p>
          <a:p>
            <a:pPr eaLnBrk="1" hangingPunct="1">
              <a:buNone/>
            </a:pPr>
            <a:r>
              <a:rPr lang="en-US" altLang="zh-CN" sz="2400" dirty="0"/>
              <a:t>                                   </a:t>
            </a:r>
            <a:r>
              <a:rPr lang="zh-CN" altLang="en-US" sz="2000" dirty="0"/>
              <a:t>返回：</a:t>
            </a:r>
            <a:r>
              <a:rPr lang="en-US" altLang="zh-CN" sz="2000" dirty="0"/>
              <a:t>0</a:t>
            </a:r>
            <a:r>
              <a:rPr lang="zh-CN" altLang="en-US" sz="2000" dirty="0"/>
              <a:t>－成功；</a:t>
            </a:r>
            <a:r>
              <a:rPr lang="en-US" altLang="zh-CN" sz="2000" dirty="0"/>
              <a:t>-1</a:t>
            </a:r>
            <a:r>
              <a:rPr lang="zh-CN" altLang="en-US" sz="2000" dirty="0"/>
              <a:t>－出错；</a:t>
            </a:r>
            <a:endParaRPr lang="zh-CN" altLang="en-US" sz="2000" dirty="0"/>
          </a:p>
          <a:p>
            <a:pPr eaLnBrk="1" hangingPunct="1"/>
            <a:r>
              <a:rPr lang="zh-CN" altLang="en-US" sz="2400" dirty="0"/>
              <a:t>函数</a:t>
            </a:r>
            <a:r>
              <a:rPr lang="en-US" altLang="zh-CN" sz="2400" dirty="0"/>
              <a:t>connect</a:t>
            </a:r>
            <a:r>
              <a:rPr lang="zh-CN" altLang="en-US" sz="2400" dirty="0"/>
              <a:t>激发</a:t>
            </a:r>
            <a:r>
              <a:rPr lang="en-US" altLang="zh-CN" sz="2400" dirty="0"/>
              <a:t>TCP</a:t>
            </a:r>
            <a:r>
              <a:rPr lang="zh-CN" altLang="en-US" sz="2400" dirty="0"/>
              <a:t>的三路握手过程；仅在成功或出错返回；错误有以下几种情况：</a:t>
            </a:r>
            <a:endParaRPr lang="zh-CN" altLang="en-US" sz="2400" dirty="0"/>
          </a:p>
          <a:p>
            <a:pPr lvl="1" eaLnBrk="1" hangingPunct="1"/>
            <a:r>
              <a:rPr lang="zh-CN" altLang="en-US" sz="2000" dirty="0"/>
              <a:t>如果客户没有收到</a:t>
            </a:r>
            <a:r>
              <a:rPr lang="en-US" altLang="zh-CN" sz="2000" dirty="0"/>
              <a:t>SYN</a:t>
            </a:r>
            <a:r>
              <a:rPr lang="zh-CN" altLang="en-US" sz="2000" dirty="0"/>
              <a:t>分节的响应（总共</a:t>
            </a:r>
            <a:r>
              <a:rPr lang="en-US" altLang="zh-CN" sz="2000" dirty="0"/>
              <a:t>75</a:t>
            </a:r>
            <a:r>
              <a:rPr lang="zh-CN" altLang="en-US" sz="2000" dirty="0"/>
              <a:t>秒，这之间需要可能需要重发若干次</a:t>
            </a:r>
            <a:r>
              <a:rPr lang="en-US" altLang="zh-CN" sz="2000" dirty="0"/>
              <a:t>SYN</a:t>
            </a:r>
            <a:r>
              <a:rPr lang="zh-CN" altLang="en-US" sz="2000" dirty="0"/>
              <a:t>），则返回</a:t>
            </a:r>
            <a:r>
              <a:rPr lang="en-US" altLang="zh-CN" sz="2000" dirty="0"/>
              <a:t>ETIMEDOUT</a:t>
            </a:r>
            <a:r>
              <a:rPr lang="zh-CN" altLang="en-US" sz="2000" dirty="0"/>
              <a:t>。</a:t>
            </a:r>
            <a:endParaRPr lang="zh-CN" altLang="en-US" sz="2000" dirty="0"/>
          </a:p>
          <a:p>
            <a:pPr lvl="1" eaLnBrk="1" hangingPunct="1"/>
            <a:r>
              <a:rPr lang="zh-CN" altLang="en-US" sz="2000" dirty="0"/>
              <a:t>如果对客户的</a:t>
            </a:r>
            <a:r>
              <a:rPr lang="en-US" altLang="zh-CN" sz="2000" dirty="0"/>
              <a:t>SYN</a:t>
            </a:r>
            <a:r>
              <a:rPr lang="zh-CN" altLang="en-US" sz="2000" dirty="0"/>
              <a:t>的响应是</a:t>
            </a:r>
            <a:r>
              <a:rPr lang="en-US" altLang="zh-CN" sz="2000" dirty="0"/>
              <a:t>RST</a:t>
            </a:r>
            <a:r>
              <a:rPr lang="zh-CN" altLang="en-US" sz="2000" dirty="0"/>
              <a:t>，则表明该服务器主机在指定的端口上没有进程在等待与之相连。函数返回错误</a:t>
            </a:r>
            <a:r>
              <a:rPr lang="en-US" altLang="zh-CN" sz="2000" dirty="0"/>
              <a:t>ECONNREFUSED</a:t>
            </a:r>
            <a:r>
              <a:rPr lang="zh-CN" altLang="en-US" sz="2000" dirty="0"/>
              <a:t>；</a:t>
            </a:r>
            <a:endParaRPr lang="zh-CN" altLang="en-US" sz="2000" dirty="0"/>
          </a:p>
          <a:p>
            <a:pPr lvl="1" eaLnBrk="1" hangingPunct="1"/>
            <a:r>
              <a:rPr lang="zh-CN" altLang="en-US" sz="2000" dirty="0"/>
              <a:t>如果客户发出的</a:t>
            </a:r>
            <a:r>
              <a:rPr lang="en-US" altLang="zh-CN" sz="2000" dirty="0"/>
              <a:t>SYN</a:t>
            </a:r>
            <a:r>
              <a:rPr lang="zh-CN" altLang="en-US" sz="2000" dirty="0"/>
              <a:t>在中间路由器上引发一个目的地不可达</a:t>
            </a:r>
            <a:r>
              <a:rPr lang="en-US" altLang="zh-CN" sz="2000" dirty="0"/>
              <a:t>ICMP</a:t>
            </a:r>
            <a:r>
              <a:rPr lang="zh-CN" altLang="en-US" sz="2000" dirty="0"/>
              <a:t>错误，客户上的内核保存此消息，并按第一种情况，连续发送</a:t>
            </a:r>
            <a:r>
              <a:rPr lang="en-US" altLang="zh-CN" sz="2000" dirty="0"/>
              <a:t>SYN</a:t>
            </a:r>
            <a:r>
              <a:rPr lang="zh-CN" altLang="en-US" sz="2000" dirty="0"/>
              <a:t>，直到规定时间，返回保存的消息（即</a:t>
            </a:r>
            <a:r>
              <a:rPr lang="en-US" altLang="zh-CN" sz="2000" dirty="0"/>
              <a:t>ICMP</a:t>
            </a:r>
            <a:r>
              <a:rPr lang="zh-CN" altLang="en-US" sz="2000" dirty="0"/>
              <a:t>错误）作为</a:t>
            </a:r>
            <a:r>
              <a:rPr lang="en-US" altLang="zh-CN" sz="2000" dirty="0"/>
              <a:t>EHOSTUNREACH</a:t>
            </a:r>
            <a:r>
              <a:rPr lang="zh-CN" altLang="en-US" sz="2000" dirty="0"/>
              <a:t>或</a:t>
            </a:r>
            <a:r>
              <a:rPr lang="en-US" altLang="zh-CN" sz="2000" dirty="0"/>
              <a:t>ENETUNREACH</a:t>
            </a:r>
            <a:r>
              <a:rPr lang="zh-CN" altLang="en-US" sz="2000" dirty="0"/>
              <a:t>错误返回给进程。</a:t>
            </a:r>
            <a:endParaRPr lang="zh-CN" altLang="en-US" sz="2000"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11971">
                                            <p:txEl>
                                              <p:charRg st="190" end="246"/>
                                            </p:txEl>
                                          </p:spTgt>
                                        </p:tgtEl>
                                        <p:attrNameLst>
                                          <p:attrName>style.visibility</p:attrName>
                                        </p:attrNameLst>
                                      </p:cBhvr>
                                      <p:to>
                                        <p:strVal val="visible"/>
                                      </p:to>
                                    </p:set>
                                    <p:animEffect transition="in" filter="blinds(horizontal)">
                                      <p:cBhvr>
                                        <p:cTn id="7" dur="500"/>
                                        <p:tgtEl>
                                          <p:spTgt spid="211971">
                                            <p:txEl>
                                              <p:charRg st="190" end="246"/>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11971">
                                            <p:txEl>
                                              <p:charRg st="246" end="311"/>
                                            </p:txEl>
                                          </p:spTgt>
                                        </p:tgtEl>
                                        <p:attrNameLst>
                                          <p:attrName>style.visibility</p:attrName>
                                        </p:attrNameLst>
                                      </p:cBhvr>
                                      <p:to>
                                        <p:strVal val="visible"/>
                                      </p:to>
                                    </p:set>
                                    <p:animEffect transition="in" filter="blinds(horizontal)">
                                      <p:cBhvr>
                                        <p:cTn id="10" dur="500"/>
                                        <p:tgtEl>
                                          <p:spTgt spid="211971">
                                            <p:txEl>
                                              <p:charRg st="246" end="31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211971">
                                            <p:txEl>
                                              <p:charRg st="311" end="431"/>
                                            </p:txEl>
                                          </p:spTgt>
                                        </p:tgtEl>
                                        <p:attrNameLst>
                                          <p:attrName>style.visibility</p:attrName>
                                        </p:attrNameLst>
                                      </p:cBhvr>
                                      <p:to>
                                        <p:strVal val="visible"/>
                                      </p:to>
                                    </p:set>
                                    <p:animEffect transition="in" filter="blinds(horizontal)">
                                      <p:cBhvr>
                                        <p:cTn id="13" dur="500"/>
                                        <p:tgtEl>
                                          <p:spTgt spid="211971">
                                            <p:txEl>
                                              <p:charRg st="311" end="43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5954" name="Rectangle 2"/>
          <p:cNvSpPr>
            <a:spLocks noGrp="1"/>
          </p:cNvSpPr>
          <p:nvPr>
            <p:ph type="title"/>
          </p:nvPr>
        </p:nvSpPr>
        <p:spPr/>
        <p:txBody>
          <a:bodyPr vert="horz" wrap="square" lIns="91440" tIns="45720" rIns="91440" bIns="45720" anchor="b" anchorCtr="0"/>
          <a:p>
            <a:pPr eaLnBrk="1" hangingPunct="1"/>
            <a:r>
              <a:rPr lang="en-US" altLang="zh-CN" dirty="0"/>
              <a:t>connect</a:t>
            </a:r>
            <a:r>
              <a:rPr lang="zh-CN" altLang="en-US" dirty="0"/>
              <a:t>函数（续）</a:t>
            </a:r>
            <a:endParaRPr lang="zh-CN" altLang="en-US" dirty="0"/>
          </a:p>
        </p:txBody>
      </p:sp>
      <p:sp>
        <p:nvSpPr>
          <p:cNvPr id="125955" name="Rectangle 3"/>
          <p:cNvSpPr>
            <a:spLocks noGrp="1"/>
          </p:cNvSpPr>
          <p:nvPr>
            <p:ph idx="1"/>
          </p:nvPr>
        </p:nvSpPr>
        <p:spPr/>
        <p:txBody>
          <a:bodyPr vert="horz" wrap="square" lIns="91440" tIns="45720" rIns="91440" bIns="45720" anchor="t" anchorCtr="0"/>
          <a:p>
            <a:pPr eaLnBrk="1" hangingPunct="1"/>
            <a:r>
              <a:rPr lang="zh-CN" altLang="en-US" sz="2400" b="1" dirty="0">
                <a:solidFill>
                  <a:srgbClr val="FF0000"/>
                </a:solidFill>
              </a:rPr>
              <a:t>客户在调用</a:t>
            </a:r>
            <a:r>
              <a:rPr lang="en-US" altLang="zh-CN" sz="2400" b="1" dirty="0">
                <a:solidFill>
                  <a:srgbClr val="FF0000"/>
                </a:solidFill>
              </a:rPr>
              <a:t>connect</a:t>
            </a:r>
            <a:r>
              <a:rPr lang="zh-CN" altLang="en-US" sz="2400" b="1" dirty="0">
                <a:solidFill>
                  <a:srgbClr val="FF0000"/>
                </a:solidFill>
              </a:rPr>
              <a:t>前不必非得调用</a:t>
            </a:r>
            <a:r>
              <a:rPr lang="en-US" altLang="zh-CN" sz="2400" b="1" dirty="0">
                <a:solidFill>
                  <a:srgbClr val="FF0000"/>
                </a:solidFill>
              </a:rPr>
              <a:t>bind</a:t>
            </a:r>
            <a:r>
              <a:rPr lang="zh-CN" altLang="en-US" sz="2400" b="1" dirty="0">
                <a:solidFill>
                  <a:srgbClr val="FF0000"/>
                </a:solidFill>
              </a:rPr>
              <a:t>函数，此时，内核会选择一个合适的</a:t>
            </a:r>
            <a:r>
              <a:rPr lang="en-US" altLang="zh-CN" sz="2400" b="1" dirty="0">
                <a:solidFill>
                  <a:srgbClr val="FF0000"/>
                </a:solidFill>
              </a:rPr>
              <a:t>IP</a:t>
            </a:r>
            <a:r>
              <a:rPr lang="zh-CN" altLang="en-US" sz="2400" b="1" dirty="0">
                <a:solidFill>
                  <a:srgbClr val="FF0000"/>
                </a:solidFill>
              </a:rPr>
              <a:t>地址和临时端口号</a:t>
            </a:r>
            <a:r>
              <a:rPr lang="zh-CN" altLang="en-US" sz="2400" dirty="0"/>
              <a:t>；</a:t>
            </a:r>
            <a:endParaRPr lang="zh-CN" altLang="en-US" sz="2400" dirty="0"/>
          </a:p>
          <a:p>
            <a:pPr eaLnBrk="1" hangingPunct="1"/>
            <a:r>
              <a:rPr lang="zh-CN" altLang="en-US" sz="2400" dirty="0"/>
              <a:t>如果函数</a:t>
            </a:r>
            <a:r>
              <a:rPr lang="en-US" altLang="zh-CN" sz="2400" dirty="0"/>
              <a:t>connect</a:t>
            </a:r>
            <a:r>
              <a:rPr lang="zh-CN" altLang="en-US" sz="2400" dirty="0"/>
              <a:t>失败，则套接字不可再用，必须关闭。不能再对此套接字再调用函数</a:t>
            </a:r>
            <a:r>
              <a:rPr lang="en-US" altLang="zh-CN" sz="2400" dirty="0"/>
              <a:t>connect</a:t>
            </a:r>
            <a:r>
              <a:rPr lang="zh-CN" altLang="en-US" sz="2400" dirty="0"/>
              <a:t>。</a:t>
            </a:r>
            <a:endParaRPr lang="zh-CN" altLang="en-US" sz="2400" dirty="0"/>
          </a:p>
        </p:txBody>
      </p:sp>
    </p:spTree>
  </p:cSld>
  <p:clrMapOvr>
    <a:masterClrMapping/>
  </p:clrMapOvr>
  <p:transition>
    <p:random/>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8002" name="Rectangle 2"/>
          <p:cNvSpPr>
            <a:spLocks noGrp="1"/>
          </p:cNvSpPr>
          <p:nvPr>
            <p:ph type="title"/>
          </p:nvPr>
        </p:nvSpPr>
        <p:spPr/>
        <p:txBody>
          <a:bodyPr vert="horz" wrap="square" lIns="91440" tIns="45720" rIns="91440" bIns="45720" anchor="b" anchorCtr="0"/>
          <a:p>
            <a:pPr eaLnBrk="1" hangingPunct="1"/>
            <a:endParaRPr lang="zh-CN" altLang="zh-CN" dirty="0"/>
          </a:p>
        </p:txBody>
      </p:sp>
      <p:sp>
        <p:nvSpPr>
          <p:cNvPr id="128003" name="Rectangle 3"/>
          <p:cNvSpPr>
            <a:spLocks noGrp="1"/>
          </p:cNvSpPr>
          <p:nvPr>
            <p:ph idx="1"/>
          </p:nvPr>
        </p:nvSpPr>
        <p:spPr>
          <a:xfrm>
            <a:off x="1403350" y="1628775"/>
            <a:ext cx="6840538" cy="4679950"/>
          </a:xfrm>
        </p:spPr>
        <p:txBody>
          <a:bodyPr vert="horz" wrap="square" lIns="91440" tIns="45720" rIns="91440" bIns="45720" anchor="t" anchorCtr="0"/>
          <a:p>
            <a:pPr marL="609600" indent="-609600" eaLnBrk="1" hangingPunct="1">
              <a:lnSpc>
                <a:spcPct val="80000"/>
              </a:lnSpc>
              <a:buNone/>
            </a:pPr>
            <a:r>
              <a:rPr lang="en-US" altLang="zh-CN" sz="2400" dirty="0"/>
              <a:t>int sockfd;</a:t>
            </a:r>
            <a:endParaRPr lang="en-US" altLang="zh-CN" sz="2400" dirty="0"/>
          </a:p>
          <a:p>
            <a:pPr marL="609600" indent="-609600" eaLnBrk="1" hangingPunct="1">
              <a:lnSpc>
                <a:spcPct val="80000"/>
              </a:lnSpc>
              <a:buNone/>
            </a:pPr>
            <a:r>
              <a:rPr lang="en-US" altLang="zh-CN" sz="2400" dirty="0"/>
              <a:t>struct sockaddr_in server;  </a:t>
            </a:r>
            <a:r>
              <a:rPr lang="en-US" altLang="zh-CN" sz="2400" dirty="0">
                <a:solidFill>
                  <a:srgbClr val="00B050"/>
                </a:solidFill>
              </a:rPr>
              <a:t>//</a:t>
            </a:r>
            <a:r>
              <a:rPr lang="zh-CN" altLang="en-US" sz="2400" dirty="0">
                <a:solidFill>
                  <a:srgbClr val="00B050"/>
                </a:solidFill>
              </a:rPr>
              <a:t>教材</a:t>
            </a:r>
            <a:r>
              <a:rPr lang="en-US" altLang="zh-CN" sz="2400" dirty="0">
                <a:solidFill>
                  <a:srgbClr val="00B050"/>
                </a:solidFill>
              </a:rPr>
              <a:t>P15</a:t>
            </a:r>
            <a:endParaRPr lang="en-US" altLang="zh-CN" sz="2400" dirty="0">
              <a:solidFill>
                <a:srgbClr val="00B050"/>
              </a:solidFill>
            </a:endParaRPr>
          </a:p>
          <a:p>
            <a:pPr marL="609600" indent="-609600" eaLnBrk="1" hangingPunct="1">
              <a:lnSpc>
                <a:spcPct val="80000"/>
              </a:lnSpc>
              <a:buNone/>
            </a:pPr>
            <a:r>
              <a:rPr lang="en-US" altLang="zh-CN" sz="2400" dirty="0">
                <a:latin typeface="Arial" panose="020B0604020202020204" pitchFamily="34" charset="0"/>
              </a:rPr>
              <a:t>……</a:t>
            </a:r>
            <a:endParaRPr lang="en-US" altLang="zh-CN" sz="2400" dirty="0"/>
          </a:p>
          <a:p>
            <a:pPr marL="609600" indent="-609600" eaLnBrk="1" hangingPunct="1">
              <a:lnSpc>
                <a:spcPct val="80000"/>
              </a:lnSpc>
              <a:buNone/>
            </a:pPr>
            <a:r>
              <a:rPr lang="en-US" altLang="zh-CN" sz="2400" dirty="0"/>
              <a:t>bzero(&amp;server, sizeof(server));</a:t>
            </a:r>
            <a:endParaRPr lang="en-US" altLang="zh-CN" sz="2400" dirty="0"/>
          </a:p>
          <a:p>
            <a:pPr marL="609600" indent="-609600" eaLnBrk="1" hangingPunct="1">
              <a:lnSpc>
                <a:spcPct val="80000"/>
              </a:lnSpc>
              <a:buNone/>
            </a:pPr>
            <a:r>
              <a:rPr lang="en-US" altLang="zh-CN" sz="2400" dirty="0"/>
              <a:t>server.sin_family = AF_INET;</a:t>
            </a:r>
            <a:endParaRPr lang="en-US" altLang="zh-CN" sz="2400" dirty="0"/>
          </a:p>
          <a:p>
            <a:pPr marL="609600" indent="-609600" eaLnBrk="1" hangingPunct="1">
              <a:lnSpc>
                <a:spcPct val="80000"/>
              </a:lnSpc>
              <a:buNone/>
            </a:pPr>
            <a:r>
              <a:rPr lang="en-US" altLang="zh-CN" sz="2400" dirty="0"/>
              <a:t>server.sin_port = </a:t>
            </a:r>
            <a:r>
              <a:rPr lang="en-US" altLang="zh-CN" sz="2400" b="1" dirty="0">
                <a:solidFill>
                  <a:srgbClr val="FF0000"/>
                </a:solidFill>
              </a:rPr>
              <a:t>htons</a:t>
            </a:r>
            <a:r>
              <a:rPr lang="en-US" altLang="zh-CN" sz="2400" dirty="0"/>
              <a:t>(1234);</a:t>
            </a:r>
            <a:endParaRPr lang="en-US" altLang="zh-CN" sz="2400" dirty="0"/>
          </a:p>
          <a:p>
            <a:pPr marL="609600" indent="-609600" eaLnBrk="1" hangingPunct="1">
              <a:lnSpc>
                <a:spcPct val="80000"/>
              </a:lnSpc>
              <a:buNone/>
            </a:pPr>
            <a:r>
              <a:rPr lang="en-US" altLang="zh-CN" sz="2400" dirty="0"/>
              <a:t>server.sin_addr.s_addr= inet_addr(</a:t>
            </a:r>
            <a:r>
              <a:rPr lang="en-US" altLang="zh-CN" sz="2400" dirty="0">
                <a:latin typeface="Arial" panose="020B0604020202020204" pitchFamily="34" charset="0"/>
              </a:rPr>
              <a:t>“</a:t>
            </a:r>
            <a:r>
              <a:rPr lang="en-US" altLang="zh-CN" sz="2400" dirty="0"/>
              <a:t>127.0.0.1</a:t>
            </a:r>
            <a:r>
              <a:rPr lang="en-US" altLang="zh-CN" sz="2400" dirty="0">
                <a:latin typeface="Arial" panose="020B0604020202020204" pitchFamily="34" charset="0"/>
              </a:rPr>
              <a:t>”</a:t>
            </a:r>
            <a:r>
              <a:rPr lang="en-US" altLang="zh-CN" sz="2400" dirty="0"/>
              <a:t>);</a:t>
            </a:r>
            <a:endParaRPr lang="en-US" altLang="zh-CN" sz="2400" dirty="0"/>
          </a:p>
          <a:p>
            <a:pPr marL="609600" indent="-609600" eaLnBrk="1" hangingPunct="1">
              <a:lnSpc>
                <a:spcPct val="80000"/>
              </a:lnSpc>
              <a:buNone/>
            </a:pPr>
            <a:r>
              <a:rPr lang="en-US" altLang="zh-CN" sz="2400" dirty="0"/>
              <a:t>if (connect(sockfd, (struct sockaddr *)&amp;server, sizeof(server)) == -1) </a:t>
            </a:r>
            <a:endParaRPr lang="en-US" altLang="zh-CN" sz="2400" dirty="0"/>
          </a:p>
          <a:p>
            <a:pPr marL="609600" indent="-609600" eaLnBrk="1" hangingPunct="1">
              <a:lnSpc>
                <a:spcPct val="80000"/>
              </a:lnSpc>
              <a:buNone/>
            </a:pPr>
            <a:r>
              <a:rPr lang="en-US" altLang="zh-CN" sz="2400" dirty="0"/>
              <a:t>{</a:t>
            </a:r>
            <a:endParaRPr lang="en-US" altLang="zh-CN" sz="2400" dirty="0"/>
          </a:p>
          <a:p>
            <a:pPr marL="609600" indent="-609600" eaLnBrk="1" hangingPunct="1">
              <a:lnSpc>
                <a:spcPct val="80000"/>
              </a:lnSpc>
              <a:buNone/>
            </a:pPr>
            <a:r>
              <a:rPr lang="en-US" altLang="zh-CN" sz="2400" dirty="0"/>
              <a:t>     //handle exception</a:t>
            </a:r>
            <a:endParaRPr lang="en-US" altLang="zh-CN" sz="2400" dirty="0"/>
          </a:p>
          <a:p>
            <a:pPr marL="609600" indent="-609600" eaLnBrk="1" hangingPunct="1">
              <a:lnSpc>
                <a:spcPct val="80000"/>
              </a:lnSpc>
              <a:buNone/>
            </a:pPr>
            <a:r>
              <a:rPr lang="en-US" altLang="zh-CN" sz="2400" dirty="0">
                <a:latin typeface="Arial" panose="020B0604020202020204" pitchFamily="34" charset="0"/>
              </a:rPr>
              <a:t>……</a:t>
            </a:r>
            <a:endParaRPr lang="en-US" altLang="zh-CN" sz="2400" dirty="0"/>
          </a:p>
          <a:p>
            <a:pPr marL="609600" indent="-609600" eaLnBrk="1" hangingPunct="1">
              <a:lnSpc>
                <a:spcPct val="80000"/>
              </a:lnSpc>
              <a:buNone/>
            </a:pPr>
            <a:r>
              <a:rPr lang="en-US" altLang="zh-CN" sz="2400" dirty="0"/>
              <a:t>}</a:t>
            </a:r>
            <a:endParaRPr lang="en-US" altLang="zh-CN" sz="2400" dirty="0"/>
          </a:p>
        </p:txBody>
      </p:sp>
      <p:sp>
        <p:nvSpPr>
          <p:cNvPr id="128004" name="AutoShape 10"/>
          <p:cNvSpPr/>
          <p:nvPr/>
        </p:nvSpPr>
        <p:spPr>
          <a:xfrm>
            <a:off x="3478213" y="5570538"/>
            <a:ext cx="5465762" cy="1027112"/>
          </a:xfrm>
          <a:prstGeom prst="wedgeRoundRectCallout">
            <a:avLst>
              <a:gd name="adj1" fmla="val 30245"/>
              <a:gd name="adj2" fmla="val -182949"/>
              <a:gd name="adj3" fmla="val 16667"/>
            </a:avLst>
          </a:prstGeom>
          <a:solidFill>
            <a:schemeClr val="bg1"/>
          </a:solidFill>
          <a:ln w="9525" cap="flat" cmpd="sng">
            <a:solidFill>
              <a:schemeClr val="tx1"/>
            </a:solidFill>
            <a:prstDash val="solid"/>
            <a:miter/>
            <a:headEnd type="none" w="med" len="med"/>
            <a:tailEnd type="none" w="med" len="med"/>
          </a:ln>
        </p:spPr>
        <p:txBody>
          <a:bodyPr lIns="92075" tIns="46038" rIns="92075" bIns="46038"/>
          <a:p>
            <a:pPr eaLnBrk="1" hangingPunct="1">
              <a:lnSpc>
                <a:spcPct val="90000"/>
              </a:lnSpc>
              <a:spcBef>
                <a:spcPct val="15000"/>
              </a:spcBef>
            </a:pPr>
            <a:r>
              <a:rPr lang="en-US" altLang="zh-CN" dirty="0">
                <a:solidFill>
                  <a:srgbClr val="00B050"/>
                </a:solidFill>
                <a:latin typeface="Arial" panose="020B0604020202020204" pitchFamily="34" charset="0"/>
                <a:ea typeface="微软雅黑 Light" panose="020B0502040204020203" pitchFamily="34" charset="-122"/>
              </a:rPr>
              <a:t>inet_addr</a:t>
            </a:r>
            <a:r>
              <a:rPr lang="zh-CN" altLang="en-US" dirty="0">
                <a:solidFill>
                  <a:srgbClr val="00B050"/>
                </a:solidFill>
                <a:latin typeface="Arial" panose="020B0604020202020204" pitchFamily="34" charset="0"/>
                <a:ea typeface="微软雅黑 Light" panose="020B0502040204020203" pitchFamily="34" charset="-122"/>
              </a:rPr>
              <a:t>（）将字符串形式的</a:t>
            </a:r>
            <a:r>
              <a:rPr lang="en-US" altLang="zh-CN" dirty="0">
                <a:solidFill>
                  <a:srgbClr val="00B050"/>
                </a:solidFill>
                <a:latin typeface="Arial" panose="020B0604020202020204" pitchFamily="34" charset="0"/>
                <a:ea typeface="微软雅黑 Light" panose="020B0502040204020203" pitchFamily="34" charset="-122"/>
              </a:rPr>
              <a:t>IP</a:t>
            </a:r>
            <a:r>
              <a:rPr lang="zh-CN" altLang="en-US" dirty="0">
                <a:solidFill>
                  <a:srgbClr val="00B050"/>
                </a:solidFill>
                <a:latin typeface="Arial" panose="020B0604020202020204" pitchFamily="34" charset="0"/>
                <a:ea typeface="微软雅黑 Light" panose="020B0502040204020203" pitchFamily="34" charset="-122"/>
              </a:rPr>
              <a:t>地址转换成</a:t>
            </a:r>
            <a:r>
              <a:rPr lang="en-US" altLang="zh-CN" dirty="0">
                <a:solidFill>
                  <a:srgbClr val="00B050"/>
                </a:solidFill>
                <a:latin typeface="Arial" panose="020B0604020202020204" pitchFamily="34" charset="0"/>
                <a:ea typeface="微软雅黑 Light" panose="020B0502040204020203" pitchFamily="34" charset="-122"/>
              </a:rPr>
              <a:t>32</a:t>
            </a:r>
            <a:r>
              <a:rPr lang="zh-CN" altLang="en-US" dirty="0">
                <a:solidFill>
                  <a:srgbClr val="00B050"/>
                </a:solidFill>
                <a:latin typeface="Arial" panose="020B0604020202020204" pitchFamily="34" charset="0"/>
                <a:ea typeface="微软雅黑 Light" panose="020B0502040204020203" pitchFamily="34" charset="-122"/>
              </a:rPr>
              <a:t>位的网络字节序的二进制</a:t>
            </a:r>
            <a:r>
              <a:rPr lang="en-US" altLang="zh-CN" dirty="0">
                <a:solidFill>
                  <a:srgbClr val="00B050"/>
                </a:solidFill>
                <a:latin typeface="Arial" panose="020B0604020202020204" pitchFamily="34" charset="0"/>
                <a:ea typeface="微软雅黑 Light" panose="020B0502040204020203" pitchFamily="34" charset="-122"/>
              </a:rPr>
              <a:t>IP</a:t>
            </a:r>
            <a:r>
              <a:rPr lang="zh-CN" altLang="en-US" dirty="0">
                <a:solidFill>
                  <a:srgbClr val="00B050"/>
                </a:solidFill>
                <a:latin typeface="Arial" panose="020B0604020202020204" pitchFamily="34" charset="0"/>
                <a:ea typeface="微软雅黑 Light" panose="020B0502040204020203" pitchFamily="34" charset="-122"/>
              </a:rPr>
              <a:t>地址</a:t>
            </a:r>
            <a:endParaRPr lang="zh-CN" altLang="en-US" dirty="0">
              <a:solidFill>
                <a:srgbClr val="00B050"/>
              </a:solidFill>
              <a:latin typeface="Arial" panose="020B0604020202020204" pitchFamily="34" charset="0"/>
              <a:ea typeface="微软雅黑 Light" panose="020B0502040204020203" pitchFamily="34" charset="-122"/>
            </a:endParaRPr>
          </a:p>
        </p:txBody>
      </p:sp>
    </p:spTree>
  </p:cSld>
  <p:clrMapOvr>
    <a:masterClrMapping/>
  </p:clrMapOvr>
  <p:transition>
    <p:random/>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9026" name="Rectangle 2"/>
          <p:cNvSpPr/>
          <p:nvPr/>
        </p:nvSpPr>
        <p:spPr>
          <a:xfrm>
            <a:off x="900113" y="1412875"/>
            <a:ext cx="2879725" cy="4968875"/>
          </a:xfrm>
          <a:prstGeom prst="rect">
            <a:avLst/>
          </a:prstGeom>
          <a:noFill/>
          <a:ln w="9525" cap="flat" cmpd="sng">
            <a:solidFill>
              <a:schemeClr val="tx1"/>
            </a:solidFill>
            <a:prstDash val="dash"/>
            <a:miter/>
            <a:headEnd type="none" w="med" len="med"/>
            <a:tailEnd type="none" w="med" len="med"/>
          </a:ln>
        </p:spPr>
        <p:txBody>
          <a:bodyPr wrap="none" anchor="ctr" anchorCtr="0"/>
          <a:p>
            <a:pPr eaLnBrk="1" hangingPunct="1"/>
            <a:endParaRPr lang="zh-CN" altLang="en-US" dirty="0">
              <a:latin typeface="Tahoma" panose="020B0604030504040204" pitchFamily="34" charset="0"/>
            </a:endParaRPr>
          </a:p>
        </p:txBody>
      </p:sp>
      <p:sp>
        <p:nvSpPr>
          <p:cNvPr id="129027" name="Rectangle 3"/>
          <p:cNvSpPr>
            <a:spLocks noGrp="1"/>
          </p:cNvSpPr>
          <p:nvPr>
            <p:ph type="title"/>
          </p:nvPr>
        </p:nvSpPr>
        <p:spPr>
          <a:xfrm>
            <a:off x="228600" y="228600"/>
            <a:ext cx="7467600" cy="762000"/>
          </a:xfrm>
        </p:spPr>
        <p:txBody>
          <a:bodyPr vert="horz" wrap="square" lIns="91440" tIns="45720" rIns="91440" bIns="45720" anchor="b" anchorCtr="0"/>
          <a:p>
            <a:pPr eaLnBrk="1" hangingPunct="1"/>
            <a:r>
              <a:rPr lang="en-US" altLang="zh-CN" dirty="0"/>
              <a:t>TCP</a:t>
            </a:r>
            <a:r>
              <a:rPr lang="zh-CN" altLang="en-US" dirty="0"/>
              <a:t>套接字编程（</a:t>
            </a:r>
            <a:r>
              <a:rPr lang="en-US" altLang="zh-CN" dirty="0"/>
              <a:t>cont.</a:t>
            </a:r>
            <a:r>
              <a:rPr lang="zh-CN" altLang="en-US" dirty="0"/>
              <a:t>）</a:t>
            </a:r>
            <a:endParaRPr lang="zh-CN" altLang="en-US" dirty="0"/>
          </a:p>
        </p:txBody>
      </p:sp>
      <p:sp>
        <p:nvSpPr>
          <p:cNvPr id="129028" name="AutoShape 4"/>
          <p:cNvSpPr/>
          <p:nvPr/>
        </p:nvSpPr>
        <p:spPr>
          <a:xfrm>
            <a:off x="1476375" y="1628775"/>
            <a:ext cx="1655763" cy="360363"/>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socket()</a:t>
            </a:r>
            <a:endParaRPr lang="en-US" altLang="zh-CN" sz="2000" b="0" dirty="0">
              <a:latin typeface="Comic Sans MS" panose="030F0702030302020204" pitchFamily="66" charset="0"/>
            </a:endParaRPr>
          </a:p>
        </p:txBody>
      </p:sp>
      <p:sp>
        <p:nvSpPr>
          <p:cNvPr id="129029" name="AutoShape 5"/>
          <p:cNvSpPr/>
          <p:nvPr/>
        </p:nvSpPr>
        <p:spPr>
          <a:xfrm>
            <a:off x="1476375" y="2205038"/>
            <a:ext cx="1655763" cy="360362"/>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bind()</a:t>
            </a:r>
            <a:endParaRPr lang="en-US" altLang="zh-CN" sz="2000" b="0" dirty="0">
              <a:latin typeface="Comic Sans MS" panose="030F0702030302020204" pitchFamily="66" charset="0"/>
            </a:endParaRPr>
          </a:p>
        </p:txBody>
      </p:sp>
      <p:sp>
        <p:nvSpPr>
          <p:cNvPr id="129030" name="AutoShape 6"/>
          <p:cNvSpPr/>
          <p:nvPr/>
        </p:nvSpPr>
        <p:spPr>
          <a:xfrm>
            <a:off x="1476375" y="2781300"/>
            <a:ext cx="1655763" cy="360363"/>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listen()</a:t>
            </a:r>
            <a:endParaRPr lang="en-US" altLang="zh-CN" sz="2000" b="0" dirty="0">
              <a:latin typeface="Comic Sans MS" panose="030F0702030302020204" pitchFamily="66" charset="0"/>
            </a:endParaRPr>
          </a:p>
        </p:txBody>
      </p:sp>
      <p:sp>
        <p:nvSpPr>
          <p:cNvPr id="129031" name="AutoShape 7"/>
          <p:cNvSpPr/>
          <p:nvPr/>
        </p:nvSpPr>
        <p:spPr>
          <a:xfrm>
            <a:off x="1476375" y="3357563"/>
            <a:ext cx="1655763" cy="360362"/>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accept()</a:t>
            </a:r>
            <a:endParaRPr lang="en-US" altLang="zh-CN" sz="2000" b="0" dirty="0">
              <a:latin typeface="Comic Sans MS" panose="030F0702030302020204" pitchFamily="66" charset="0"/>
            </a:endParaRPr>
          </a:p>
        </p:txBody>
      </p:sp>
      <p:sp>
        <p:nvSpPr>
          <p:cNvPr id="129032" name="AutoShape 8"/>
          <p:cNvSpPr/>
          <p:nvPr/>
        </p:nvSpPr>
        <p:spPr>
          <a:xfrm>
            <a:off x="1476375" y="4652963"/>
            <a:ext cx="1655763" cy="360362"/>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read()</a:t>
            </a:r>
            <a:endParaRPr lang="en-US" altLang="zh-CN" sz="2000" b="0" dirty="0">
              <a:latin typeface="Comic Sans MS" panose="030F0702030302020204" pitchFamily="66" charset="0"/>
            </a:endParaRPr>
          </a:p>
        </p:txBody>
      </p:sp>
      <p:sp>
        <p:nvSpPr>
          <p:cNvPr id="129033" name="AutoShape 9"/>
          <p:cNvSpPr/>
          <p:nvPr/>
        </p:nvSpPr>
        <p:spPr>
          <a:xfrm>
            <a:off x="1476375" y="5229225"/>
            <a:ext cx="1655763" cy="360363"/>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write()</a:t>
            </a:r>
            <a:endParaRPr lang="en-US" altLang="zh-CN" sz="2000" b="0" dirty="0">
              <a:latin typeface="Comic Sans MS" panose="030F0702030302020204" pitchFamily="66" charset="0"/>
            </a:endParaRPr>
          </a:p>
        </p:txBody>
      </p:sp>
      <p:sp>
        <p:nvSpPr>
          <p:cNvPr id="129034" name="AutoShape 10"/>
          <p:cNvSpPr/>
          <p:nvPr/>
        </p:nvSpPr>
        <p:spPr>
          <a:xfrm>
            <a:off x="1476375" y="5805488"/>
            <a:ext cx="1655763" cy="360362"/>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close()</a:t>
            </a:r>
            <a:endParaRPr lang="en-US" altLang="zh-CN" sz="2000" b="0" dirty="0">
              <a:latin typeface="Comic Sans MS" panose="030F0702030302020204" pitchFamily="66" charset="0"/>
            </a:endParaRPr>
          </a:p>
        </p:txBody>
      </p:sp>
      <p:sp>
        <p:nvSpPr>
          <p:cNvPr id="129035" name="Line 11"/>
          <p:cNvSpPr/>
          <p:nvPr/>
        </p:nvSpPr>
        <p:spPr>
          <a:xfrm>
            <a:off x="2268538" y="1268413"/>
            <a:ext cx="0" cy="360362"/>
          </a:xfrm>
          <a:prstGeom prst="line">
            <a:avLst/>
          </a:prstGeom>
          <a:ln w="9525" cap="flat" cmpd="sng">
            <a:solidFill>
              <a:schemeClr val="hlink"/>
            </a:solidFill>
            <a:prstDash val="solid"/>
            <a:headEnd type="none" w="med" len="med"/>
            <a:tailEnd type="triangle" w="med" len="med"/>
          </a:ln>
        </p:spPr>
      </p:sp>
      <p:sp>
        <p:nvSpPr>
          <p:cNvPr id="129036" name="Line 12"/>
          <p:cNvSpPr/>
          <p:nvPr/>
        </p:nvSpPr>
        <p:spPr>
          <a:xfrm>
            <a:off x="2268538" y="1989138"/>
            <a:ext cx="0" cy="215900"/>
          </a:xfrm>
          <a:prstGeom prst="line">
            <a:avLst/>
          </a:prstGeom>
          <a:ln w="9525" cap="flat" cmpd="sng">
            <a:solidFill>
              <a:schemeClr val="hlink"/>
            </a:solidFill>
            <a:prstDash val="solid"/>
            <a:headEnd type="none" w="med" len="med"/>
            <a:tailEnd type="triangle" w="med" len="med"/>
          </a:ln>
        </p:spPr>
      </p:sp>
      <p:sp>
        <p:nvSpPr>
          <p:cNvPr id="129037" name="Line 13"/>
          <p:cNvSpPr/>
          <p:nvPr/>
        </p:nvSpPr>
        <p:spPr>
          <a:xfrm>
            <a:off x="2268538" y="2565400"/>
            <a:ext cx="0" cy="215900"/>
          </a:xfrm>
          <a:prstGeom prst="line">
            <a:avLst/>
          </a:prstGeom>
          <a:ln w="9525" cap="flat" cmpd="sng">
            <a:solidFill>
              <a:schemeClr val="hlink"/>
            </a:solidFill>
            <a:prstDash val="solid"/>
            <a:headEnd type="none" w="med" len="med"/>
            <a:tailEnd type="triangle" w="med" len="med"/>
          </a:ln>
        </p:spPr>
      </p:sp>
      <p:sp>
        <p:nvSpPr>
          <p:cNvPr id="129038" name="Line 14"/>
          <p:cNvSpPr/>
          <p:nvPr/>
        </p:nvSpPr>
        <p:spPr>
          <a:xfrm>
            <a:off x="2268538" y="3141663"/>
            <a:ext cx="0" cy="215900"/>
          </a:xfrm>
          <a:prstGeom prst="line">
            <a:avLst/>
          </a:prstGeom>
          <a:ln w="9525" cap="flat" cmpd="sng">
            <a:solidFill>
              <a:schemeClr val="hlink"/>
            </a:solidFill>
            <a:prstDash val="solid"/>
            <a:headEnd type="none" w="med" len="med"/>
            <a:tailEnd type="triangle" w="med" len="med"/>
          </a:ln>
        </p:spPr>
      </p:sp>
      <p:sp>
        <p:nvSpPr>
          <p:cNvPr id="129039" name="Line 15"/>
          <p:cNvSpPr/>
          <p:nvPr/>
        </p:nvSpPr>
        <p:spPr>
          <a:xfrm>
            <a:off x="2268538" y="3716338"/>
            <a:ext cx="0" cy="936625"/>
          </a:xfrm>
          <a:prstGeom prst="line">
            <a:avLst/>
          </a:prstGeom>
          <a:ln w="9525" cap="flat" cmpd="sng">
            <a:solidFill>
              <a:schemeClr val="hlink"/>
            </a:solidFill>
            <a:prstDash val="dash"/>
            <a:headEnd type="none" w="med" len="med"/>
            <a:tailEnd type="triangle" w="med" len="med"/>
          </a:ln>
        </p:spPr>
      </p:sp>
      <p:sp>
        <p:nvSpPr>
          <p:cNvPr id="129040" name="Line 16"/>
          <p:cNvSpPr/>
          <p:nvPr/>
        </p:nvSpPr>
        <p:spPr>
          <a:xfrm>
            <a:off x="2268538" y="5013325"/>
            <a:ext cx="0" cy="215900"/>
          </a:xfrm>
          <a:prstGeom prst="line">
            <a:avLst/>
          </a:prstGeom>
          <a:ln w="9525" cap="flat" cmpd="sng">
            <a:solidFill>
              <a:schemeClr val="hlink"/>
            </a:solidFill>
            <a:prstDash val="solid"/>
            <a:headEnd type="none" w="med" len="med"/>
            <a:tailEnd type="triangle" w="med" len="med"/>
          </a:ln>
        </p:spPr>
      </p:sp>
      <p:sp>
        <p:nvSpPr>
          <p:cNvPr id="129041" name="Line 17"/>
          <p:cNvSpPr/>
          <p:nvPr/>
        </p:nvSpPr>
        <p:spPr>
          <a:xfrm>
            <a:off x="2268538" y="5589588"/>
            <a:ext cx="0" cy="215900"/>
          </a:xfrm>
          <a:prstGeom prst="line">
            <a:avLst/>
          </a:prstGeom>
          <a:ln w="9525" cap="flat" cmpd="sng">
            <a:solidFill>
              <a:schemeClr val="hlink"/>
            </a:solidFill>
            <a:prstDash val="solid"/>
            <a:headEnd type="none" w="med" len="med"/>
            <a:tailEnd type="triangle" w="med" len="med"/>
          </a:ln>
        </p:spPr>
      </p:sp>
      <p:sp>
        <p:nvSpPr>
          <p:cNvPr id="129042" name="Line 18"/>
          <p:cNvSpPr/>
          <p:nvPr/>
        </p:nvSpPr>
        <p:spPr>
          <a:xfrm flipH="1">
            <a:off x="1187450" y="5661025"/>
            <a:ext cx="1081088" cy="0"/>
          </a:xfrm>
          <a:prstGeom prst="line">
            <a:avLst/>
          </a:prstGeom>
          <a:ln w="9525" cap="flat" cmpd="sng">
            <a:solidFill>
              <a:schemeClr val="tx1"/>
            </a:solidFill>
            <a:prstDash val="solid"/>
            <a:headEnd type="none" w="med" len="med"/>
            <a:tailEnd type="none" w="med" len="med"/>
          </a:ln>
        </p:spPr>
      </p:sp>
      <p:sp>
        <p:nvSpPr>
          <p:cNvPr id="129043" name="Line 19"/>
          <p:cNvSpPr/>
          <p:nvPr/>
        </p:nvSpPr>
        <p:spPr>
          <a:xfrm flipV="1">
            <a:off x="1187450" y="4437063"/>
            <a:ext cx="0" cy="1223962"/>
          </a:xfrm>
          <a:prstGeom prst="line">
            <a:avLst/>
          </a:prstGeom>
          <a:ln w="9525" cap="flat" cmpd="sng">
            <a:solidFill>
              <a:schemeClr val="tx1"/>
            </a:solidFill>
            <a:prstDash val="solid"/>
            <a:headEnd type="none" w="med" len="med"/>
            <a:tailEnd type="none" w="med" len="med"/>
          </a:ln>
        </p:spPr>
      </p:sp>
      <p:sp>
        <p:nvSpPr>
          <p:cNvPr id="129044" name="Line 20"/>
          <p:cNvSpPr/>
          <p:nvPr/>
        </p:nvSpPr>
        <p:spPr>
          <a:xfrm>
            <a:off x="1187450" y="4437063"/>
            <a:ext cx="1081088" cy="0"/>
          </a:xfrm>
          <a:prstGeom prst="line">
            <a:avLst/>
          </a:prstGeom>
          <a:ln w="9525" cap="flat" cmpd="sng">
            <a:solidFill>
              <a:schemeClr val="tx1"/>
            </a:solidFill>
            <a:prstDash val="solid"/>
            <a:headEnd type="none" w="med" len="med"/>
            <a:tailEnd type="triangle" w="med" len="med"/>
          </a:ln>
        </p:spPr>
      </p:sp>
      <p:sp>
        <p:nvSpPr>
          <p:cNvPr id="129045" name="AutoShape 21"/>
          <p:cNvSpPr/>
          <p:nvPr/>
        </p:nvSpPr>
        <p:spPr>
          <a:xfrm>
            <a:off x="5724525" y="3500438"/>
            <a:ext cx="1655763" cy="360362"/>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socket()</a:t>
            </a:r>
            <a:endParaRPr lang="en-US" altLang="zh-CN" sz="2000" b="0" dirty="0">
              <a:latin typeface="Comic Sans MS" panose="030F0702030302020204" pitchFamily="66" charset="0"/>
            </a:endParaRPr>
          </a:p>
        </p:txBody>
      </p:sp>
      <p:sp>
        <p:nvSpPr>
          <p:cNvPr id="129046" name="AutoShape 22"/>
          <p:cNvSpPr/>
          <p:nvPr/>
        </p:nvSpPr>
        <p:spPr>
          <a:xfrm>
            <a:off x="5724525" y="4076700"/>
            <a:ext cx="1655763" cy="360363"/>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connect()</a:t>
            </a:r>
            <a:endParaRPr lang="en-US" altLang="zh-CN" sz="2000" b="0" dirty="0">
              <a:latin typeface="Comic Sans MS" panose="030F0702030302020204" pitchFamily="66" charset="0"/>
            </a:endParaRPr>
          </a:p>
        </p:txBody>
      </p:sp>
      <p:sp>
        <p:nvSpPr>
          <p:cNvPr id="129047" name="AutoShape 23"/>
          <p:cNvSpPr/>
          <p:nvPr/>
        </p:nvSpPr>
        <p:spPr>
          <a:xfrm>
            <a:off x="5724525" y="4652963"/>
            <a:ext cx="1655763" cy="360362"/>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write()</a:t>
            </a:r>
            <a:endParaRPr lang="en-US" altLang="zh-CN" sz="2000" b="0" dirty="0">
              <a:latin typeface="Comic Sans MS" panose="030F0702030302020204" pitchFamily="66" charset="0"/>
            </a:endParaRPr>
          </a:p>
        </p:txBody>
      </p:sp>
      <p:sp>
        <p:nvSpPr>
          <p:cNvPr id="129048" name="AutoShape 24"/>
          <p:cNvSpPr/>
          <p:nvPr/>
        </p:nvSpPr>
        <p:spPr>
          <a:xfrm>
            <a:off x="5724525" y="5229225"/>
            <a:ext cx="1655763" cy="360363"/>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read()</a:t>
            </a:r>
            <a:endParaRPr lang="en-US" altLang="zh-CN" sz="2000" b="0" dirty="0">
              <a:latin typeface="Comic Sans MS" panose="030F0702030302020204" pitchFamily="66" charset="0"/>
            </a:endParaRPr>
          </a:p>
        </p:txBody>
      </p:sp>
      <p:sp>
        <p:nvSpPr>
          <p:cNvPr id="129049" name="AutoShape 25"/>
          <p:cNvSpPr/>
          <p:nvPr/>
        </p:nvSpPr>
        <p:spPr>
          <a:xfrm>
            <a:off x="5724525" y="5805488"/>
            <a:ext cx="1655763" cy="360362"/>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close()</a:t>
            </a:r>
            <a:endParaRPr lang="en-US" altLang="zh-CN" sz="2000" b="0" dirty="0">
              <a:latin typeface="Comic Sans MS" panose="030F0702030302020204" pitchFamily="66" charset="0"/>
            </a:endParaRPr>
          </a:p>
        </p:txBody>
      </p:sp>
      <p:sp>
        <p:nvSpPr>
          <p:cNvPr id="129050" name="Line 26"/>
          <p:cNvSpPr/>
          <p:nvPr/>
        </p:nvSpPr>
        <p:spPr>
          <a:xfrm>
            <a:off x="6516688" y="3860800"/>
            <a:ext cx="0" cy="215900"/>
          </a:xfrm>
          <a:prstGeom prst="line">
            <a:avLst/>
          </a:prstGeom>
          <a:ln w="9525" cap="flat" cmpd="sng">
            <a:solidFill>
              <a:schemeClr val="hlink"/>
            </a:solidFill>
            <a:prstDash val="solid"/>
            <a:headEnd type="none" w="med" len="med"/>
            <a:tailEnd type="triangle" w="med" len="med"/>
          </a:ln>
        </p:spPr>
      </p:sp>
      <p:sp>
        <p:nvSpPr>
          <p:cNvPr id="129051" name="Line 27"/>
          <p:cNvSpPr/>
          <p:nvPr/>
        </p:nvSpPr>
        <p:spPr>
          <a:xfrm>
            <a:off x="6516688" y="4437063"/>
            <a:ext cx="0" cy="215900"/>
          </a:xfrm>
          <a:prstGeom prst="line">
            <a:avLst/>
          </a:prstGeom>
          <a:ln w="9525" cap="flat" cmpd="sng">
            <a:solidFill>
              <a:schemeClr val="hlink"/>
            </a:solidFill>
            <a:prstDash val="solid"/>
            <a:headEnd type="none" w="med" len="med"/>
            <a:tailEnd type="triangle" w="med" len="med"/>
          </a:ln>
        </p:spPr>
      </p:sp>
      <p:sp>
        <p:nvSpPr>
          <p:cNvPr id="129052" name="Line 28"/>
          <p:cNvSpPr/>
          <p:nvPr/>
        </p:nvSpPr>
        <p:spPr>
          <a:xfrm>
            <a:off x="6516688" y="5013325"/>
            <a:ext cx="0" cy="215900"/>
          </a:xfrm>
          <a:prstGeom prst="line">
            <a:avLst/>
          </a:prstGeom>
          <a:ln w="9525" cap="flat" cmpd="sng">
            <a:solidFill>
              <a:schemeClr val="hlink"/>
            </a:solidFill>
            <a:prstDash val="solid"/>
            <a:headEnd type="none" w="med" len="med"/>
            <a:tailEnd type="triangle" w="med" len="med"/>
          </a:ln>
        </p:spPr>
      </p:sp>
      <p:sp>
        <p:nvSpPr>
          <p:cNvPr id="129053" name="Line 29"/>
          <p:cNvSpPr/>
          <p:nvPr/>
        </p:nvSpPr>
        <p:spPr>
          <a:xfrm>
            <a:off x="6516688" y="5589588"/>
            <a:ext cx="0" cy="215900"/>
          </a:xfrm>
          <a:prstGeom prst="line">
            <a:avLst/>
          </a:prstGeom>
          <a:ln w="9525" cap="flat" cmpd="sng">
            <a:solidFill>
              <a:schemeClr val="hlink"/>
            </a:solidFill>
            <a:prstDash val="solid"/>
            <a:headEnd type="none" w="med" len="med"/>
            <a:tailEnd type="triangle" w="med" len="med"/>
          </a:ln>
        </p:spPr>
      </p:sp>
      <p:sp>
        <p:nvSpPr>
          <p:cNvPr id="129054" name="Text Box 30"/>
          <p:cNvSpPr txBox="1"/>
          <p:nvPr/>
        </p:nvSpPr>
        <p:spPr>
          <a:xfrm>
            <a:off x="2206625" y="3860800"/>
            <a:ext cx="1428750" cy="517525"/>
          </a:xfrm>
          <a:prstGeom prst="rect">
            <a:avLst/>
          </a:prstGeom>
          <a:noFill/>
          <a:ln w="9525">
            <a:noFill/>
          </a:ln>
        </p:spPr>
        <p:txBody>
          <a:bodyPr wrap="none">
            <a:spAutoFit/>
          </a:bodyPr>
          <a:p>
            <a:pPr eaLnBrk="1" hangingPunct="1"/>
            <a:r>
              <a:rPr lang="zh-CN" altLang="en-US" sz="1400" b="0" dirty="0">
                <a:latin typeface="Arial" panose="020B0604020202020204" pitchFamily="34" charset="0"/>
              </a:rPr>
              <a:t>阻塞直到接收</a:t>
            </a:r>
            <a:endParaRPr lang="zh-CN" altLang="en-US" sz="1400" b="0" dirty="0">
              <a:latin typeface="Arial" panose="020B0604020202020204" pitchFamily="34" charset="0"/>
            </a:endParaRPr>
          </a:p>
          <a:p>
            <a:pPr eaLnBrk="1" hangingPunct="1"/>
            <a:r>
              <a:rPr lang="zh-CN" altLang="en-US" sz="1400" b="0" dirty="0">
                <a:latin typeface="Arial" panose="020B0604020202020204" pitchFamily="34" charset="0"/>
              </a:rPr>
              <a:t>到客户连接请求</a:t>
            </a:r>
            <a:endParaRPr lang="zh-CN" altLang="en-US" sz="1400" b="0" dirty="0">
              <a:latin typeface="Arial" panose="020B0604020202020204" pitchFamily="34" charset="0"/>
            </a:endParaRPr>
          </a:p>
        </p:txBody>
      </p:sp>
      <p:sp>
        <p:nvSpPr>
          <p:cNvPr id="129055" name="Line 31"/>
          <p:cNvSpPr/>
          <p:nvPr/>
        </p:nvSpPr>
        <p:spPr>
          <a:xfrm>
            <a:off x="6516688" y="3141663"/>
            <a:ext cx="0" cy="360362"/>
          </a:xfrm>
          <a:prstGeom prst="line">
            <a:avLst/>
          </a:prstGeom>
          <a:ln w="9525" cap="flat" cmpd="sng">
            <a:solidFill>
              <a:schemeClr val="hlink"/>
            </a:solidFill>
            <a:prstDash val="solid"/>
            <a:headEnd type="none" w="med" len="med"/>
            <a:tailEnd type="triangle" w="med" len="med"/>
          </a:ln>
        </p:spPr>
      </p:sp>
      <p:sp>
        <p:nvSpPr>
          <p:cNvPr id="129056" name="Rectangle 32"/>
          <p:cNvSpPr/>
          <p:nvPr/>
        </p:nvSpPr>
        <p:spPr>
          <a:xfrm>
            <a:off x="5435600" y="2924175"/>
            <a:ext cx="2232025" cy="3457575"/>
          </a:xfrm>
          <a:prstGeom prst="rect">
            <a:avLst/>
          </a:prstGeom>
          <a:noFill/>
          <a:ln w="9525" cap="flat" cmpd="sng">
            <a:solidFill>
              <a:schemeClr val="tx1"/>
            </a:solidFill>
            <a:prstDash val="dash"/>
            <a:miter/>
            <a:headEnd type="none" w="med" len="med"/>
            <a:tailEnd type="none" w="med" len="med"/>
          </a:ln>
        </p:spPr>
        <p:txBody>
          <a:bodyPr wrap="none" anchor="ctr" anchorCtr="0"/>
          <a:p>
            <a:pPr eaLnBrk="1" hangingPunct="1"/>
            <a:endParaRPr lang="zh-CN" altLang="en-US" dirty="0">
              <a:latin typeface="Tahoma" panose="020B0604030504040204" pitchFamily="34" charset="0"/>
            </a:endParaRPr>
          </a:p>
        </p:txBody>
      </p:sp>
      <p:sp>
        <p:nvSpPr>
          <p:cNvPr id="129057" name="Line 33"/>
          <p:cNvSpPr/>
          <p:nvPr/>
        </p:nvSpPr>
        <p:spPr>
          <a:xfrm>
            <a:off x="3563938" y="4221163"/>
            <a:ext cx="2160587" cy="0"/>
          </a:xfrm>
          <a:prstGeom prst="line">
            <a:avLst/>
          </a:prstGeom>
          <a:ln w="9525" cap="flat" cmpd="sng">
            <a:solidFill>
              <a:schemeClr val="tx1"/>
            </a:solidFill>
            <a:prstDash val="solid"/>
            <a:headEnd type="triangle" w="med" len="med"/>
            <a:tailEnd type="triangle" w="med" len="med"/>
          </a:ln>
        </p:spPr>
      </p:sp>
      <p:sp>
        <p:nvSpPr>
          <p:cNvPr id="129058" name="Line 34"/>
          <p:cNvSpPr/>
          <p:nvPr/>
        </p:nvSpPr>
        <p:spPr>
          <a:xfrm>
            <a:off x="3203575" y="4868863"/>
            <a:ext cx="2449513" cy="0"/>
          </a:xfrm>
          <a:prstGeom prst="line">
            <a:avLst/>
          </a:prstGeom>
          <a:ln w="9525" cap="flat" cmpd="sng">
            <a:solidFill>
              <a:schemeClr val="tx1"/>
            </a:solidFill>
            <a:prstDash val="solid"/>
            <a:headEnd type="triangle" w="med" len="med"/>
            <a:tailEnd type="triangle" w="med" len="med"/>
          </a:ln>
        </p:spPr>
      </p:sp>
      <p:sp>
        <p:nvSpPr>
          <p:cNvPr id="129059" name="Line 35"/>
          <p:cNvSpPr/>
          <p:nvPr/>
        </p:nvSpPr>
        <p:spPr>
          <a:xfrm>
            <a:off x="3203575" y="5373688"/>
            <a:ext cx="2449513" cy="0"/>
          </a:xfrm>
          <a:prstGeom prst="line">
            <a:avLst/>
          </a:prstGeom>
          <a:ln w="9525" cap="flat" cmpd="sng">
            <a:solidFill>
              <a:schemeClr val="tx1"/>
            </a:solidFill>
            <a:prstDash val="solid"/>
            <a:headEnd type="triangle" w="med" len="med"/>
            <a:tailEnd type="triangle" w="med" len="med"/>
          </a:ln>
        </p:spPr>
      </p:sp>
      <p:sp>
        <p:nvSpPr>
          <p:cNvPr id="129060" name="Line 36"/>
          <p:cNvSpPr/>
          <p:nvPr/>
        </p:nvSpPr>
        <p:spPr>
          <a:xfrm>
            <a:off x="3203575" y="6021388"/>
            <a:ext cx="2449513" cy="0"/>
          </a:xfrm>
          <a:prstGeom prst="line">
            <a:avLst/>
          </a:prstGeom>
          <a:ln w="9525" cap="flat" cmpd="sng">
            <a:solidFill>
              <a:schemeClr val="tx1"/>
            </a:solidFill>
            <a:prstDash val="solid"/>
            <a:headEnd type="triangle" w="med" len="med"/>
            <a:tailEnd type="triangle" w="med" len="med"/>
          </a:ln>
        </p:spPr>
      </p:sp>
      <p:sp>
        <p:nvSpPr>
          <p:cNvPr id="129061" name="Text Box 37"/>
          <p:cNvSpPr txBox="1"/>
          <p:nvPr/>
        </p:nvSpPr>
        <p:spPr>
          <a:xfrm>
            <a:off x="323850" y="2159000"/>
            <a:ext cx="458788" cy="1463675"/>
          </a:xfrm>
          <a:prstGeom prst="rect">
            <a:avLst/>
          </a:prstGeom>
          <a:noFill/>
          <a:ln w="9525">
            <a:noFill/>
          </a:ln>
        </p:spPr>
        <p:txBody>
          <a:bodyPr vert="eaVert" wrap="none">
            <a:spAutoFit/>
          </a:bodyPr>
          <a:p>
            <a:pPr eaLnBrk="1" hangingPunct="1"/>
            <a:r>
              <a:rPr lang="en-US" altLang="zh-CN" sz="1800" b="0" dirty="0">
                <a:latin typeface="Arial" panose="020B0604020202020204" pitchFamily="34" charset="0"/>
              </a:rPr>
              <a:t>TCP</a:t>
            </a:r>
            <a:r>
              <a:rPr lang="zh-CN" altLang="en-US" sz="1800" b="0" dirty="0">
                <a:latin typeface="Arial" panose="020B0604020202020204" pitchFamily="34" charset="0"/>
              </a:rPr>
              <a:t>服务器端</a:t>
            </a:r>
            <a:endParaRPr lang="zh-CN" altLang="en-US" sz="1800" b="0" dirty="0">
              <a:latin typeface="Arial" panose="020B0604020202020204" pitchFamily="34" charset="0"/>
            </a:endParaRPr>
          </a:p>
        </p:txBody>
      </p:sp>
      <p:sp>
        <p:nvSpPr>
          <p:cNvPr id="129062" name="Text Box 38"/>
          <p:cNvSpPr txBox="1"/>
          <p:nvPr/>
        </p:nvSpPr>
        <p:spPr>
          <a:xfrm>
            <a:off x="7885113" y="3573463"/>
            <a:ext cx="458787" cy="1235075"/>
          </a:xfrm>
          <a:prstGeom prst="rect">
            <a:avLst/>
          </a:prstGeom>
          <a:noFill/>
          <a:ln w="9525">
            <a:noFill/>
          </a:ln>
        </p:spPr>
        <p:txBody>
          <a:bodyPr vert="eaVert" wrap="none">
            <a:spAutoFit/>
          </a:bodyPr>
          <a:p>
            <a:pPr eaLnBrk="1" hangingPunct="1"/>
            <a:r>
              <a:rPr lang="en-US" altLang="zh-CN" sz="1800" b="0" dirty="0">
                <a:latin typeface="Arial" panose="020B0604020202020204" pitchFamily="34" charset="0"/>
              </a:rPr>
              <a:t>TCP</a:t>
            </a:r>
            <a:r>
              <a:rPr lang="zh-CN" altLang="en-US" sz="1800" b="0" dirty="0">
                <a:latin typeface="Arial" panose="020B0604020202020204" pitchFamily="34" charset="0"/>
              </a:rPr>
              <a:t>客户端</a:t>
            </a:r>
            <a:endParaRPr lang="zh-CN" altLang="en-US" sz="1800" b="0" dirty="0">
              <a:latin typeface="Arial" panose="020B0604020202020204" pitchFamily="34" charset="0"/>
            </a:endParaRPr>
          </a:p>
        </p:txBody>
      </p:sp>
    </p:spTree>
  </p:cSld>
  <p:clrMapOvr>
    <a:masterClrMapping/>
  </p:clrMapOvr>
  <p:transition>
    <p:random/>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4" name="Rectangle 2"/>
          <p:cNvSpPr>
            <a:spLocks noGrp="1"/>
          </p:cNvSpPr>
          <p:nvPr>
            <p:ph type="title"/>
          </p:nvPr>
        </p:nvSpPr>
        <p:spPr>
          <a:xfrm>
            <a:off x="827088" y="476250"/>
            <a:ext cx="7467600" cy="762000"/>
          </a:xfrm>
        </p:spPr>
        <p:txBody>
          <a:bodyPr vert="horz" wrap="square" lIns="91440" tIns="45720" rIns="91440" bIns="45720" anchor="b" anchorCtr="0"/>
          <a:p>
            <a:pPr eaLnBrk="1" hangingPunct="1"/>
            <a:r>
              <a:rPr lang="zh-CN" altLang="en-US" dirty="0"/>
              <a:t>基本套接字函数－</a:t>
            </a:r>
            <a:r>
              <a:rPr lang="en-US" altLang="zh-CN" dirty="0"/>
              <a:t>accept</a:t>
            </a:r>
            <a:endParaRPr lang="en-US" altLang="zh-CN" dirty="0"/>
          </a:p>
        </p:txBody>
      </p:sp>
      <p:sp>
        <p:nvSpPr>
          <p:cNvPr id="131075" name="Rectangle 3"/>
          <p:cNvSpPr>
            <a:spLocks noGrp="1"/>
          </p:cNvSpPr>
          <p:nvPr>
            <p:ph idx="1"/>
          </p:nvPr>
        </p:nvSpPr>
        <p:spPr>
          <a:xfrm>
            <a:off x="1042988" y="1484313"/>
            <a:ext cx="7921625" cy="5105400"/>
          </a:xfrm>
        </p:spPr>
        <p:txBody>
          <a:bodyPr vert="horz" wrap="square" lIns="91440" tIns="45720" rIns="91440" bIns="45720" anchor="t" anchorCtr="0"/>
          <a:p>
            <a:pPr eaLnBrk="1" hangingPunct="1">
              <a:lnSpc>
                <a:spcPct val="90000"/>
              </a:lnSpc>
              <a:buNone/>
            </a:pPr>
            <a:r>
              <a:rPr lang="en-US" altLang="zh-CN" sz="2000" dirty="0"/>
              <a:t>#include &lt;sys/socket.h&gt;</a:t>
            </a:r>
            <a:endParaRPr lang="en-US" altLang="zh-CN" sz="2000" dirty="0"/>
          </a:p>
          <a:p>
            <a:pPr eaLnBrk="1" hangingPunct="1">
              <a:lnSpc>
                <a:spcPct val="90000"/>
              </a:lnSpc>
              <a:buNone/>
            </a:pPr>
            <a:r>
              <a:rPr lang="en-US" altLang="zh-CN" sz="2000" dirty="0"/>
              <a:t>int accept(int sockfd, struct sockaddr *cliaddr, socklen_t *addrlen);</a:t>
            </a:r>
            <a:endParaRPr lang="en-US" altLang="zh-CN" sz="2000" dirty="0"/>
          </a:p>
          <a:p>
            <a:pPr eaLnBrk="1" hangingPunct="1">
              <a:lnSpc>
                <a:spcPct val="90000"/>
              </a:lnSpc>
              <a:buNone/>
            </a:pPr>
            <a:r>
              <a:rPr lang="en-US" altLang="zh-CN" sz="2400" dirty="0"/>
              <a:t>             </a:t>
            </a:r>
            <a:r>
              <a:rPr lang="zh-CN" altLang="en-US" sz="2400" dirty="0"/>
              <a:t>返回：非负描述字（</a:t>
            </a:r>
            <a:r>
              <a:rPr lang="en-US" altLang="zh-CN" sz="2400" dirty="0"/>
              <a:t>connfd</a:t>
            </a:r>
            <a:r>
              <a:rPr lang="zh-CN" altLang="en-US" sz="2400" dirty="0"/>
              <a:t>）－</a:t>
            </a:r>
            <a:r>
              <a:rPr lang="en-US" altLang="zh-CN" sz="2400" dirty="0"/>
              <a:t>OK</a:t>
            </a:r>
            <a:r>
              <a:rPr lang="zh-CN" altLang="en-US" sz="2400" dirty="0"/>
              <a:t>；</a:t>
            </a:r>
            <a:r>
              <a:rPr lang="en-US" altLang="zh-CN" sz="2400" dirty="0"/>
              <a:t>-1</a:t>
            </a:r>
            <a:r>
              <a:rPr lang="zh-CN" altLang="en-US" sz="2400" dirty="0"/>
              <a:t>－出错；</a:t>
            </a:r>
            <a:endParaRPr lang="zh-CN" altLang="en-US" sz="2400" dirty="0"/>
          </a:p>
          <a:p>
            <a:pPr eaLnBrk="1" hangingPunct="1">
              <a:lnSpc>
                <a:spcPct val="90000"/>
              </a:lnSpc>
            </a:pPr>
            <a:r>
              <a:rPr lang="en-US" altLang="zh-CN" sz="2400" dirty="0"/>
              <a:t>accept</a:t>
            </a:r>
            <a:r>
              <a:rPr lang="zh-CN" altLang="en-US" sz="2400" dirty="0"/>
              <a:t>函数由</a:t>
            </a:r>
            <a:r>
              <a:rPr lang="en-US" altLang="zh-CN" sz="2400" dirty="0"/>
              <a:t>TCP</a:t>
            </a:r>
            <a:r>
              <a:rPr lang="zh-CN" altLang="en-US" sz="2400" dirty="0"/>
              <a:t>服务器调用；从已完成连接队列头返回下一个已完成连接；如果该队列空，则进程进入睡眠状态。</a:t>
            </a:r>
            <a:endParaRPr lang="zh-CN" altLang="en-US" sz="2400" dirty="0"/>
          </a:p>
          <a:p>
            <a:pPr eaLnBrk="1" hangingPunct="1">
              <a:lnSpc>
                <a:spcPct val="90000"/>
              </a:lnSpc>
            </a:pPr>
            <a:r>
              <a:rPr lang="zh-CN" altLang="en-US" sz="2400" b="1" dirty="0"/>
              <a:t>函数返回的套接字为</a:t>
            </a:r>
            <a:r>
              <a:rPr lang="zh-CN" altLang="en-US" sz="2400" b="1" dirty="0">
                <a:solidFill>
                  <a:srgbClr val="0070C0"/>
                </a:solidFill>
              </a:rPr>
              <a:t>已连接套接字</a:t>
            </a:r>
            <a:r>
              <a:rPr lang="zh-CN" altLang="en-US" sz="2400" b="1" dirty="0"/>
              <a:t>，应与</a:t>
            </a:r>
            <a:r>
              <a:rPr lang="zh-CN" altLang="en-US" sz="2400" b="1" dirty="0">
                <a:solidFill>
                  <a:srgbClr val="FF0000"/>
                </a:solidFill>
              </a:rPr>
              <a:t>监听套接字</a:t>
            </a:r>
            <a:r>
              <a:rPr lang="zh-CN" altLang="en-US" sz="2400" b="1" dirty="0"/>
              <a:t>区分开来</a:t>
            </a:r>
            <a:endParaRPr lang="zh-CN" altLang="en-US" sz="2400" b="1" dirty="0"/>
          </a:p>
          <a:p>
            <a:pPr eaLnBrk="1" hangingPunct="1">
              <a:lnSpc>
                <a:spcPct val="90000"/>
              </a:lnSpc>
            </a:pPr>
            <a:r>
              <a:rPr lang="zh-CN" altLang="en-US" sz="2400" dirty="0"/>
              <a:t>该函数最多</a:t>
            </a:r>
            <a:r>
              <a:rPr lang="zh-CN" altLang="en-US" sz="2400" b="1" dirty="0">
                <a:solidFill>
                  <a:srgbClr val="0070C0"/>
                </a:solidFill>
              </a:rPr>
              <a:t>返回三个值</a:t>
            </a:r>
            <a:r>
              <a:rPr lang="zh-CN" altLang="en-US" sz="2400" dirty="0"/>
              <a:t>：一个既可能是新套接字也可能是错误指示的整数，一个客户进程的协议地址（由</a:t>
            </a:r>
            <a:r>
              <a:rPr lang="en-US" altLang="zh-CN" sz="2400" dirty="0"/>
              <a:t>cliaddr</a:t>
            </a:r>
            <a:r>
              <a:rPr lang="zh-CN" altLang="en-US" sz="2400" dirty="0"/>
              <a:t>所指），以及该地址的大小（这后两个参数是值－结果参数）；也就是说，服务器可以通过参数</a:t>
            </a:r>
            <a:r>
              <a:rPr lang="en-US" altLang="zh-CN" sz="2400" dirty="0"/>
              <a:t>cliaddr</a:t>
            </a:r>
            <a:r>
              <a:rPr lang="zh-CN" altLang="en-US" sz="2400" dirty="0"/>
              <a:t>来得到请求连接并获得成功的客户的地址和端口号；</a:t>
            </a:r>
            <a:endParaRPr lang="zh-CN" altLang="en-US" sz="2400" dirty="0"/>
          </a:p>
        </p:txBody>
      </p:sp>
    </p:spTree>
  </p:cSld>
  <p:clrMapOvr>
    <a:masterClrMapping/>
  </p:clrMapOvr>
  <p:transition>
    <p:random/>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22" name="Rectangle 2"/>
          <p:cNvSpPr>
            <a:spLocks noGrp="1"/>
          </p:cNvSpPr>
          <p:nvPr>
            <p:ph type="title"/>
          </p:nvPr>
        </p:nvSpPr>
        <p:spPr>
          <a:xfrm>
            <a:off x="228600" y="228600"/>
            <a:ext cx="7467600" cy="762000"/>
          </a:xfrm>
        </p:spPr>
        <p:txBody>
          <a:bodyPr vert="horz" wrap="square" lIns="91440" tIns="45720" rIns="91440" bIns="45720" anchor="b" anchorCtr="0"/>
          <a:p>
            <a:pPr eaLnBrk="1" hangingPunct="1"/>
            <a:r>
              <a:rPr lang="en-US" altLang="zh-CN" dirty="0"/>
              <a:t>accept</a:t>
            </a:r>
            <a:r>
              <a:rPr lang="zh-CN" altLang="en-US" dirty="0"/>
              <a:t>函数示例</a:t>
            </a:r>
            <a:endParaRPr lang="zh-CN" altLang="en-US" dirty="0"/>
          </a:p>
        </p:txBody>
      </p:sp>
      <p:sp>
        <p:nvSpPr>
          <p:cNvPr id="133123" name="Rectangle 3"/>
          <p:cNvSpPr>
            <a:spLocks noGrp="1"/>
          </p:cNvSpPr>
          <p:nvPr>
            <p:ph idx="1"/>
          </p:nvPr>
        </p:nvSpPr>
        <p:spPr>
          <a:xfrm>
            <a:off x="827088" y="1341438"/>
            <a:ext cx="7543800" cy="5516562"/>
          </a:xfrm>
        </p:spPr>
        <p:txBody>
          <a:bodyPr vert="horz" wrap="square" lIns="91440" tIns="45720" rIns="91440" bIns="45720" anchor="t" anchorCtr="0"/>
          <a:p>
            <a:pPr eaLnBrk="1" hangingPunct="1">
              <a:lnSpc>
                <a:spcPct val="90000"/>
              </a:lnSpc>
              <a:buNone/>
            </a:pPr>
            <a:r>
              <a:rPr lang="en-US" altLang="zh-CN" sz="2000" dirty="0"/>
              <a:t>	</a:t>
            </a:r>
            <a:r>
              <a:rPr lang="en-US" altLang="zh-CN" sz="2800" dirty="0">
                <a:latin typeface="Arial" panose="020B0604020202020204" pitchFamily="34" charset="0"/>
              </a:rPr>
              <a:t>…</a:t>
            </a:r>
            <a:endParaRPr lang="en-US" altLang="zh-CN" sz="2800" dirty="0"/>
          </a:p>
          <a:p>
            <a:pPr eaLnBrk="1" hangingPunct="1">
              <a:lnSpc>
                <a:spcPct val="90000"/>
              </a:lnSpc>
              <a:buNone/>
            </a:pPr>
            <a:r>
              <a:rPr lang="en-US" altLang="zh-CN" sz="2800" dirty="0"/>
              <a:t>	</a:t>
            </a:r>
            <a:r>
              <a:rPr lang="en-US" altLang="zh-CN" sz="2200" dirty="0"/>
              <a:t>struct sockaddr_in		servaddr, cliaddr;</a:t>
            </a:r>
            <a:endParaRPr lang="en-US" altLang="zh-CN" sz="2200" dirty="0"/>
          </a:p>
          <a:p>
            <a:pPr eaLnBrk="1" hangingPunct="1">
              <a:lnSpc>
                <a:spcPct val="90000"/>
              </a:lnSpc>
              <a:buNone/>
            </a:pPr>
            <a:r>
              <a:rPr lang="en-US" altLang="zh-CN" sz="2200" dirty="0"/>
              <a:t>	socklen_t	len;</a:t>
            </a:r>
            <a:endParaRPr lang="en-US" altLang="zh-CN" sz="2200" dirty="0"/>
          </a:p>
          <a:p>
            <a:pPr eaLnBrk="1" hangingPunct="1">
              <a:lnSpc>
                <a:spcPct val="90000"/>
              </a:lnSpc>
              <a:buNone/>
            </a:pPr>
            <a:r>
              <a:rPr lang="en-US" altLang="zh-CN" sz="2200" dirty="0"/>
              <a:t>	int		listenfd, connfd;</a:t>
            </a:r>
            <a:endParaRPr lang="en-US" altLang="zh-CN" sz="2200" dirty="0"/>
          </a:p>
          <a:p>
            <a:pPr eaLnBrk="1" hangingPunct="1">
              <a:lnSpc>
                <a:spcPct val="90000"/>
              </a:lnSpc>
              <a:buNone/>
            </a:pPr>
            <a:endParaRPr lang="en-US" altLang="zh-CN" sz="2200" dirty="0"/>
          </a:p>
          <a:p>
            <a:pPr eaLnBrk="1" hangingPunct="1">
              <a:lnSpc>
                <a:spcPct val="90000"/>
              </a:lnSpc>
              <a:buNone/>
            </a:pPr>
            <a:r>
              <a:rPr lang="en-US" altLang="zh-CN" sz="2200" dirty="0"/>
              <a:t>	</a:t>
            </a:r>
            <a:r>
              <a:rPr lang="en-US" altLang="zh-CN" sz="2200" dirty="0">
                <a:latin typeface="Arial" panose="020B0604020202020204" pitchFamily="34" charset="0"/>
              </a:rPr>
              <a:t>…</a:t>
            </a:r>
            <a:endParaRPr lang="en-US" altLang="zh-CN" sz="2200" dirty="0"/>
          </a:p>
          <a:p>
            <a:pPr eaLnBrk="1" hangingPunct="1">
              <a:lnSpc>
                <a:spcPct val="90000"/>
              </a:lnSpc>
              <a:buNone/>
            </a:pPr>
            <a:r>
              <a:rPr lang="en-US" altLang="zh-CN" sz="2200" dirty="0"/>
              <a:t>	connfd = accept(listenfd, (struct sockaddr *)&amp;cliaddr, &amp;len);</a:t>
            </a:r>
            <a:endParaRPr lang="en-US" altLang="zh-CN" sz="2200" dirty="0"/>
          </a:p>
          <a:p>
            <a:pPr eaLnBrk="1" hangingPunct="1">
              <a:lnSpc>
                <a:spcPct val="90000"/>
              </a:lnSpc>
              <a:buNone/>
            </a:pPr>
            <a:r>
              <a:rPr lang="en-US" altLang="zh-CN" sz="2200" dirty="0"/>
              <a:t>	if (connfd == -1)	{</a:t>
            </a:r>
            <a:endParaRPr lang="en-US" altLang="zh-CN" sz="2200" dirty="0"/>
          </a:p>
          <a:p>
            <a:pPr eaLnBrk="1" hangingPunct="1">
              <a:lnSpc>
                <a:spcPct val="90000"/>
              </a:lnSpc>
              <a:buNone/>
            </a:pPr>
            <a:r>
              <a:rPr lang="en-US" altLang="zh-CN" sz="2200" dirty="0"/>
              <a:t>		/* </a:t>
            </a:r>
            <a:r>
              <a:rPr lang="zh-CN" altLang="en-US" sz="2200" dirty="0"/>
              <a:t>出错处理 *</a:t>
            </a:r>
            <a:r>
              <a:rPr lang="en-US" altLang="zh-CN" sz="2200" dirty="0"/>
              <a:t>/</a:t>
            </a:r>
            <a:endParaRPr lang="en-US" altLang="zh-CN" sz="2200" dirty="0"/>
          </a:p>
          <a:p>
            <a:pPr eaLnBrk="1" hangingPunct="1">
              <a:lnSpc>
                <a:spcPct val="90000"/>
              </a:lnSpc>
              <a:buNone/>
            </a:pPr>
            <a:r>
              <a:rPr lang="en-US" altLang="zh-CN" sz="2200" dirty="0"/>
              <a:t>	}</a:t>
            </a:r>
            <a:endParaRPr lang="en-US" altLang="zh-CN" sz="2200" dirty="0"/>
          </a:p>
          <a:p>
            <a:pPr eaLnBrk="1" hangingPunct="1">
              <a:lnSpc>
                <a:spcPct val="90000"/>
              </a:lnSpc>
              <a:buNone/>
            </a:pPr>
            <a:r>
              <a:rPr lang="en-US" altLang="zh-CN" sz="2200" dirty="0"/>
              <a:t>	printf(</a:t>
            </a:r>
            <a:r>
              <a:rPr lang="en-US" altLang="zh-CN" sz="2200" dirty="0">
                <a:latin typeface="Arial" panose="020B0604020202020204" pitchFamily="34" charset="0"/>
              </a:rPr>
              <a:t>“</a:t>
            </a:r>
            <a:r>
              <a:rPr lang="en-US" altLang="zh-CN" sz="2200" dirty="0"/>
              <a:t> connection from %s</a:t>
            </a:r>
            <a:r>
              <a:rPr lang="en-US" altLang="zh-CN" sz="2200" dirty="0">
                <a:latin typeface="Arial" panose="020B0604020202020204" pitchFamily="34" charset="0"/>
              </a:rPr>
              <a:t>”</a:t>
            </a:r>
            <a:r>
              <a:rPr lang="en-US" altLang="zh-CN" sz="2200" dirty="0"/>
              <a:t>, </a:t>
            </a:r>
            <a:endParaRPr lang="en-US" altLang="zh-CN" sz="2200" dirty="0"/>
          </a:p>
          <a:p>
            <a:pPr eaLnBrk="1" hangingPunct="1">
              <a:lnSpc>
                <a:spcPct val="90000"/>
              </a:lnSpc>
              <a:buNone/>
            </a:pPr>
            <a:r>
              <a:rPr lang="en-US" altLang="zh-CN" sz="2200" dirty="0"/>
              <a:t>		inet_ntop(AF_INET, cliaddr.sin_addr, buff, sizeof(buf)));</a:t>
            </a:r>
            <a:endParaRPr lang="en-US" altLang="zh-CN" sz="2200" dirty="0"/>
          </a:p>
          <a:p>
            <a:pPr eaLnBrk="1" hangingPunct="1">
              <a:lnSpc>
                <a:spcPct val="90000"/>
              </a:lnSpc>
              <a:buNone/>
            </a:pPr>
            <a:r>
              <a:rPr lang="en-US" altLang="zh-CN" sz="2000" dirty="0"/>
              <a:t>	</a:t>
            </a:r>
            <a:r>
              <a:rPr lang="en-US" altLang="zh-CN" sz="2000" dirty="0">
                <a:latin typeface="Arial" panose="020B0604020202020204" pitchFamily="34" charset="0"/>
              </a:rPr>
              <a:t>…</a:t>
            </a:r>
            <a:endParaRPr lang="en-US" altLang="zh-CN" sz="2000" dirty="0"/>
          </a:p>
          <a:p>
            <a:pPr eaLnBrk="1" hangingPunct="1">
              <a:lnSpc>
                <a:spcPct val="90000"/>
              </a:lnSpc>
              <a:buNone/>
            </a:pPr>
            <a:endParaRPr lang="en-US" altLang="zh-CN" sz="2000" dirty="0"/>
          </a:p>
        </p:txBody>
      </p:sp>
      <p:sp>
        <p:nvSpPr>
          <p:cNvPr id="133124" name="AutoShape 4">
            <a:hlinkClick r:id="rId1" action="ppaction://hlinksldjump"/>
          </p:cNvPr>
          <p:cNvSpPr/>
          <p:nvPr/>
        </p:nvSpPr>
        <p:spPr>
          <a:xfrm>
            <a:off x="7235825" y="6237288"/>
            <a:ext cx="792163" cy="360362"/>
          </a:xfrm>
          <a:prstGeom prst="actionButtonBackPrevious">
            <a:avLst/>
          </a:prstGeom>
          <a:solidFill>
            <a:srgbClr val="C0C0C0"/>
          </a:solidFill>
          <a:ln w="9525">
            <a:noFill/>
          </a:ln>
        </p:spPr>
        <p:txBody>
          <a:bodyPr wrap="none" anchor="ctr" anchorCtr="0"/>
          <a:p>
            <a:pPr eaLnBrk="1" hangingPunct="1"/>
            <a:endParaRPr lang="zh-CN" altLang="en-US" dirty="0">
              <a:latin typeface="Tahoma" panose="020B0604030504040204" pitchFamily="34" charset="0"/>
            </a:endParaRPr>
          </a:p>
        </p:txBody>
      </p:sp>
    </p:spTree>
  </p:cSld>
  <p:clrMapOvr>
    <a:masterClrMapping/>
  </p:clrMapOvr>
  <p:transition>
    <p:random/>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5170" name="Rectangle 2"/>
          <p:cNvSpPr>
            <a:spLocks noGrp="1"/>
          </p:cNvSpPr>
          <p:nvPr>
            <p:ph type="title"/>
          </p:nvPr>
        </p:nvSpPr>
        <p:spPr>
          <a:xfrm>
            <a:off x="228600" y="228600"/>
            <a:ext cx="7467600" cy="762000"/>
          </a:xfrm>
        </p:spPr>
        <p:txBody>
          <a:bodyPr vert="horz" wrap="square" lIns="91440" tIns="45720" rIns="91440" bIns="45720" anchor="b" anchorCtr="0"/>
          <a:p>
            <a:pPr eaLnBrk="1" hangingPunct="1"/>
            <a:r>
              <a:rPr lang="en-US" altLang="zh-CN" dirty="0"/>
              <a:t>accept</a:t>
            </a:r>
            <a:r>
              <a:rPr lang="zh-CN" altLang="en-US" dirty="0"/>
              <a:t>函数示例</a:t>
            </a:r>
            <a:endParaRPr lang="zh-CN" altLang="en-US" dirty="0"/>
          </a:p>
        </p:txBody>
      </p:sp>
      <p:pic>
        <p:nvPicPr>
          <p:cNvPr id="135171" name="图片 2"/>
          <p:cNvPicPr>
            <a:picLocks noChangeAspect="1"/>
          </p:cNvPicPr>
          <p:nvPr/>
        </p:nvPicPr>
        <p:blipFill>
          <a:blip r:embed="rId1"/>
          <a:stretch>
            <a:fillRect/>
          </a:stretch>
        </p:blipFill>
        <p:spPr>
          <a:xfrm>
            <a:off x="1116013" y="1992313"/>
            <a:ext cx="7056437" cy="4244975"/>
          </a:xfrm>
          <a:prstGeom prst="rect">
            <a:avLst/>
          </a:prstGeom>
          <a:noFill/>
          <a:ln w="9525">
            <a:noFill/>
          </a:ln>
        </p:spPr>
      </p:pic>
    </p:spTree>
  </p:cSld>
  <p:clrMapOvr>
    <a:masterClrMapping/>
  </p:clrMapOvr>
  <p:transition>
    <p:random/>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7218" name="Rectangle 2"/>
          <p:cNvSpPr/>
          <p:nvPr/>
        </p:nvSpPr>
        <p:spPr>
          <a:xfrm>
            <a:off x="900113" y="1412875"/>
            <a:ext cx="2879725" cy="4968875"/>
          </a:xfrm>
          <a:prstGeom prst="rect">
            <a:avLst/>
          </a:prstGeom>
          <a:noFill/>
          <a:ln w="9525" cap="flat" cmpd="sng">
            <a:solidFill>
              <a:schemeClr val="tx1"/>
            </a:solidFill>
            <a:prstDash val="dash"/>
            <a:miter/>
            <a:headEnd type="none" w="med" len="med"/>
            <a:tailEnd type="none" w="med" len="med"/>
          </a:ln>
        </p:spPr>
        <p:txBody>
          <a:bodyPr wrap="none" anchor="ctr" anchorCtr="0"/>
          <a:p>
            <a:pPr eaLnBrk="1" hangingPunct="1"/>
            <a:endParaRPr lang="zh-CN" altLang="en-US" dirty="0">
              <a:latin typeface="Tahoma" panose="020B0604030504040204" pitchFamily="34" charset="0"/>
            </a:endParaRPr>
          </a:p>
        </p:txBody>
      </p:sp>
      <p:sp>
        <p:nvSpPr>
          <p:cNvPr id="137219" name="Rectangle 3"/>
          <p:cNvSpPr>
            <a:spLocks noGrp="1"/>
          </p:cNvSpPr>
          <p:nvPr>
            <p:ph type="title"/>
          </p:nvPr>
        </p:nvSpPr>
        <p:spPr>
          <a:xfrm>
            <a:off x="228600" y="228600"/>
            <a:ext cx="7467600" cy="762000"/>
          </a:xfrm>
        </p:spPr>
        <p:txBody>
          <a:bodyPr vert="horz" wrap="square" lIns="91440" tIns="45720" rIns="91440" bIns="45720" anchor="b" anchorCtr="0"/>
          <a:p>
            <a:pPr eaLnBrk="1" hangingPunct="1"/>
            <a:r>
              <a:rPr lang="en-US" altLang="zh-CN" dirty="0"/>
              <a:t>TCP</a:t>
            </a:r>
            <a:r>
              <a:rPr lang="zh-CN" altLang="en-US" dirty="0"/>
              <a:t>套接字编程（</a:t>
            </a:r>
            <a:r>
              <a:rPr lang="en-US" altLang="zh-CN" dirty="0"/>
              <a:t>cont.</a:t>
            </a:r>
            <a:r>
              <a:rPr lang="zh-CN" altLang="en-US" dirty="0"/>
              <a:t>）</a:t>
            </a:r>
            <a:endParaRPr lang="zh-CN" altLang="en-US" dirty="0"/>
          </a:p>
        </p:txBody>
      </p:sp>
      <p:sp>
        <p:nvSpPr>
          <p:cNvPr id="137220" name="AutoShape 4"/>
          <p:cNvSpPr/>
          <p:nvPr/>
        </p:nvSpPr>
        <p:spPr>
          <a:xfrm>
            <a:off x="1476375" y="1628775"/>
            <a:ext cx="1655763" cy="360363"/>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socket()</a:t>
            </a:r>
            <a:endParaRPr lang="en-US" altLang="zh-CN" sz="2000" b="0" dirty="0">
              <a:latin typeface="Comic Sans MS" panose="030F0702030302020204" pitchFamily="66" charset="0"/>
            </a:endParaRPr>
          </a:p>
        </p:txBody>
      </p:sp>
      <p:sp>
        <p:nvSpPr>
          <p:cNvPr id="137221" name="AutoShape 5"/>
          <p:cNvSpPr/>
          <p:nvPr/>
        </p:nvSpPr>
        <p:spPr>
          <a:xfrm>
            <a:off x="1476375" y="2205038"/>
            <a:ext cx="1655763" cy="360362"/>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bind()</a:t>
            </a:r>
            <a:endParaRPr lang="en-US" altLang="zh-CN" sz="2000" b="0" dirty="0">
              <a:latin typeface="Comic Sans MS" panose="030F0702030302020204" pitchFamily="66" charset="0"/>
            </a:endParaRPr>
          </a:p>
        </p:txBody>
      </p:sp>
      <p:sp>
        <p:nvSpPr>
          <p:cNvPr id="137222" name="AutoShape 6"/>
          <p:cNvSpPr/>
          <p:nvPr/>
        </p:nvSpPr>
        <p:spPr>
          <a:xfrm>
            <a:off x="1476375" y="2781300"/>
            <a:ext cx="1655763" cy="360363"/>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listen()</a:t>
            </a:r>
            <a:endParaRPr lang="en-US" altLang="zh-CN" sz="2000" b="0" dirty="0">
              <a:latin typeface="Comic Sans MS" panose="030F0702030302020204" pitchFamily="66" charset="0"/>
            </a:endParaRPr>
          </a:p>
        </p:txBody>
      </p:sp>
      <p:sp>
        <p:nvSpPr>
          <p:cNvPr id="137223" name="AutoShape 7"/>
          <p:cNvSpPr/>
          <p:nvPr/>
        </p:nvSpPr>
        <p:spPr>
          <a:xfrm>
            <a:off x="1476375" y="3357563"/>
            <a:ext cx="1655763" cy="360362"/>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accept()</a:t>
            </a:r>
            <a:endParaRPr lang="en-US" altLang="zh-CN" sz="2000" b="0" dirty="0">
              <a:latin typeface="Comic Sans MS" panose="030F0702030302020204" pitchFamily="66" charset="0"/>
            </a:endParaRPr>
          </a:p>
        </p:txBody>
      </p:sp>
      <p:sp>
        <p:nvSpPr>
          <p:cNvPr id="137224" name="AutoShape 8"/>
          <p:cNvSpPr/>
          <p:nvPr/>
        </p:nvSpPr>
        <p:spPr>
          <a:xfrm>
            <a:off x="1476375" y="4652963"/>
            <a:ext cx="1655763" cy="360362"/>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read()</a:t>
            </a:r>
            <a:endParaRPr lang="en-US" altLang="zh-CN" sz="2000" b="0" dirty="0">
              <a:latin typeface="Comic Sans MS" panose="030F0702030302020204" pitchFamily="66" charset="0"/>
            </a:endParaRPr>
          </a:p>
        </p:txBody>
      </p:sp>
      <p:sp>
        <p:nvSpPr>
          <p:cNvPr id="137225" name="AutoShape 9"/>
          <p:cNvSpPr/>
          <p:nvPr/>
        </p:nvSpPr>
        <p:spPr>
          <a:xfrm>
            <a:off x="1476375" y="5229225"/>
            <a:ext cx="1655763" cy="360363"/>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write()</a:t>
            </a:r>
            <a:endParaRPr lang="en-US" altLang="zh-CN" sz="2000" b="0" dirty="0">
              <a:latin typeface="Comic Sans MS" panose="030F0702030302020204" pitchFamily="66" charset="0"/>
            </a:endParaRPr>
          </a:p>
        </p:txBody>
      </p:sp>
      <p:sp>
        <p:nvSpPr>
          <p:cNvPr id="137226" name="AutoShape 10"/>
          <p:cNvSpPr/>
          <p:nvPr/>
        </p:nvSpPr>
        <p:spPr>
          <a:xfrm>
            <a:off x="1476375" y="5805488"/>
            <a:ext cx="1655763" cy="360362"/>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close()</a:t>
            </a:r>
            <a:endParaRPr lang="en-US" altLang="zh-CN" sz="2000" b="0" dirty="0">
              <a:latin typeface="Comic Sans MS" panose="030F0702030302020204" pitchFamily="66" charset="0"/>
            </a:endParaRPr>
          </a:p>
        </p:txBody>
      </p:sp>
      <p:sp>
        <p:nvSpPr>
          <p:cNvPr id="137227" name="Line 11"/>
          <p:cNvSpPr/>
          <p:nvPr/>
        </p:nvSpPr>
        <p:spPr>
          <a:xfrm>
            <a:off x="2268538" y="1268413"/>
            <a:ext cx="0" cy="360362"/>
          </a:xfrm>
          <a:prstGeom prst="line">
            <a:avLst/>
          </a:prstGeom>
          <a:ln w="9525" cap="flat" cmpd="sng">
            <a:solidFill>
              <a:schemeClr val="hlink"/>
            </a:solidFill>
            <a:prstDash val="solid"/>
            <a:headEnd type="none" w="med" len="med"/>
            <a:tailEnd type="triangle" w="med" len="med"/>
          </a:ln>
        </p:spPr>
      </p:sp>
      <p:sp>
        <p:nvSpPr>
          <p:cNvPr id="137228" name="Line 12"/>
          <p:cNvSpPr/>
          <p:nvPr/>
        </p:nvSpPr>
        <p:spPr>
          <a:xfrm>
            <a:off x="2268538" y="1989138"/>
            <a:ext cx="0" cy="215900"/>
          </a:xfrm>
          <a:prstGeom prst="line">
            <a:avLst/>
          </a:prstGeom>
          <a:ln w="9525" cap="flat" cmpd="sng">
            <a:solidFill>
              <a:schemeClr val="hlink"/>
            </a:solidFill>
            <a:prstDash val="solid"/>
            <a:headEnd type="none" w="med" len="med"/>
            <a:tailEnd type="triangle" w="med" len="med"/>
          </a:ln>
        </p:spPr>
      </p:sp>
      <p:sp>
        <p:nvSpPr>
          <p:cNvPr id="137229" name="Line 13"/>
          <p:cNvSpPr/>
          <p:nvPr/>
        </p:nvSpPr>
        <p:spPr>
          <a:xfrm>
            <a:off x="2268538" y="2565400"/>
            <a:ext cx="0" cy="215900"/>
          </a:xfrm>
          <a:prstGeom prst="line">
            <a:avLst/>
          </a:prstGeom>
          <a:ln w="9525" cap="flat" cmpd="sng">
            <a:solidFill>
              <a:schemeClr val="hlink"/>
            </a:solidFill>
            <a:prstDash val="solid"/>
            <a:headEnd type="none" w="med" len="med"/>
            <a:tailEnd type="triangle" w="med" len="med"/>
          </a:ln>
        </p:spPr>
      </p:sp>
      <p:sp>
        <p:nvSpPr>
          <p:cNvPr id="137230" name="Line 14"/>
          <p:cNvSpPr/>
          <p:nvPr/>
        </p:nvSpPr>
        <p:spPr>
          <a:xfrm>
            <a:off x="2268538" y="3141663"/>
            <a:ext cx="0" cy="215900"/>
          </a:xfrm>
          <a:prstGeom prst="line">
            <a:avLst/>
          </a:prstGeom>
          <a:ln w="9525" cap="flat" cmpd="sng">
            <a:solidFill>
              <a:schemeClr val="hlink"/>
            </a:solidFill>
            <a:prstDash val="solid"/>
            <a:headEnd type="none" w="med" len="med"/>
            <a:tailEnd type="triangle" w="med" len="med"/>
          </a:ln>
        </p:spPr>
      </p:sp>
      <p:sp>
        <p:nvSpPr>
          <p:cNvPr id="137231" name="Line 15"/>
          <p:cNvSpPr/>
          <p:nvPr/>
        </p:nvSpPr>
        <p:spPr>
          <a:xfrm>
            <a:off x="2268538" y="3716338"/>
            <a:ext cx="0" cy="936625"/>
          </a:xfrm>
          <a:prstGeom prst="line">
            <a:avLst/>
          </a:prstGeom>
          <a:ln w="9525" cap="flat" cmpd="sng">
            <a:solidFill>
              <a:schemeClr val="hlink"/>
            </a:solidFill>
            <a:prstDash val="dash"/>
            <a:headEnd type="none" w="med" len="med"/>
            <a:tailEnd type="triangle" w="med" len="med"/>
          </a:ln>
        </p:spPr>
      </p:sp>
      <p:sp>
        <p:nvSpPr>
          <p:cNvPr id="137232" name="Line 16"/>
          <p:cNvSpPr/>
          <p:nvPr/>
        </p:nvSpPr>
        <p:spPr>
          <a:xfrm>
            <a:off x="2268538" y="5013325"/>
            <a:ext cx="0" cy="215900"/>
          </a:xfrm>
          <a:prstGeom prst="line">
            <a:avLst/>
          </a:prstGeom>
          <a:ln w="9525" cap="flat" cmpd="sng">
            <a:solidFill>
              <a:schemeClr val="hlink"/>
            </a:solidFill>
            <a:prstDash val="solid"/>
            <a:headEnd type="none" w="med" len="med"/>
            <a:tailEnd type="triangle" w="med" len="med"/>
          </a:ln>
        </p:spPr>
      </p:sp>
      <p:sp>
        <p:nvSpPr>
          <p:cNvPr id="137233" name="Line 17"/>
          <p:cNvSpPr/>
          <p:nvPr/>
        </p:nvSpPr>
        <p:spPr>
          <a:xfrm>
            <a:off x="2268538" y="5589588"/>
            <a:ext cx="0" cy="215900"/>
          </a:xfrm>
          <a:prstGeom prst="line">
            <a:avLst/>
          </a:prstGeom>
          <a:ln w="9525" cap="flat" cmpd="sng">
            <a:solidFill>
              <a:schemeClr val="hlink"/>
            </a:solidFill>
            <a:prstDash val="solid"/>
            <a:headEnd type="none" w="med" len="med"/>
            <a:tailEnd type="triangle" w="med" len="med"/>
          </a:ln>
        </p:spPr>
      </p:sp>
      <p:sp>
        <p:nvSpPr>
          <p:cNvPr id="137234" name="Line 18"/>
          <p:cNvSpPr/>
          <p:nvPr/>
        </p:nvSpPr>
        <p:spPr>
          <a:xfrm flipH="1">
            <a:off x="1187450" y="5661025"/>
            <a:ext cx="1081088" cy="0"/>
          </a:xfrm>
          <a:prstGeom prst="line">
            <a:avLst/>
          </a:prstGeom>
          <a:ln w="9525" cap="flat" cmpd="sng">
            <a:solidFill>
              <a:schemeClr val="tx1"/>
            </a:solidFill>
            <a:prstDash val="solid"/>
            <a:headEnd type="none" w="med" len="med"/>
            <a:tailEnd type="none" w="med" len="med"/>
          </a:ln>
        </p:spPr>
      </p:sp>
      <p:sp>
        <p:nvSpPr>
          <p:cNvPr id="137235" name="Line 19"/>
          <p:cNvSpPr/>
          <p:nvPr/>
        </p:nvSpPr>
        <p:spPr>
          <a:xfrm flipV="1">
            <a:off x="1187450" y="4437063"/>
            <a:ext cx="0" cy="1223962"/>
          </a:xfrm>
          <a:prstGeom prst="line">
            <a:avLst/>
          </a:prstGeom>
          <a:ln w="9525" cap="flat" cmpd="sng">
            <a:solidFill>
              <a:schemeClr val="tx1"/>
            </a:solidFill>
            <a:prstDash val="solid"/>
            <a:headEnd type="none" w="med" len="med"/>
            <a:tailEnd type="none" w="med" len="med"/>
          </a:ln>
        </p:spPr>
      </p:sp>
      <p:sp>
        <p:nvSpPr>
          <p:cNvPr id="137236" name="Line 20"/>
          <p:cNvSpPr/>
          <p:nvPr/>
        </p:nvSpPr>
        <p:spPr>
          <a:xfrm>
            <a:off x="1187450" y="4437063"/>
            <a:ext cx="1081088" cy="0"/>
          </a:xfrm>
          <a:prstGeom prst="line">
            <a:avLst/>
          </a:prstGeom>
          <a:ln w="9525" cap="flat" cmpd="sng">
            <a:solidFill>
              <a:schemeClr val="tx1"/>
            </a:solidFill>
            <a:prstDash val="solid"/>
            <a:headEnd type="none" w="med" len="med"/>
            <a:tailEnd type="triangle" w="med" len="med"/>
          </a:ln>
        </p:spPr>
      </p:sp>
      <p:sp>
        <p:nvSpPr>
          <p:cNvPr id="137237" name="AutoShape 21"/>
          <p:cNvSpPr/>
          <p:nvPr/>
        </p:nvSpPr>
        <p:spPr>
          <a:xfrm>
            <a:off x="5724525" y="3500438"/>
            <a:ext cx="1655763" cy="360362"/>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socket()</a:t>
            </a:r>
            <a:endParaRPr lang="en-US" altLang="zh-CN" sz="2000" b="0" dirty="0">
              <a:latin typeface="Comic Sans MS" panose="030F0702030302020204" pitchFamily="66" charset="0"/>
            </a:endParaRPr>
          </a:p>
        </p:txBody>
      </p:sp>
      <p:sp>
        <p:nvSpPr>
          <p:cNvPr id="137238" name="AutoShape 22"/>
          <p:cNvSpPr/>
          <p:nvPr/>
        </p:nvSpPr>
        <p:spPr>
          <a:xfrm>
            <a:off x="5724525" y="4076700"/>
            <a:ext cx="1655763" cy="360363"/>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connect()</a:t>
            </a:r>
            <a:endParaRPr lang="en-US" altLang="zh-CN" sz="2000" b="0" dirty="0">
              <a:latin typeface="Comic Sans MS" panose="030F0702030302020204" pitchFamily="66" charset="0"/>
            </a:endParaRPr>
          </a:p>
        </p:txBody>
      </p:sp>
      <p:sp>
        <p:nvSpPr>
          <p:cNvPr id="137239" name="AutoShape 23"/>
          <p:cNvSpPr/>
          <p:nvPr/>
        </p:nvSpPr>
        <p:spPr>
          <a:xfrm>
            <a:off x="5724525" y="4652963"/>
            <a:ext cx="1655763" cy="360362"/>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write()</a:t>
            </a:r>
            <a:endParaRPr lang="en-US" altLang="zh-CN" sz="2000" b="0" dirty="0">
              <a:latin typeface="Comic Sans MS" panose="030F0702030302020204" pitchFamily="66" charset="0"/>
            </a:endParaRPr>
          </a:p>
        </p:txBody>
      </p:sp>
      <p:sp>
        <p:nvSpPr>
          <p:cNvPr id="137240" name="AutoShape 24"/>
          <p:cNvSpPr/>
          <p:nvPr/>
        </p:nvSpPr>
        <p:spPr>
          <a:xfrm>
            <a:off x="5724525" y="5229225"/>
            <a:ext cx="1655763" cy="360363"/>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read()</a:t>
            </a:r>
            <a:endParaRPr lang="en-US" altLang="zh-CN" sz="2000" b="0" dirty="0">
              <a:latin typeface="Comic Sans MS" panose="030F0702030302020204" pitchFamily="66" charset="0"/>
            </a:endParaRPr>
          </a:p>
        </p:txBody>
      </p:sp>
      <p:sp>
        <p:nvSpPr>
          <p:cNvPr id="137241" name="AutoShape 25"/>
          <p:cNvSpPr/>
          <p:nvPr/>
        </p:nvSpPr>
        <p:spPr>
          <a:xfrm>
            <a:off x="5724525" y="5805488"/>
            <a:ext cx="1655763" cy="360362"/>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close()</a:t>
            </a:r>
            <a:endParaRPr lang="en-US" altLang="zh-CN" sz="2000" b="0" dirty="0">
              <a:latin typeface="Comic Sans MS" panose="030F0702030302020204" pitchFamily="66" charset="0"/>
            </a:endParaRPr>
          </a:p>
        </p:txBody>
      </p:sp>
      <p:sp>
        <p:nvSpPr>
          <p:cNvPr id="137242" name="Line 26"/>
          <p:cNvSpPr/>
          <p:nvPr/>
        </p:nvSpPr>
        <p:spPr>
          <a:xfrm>
            <a:off x="6516688" y="3860800"/>
            <a:ext cx="0" cy="215900"/>
          </a:xfrm>
          <a:prstGeom prst="line">
            <a:avLst/>
          </a:prstGeom>
          <a:ln w="9525" cap="flat" cmpd="sng">
            <a:solidFill>
              <a:schemeClr val="hlink"/>
            </a:solidFill>
            <a:prstDash val="solid"/>
            <a:headEnd type="none" w="med" len="med"/>
            <a:tailEnd type="triangle" w="med" len="med"/>
          </a:ln>
        </p:spPr>
      </p:sp>
      <p:sp>
        <p:nvSpPr>
          <p:cNvPr id="137243" name="Line 27"/>
          <p:cNvSpPr/>
          <p:nvPr/>
        </p:nvSpPr>
        <p:spPr>
          <a:xfrm>
            <a:off x="6516688" y="4437063"/>
            <a:ext cx="0" cy="215900"/>
          </a:xfrm>
          <a:prstGeom prst="line">
            <a:avLst/>
          </a:prstGeom>
          <a:ln w="9525" cap="flat" cmpd="sng">
            <a:solidFill>
              <a:schemeClr val="hlink"/>
            </a:solidFill>
            <a:prstDash val="solid"/>
            <a:headEnd type="none" w="med" len="med"/>
            <a:tailEnd type="triangle" w="med" len="med"/>
          </a:ln>
        </p:spPr>
      </p:sp>
      <p:sp>
        <p:nvSpPr>
          <p:cNvPr id="137244" name="Line 28"/>
          <p:cNvSpPr/>
          <p:nvPr/>
        </p:nvSpPr>
        <p:spPr>
          <a:xfrm>
            <a:off x="6516688" y="5013325"/>
            <a:ext cx="0" cy="215900"/>
          </a:xfrm>
          <a:prstGeom prst="line">
            <a:avLst/>
          </a:prstGeom>
          <a:ln w="9525" cap="flat" cmpd="sng">
            <a:solidFill>
              <a:schemeClr val="hlink"/>
            </a:solidFill>
            <a:prstDash val="solid"/>
            <a:headEnd type="none" w="med" len="med"/>
            <a:tailEnd type="triangle" w="med" len="med"/>
          </a:ln>
        </p:spPr>
      </p:sp>
      <p:sp>
        <p:nvSpPr>
          <p:cNvPr id="137245" name="Line 29"/>
          <p:cNvSpPr/>
          <p:nvPr/>
        </p:nvSpPr>
        <p:spPr>
          <a:xfrm>
            <a:off x="6516688" y="5589588"/>
            <a:ext cx="0" cy="215900"/>
          </a:xfrm>
          <a:prstGeom prst="line">
            <a:avLst/>
          </a:prstGeom>
          <a:ln w="9525" cap="flat" cmpd="sng">
            <a:solidFill>
              <a:schemeClr val="hlink"/>
            </a:solidFill>
            <a:prstDash val="solid"/>
            <a:headEnd type="none" w="med" len="med"/>
            <a:tailEnd type="triangle" w="med" len="med"/>
          </a:ln>
        </p:spPr>
      </p:sp>
      <p:sp>
        <p:nvSpPr>
          <p:cNvPr id="137246" name="Text Box 30"/>
          <p:cNvSpPr txBox="1"/>
          <p:nvPr/>
        </p:nvSpPr>
        <p:spPr>
          <a:xfrm>
            <a:off x="2206625" y="3860800"/>
            <a:ext cx="1428750" cy="517525"/>
          </a:xfrm>
          <a:prstGeom prst="rect">
            <a:avLst/>
          </a:prstGeom>
          <a:noFill/>
          <a:ln w="9525">
            <a:noFill/>
          </a:ln>
        </p:spPr>
        <p:txBody>
          <a:bodyPr wrap="none">
            <a:spAutoFit/>
          </a:bodyPr>
          <a:p>
            <a:pPr eaLnBrk="1" hangingPunct="1"/>
            <a:r>
              <a:rPr lang="zh-CN" altLang="en-US" sz="1400" b="0" dirty="0">
                <a:latin typeface="Arial" panose="020B0604020202020204" pitchFamily="34" charset="0"/>
              </a:rPr>
              <a:t>阻塞直到接收</a:t>
            </a:r>
            <a:endParaRPr lang="zh-CN" altLang="en-US" sz="1400" b="0" dirty="0">
              <a:latin typeface="Arial" panose="020B0604020202020204" pitchFamily="34" charset="0"/>
            </a:endParaRPr>
          </a:p>
          <a:p>
            <a:pPr eaLnBrk="1" hangingPunct="1"/>
            <a:r>
              <a:rPr lang="zh-CN" altLang="en-US" sz="1400" b="0" dirty="0">
                <a:latin typeface="Arial" panose="020B0604020202020204" pitchFamily="34" charset="0"/>
              </a:rPr>
              <a:t>到客户连接请求</a:t>
            </a:r>
            <a:endParaRPr lang="zh-CN" altLang="en-US" sz="1400" b="0" dirty="0">
              <a:latin typeface="Arial" panose="020B0604020202020204" pitchFamily="34" charset="0"/>
            </a:endParaRPr>
          </a:p>
        </p:txBody>
      </p:sp>
      <p:sp>
        <p:nvSpPr>
          <p:cNvPr id="137247" name="Line 31"/>
          <p:cNvSpPr/>
          <p:nvPr/>
        </p:nvSpPr>
        <p:spPr>
          <a:xfrm>
            <a:off x="6516688" y="3141663"/>
            <a:ext cx="0" cy="360362"/>
          </a:xfrm>
          <a:prstGeom prst="line">
            <a:avLst/>
          </a:prstGeom>
          <a:ln w="9525" cap="flat" cmpd="sng">
            <a:solidFill>
              <a:schemeClr val="hlink"/>
            </a:solidFill>
            <a:prstDash val="solid"/>
            <a:headEnd type="none" w="med" len="med"/>
            <a:tailEnd type="triangle" w="med" len="med"/>
          </a:ln>
        </p:spPr>
      </p:sp>
      <p:sp>
        <p:nvSpPr>
          <p:cNvPr id="137248" name="Rectangle 32"/>
          <p:cNvSpPr/>
          <p:nvPr/>
        </p:nvSpPr>
        <p:spPr>
          <a:xfrm>
            <a:off x="5435600" y="2924175"/>
            <a:ext cx="2232025" cy="3457575"/>
          </a:xfrm>
          <a:prstGeom prst="rect">
            <a:avLst/>
          </a:prstGeom>
          <a:noFill/>
          <a:ln w="9525" cap="flat" cmpd="sng">
            <a:solidFill>
              <a:schemeClr val="tx1"/>
            </a:solidFill>
            <a:prstDash val="dash"/>
            <a:miter/>
            <a:headEnd type="none" w="med" len="med"/>
            <a:tailEnd type="none" w="med" len="med"/>
          </a:ln>
        </p:spPr>
        <p:txBody>
          <a:bodyPr wrap="none" anchor="ctr" anchorCtr="0"/>
          <a:p>
            <a:pPr eaLnBrk="1" hangingPunct="1"/>
            <a:endParaRPr lang="zh-CN" altLang="en-US" dirty="0">
              <a:latin typeface="Tahoma" panose="020B0604030504040204" pitchFamily="34" charset="0"/>
            </a:endParaRPr>
          </a:p>
        </p:txBody>
      </p:sp>
      <p:sp>
        <p:nvSpPr>
          <p:cNvPr id="137249" name="Line 33"/>
          <p:cNvSpPr/>
          <p:nvPr/>
        </p:nvSpPr>
        <p:spPr>
          <a:xfrm>
            <a:off x="3563938" y="4221163"/>
            <a:ext cx="2160587" cy="0"/>
          </a:xfrm>
          <a:prstGeom prst="line">
            <a:avLst/>
          </a:prstGeom>
          <a:ln w="9525" cap="flat" cmpd="sng">
            <a:solidFill>
              <a:schemeClr val="tx1"/>
            </a:solidFill>
            <a:prstDash val="solid"/>
            <a:headEnd type="triangle" w="med" len="med"/>
            <a:tailEnd type="triangle" w="med" len="med"/>
          </a:ln>
        </p:spPr>
      </p:sp>
      <p:sp>
        <p:nvSpPr>
          <p:cNvPr id="137250" name="Line 34"/>
          <p:cNvSpPr/>
          <p:nvPr/>
        </p:nvSpPr>
        <p:spPr>
          <a:xfrm>
            <a:off x="3203575" y="4868863"/>
            <a:ext cx="2449513" cy="0"/>
          </a:xfrm>
          <a:prstGeom prst="line">
            <a:avLst/>
          </a:prstGeom>
          <a:ln w="9525" cap="flat" cmpd="sng">
            <a:solidFill>
              <a:schemeClr val="tx1"/>
            </a:solidFill>
            <a:prstDash val="solid"/>
            <a:headEnd type="triangle" w="med" len="med"/>
            <a:tailEnd type="triangle" w="med" len="med"/>
          </a:ln>
        </p:spPr>
      </p:sp>
      <p:sp>
        <p:nvSpPr>
          <p:cNvPr id="137251" name="Line 35"/>
          <p:cNvSpPr/>
          <p:nvPr/>
        </p:nvSpPr>
        <p:spPr>
          <a:xfrm>
            <a:off x="3203575" y="5373688"/>
            <a:ext cx="2449513" cy="0"/>
          </a:xfrm>
          <a:prstGeom prst="line">
            <a:avLst/>
          </a:prstGeom>
          <a:ln w="9525" cap="flat" cmpd="sng">
            <a:solidFill>
              <a:schemeClr val="tx1"/>
            </a:solidFill>
            <a:prstDash val="solid"/>
            <a:headEnd type="triangle" w="med" len="med"/>
            <a:tailEnd type="triangle" w="med" len="med"/>
          </a:ln>
        </p:spPr>
      </p:sp>
      <p:sp>
        <p:nvSpPr>
          <p:cNvPr id="137252" name="Line 36"/>
          <p:cNvSpPr/>
          <p:nvPr/>
        </p:nvSpPr>
        <p:spPr>
          <a:xfrm>
            <a:off x="3203575" y="6021388"/>
            <a:ext cx="2449513" cy="0"/>
          </a:xfrm>
          <a:prstGeom prst="line">
            <a:avLst/>
          </a:prstGeom>
          <a:ln w="9525" cap="flat" cmpd="sng">
            <a:solidFill>
              <a:schemeClr val="tx1"/>
            </a:solidFill>
            <a:prstDash val="solid"/>
            <a:headEnd type="triangle" w="med" len="med"/>
            <a:tailEnd type="triangle" w="med" len="med"/>
          </a:ln>
        </p:spPr>
      </p:sp>
      <p:sp>
        <p:nvSpPr>
          <p:cNvPr id="137253" name="Text Box 37"/>
          <p:cNvSpPr txBox="1"/>
          <p:nvPr/>
        </p:nvSpPr>
        <p:spPr>
          <a:xfrm>
            <a:off x="323850" y="2159000"/>
            <a:ext cx="458788" cy="1463675"/>
          </a:xfrm>
          <a:prstGeom prst="rect">
            <a:avLst/>
          </a:prstGeom>
          <a:noFill/>
          <a:ln w="9525">
            <a:noFill/>
          </a:ln>
        </p:spPr>
        <p:txBody>
          <a:bodyPr vert="eaVert" wrap="none">
            <a:spAutoFit/>
          </a:bodyPr>
          <a:p>
            <a:pPr eaLnBrk="1" hangingPunct="1"/>
            <a:r>
              <a:rPr lang="en-US" altLang="zh-CN" sz="1800" b="0" dirty="0">
                <a:latin typeface="Arial" panose="020B0604020202020204" pitchFamily="34" charset="0"/>
              </a:rPr>
              <a:t>TCP</a:t>
            </a:r>
            <a:r>
              <a:rPr lang="zh-CN" altLang="en-US" sz="1800" b="0" dirty="0">
                <a:latin typeface="Arial" panose="020B0604020202020204" pitchFamily="34" charset="0"/>
              </a:rPr>
              <a:t>服务器端</a:t>
            </a:r>
            <a:endParaRPr lang="zh-CN" altLang="en-US" sz="1800" b="0" dirty="0">
              <a:latin typeface="Arial" panose="020B0604020202020204" pitchFamily="34" charset="0"/>
            </a:endParaRPr>
          </a:p>
        </p:txBody>
      </p:sp>
      <p:sp>
        <p:nvSpPr>
          <p:cNvPr id="137254" name="Text Box 38"/>
          <p:cNvSpPr txBox="1"/>
          <p:nvPr/>
        </p:nvSpPr>
        <p:spPr>
          <a:xfrm>
            <a:off x="7885113" y="3573463"/>
            <a:ext cx="458787" cy="1235075"/>
          </a:xfrm>
          <a:prstGeom prst="rect">
            <a:avLst/>
          </a:prstGeom>
          <a:noFill/>
          <a:ln w="9525">
            <a:noFill/>
          </a:ln>
        </p:spPr>
        <p:txBody>
          <a:bodyPr vert="eaVert" wrap="none">
            <a:spAutoFit/>
          </a:bodyPr>
          <a:p>
            <a:pPr eaLnBrk="1" hangingPunct="1"/>
            <a:r>
              <a:rPr lang="en-US" altLang="zh-CN" sz="1800" b="0" dirty="0">
                <a:latin typeface="Arial" panose="020B0604020202020204" pitchFamily="34" charset="0"/>
              </a:rPr>
              <a:t>TCP</a:t>
            </a:r>
            <a:r>
              <a:rPr lang="zh-CN" altLang="en-US" sz="1800" b="0" dirty="0">
                <a:latin typeface="Arial" panose="020B0604020202020204" pitchFamily="34" charset="0"/>
              </a:rPr>
              <a:t>客户端</a:t>
            </a:r>
            <a:endParaRPr lang="zh-CN" altLang="en-US" sz="1800" b="0" dirty="0">
              <a:latin typeface="Arial" panose="020B0604020202020204" pitchFamily="34" charset="0"/>
            </a:endParaRPr>
          </a:p>
        </p:txBody>
      </p:sp>
    </p:spTree>
  </p:cSld>
  <p:clrMapOvr>
    <a:masterClrMapping/>
  </p:clrMapOvr>
  <p:transition>
    <p:random/>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9266" name="Rectangle 2"/>
          <p:cNvSpPr>
            <a:spLocks noGrp="1"/>
          </p:cNvSpPr>
          <p:nvPr>
            <p:ph type="title"/>
          </p:nvPr>
        </p:nvSpPr>
        <p:spPr>
          <a:xfrm>
            <a:off x="971550" y="692150"/>
            <a:ext cx="7793038" cy="484188"/>
          </a:xfrm>
        </p:spPr>
        <p:txBody>
          <a:bodyPr vert="horz" wrap="square" lIns="91440" tIns="45720" rIns="91440" bIns="45720" anchor="b" anchorCtr="0"/>
          <a:p>
            <a:pPr eaLnBrk="1" hangingPunct="1"/>
            <a:r>
              <a:rPr lang="zh-CN" altLang="en-US" dirty="0"/>
              <a:t>基本套接字函数－</a:t>
            </a:r>
            <a:r>
              <a:rPr lang="en-US" altLang="zh-CN" dirty="0"/>
              <a:t>close</a:t>
            </a:r>
            <a:endParaRPr lang="en-US" altLang="zh-CN" dirty="0"/>
          </a:p>
        </p:txBody>
      </p:sp>
      <p:sp>
        <p:nvSpPr>
          <p:cNvPr id="61443" name="Rectangle 3"/>
          <p:cNvSpPr>
            <a:spLocks noGrp="1" noChangeArrowheads="1"/>
          </p:cNvSpPr>
          <p:nvPr>
            <p:ph idx="1"/>
          </p:nvPr>
        </p:nvSpPr>
        <p:spPr>
          <a:xfrm>
            <a:off x="755650" y="1733550"/>
            <a:ext cx="7543800" cy="46482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defRPr/>
            </a:pPr>
            <a:r>
              <a:rPr kumimoji="0" lang="en-US" altLang="zh-CN" sz="2400" b="0" i="0" u="none" strike="noStrike" kern="0" cap="none" spc="0" normalizeH="0" baseline="0" noProof="0">
                <a:ln>
                  <a:noFill/>
                </a:ln>
                <a:solidFill>
                  <a:schemeClr val="tx1"/>
                </a:solidFill>
                <a:effectLst/>
                <a:uLnTx/>
                <a:uFillTx/>
                <a:latin typeface="+mn-lt"/>
                <a:ea typeface="+mn-ea"/>
                <a:cs typeface="+mn-cs"/>
              </a:rPr>
              <a:t>#include &lt;</a:t>
            </a:r>
            <a:r>
              <a:rPr kumimoji="0" lang="en-US" altLang="zh-CN" sz="2400" b="0" i="0" u="none" strike="noStrike" kern="0" cap="none" spc="0" normalizeH="0" baseline="0" noProof="0" err="1">
                <a:ln>
                  <a:noFill/>
                </a:ln>
                <a:solidFill>
                  <a:schemeClr val="tx1"/>
                </a:solidFill>
                <a:effectLst/>
                <a:uLnTx/>
                <a:uFillTx/>
                <a:latin typeface="+mn-lt"/>
                <a:ea typeface="+mn-ea"/>
                <a:cs typeface="+mn-cs"/>
              </a:rPr>
              <a:t>unistd.h</a:t>
            </a:r>
            <a:r>
              <a:rPr kumimoji="0" lang="en-US" altLang="zh-CN" sz="2400" b="0" i="0" u="none" strike="noStrike" kern="0" cap="none" spc="0" normalizeH="0" baseline="0" noProof="0">
                <a:ln>
                  <a:noFill/>
                </a:ln>
                <a:solidFill>
                  <a:schemeClr val="tx1"/>
                </a:solidFill>
                <a:effectLst/>
                <a:uLnTx/>
                <a:uFillTx/>
                <a:latin typeface="+mn-lt"/>
                <a:ea typeface="+mn-ea"/>
                <a:cs typeface="+mn-cs"/>
              </a:rPr>
              <a:t>&gt;</a:t>
            </a:r>
            <a:endParaRPr kumimoji="0" lang="en-US" altLang="zh-CN" sz="2400" b="0" i="0" u="none" strike="noStrike" kern="0" cap="none" spc="0" normalizeH="0" baseline="0" noProof="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defRPr/>
            </a:pPr>
            <a:r>
              <a:rPr kumimoji="0" lang="en-US" altLang="zh-CN" sz="2400" b="0" i="0" u="none" strike="noStrike" kern="0" cap="none" spc="0" normalizeH="0" baseline="0" noProof="0" err="1">
                <a:ln>
                  <a:noFill/>
                </a:ln>
                <a:solidFill>
                  <a:schemeClr val="tx1"/>
                </a:solidFill>
                <a:effectLst/>
                <a:uLnTx/>
                <a:uFillTx/>
                <a:latin typeface="+mn-lt"/>
                <a:ea typeface="+mn-ea"/>
                <a:cs typeface="+mn-cs"/>
              </a:rPr>
              <a:t>int</a:t>
            </a:r>
            <a:r>
              <a:rPr kumimoji="0" lang="en-US" altLang="zh-CN" sz="2400" b="0" i="0" u="none" strike="noStrike" kern="0" cap="none" spc="0" normalizeH="0" baseline="0" noProof="0">
                <a:ln>
                  <a:noFill/>
                </a:ln>
                <a:solidFill>
                  <a:schemeClr val="tx1"/>
                </a:solidFill>
                <a:effectLst/>
                <a:uLnTx/>
                <a:uFillTx/>
                <a:latin typeface="+mn-lt"/>
                <a:ea typeface="+mn-ea"/>
                <a:cs typeface="+mn-cs"/>
              </a:rPr>
              <a:t> close(</a:t>
            </a:r>
            <a:r>
              <a:rPr kumimoji="0" lang="en-US" altLang="zh-CN" sz="2400" b="0" i="0" u="none" strike="noStrike" kern="0" cap="none" spc="0" normalizeH="0" baseline="0" noProof="0" err="1">
                <a:ln>
                  <a:noFill/>
                </a:ln>
                <a:solidFill>
                  <a:schemeClr val="tx1"/>
                </a:solidFill>
                <a:effectLst/>
                <a:uLnTx/>
                <a:uFillTx/>
                <a:latin typeface="+mn-lt"/>
                <a:ea typeface="+mn-ea"/>
                <a:cs typeface="+mn-cs"/>
              </a:rPr>
              <a:t>int</a:t>
            </a:r>
            <a:r>
              <a:rPr kumimoji="0" lang="en-US" altLang="zh-CN" sz="2400" b="0" i="0" u="none" strike="noStrike" kern="0" cap="none" spc="0" normalizeH="0" baseline="0" noProof="0">
                <a:ln>
                  <a:noFill/>
                </a:ln>
                <a:solidFill>
                  <a:schemeClr val="tx1"/>
                </a:solidFill>
                <a:effectLst/>
                <a:uLnTx/>
                <a:uFillTx/>
                <a:latin typeface="+mn-lt"/>
                <a:ea typeface="+mn-ea"/>
                <a:cs typeface="+mn-cs"/>
              </a:rPr>
              <a:t> </a:t>
            </a:r>
            <a:r>
              <a:rPr kumimoji="0" lang="en-US" altLang="zh-CN" sz="2400" b="0" i="0" u="none" strike="noStrike" kern="0" cap="none" spc="0" normalizeH="0" baseline="0" noProof="0" err="1">
                <a:ln>
                  <a:noFill/>
                </a:ln>
                <a:solidFill>
                  <a:schemeClr val="tx1"/>
                </a:solidFill>
                <a:effectLst/>
                <a:uLnTx/>
                <a:uFillTx/>
                <a:latin typeface="+mn-lt"/>
                <a:ea typeface="+mn-ea"/>
                <a:cs typeface="+mn-cs"/>
              </a:rPr>
              <a:t>sockfd</a:t>
            </a:r>
            <a:r>
              <a:rPr kumimoji="0" lang="en-US" altLang="zh-CN" sz="2400" b="0" i="0" u="none" strike="noStrike" kern="0" cap="none" spc="0" normalizeH="0" baseline="0" noProof="0">
                <a:ln>
                  <a:noFill/>
                </a:ln>
                <a:solidFill>
                  <a:schemeClr val="tx1"/>
                </a:solidFill>
                <a:effectLst/>
                <a:uLnTx/>
                <a:uFillTx/>
                <a:latin typeface="+mn-lt"/>
                <a:ea typeface="+mn-ea"/>
                <a:cs typeface="+mn-cs"/>
              </a:rPr>
              <a:t>);</a:t>
            </a:r>
            <a:endParaRPr kumimoji="0" lang="en-US" altLang="zh-CN" sz="2400" b="0" i="0" u="none" strike="noStrike" kern="0" cap="none" spc="0" normalizeH="0" baseline="0" noProof="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defRPr/>
            </a:pPr>
            <a:r>
              <a:rPr kumimoji="0" lang="en-US" altLang="zh-CN" sz="2400" b="0" i="0" u="none" strike="noStrike" kern="0" cap="none" spc="0" normalizeH="0" baseline="0" noProof="0">
                <a:ln>
                  <a:noFill/>
                </a:ln>
                <a:solidFill>
                  <a:schemeClr val="tx1"/>
                </a:solidFill>
                <a:effectLst/>
                <a:uLnTx/>
                <a:uFillTx/>
                <a:latin typeface="+mn-lt"/>
                <a:ea typeface="+mn-ea"/>
                <a:cs typeface="+mn-cs"/>
              </a:rPr>
              <a:t>                  </a:t>
            </a:r>
            <a:r>
              <a:rPr kumimoji="0" lang="zh-CN" altLang="en-US" sz="2400" b="0" i="0" u="none" strike="noStrike" kern="0" cap="none" spc="0" normalizeH="0" baseline="0" noProof="0">
                <a:ln>
                  <a:noFill/>
                </a:ln>
                <a:solidFill>
                  <a:schemeClr val="tx1"/>
                </a:solidFill>
                <a:effectLst/>
                <a:uLnTx/>
                <a:uFillTx/>
                <a:latin typeface="+mn-lt"/>
                <a:ea typeface="+mn-ea"/>
                <a:cs typeface="+mn-cs"/>
              </a:rPr>
              <a:t>返回</a:t>
            </a:r>
            <a:r>
              <a:rPr kumimoji="0" lang="en-US" altLang="zh-CN" sz="2400" b="0" i="0" u="none" strike="noStrike" kern="0" cap="none" spc="0" normalizeH="0" baseline="0" noProof="0">
                <a:ln>
                  <a:noFill/>
                </a:ln>
                <a:solidFill>
                  <a:schemeClr val="tx1"/>
                </a:solidFill>
                <a:effectLst/>
                <a:uLnTx/>
                <a:uFillTx/>
                <a:latin typeface="+mn-lt"/>
                <a:ea typeface="+mn-ea"/>
                <a:cs typeface="+mn-cs"/>
              </a:rPr>
              <a:t>:0</a:t>
            </a:r>
            <a:r>
              <a:rPr kumimoji="0" lang="zh-CN" altLang="en-US" sz="2400" b="0" i="0" u="none" strike="noStrike" kern="0" cap="none" spc="0" normalizeH="0" baseline="0" noProof="0">
                <a:ln>
                  <a:noFill/>
                </a:ln>
                <a:solidFill>
                  <a:schemeClr val="tx1"/>
                </a:solidFill>
                <a:effectLst/>
                <a:uLnTx/>
                <a:uFillTx/>
                <a:latin typeface="+mn-lt"/>
                <a:ea typeface="+mn-ea"/>
                <a:cs typeface="+mn-cs"/>
              </a:rPr>
              <a:t>－</a:t>
            </a:r>
            <a:r>
              <a:rPr kumimoji="0" lang="en-US" altLang="zh-CN" sz="2400" b="0" i="0" u="none" strike="noStrike" kern="0" cap="none" spc="0" normalizeH="0" baseline="0" noProof="0">
                <a:ln>
                  <a:noFill/>
                </a:ln>
                <a:solidFill>
                  <a:schemeClr val="tx1"/>
                </a:solidFill>
                <a:effectLst/>
                <a:uLnTx/>
                <a:uFillTx/>
                <a:latin typeface="+mn-lt"/>
                <a:ea typeface="+mn-ea"/>
                <a:cs typeface="+mn-cs"/>
              </a:rPr>
              <a:t>OK</a:t>
            </a:r>
            <a:r>
              <a:rPr kumimoji="0" lang="zh-CN" altLang="en-US" sz="2400" b="0" i="0" u="none" strike="noStrike" kern="0" cap="none" spc="0" normalizeH="0" baseline="0" noProof="0">
                <a:ln>
                  <a:noFill/>
                </a:ln>
                <a:solidFill>
                  <a:schemeClr val="tx1"/>
                </a:solidFill>
                <a:effectLst/>
                <a:uLnTx/>
                <a:uFillTx/>
                <a:latin typeface="+mn-lt"/>
                <a:ea typeface="+mn-ea"/>
                <a:cs typeface="+mn-cs"/>
              </a:rPr>
              <a:t>；</a:t>
            </a:r>
            <a:r>
              <a:rPr kumimoji="0" lang="en-US" altLang="zh-CN" sz="2400" b="0" i="0" u="none" strike="noStrike" kern="0" cap="none" spc="0" normalizeH="0" baseline="0" noProof="0">
                <a:ln>
                  <a:noFill/>
                </a:ln>
                <a:solidFill>
                  <a:schemeClr val="tx1"/>
                </a:solidFill>
                <a:effectLst/>
                <a:uLnTx/>
                <a:uFillTx/>
                <a:latin typeface="+mn-lt"/>
                <a:ea typeface="+mn-ea"/>
                <a:cs typeface="+mn-cs"/>
              </a:rPr>
              <a:t>-1</a:t>
            </a:r>
            <a:r>
              <a:rPr kumimoji="0" lang="zh-CN" altLang="en-US" sz="2400" b="0" i="0" u="none" strike="noStrike" kern="0" cap="none" spc="0" normalizeH="0" baseline="0" noProof="0">
                <a:ln>
                  <a:noFill/>
                </a:ln>
                <a:solidFill>
                  <a:schemeClr val="tx1"/>
                </a:solidFill>
                <a:effectLst/>
                <a:uLnTx/>
                <a:uFillTx/>
                <a:latin typeface="+mn-lt"/>
                <a:ea typeface="+mn-ea"/>
                <a:cs typeface="+mn-cs"/>
              </a:rPr>
              <a:t>－出错；</a:t>
            </a:r>
            <a:endParaRPr kumimoji="0" lang="zh-CN" altLang="en-US" sz="2400" b="0" i="0" u="none" strike="noStrike" kern="0" cap="none" spc="0" normalizeH="0" baseline="0" noProof="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r>
              <a:rPr kumimoji="0" lang="en-US" altLang="zh-CN" sz="2400" b="0" i="0" u="none" strike="noStrike" kern="0" cap="none" spc="0" normalizeH="0" baseline="0" noProof="0">
                <a:ln>
                  <a:noFill/>
                </a:ln>
                <a:solidFill>
                  <a:schemeClr val="tx1"/>
                </a:solidFill>
                <a:effectLst/>
                <a:uLnTx/>
                <a:uFillTx/>
                <a:latin typeface="+mn-lt"/>
                <a:ea typeface="+mn-ea"/>
                <a:cs typeface="+mn-cs"/>
              </a:rPr>
              <a:t>close</a:t>
            </a:r>
            <a:r>
              <a:rPr kumimoji="0" lang="zh-CN" altLang="en-US" sz="2400" b="0" i="0" u="none" strike="noStrike" kern="0" cap="none" spc="0" normalizeH="0" baseline="0" noProof="0">
                <a:ln>
                  <a:noFill/>
                </a:ln>
                <a:solidFill>
                  <a:schemeClr val="tx1"/>
                </a:solidFill>
                <a:effectLst/>
                <a:uLnTx/>
                <a:uFillTx/>
                <a:latin typeface="+mn-lt"/>
                <a:ea typeface="+mn-ea"/>
                <a:cs typeface="+mn-cs"/>
              </a:rPr>
              <a:t>函数缺省功能是将套接字</a:t>
            </a:r>
            <a:r>
              <a:rPr kumimoji="0" lang="zh-CN" altLang="en-US" sz="2400" b="0" i="0" u="none" strike="noStrike" kern="0" cap="none" spc="0" normalizeH="0" baseline="0" noProof="0">
                <a:ln>
                  <a:noFill/>
                </a:ln>
                <a:solidFill>
                  <a:srgbClr val="FF0000"/>
                </a:solidFill>
                <a:effectLst/>
                <a:uLnTx/>
                <a:uFillTx/>
                <a:latin typeface="+mn-lt"/>
                <a:ea typeface="+mn-ea"/>
                <a:cs typeface="+mn-cs"/>
              </a:rPr>
              <a:t>做上</a:t>
            </a:r>
            <a:r>
              <a:rPr kumimoji="0" lang="zh-CN" altLang="en-US" sz="2400" b="0" i="0" u="none" strike="noStrike" kern="0" cap="none" spc="0" normalizeH="0" baseline="0" noProof="0">
                <a:ln>
                  <a:noFill/>
                </a:ln>
                <a:solidFill>
                  <a:srgbClr val="FF0000"/>
                </a:solidFill>
                <a:effectLst/>
                <a:uLnTx/>
                <a:uFillTx/>
                <a:latin typeface="Arial" panose="020B0604020202020204" pitchFamily="34" charset="0"/>
                <a:ea typeface="+mn-ea"/>
                <a:cs typeface="+mn-cs"/>
              </a:rPr>
              <a:t>“</a:t>
            </a:r>
            <a:r>
              <a:rPr kumimoji="0" lang="zh-CN" altLang="en-US" sz="2400" b="0" i="0" u="none" strike="noStrike" kern="0" cap="none" spc="0" normalizeH="0" baseline="0" noProof="0">
                <a:ln>
                  <a:noFill/>
                </a:ln>
                <a:solidFill>
                  <a:srgbClr val="FF0000"/>
                </a:solidFill>
                <a:effectLst/>
                <a:uLnTx/>
                <a:uFillTx/>
                <a:latin typeface="+mn-lt"/>
                <a:ea typeface="+mn-ea"/>
                <a:cs typeface="+mn-cs"/>
              </a:rPr>
              <a:t>已关闭</a:t>
            </a:r>
            <a:r>
              <a:rPr kumimoji="0" lang="zh-CN" altLang="en-US" sz="2400" b="0" i="0" u="none" strike="noStrike" kern="0" cap="none" spc="0" normalizeH="0" baseline="0" noProof="0">
                <a:ln>
                  <a:noFill/>
                </a:ln>
                <a:solidFill>
                  <a:srgbClr val="FF0000"/>
                </a:solidFill>
                <a:effectLst/>
                <a:uLnTx/>
                <a:uFillTx/>
                <a:latin typeface="Arial" panose="020B0604020202020204" pitchFamily="34" charset="0"/>
                <a:ea typeface="+mn-ea"/>
                <a:cs typeface="+mn-cs"/>
              </a:rPr>
              <a:t>”</a:t>
            </a:r>
            <a:r>
              <a:rPr kumimoji="0" lang="zh-CN" altLang="en-US" sz="2400" b="0" i="0" u="none" strike="noStrike" kern="0" cap="none" spc="0" normalizeH="0" baseline="0" noProof="0">
                <a:ln>
                  <a:noFill/>
                </a:ln>
                <a:solidFill>
                  <a:srgbClr val="FF0000"/>
                </a:solidFill>
                <a:effectLst/>
                <a:uLnTx/>
                <a:uFillTx/>
                <a:latin typeface="+mn-lt"/>
                <a:ea typeface="+mn-ea"/>
                <a:cs typeface="+mn-cs"/>
              </a:rPr>
              <a:t>标记</a:t>
            </a:r>
            <a:r>
              <a:rPr kumimoji="0" lang="zh-CN" altLang="en-US" sz="2400" b="0" i="0" u="none" strike="noStrike" kern="0" cap="none" spc="0" normalizeH="0" baseline="0" noProof="0">
                <a:ln>
                  <a:noFill/>
                </a:ln>
                <a:solidFill>
                  <a:schemeClr val="tx1"/>
                </a:solidFill>
                <a:effectLst/>
                <a:uLnTx/>
                <a:uFillTx/>
                <a:latin typeface="+mn-lt"/>
                <a:ea typeface="+mn-ea"/>
                <a:cs typeface="+mn-cs"/>
              </a:rPr>
              <a:t>，并立即返回到进程。这个套接字不能再为该进程所用。</a:t>
            </a:r>
            <a:endParaRPr kumimoji="0" lang="zh-CN" altLang="en-US" sz="2400" b="0" i="0" u="none" strike="noStrike" kern="0" cap="none" spc="0" normalizeH="0" baseline="0" noProof="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r>
              <a:rPr kumimoji="0" lang="zh-CN" altLang="en-US" sz="2400" b="0" i="0" u="none" strike="noStrike" kern="0" cap="none" spc="0" normalizeH="0" baseline="0" noProof="0">
                <a:ln>
                  <a:noFill/>
                </a:ln>
                <a:solidFill>
                  <a:schemeClr val="tx1"/>
                </a:solidFill>
                <a:effectLst/>
                <a:uLnTx/>
                <a:uFillTx/>
                <a:latin typeface="+mn-lt"/>
                <a:ea typeface="+mn-ea"/>
                <a:cs typeface="+mn-cs"/>
              </a:rPr>
              <a:t>正常情况下，</a:t>
            </a:r>
            <a:r>
              <a:rPr kumimoji="0" lang="en-US" altLang="zh-CN" sz="2400" b="0" i="0" u="none" strike="noStrike" kern="0" cap="none" spc="0" normalizeH="0" baseline="0" noProof="0">
                <a:ln>
                  <a:noFill/>
                </a:ln>
                <a:solidFill>
                  <a:schemeClr val="tx1"/>
                </a:solidFill>
                <a:effectLst/>
                <a:uLnTx/>
                <a:uFillTx/>
                <a:latin typeface="+mn-lt"/>
                <a:ea typeface="+mn-ea"/>
                <a:cs typeface="+mn-cs"/>
              </a:rPr>
              <a:t>close</a:t>
            </a:r>
            <a:r>
              <a:rPr kumimoji="0" lang="zh-CN" altLang="en-US" sz="2400" b="0" i="0" u="none" strike="noStrike" kern="0" cap="none" spc="0" normalizeH="0" baseline="0" noProof="0">
                <a:ln>
                  <a:noFill/>
                </a:ln>
                <a:solidFill>
                  <a:schemeClr val="tx1"/>
                </a:solidFill>
                <a:effectLst/>
                <a:uLnTx/>
                <a:uFillTx/>
                <a:latin typeface="+mn-lt"/>
                <a:ea typeface="+mn-ea"/>
                <a:cs typeface="+mn-cs"/>
              </a:rPr>
              <a:t>将引发向</a:t>
            </a:r>
            <a:r>
              <a:rPr kumimoji="0" lang="en-US" altLang="zh-CN" sz="2400" b="0" i="0" u="none" strike="noStrike" kern="0" cap="none" spc="0" normalizeH="0" baseline="0" noProof="0">
                <a:ln>
                  <a:noFill/>
                </a:ln>
                <a:solidFill>
                  <a:schemeClr val="tx1"/>
                </a:solidFill>
                <a:effectLst/>
                <a:uLnTx/>
                <a:uFillTx/>
                <a:latin typeface="+mn-lt"/>
                <a:ea typeface="+mn-ea"/>
                <a:cs typeface="+mn-cs"/>
              </a:rPr>
              <a:t>TCP</a:t>
            </a:r>
            <a:r>
              <a:rPr kumimoji="0" lang="zh-CN" altLang="en-US" sz="2400" b="0" i="0" u="none" strike="noStrike" kern="0" cap="none" spc="0" normalizeH="0" baseline="0" noProof="0">
                <a:ln>
                  <a:noFill/>
                </a:ln>
                <a:solidFill>
                  <a:schemeClr val="tx1"/>
                </a:solidFill>
                <a:effectLst/>
                <a:uLnTx/>
                <a:uFillTx/>
                <a:latin typeface="+mn-lt"/>
                <a:ea typeface="+mn-ea"/>
                <a:cs typeface="+mn-cs"/>
              </a:rPr>
              <a:t>的四分节终止序列，但在终止前将发送已排队的数据；</a:t>
            </a:r>
            <a:endParaRPr kumimoji="0" lang="zh-CN" altLang="en-US" sz="2400" b="0" i="0" u="none" strike="noStrike" kern="0" cap="none" spc="0" normalizeH="0" baseline="0" noProof="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r>
              <a:rPr kumimoji="0" lang="zh-CN" altLang="en-US" sz="2400" b="0" i="0" u="none" strike="noStrike" kern="0" cap="none" spc="0" normalizeH="0" baseline="0" noProof="0">
                <a:ln>
                  <a:noFill/>
                </a:ln>
                <a:solidFill>
                  <a:schemeClr val="tx1"/>
                </a:solidFill>
                <a:effectLst/>
                <a:uLnTx/>
                <a:uFillTx/>
                <a:latin typeface="+mn-lt"/>
                <a:ea typeface="+mn-ea"/>
                <a:cs typeface="+mn-cs"/>
              </a:rPr>
              <a:t>如果套接字描述符访问计数在调用</a:t>
            </a:r>
            <a:r>
              <a:rPr kumimoji="0" lang="en-US" altLang="zh-CN" sz="2400" b="1" i="0" u="none" strike="noStrike" kern="0" cap="none" spc="0" normalizeH="0" baseline="0" noProof="0">
                <a:ln>
                  <a:noFill/>
                </a:ln>
                <a:solidFill>
                  <a:schemeClr val="tx1"/>
                </a:solidFill>
                <a:effectLst/>
                <a:uLnTx/>
                <a:uFillTx/>
                <a:latin typeface="+mn-lt"/>
                <a:ea typeface="+mn-ea"/>
                <a:cs typeface="+mn-cs"/>
              </a:rPr>
              <a:t>close</a:t>
            </a:r>
            <a:r>
              <a:rPr kumimoji="0" lang="zh-CN" altLang="en-US" sz="2400" b="1" i="0" u="none" strike="noStrike" kern="0" cap="none" spc="0" normalizeH="0" baseline="0" noProof="0">
                <a:ln>
                  <a:noFill/>
                </a:ln>
                <a:solidFill>
                  <a:schemeClr val="tx1"/>
                </a:solidFill>
                <a:effectLst/>
                <a:uLnTx/>
                <a:uFillTx/>
                <a:latin typeface="+mn-lt"/>
                <a:ea typeface="+mn-ea"/>
                <a:cs typeface="+mn-cs"/>
              </a:rPr>
              <a:t>后大于</a:t>
            </a:r>
            <a:r>
              <a:rPr kumimoji="0" lang="en-US" altLang="zh-CN" sz="2400" b="1" i="0" u="none" strike="noStrike" kern="0" cap="none" spc="0" normalizeH="0" baseline="0" noProof="0">
                <a:ln>
                  <a:noFill/>
                </a:ln>
                <a:solidFill>
                  <a:schemeClr val="tx1"/>
                </a:solidFill>
                <a:effectLst/>
                <a:uLnTx/>
                <a:uFillTx/>
                <a:latin typeface="+mn-lt"/>
                <a:ea typeface="+mn-ea"/>
                <a:cs typeface="+mn-cs"/>
              </a:rPr>
              <a:t>0</a:t>
            </a:r>
            <a:r>
              <a:rPr kumimoji="0" lang="zh-CN" altLang="en-US" sz="2400" b="0" i="0" u="none" strike="noStrike" kern="0" cap="none" spc="0" normalizeH="0" baseline="0" noProof="0">
                <a:ln>
                  <a:noFill/>
                </a:ln>
                <a:solidFill>
                  <a:schemeClr val="tx1"/>
                </a:solidFill>
                <a:effectLst/>
                <a:uLnTx/>
                <a:uFillTx/>
                <a:latin typeface="+mn-lt"/>
                <a:ea typeface="+mn-ea"/>
                <a:cs typeface="+mn-cs"/>
              </a:rPr>
              <a:t>（在多个进程共享同一个套接字的情况下</a:t>
            </a:r>
            <a:r>
              <a:rPr kumimoji="0" lang="en-US" altLang="zh-CN" sz="2400" b="0" i="0" u="none" strike="noStrike" kern="0" cap="none" spc="0" normalizeH="0" baseline="0" noProof="0">
                <a:ln>
                  <a:noFill/>
                </a:ln>
                <a:solidFill>
                  <a:schemeClr val="tx1"/>
                </a:solidFill>
                <a:effectLst/>
                <a:uLnTx/>
                <a:uFillTx/>
                <a:latin typeface="+mn-lt"/>
                <a:ea typeface="+mn-ea"/>
                <a:cs typeface="+mn-cs"/>
              </a:rPr>
              <a:t>,</a:t>
            </a:r>
            <a:r>
              <a:rPr kumimoji="0" lang="zh-CN" altLang="en-US" sz="2400" b="0" i="0" u="none" strike="noStrike" kern="1200" cap="none" spc="0" normalizeH="0" baseline="0" noProof="0">
                <a:ln>
                  <a:noFill/>
                </a:ln>
                <a:solidFill>
                  <a:schemeClr val="tx1"/>
                </a:solidFill>
                <a:effectLst/>
                <a:uLnTx/>
                <a:uFillTx/>
                <a:latin typeface="Arial" panose="020B0604020202020204" pitchFamily="34" charset="0"/>
                <a:ea typeface="+mn-ea"/>
                <a:cs typeface="+mn-cs"/>
              </a:rPr>
              <a:t>有多少进程打开该文件</a:t>
            </a:r>
            <a:r>
              <a:rPr kumimoji="0" lang="en-US" altLang="zh-CN" sz="2400" b="0" i="0" u="none" strike="noStrike" kern="0" cap="none" spc="0" normalizeH="0" baseline="0" noProof="0">
                <a:ln>
                  <a:noFill/>
                </a:ln>
                <a:solidFill>
                  <a:schemeClr val="tx1"/>
                </a:solidFill>
                <a:effectLst/>
                <a:uLnTx/>
                <a:uFillTx/>
                <a:latin typeface="+mn-lt"/>
                <a:ea typeface="+mn-ea"/>
                <a:cs typeface="+mn-cs"/>
              </a:rPr>
              <a:t>,</a:t>
            </a:r>
            <a:r>
              <a:rPr kumimoji="0" lang="zh-CN" altLang="en-US" sz="2400" b="0" i="0" u="none" strike="noStrike" kern="0" cap="none" spc="0" normalizeH="0" baseline="0" noProof="0">
                <a:ln>
                  <a:noFill/>
                </a:ln>
                <a:solidFill>
                  <a:schemeClr val="tx1"/>
                </a:solidFill>
                <a:effectLst/>
                <a:uLnTx/>
                <a:uFillTx/>
                <a:latin typeface="+mn-lt"/>
                <a:ea typeface="+mn-ea"/>
                <a:cs typeface="+mn-cs"/>
              </a:rPr>
              <a:t>计数加一），则</a:t>
            </a:r>
            <a:r>
              <a:rPr kumimoji="0" lang="zh-CN" altLang="en-US" sz="2400" b="1" i="0" u="none" strike="noStrike" kern="0" cap="none" spc="0" normalizeH="0" baseline="0" noProof="0">
                <a:ln>
                  <a:noFill/>
                </a:ln>
                <a:solidFill>
                  <a:schemeClr val="tx1"/>
                </a:solidFill>
                <a:effectLst/>
                <a:uLnTx/>
                <a:uFillTx/>
                <a:latin typeface="+mn-lt"/>
                <a:ea typeface="+mn-ea"/>
                <a:cs typeface="+mn-cs"/>
              </a:rPr>
              <a:t>不会引发</a:t>
            </a:r>
            <a:r>
              <a:rPr kumimoji="0" lang="en-US" altLang="zh-CN" sz="2400" b="1" i="0" u="none" strike="noStrike" kern="0" cap="none" spc="0" normalizeH="0" baseline="0" noProof="0">
                <a:ln>
                  <a:noFill/>
                </a:ln>
                <a:solidFill>
                  <a:schemeClr val="tx1"/>
                </a:solidFill>
                <a:effectLst/>
                <a:uLnTx/>
                <a:uFillTx/>
                <a:latin typeface="+mn-lt"/>
                <a:ea typeface="+mn-ea"/>
                <a:cs typeface="+mn-cs"/>
              </a:rPr>
              <a:t>TCP</a:t>
            </a:r>
            <a:r>
              <a:rPr kumimoji="0" lang="zh-CN" altLang="en-US" sz="2400" b="1" i="0" u="none" strike="noStrike" kern="0" cap="none" spc="0" normalizeH="0" baseline="0" noProof="0">
                <a:ln>
                  <a:noFill/>
                </a:ln>
                <a:solidFill>
                  <a:schemeClr val="tx1"/>
                </a:solidFill>
                <a:effectLst/>
                <a:uLnTx/>
                <a:uFillTx/>
                <a:latin typeface="+mn-lt"/>
                <a:ea typeface="+mn-ea"/>
                <a:cs typeface="+mn-cs"/>
              </a:rPr>
              <a:t>终止序列（即不会发送</a:t>
            </a:r>
            <a:r>
              <a:rPr kumimoji="0" lang="en-US" altLang="zh-CN" sz="2400" b="1" i="0" u="none" strike="noStrike" kern="0" cap="none" spc="0" normalizeH="0" baseline="0" noProof="0">
                <a:ln>
                  <a:noFill/>
                </a:ln>
                <a:solidFill>
                  <a:schemeClr val="tx1"/>
                </a:solidFill>
                <a:effectLst/>
                <a:uLnTx/>
                <a:uFillTx/>
                <a:latin typeface="+mn-lt"/>
                <a:ea typeface="+mn-ea"/>
                <a:cs typeface="+mn-cs"/>
              </a:rPr>
              <a:t>FIN</a:t>
            </a:r>
            <a:r>
              <a:rPr kumimoji="0" lang="zh-CN" altLang="en-US" sz="2400" b="1" i="0" u="none" strike="noStrike" kern="0" cap="none" spc="0" normalizeH="0" baseline="0" noProof="0">
                <a:ln>
                  <a:noFill/>
                </a:ln>
                <a:solidFill>
                  <a:schemeClr val="tx1"/>
                </a:solidFill>
                <a:effectLst/>
                <a:uLnTx/>
                <a:uFillTx/>
                <a:latin typeface="+mn-lt"/>
                <a:ea typeface="+mn-ea"/>
                <a:cs typeface="+mn-cs"/>
              </a:rPr>
              <a:t>分节）；</a:t>
            </a:r>
            <a:endParaRPr kumimoji="0" lang="zh-CN" altLang="en-US" sz="2400" b="1" i="0" u="none" strike="noStrike" kern="0" cap="none" spc="0" normalizeH="0" baseline="0" noProof="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a:pPr>
            <a:endParaRPr kumimoji="0" lang="en-US" altLang="zh-CN" sz="2400" b="1" i="0" u="none" strike="noStrike" kern="0" cap="none" spc="0" normalizeH="0" baseline="0" noProof="0">
              <a:ln>
                <a:noFill/>
              </a:ln>
              <a:solidFill>
                <a:schemeClr val="tx1"/>
              </a:solidFill>
              <a:effectLst/>
              <a:uLnTx/>
              <a:uFillTx/>
              <a:latin typeface="+mn-lt"/>
              <a:ea typeface="+mn-ea"/>
              <a:cs typeface="+mn-cs"/>
            </a:endParaRPr>
          </a:p>
        </p:txBody>
      </p:sp>
    </p:spTree>
  </p:cSld>
  <p:clrMapOvr>
    <a:masterClrMapping/>
  </p:clrMapOvr>
  <p:transition>
    <p:random/>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1314" name="Rectangle 2"/>
          <p:cNvSpPr>
            <a:spLocks noGrp="1"/>
          </p:cNvSpPr>
          <p:nvPr>
            <p:ph type="title"/>
          </p:nvPr>
        </p:nvSpPr>
        <p:spPr>
          <a:xfrm>
            <a:off x="228600" y="304800"/>
            <a:ext cx="7467600" cy="762000"/>
          </a:xfrm>
        </p:spPr>
        <p:txBody>
          <a:bodyPr vert="horz" wrap="square" lIns="91440" tIns="45720" rIns="91440" bIns="45720" anchor="b" anchorCtr="0"/>
          <a:p>
            <a:pPr eaLnBrk="1" hangingPunct="1"/>
            <a:r>
              <a:rPr lang="zh-CN" altLang="en-US" dirty="0"/>
              <a:t>基本套接字函数</a:t>
            </a:r>
            <a:r>
              <a:rPr lang="en-US" altLang="zh-CN" dirty="0"/>
              <a:t>-shutdown</a:t>
            </a:r>
            <a:endParaRPr lang="en-US" altLang="zh-CN" dirty="0"/>
          </a:p>
        </p:txBody>
      </p:sp>
      <p:sp>
        <p:nvSpPr>
          <p:cNvPr id="141315" name="Rectangle 3"/>
          <p:cNvSpPr>
            <a:spLocks noGrp="1"/>
          </p:cNvSpPr>
          <p:nvPr>
            <p:ph idx="1"/>
          </p:nvPr>
        </p:nvSpPr>
        <p:spPr>
          <a:xfrm>
            <a:off x="755650" y="1557338"/>
            <a:ext cx="7543800" cy="4800600"/>
          </a:xfrm>
        </p:spPr>
        <p:txBody>
          <a:bodyPr vert="horz" wrap="square" lIns="91440" tIns="45720" rIns="91440" bIns="45720" anchor="t" anchorCtr="0"/>
          <a:p>
            <a:pPr eaLnBrk="1" hangingPunct="1">
              <a:lnSpc>
                <a:spcPct val="90000"/>
              </a:lnSpc>
              <a:buNone/>
            </a:pPr>
            <a:r>
              <a:rPr lang="en-US" altLang="zh-CN" sz="2000" dirty="0"/>
              <a:t>#include &lt;sys/socket.h&gt;</a:t>
            </a:r>
            <a:endParaRPr lang="en-US" altLang="zh-CN" sz="2000" dirty="0"/>
          </a:p>
          <a:p>
            <a:pPr eaLnBrk="1" hangingPunct="1">
              <a:lnSpc>
                <a:spcPct val="90000"/>
              </a:lnSpc>
              <a:buNone/>
            </a:pPr>
            <a:r>
              <a:rPr lang="en-US" altLang="zh-CN" sz="2000" dirty="0"/>
              <a:t>int shutdown(int sockfd, int howto);</a:t>
            </a:r>
            <a:endParaRPr lang="en-US" altLang="zh-CN" sz="2000" dirty="0"/>
          </a:p>
          <a:p>
            <a:pPr eaLnBrk="1" hangingPunct="1">
              <a:lnSpc>
                <a:spcPct val="90000"/>
              </a:lnSpc>
              <a:buNone/>
            </a:pPr>
            <a:r>
              <a:rPr lang="en-US" altLang="zh-CN" sz="2000" dirty="0"/>
              <a:t>                  </a:t>
            </a:r>
            <a:r>
              <a:rPr lang="zh-CN" altLang="en-US" sz="2000" dirty="0"/>
              <a:t>返回</a:t>
            </a:r>
            <a:r>
              <a:rPr lang="en-US" altLang="zh-CN" sz="2000" dirty="0"/>
              <a:t>:0</a:t>
            </a:r>
            <a:r>
              <a:rPr lang="zh-CN" altLang="en-US" sz="2000" dirty="0"/>
              <a:t>－</a:t>
            </a:r>
            <a:r>
              <a:rPr lang="en-US" altLang="zh-CN" sz="2000" dirty="0"/>
              <a:t>OK</a:t>
            </a:r>
            <a:r>
              <a:rPr lang="zh-CN" altLang="en-US" sz="2000" dirty="0"/>
              <a:t>；</a:t>
            </a:r>
            <a:r>
              <a:rPr lang="en-US" altLang="zh-CN" sz="2000" dirty="0"/>
              <a:t>-1</a:t>
            </a:r>
            <a:r>
              <a:rPr lang="zh-CN" altLang="en-US" sz="2000" dirty="0"/>
              <a:t>－出错，并置相应的</a:t>
            </a:r>
            <a:r>
              <a:rPr lang="en-US" altLang="zh-CN" sz="2000" dirty="0"/>
              <a:t>errno</a:t>
            </a:r>
            <a:r>
              <a:rPr lang="zh-CN" altLang="en-US" sz="2000" dirty="0"/>
              <a:t>的值；</a:t>
            </a:r>
            <a:endParaRPr lang="zh-CN" altLang="en-US" sz="2000" dirty="0"/>
          </a:p>
          <a:p>
            <a:pPr eaLnBrk="1" hangingPunct="1">
              <a:lnSpc>
                <a:spcPct val="90000"/>
              </a:lnSpc>
            </a:pPr>
            <a:r>
              <a:rPr lang="zh-CN" altLang="en-US" sz="2400" dirty="0"/>
              <a:t>该函数</a:t>
            </a:r>
            <a:r>
              <a:rPr lang="zh-CN" altLang="en-US" sz="2400" b="1" dirty="0"/>
              <a:t>立即发送</a:t>
            </a:r>
            <a:r>
              <a:rPr lang="en-US" altLang="zh-CN" sz="2400" b="1" dirty="0"/>
              <a:t>FIN</a:t>
            </a:r>
            <a:r>
              <a:rPr lang="zh-CN" altLang="en-US" sz="2400" dirty="0"/>
              <a:t>分节（无论其访问计数是否大于</a:t>
            </a:r>
            <a:r>
              <a:rPr lang="en-US" altLang="zh-CN" sz="2400" dirty="0"/>
              <a:t>0</a:t>
            </a:r>
            <a:r>
              <a:rPr lang="zh-CN" altLang="en-US" sz="2400" dirty="0"/>
              <a:t>）。</a:t>
            </a:r>
            <a:r>
              <a:rPr lang="en-US" altLang="zh-CN" sz="2400" dirty="0"/>
              <a:t>shutdown</a:t>
            </a:r>
            <a:r>
              <a:rPr lang="zh-CN" altLang="en-US" sz="2400" dirty="0"/>
              <a:t>根据参数</a:t>
            </a:r>
            <a:r>
              <a:rPr lang="en-US" altLang="zh-CN" sz="2400" dirty="0"/>
              <a:t>howto</a:t>
            </a:r>
            <a:r>
              <a:rPr lang="zh-CN" altLang="en-US" sz="2400" dirty="0"/>
              <a:t>关闭指定方向的数据传输；</a:t>
            </a:r>
            <a:endParaRPr lang="zh-CN" altLang="en-US" sz="2400" dirty="0"/>
          </a:p>
          <a:p>
            <a:pPr lvl="1" eaLnBrk="1" hangingPunct="1">
              <a:lnSpc>
                <a:spcPct val="90000"/>
              </a:lnSpc>
            </a:pPr>
            <a:r>
              <a:rPr lang="en-US" altLang="zh-CN" sz="2000" dirty="0"/>
              <a:t>SHUT_RD</a:t>
            </a:r>
            <a:r>
              <a:rPr lang="zh-CN" altLang="en-US" sz="2000" dirty="0"/>
              <a:t>：关闭连接的读这一半，不再接收套接字中的数据且现留在接收缓冲区的数据作废；</a:t>
            </a:r>
            <a:endParaRPr lang="zh-CN" altLang="en-US" sz="2000" dirty="0"/>
          </a:p>
          <a:p>
            <a:pPr lvl="1" eaLnBrk="1" hangingPunct="1">
              <a:lnSpc>
                <a:spcPct val="90000"/>
              </a:lnSpc>
            </a:pPr>
            <a:r>
              <a:rPr lang="en-US" altLang="zh-CN" sz="2000" dirty="0"/>
              <a:t>SHUT_WR </a:t>
            </a:r>
            <a:r>
              <a:rPr lang="zh-CN" altLang="en-US" sz="2000" dirty="0"/>
              <a:t>：关闭连接的写这一半（半关闭），当留在套接字发送缓冲区中的数据都被发送，后跟</a:t>
            </a:r>
            <a:r>
              <a:rPr lang="en-US" altLang="zh-CN" sz="2000" dirty="0"/>
              <a:t>tcp</a:t>
            </a:r>
            <a:r>
              <a:rPr lang="zh-CN" altLang="en-US" sz="2000" dirty="0"/>
              <a:t>连接终止序列，不管访问计数是否大于</a:t>
            </a:r>
            <a:r>
              <a:rPr lang="en-US" altLang="zh-CN" sz="2000" dirty="0"/>
              <a:t>0</a:t>
            </a:r>
            <a:r>
              <a:rPr lang="zh-CN" altLang="en-US" sz="2000" dirty="0"/>
              <a:t>；此后将不能在执行对套接字的任何写操作；</a:t>
            </a:r>
            <a:endParaRPr lang="zh-CN" altLang="en-US" sz="2000" dirty="0"/>
          </a:p>
          <a:p>
            <a:pPr lvl="1" eaLnBrk="1" hangingPunct="1">
              <a:lnSpc>
                <a:spcPct val="90000"/>
              </a:lnSpc>
            </a:pPr>
            <a:r>
              <a:rPr lang="en-US" altLang="zh-CN" sz="2000" dirty="0"/>
              <a:t>SHUT_RDWR</a:t>
            </a:r>
            <a:r>
              <a:rPr lang="zh-CN" altLang="en-US" sz="2000" dirty="0"/>
              <a:t>：连接的读、写都关闭，这等效于调用</a:t>
            </a:r>
            <a:r>
              <a:rPr lang="en-US" altLang="zh-CN" sz="2000" dirty="0"/>
              <a:t>shutdown</a:t>
            </a:r>
            <a:r>
              <a:rPr lang="zh-CN" altLang="en-US" sz="2000" dirty="0"/>
              <a:t>两次，一次调用是用</a:t>
            </a:r>
            <a:r>
              <a:rPr lang="en-US" altLang="zh-CN" sz="2000" dirty="0"/>
              <a:t>SHUT_RD</a:t>
            </a:r>
            <a:r>
              <a:rPr lang="zh-CN" altLang="en-US" sz="2000" dirty="0"/>
              <a:t>，第二次用</a:t>
            </a:r>
            <a:r>
              <a:rPr lang="en-US" altLang="zh-CN" sz="2000" dirty="0"/>
              <a:t>SHUT_WR</a:t>
            </a:r>
            <a:r>
              <a:rPr lang="zh-CN" altLang="en-US" sz="2000" dirty="0"/>
              <a:t>。</a:t>
            </a:r>
            <a:endParaRPr lang="zh-CN" altLang="en-US" sz="2000" dirty="0"/>
          </a:p>
        </p:txBody>
      </p:sp>
    </p:spTree>
  </p:cSld>
  <p:clrMapOvr>
    <a:masterClrMapping/>
  </p:clrMapOvr>
  <p:transition>
    <p:random/>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62" name="Line 2"/>
          <p:cNvSpPr/>
          <p:nvPr/>
        </p:nvSpPr>
        <p:spPr>
          <a:xfrm>
            <a:off x="2889250" y="990600"/>
            <a:ext cx="0" cy="4876800"/>
          </a:xfrm>
          <a:prstGeom prst="line">
            <a:avLst/>
          </a:prstGeom>
          <a:ln w="9525" cap="flat" cmpd="sng">
            <a:solidFill>
              <a:schemeClr val="tx1"/>
            </a:solidFill>
            <a:prstDash val="solid"/>
            <a:headEnd type="none" w="med" len="med"/>
            <a:tailEnd type="none" w="med" len="med"/>
          </a:ln>
        </p:spPr>
      </p:sp>
      <p:sp>
        <p:nvSpPr>
          <p:cNvPr id="143363" name="Line 3"/>
          <p:cNvSpPr/>
          <p:nvPr/>
        </p:nvSpPr>
        <p:spPr>
          <a:xfrm>
            <a:off x="5327650" y="990600"/>
            <a:ext cx="0" cy="4876800"/>
          </a:xfrm>
          <a:prstGeom prst="line">
            <a:avLst/>
          </a:prstGeom>
          <a:ln w="9525" cap="flat" cmpd="sng">
            <a:solidFill>
              <a:schemeClr val="tx1"/>
            </a:solidFill>
            <a:prstDash val="solid"/>
            <a:headEnd type="none" w="med" len="med"/>
            <a:tailEnd type="none" w="med" len="med"/>
          </a:ln>
        </p:spPr>
      </p:sp>
      <p:sp>
        <p:nvSpPr>
          <p:cNvPr id="143364" name="Line 4"/>
          <p:cNvSpPr/>
          <p:nvPr/>
        </p:nvSpPr>
        <p:spPr>
          <a:xfrm>
            <a:off x="2889250" y="1066800"/>
            <a:ext cx="2438400" cy="533400"/>
          </a:xfrm>
          <a:prstGeom prst="line">
            <a:avLst/>
          </a:prstGeom>
          <a:ln w="9525" cap="flat" cmpd="sng">
            <a:solidFill>
              <a:schemeClr val="tx1"/>
            </a:solidFill>
            <a:prstDash val="solid"/>
            <a:headEnd type="none" w="med" len="med"/>
            <a:tailEnd type="triangle" w="med" len="med"/>
          </a:ln>
        </p:spPr>
      </p:sp>
      <p:sp>
        <p:nvSpPr>
          <p:cNvPr id="143365" name="Line 5"/>
          <p:cNvSpPr/>
          <p:nvPr/>
        </p:nvSpPr>
        <p:spPr>
          <a:xfrm>
            <a:off x="2889250" y="1524000"/>
            <a:ext cx="2438400" cy="533400"/>
          </a:xfrm>
          <a:prstGeom prst="line">
            <a:avLst/>
          </a:prstGeom>
          <a:ln w="9525" cap="flat" cmpd="sng">
            <a:solidFill>
              <a:schemeClr val="tx1"/>
            </a:solidFill>
            <a:prstDash val="solid"/>
            <a:headEnd type="none" w="med" len="med"/>
            <a:tailEnd type="triangle" w="med" len="med"/>
          </a:ln>
        </p:spPr>
      </p:sp>
      <p:sp>
        <p:nvSpPr>
          <p:cNvPr id="143366" name="Line 6"/>
          <p:cNvSpPr/>
          <p:nvPr/>
        </p:nvSpPr>
        <p:spPr>
          <a:xfrm>
            <a:off x="2889250" y="1981200"/>
            <a:ext cx="2438400" cy="609600"/>
          </a:xfrm>
          <a:prstGeom prst="line">
            <a:avLst/>
          </a:prstGeom>
          <a:ln w="9525" cap="flat" cmpd="sng">
            <a:solidFill>
              <a:schemeClr val="tx1"/>
            </a:solidFill>
            <a:prstDash val="solid"/>
            <a:headEnd type="none" w="med" len="med"/>
            <a:tailEnd type="triangle" w="med" len="med"/>
          </a:ln>
        </p:spPr>
      </p:sp>
      <p:sp>
        <p:nvSpPr>
          <p:cNvPr id="143367" name="Line 7"/>
          <p:cNvSpPr/>
          <p:nvPr/>
        </p:nvSpPr>
        <p:spPr>
          <a:xfrm flipH="1">
            <a:off x="2965450" y="2667000"/>
            <a:ext cx="2286000" cy="457200"/>
          </a:xfrm>
          <a:prstGeom prst="line">
            <a:avLst/>
          </a:prstGeom>
          <a:ln w="9525" cap="flat" cmpd="sng">
            <a:solidFill>
              <a:schemeClr val="tx1"/>
            </a:solidFill>
            <a:prstDash val="solid"/>
            <a:headEnd type="none" w="med" len="med"/>
            <a:tailEnd type="triangle" w="med" len="med"/>
          </a:ln>
        </p:spPr>
      </p:sp>
      <p:sp>
        <p:nvSpPr>
          <p:cNvPr id="143368" name="Line 8"/>
          <p:cNvSpPr/>
          <p:nvPr/>
        </p:nvSpPr>
        <p:spPr>
          <a:xfrm flipH="1">
            <a:off x="2965450" y="3429000"/>
            <a:ext cx="2286000" cy="533400"/>
          </a:xfrm>
          <a:prstGeom prst="line">
            <a:avLst/>
          </a:prstGeom>
          <a:ln w="9525" cap="flat" cmpd="sng">
            <a:solidFill>
              <a:schemeClr val="tx1"/>
            </a:solidFill>
            <a:prstDash val="solid"/>
            <a:headEnd type="none" w="med" len="med"/>
            <a:tailEnd type="triangle" w="med" len="med"/>
          </a:ln>
        </p:spPr>
      </p:sp>
      <p:sp>
        <p:nvSpPr>
          <p:cNvPr id="143369" name="Line 9"/>
          <p:cNvSpPr/>
          <p:nvPr/>
        </p:nvSpPr>
        <p:spPr>
          <a:xfrm flipH="1">
            <a:off x="2965450" y="3886200"/>
            <a:ext cx="2362200" cy="533400"/>
          </a:xfrm>
          <a:prstGeom prst="line">
            <a:avLst/>
          </a:prstGeom>
          <a:ln w="9525" cap="flat" cmpd="sng">
            <a:solidFill>
              <a:schemeClr val="tx1"/>
            </a:solidFill>
            <a:prstDash val="solid"/>
            <a:headEnd type="none" w="med" len="med"/>
            <a:tailEnd type="triangle" w="med" len="med"/>
          </a:ln>
        </p:spPr>
      </p:sp>
      <p:sp>
        <p:nvSpPr>
          <p:cNvPr id="143370" name="Line 10"/>
          <p:cNvSpPr/>
          <p:nvPr/>
        </p:nvSpPr>
        <p:spPr>
          <a:xfrm flipH="1">
            <a:off x="2965450" y="4343400"/>
            <a:ext cx="2362200" cy="533400"/>
          </a:xfrm>
          <a:prstGeom prst="line">
            <a:avLst/>
          </a:prstGeom>
          <a:ln w="9525" cap="flat" cmpd="sng">
            <a:solidFill>
              <a:schemeClr val="tx1"/>
            </a:solidFill>
            <a:prstDash val="solid"/>
            <a:headEnd type="none" w="med" len="med"/>
            <a:tailEnd type="triangle" w="med" len="med"/>
          </a:ln>
        </p:spPr>
      </p:sp>
      <p:sp>
        <p:nvSpPr>
          <p:cNvPr id="143371" name="Line 11"/>
          <p:cNvSpPr/>
          <p:nvPr/>
        </p:nvSpPr>
        <p:spPr>
          <a:xfrm>
            <a:off x="2965450" y="5029200"/>
            <a:ext cx="2362200" cy="304800"/>
          </a:xfrm>
          <a:prstGeom prst="line">
            <a:avLst/>
          </a:prstGeom>
          <a:ln w="9525" cap="flat" cmpd="sng">
            <a:solidFill>
              <a:schemeClr val="tx1"/>
            </a:solidFill>
            <a:prstDash val="solid"/>
            <a:headEnd type="none" w="med" len="med"/>
            <a:tailEnd type="triangle" w="med" len="med"/>
          </a:ln>
        </p:spPr>
      </p:sp>
      <p:sp>
        <p:nvSpPr>
          <p:cNvPr id="143372" name="Text Box 12"/>
          <p:cNvSpPr txBox="1"/>
          <p:nvPr/>
        </p:nvSpPr>
        <p:spPr>
          <a:xfrm>
            <a:off x="3803650" y="3810000"/>
            <a:ext cx="762000" cy="366713"/>
          </a:xfrm>
          <a:prstGeom prst="rect">
            <a:avLst/>
          </a:prstGeom>
          <a:noFill/>
          <a:ln w="9525">
            <a:noFill/>
          </a:ln>
        </p:spPr>
        <p:txBody>
          <a:bodyPr>
            <a:spAutoFit/>
          </a:bodyPr>
          <a:p>
            <a:pPr eaLnBrk="1" hangingPunct="1">
              <a:spcBef>
                <a:spcPct val="50000"/>
              </a:spcBef>
            </a:pPr>
            <a:r>
              <a:rPr lang="zh-CN" altLang="en-US" sz="1800" b="0" dirty="0">
                <a:latin typeface="Times New Roman" panose="02020603050405020304" pitchFamily="18" charset="0"/>
              </a:rPr>
              <a:t>数据</a:t>
            </a:r>
            <a:endParaRPr lang="zh-CN" altLang="en-US" sz="1800" b="0" dirty="0">
              <a:latin typeface="Times New Roman" panose="02020603050405020304" pitchFamily="18" charset="0"/>
            </a:endParaRPr>
          </a:p>
        </p:txBody>
      </p:sp>
      <p:sp>
        <p:nvSpPr>
          <p:cNvPr id="143373" name="Text Box 13"/>
          <p:cNvSpPr txBox="1"/>
          <p:nvPr/>
        </p:nvSpPr>
        <p:spPr>
          <a:xfrm>
            <a:off x="3879850" y="1524000"/>
            <a:ext cx="762000" cy="366713"/>
          </a:xfrm>
          <a:prstGeom prst="rect">
            <a:avLst/>
          </a:prstGeom>
          <a:noFill/>
          <a:ln w="9525">
            <a:noFill/>
          </a:ln>
        </p:spPr>
        <p:txBody>
          <a:bodyPr>
            <a:spAutoFit/>
          </a:bodyPr>
          <a:p>
            <a:pPr eaLnBrk="1" hangingPunct="1">
              <a:spcBef>
                <a:spcPct val="50000"/>
              </a:spcBef>
            </a:pPr>
            <a:r>
              <a:rPr lang="zh-CN" altLang="en-US" sz="1800" b="0" dirty="0">
                <a:latin typeface="Times New Roman" panose="02020603050405020304" pitchFamily="18" charset="0"/>
              </a:rPr>
              <a:t>数据</a:t>
            </a:r>
            <a:endParaRPr lang="zh-CN" altLang="en-US" sz="1800" b="0" dirty="0">
              <a:latin typeface="Times New Roman" panose="02020603050405020304" pitchFamily="18" charset="0"/>
            </a:endParaRPr>
          </a:p>
        </p:txBody>
      </p:sp>
      <p:sp>
        <p:nvSpPr>
          <p:cNvPr id="143374" name="Text Box 14"/>
          <p:cNvSpPr txBox="1"/>
          <p:nvPr/>
        </p:nvSpPr>
        <p:spPr>
          <a:xfrm>
            <a:off x="3803650" y="2057400"/>
            <a:ext cx="762000" cy="366713"/>
          </a:xfrm>
          <a:prstGeom prst="rect">
            <a:avLst/>
          </a:prstGeom>
          <a:noFill/>
          <a:ln w="9525">
            <a:noFill/>
          </a:ln>
        </p:spPr>
        <p:txBody>
          <a:bodyPr>
            <a:spAutoFit/>
          </a:bodyPr>
          <a:p>
            <a:pPr eaLnBrk="1" hangingPunct="1">
              <a:spcBef>
                <a:spcPct val="50000"/>
              </a:spcBef>
            </a:pPr>
            <a:r>
              <a:rPr lang="en-US" altLang="zh-CN" sz="1800" b="0" dirty="0">
                <a:latin typeface="Times New Roman" panose="02020603050405020304" pitchFamily="18" charset="0"/>
              </a:rPr>
              <a:t>FIN</a:t>
            </a:r>
            <a:endParaRPr lang="en-US" altLang="zh-CN" sz="1800" b="0" dirty="0">
              <a:latin typeface="Times New Roman" panose="02020603050405020304" pitchFamily="18" charset="0"/>
            </a:endParaRPr>
          </a:p>
        </p:txBody>
      </p:sp>
      <p:sp>
        <p:nvSpPr>
          <p:cNvPr id="143375" name="Text Box 15"/>
          <p:cNvSpPr txBox="1"/>
          <p:nvPr/>
        </p:nvSpPr>
        <p:spPr>
          <a:xfrm>
            <a:off x="3270250" y="2895600"/>
            <a:ext cx="2133600" cy="366713"/>
          </a:xfrm>
          <a:prstGeom prst="rect">
            <a:avLst/>
          </a:prstGeom>
          <a:noFill/>
          <a:ln w="9525">
            <a:noFill/>
          </a:ln>
        </p:spPr>
        <p:txBody>
          <a:bodyPr>
            <a:spAutoFit/>
          </a:bodyPr>
          <a:p>
            <a:pPr eaLnBrk="1" hangingPunct="1">
              <a:spcBef>
                <a:spcPct val="50000"/>
              </a:spcBef>
            </a:pPr>
            <a:r>
              <a:rPr lang="zh-CN" altLang="en-US" sz="1800" b="0" dirty="0">
                <a:latin typeface="Times New Roman" panose="02020603050405020304" pitchFamily="18" charset="0"/>
              </a:rPr>
              <a:t>数据和</a:t>
            </a:r>
            <a:r>
              <a:rPr lang="en-US" altLang="zh-CN" sz="1800" b="0" dirty="0">
                <a:latin typeface="Times New Roman" panose="02020603050405020304" pitchFamily="18" charset="0"/>
              </a:rPr>
              <a:t>FIN</a:t>
            </a:r>
            <a:r>
              <a:rPr lang="zh-CN" altLang="en-US" sz="1800" b="0" dirty="0">
                <a:latin typeface="Times New Roman" panose="02020603050405020304" pitchFamily="18" charset="0"/>
              </a:rPr>
              <a:t>的确认</a:t>
            </a:r>
            <a:endParaRPr lang="zh-CN" altLang="en-US" sz="1800" b="0" dirty="0">
              <a:latin typeface="Times New Roman" panose="02020603050405020304" pitchFamily="18" charset="0"/>
            </a:endParaRPr>
          </a:p>
        </p:txBody>
      </p:sp>
      <p:sp>
        <p:nvSpPr>
          <p:cNvPr id="143376" name="Text Box 16"/>
          <p:cNvSpPr txBox="1"/>
          <p:nvPr/>
        </p:nvSpPr>
        <p:spPr>
          <a:xfrm>
            <a:off x="3727450" y="3352800"/>
            <a:ext cx="762000" cy="366713"/>
          </a:xfrm>
          <a:prstGeom prst="rect">
            <a:avLst/>
          </a:prstGeom>
          <a:noFill/>
          <a:ln w="9525">
            <a:noFill/>
          </a:ln>
        </p:spPr>
        <p:txBody>
          <a:bodyPr>
            <a:spAutoFit/>
          </a:bodyPr>
          <a:p>
            <a:pPr eaLnBrk="1" hangingPunct="1">
              <a:spcBef>
                <a:spcPct val="50000"/>
              </a:spcBef>
            </a:pPr>
            <a:r>
              <a:rPr lang="zh-CN" altLang="en-US" sz="1800" b="0" dirty="0">
                <a:latin typeface="Times New Roman" panose="02020603050405020304" pitchFamily="18" charset="0"/>
              </a:rPr>
              <a:t>数据</a:t>
            </a:r>
            <a:endParaRPr lang="zh-CN" altLang="en-US" sz="1800" b="0" dirty="0">
              <a:latin typeface="Times New Roman" panose="02020603050405020304" pitchFamily="18" charset="0"/>
            </a:endParaRPr>
          </a:p>
        </p:txBody>
      </p:sp>
      <p:sp>
        <p:nvSpPr>
          <p:cNvPr id="143377" name="Text Box 17"/>
          <p:cNvSpPr txBox="1"/>
          <p:nvPr/>
        </p:nvSpPr>
        <p:spPr>
          <a:xfrm>
            <a:off x="4184650" y="1219200"/>
            <a:ext cx="762000" cy="366713"/>
          </a:xfrm>
          <a:prstGeom prst="rect">
            <a:avLst/>
          </a:prstGeom>
          <a:noFill/>
          <a:ln w="9525">
            <a:noFill/>
          </a:ln>
        </p:spPr>
        <p:txBody>
          <a:bodyPr>
            <a:spAutoFit/>
          </a:bodyPr>
          <a:p>
            <a:pPr eaLnBrk="1" hangingPunct="1">
              <a:spcBef>
                <a:spcPct val="50000"/>
              </a:spcBef>
            </a:pPr>
            <a:r>
              <a:rPr lang="zh-CN" altLang="en-US" sz="1800" b="0" dirty="0">
                <a:latin typeface="Times New Roman" panose="02020603050405020304" pitchFamily="18" charset="0"/>
              </a:rPr>
              <a:t>数据</a:t>
            </a:r>
            <a:endParaRPr lang="zh-CN" altLang="en-US" sz="1800" b="0" dirty="0">
              <a:latin typeface="Times New Roman" panose="02020603050405020304" pitchFamily="18" charset="0"/>
            </a:endParaRPr>
          </a:p>
        </p:txBody>
      </p:sp>
      <p:sp>
        <p:nvSpPr>
          <p:cNvPr id="143378" name="Text Box 18"/>
          <p:cNvSpPr txBox="1"/>
          <p:nvPr/>
        </p:nvSpPr>
        <p:spPr>
          <a:xfrm>
            <a:off x="4032250" y="4267200"/>
            <a:ext cx="762000" cy="366713"/>
          </a:xfrm>
          <a:prstGeom prst="rect">
            <a:avLst/>
          </a:prstGeom>
          <a:noFill/>
          <a:ln w="9525">
            <a:noFill/>
          </a:ln>
        </p:spPr>
        <p:txBody>
          <a:bodyPr>
            <a:spAutoFit/>
          </a:bodyPr>
          <a:p>
            <a:pPr eaLnBrk="1" hangingPunct="1">
              <a:spcBef>
                <a:spcPct val="50000"/>
              </a:spcBef>
            </a:pPr>
            <a:r>
              <a:rPr lang="en-US" altLang="zh-CN" sz="1800" b="0" dirty="0">
                <a:latin typeface="Times New Roman" panose="02020603050405020304" pitchFamily="18" charset="0"/>
              </a:rPr>
              <a:t>FIN</a:t>
            </a:r>
            <a:endParaRPr lang="en-US" altLang="zh-CN" sz="1800" b="0" dirty="0">
              <a:latin typeface="Times New Roman" panose="02020603050405020304" pitchFamily="18" charset="0"/>
            </a:endParaRPr>
          </a:p>
        </p:txBody>
      </p:sp>
      <p:sp>
        <p:nvSpPr>
          <p:cNvPr id="143379" name="Text Box 19"/>
          <p:cNvSpPr txBox="1"/>
          <p:nvPr/>
        </p:nvSpPr>
        <p:spPr>
          <a:xfrm>
            <a:off x="3117850" y="5105400"/>
            <a:ext cx="2133600" cy="366713"/>
          </a:xfrm>
          <a:prstGeom prst="rect">
            <a:avLst/>
          </a:prstGeom>
          <a:noFill/>
          <a:ln w="9525">
            <a:noFill/>
          </a:ln>
        </p:spPr>
        <p:txBody>
          <a:bodyPr>
            <a:spAutoFit/>
          </a:bodyPr>
          <a:p>
            <a:pPr eaLnBrk="1" hangingPunct="1">
              <a:spcBef>
                <a:spcPct val="50000"/>
              </a:spcBef>
            </a:pPr>
            <a:r>
              <a:rPr lang="zh-CN" altLang="en-US" sz="1800" b="0" dirty="0">
                <a:latin typeface="Times New Roman" panose="02020603050405020304" pitchFamily="18" charset="0"/>
              </a:rPr>
              <a:t>数据和</a:t>
            </a:r>
            <a:r>
              <a:rPr lang="en-US" altLang="zh-CN" sz="1800" b="0" dirty="0">
                <a:latin typeface="Times New Roman" panose="02020603050405020304" pitchFamily="18" charset="0"/>
              </a:rPr>
              <a:t>FIN</a:t>
            </a:r>
            <a:r>
              <a:rPr lang="zh-CN" altLang="en-US" sz="1800" b="0" dirty="0">
                <a:latin typeface="Times New Roman" panose="02020603050405020304" pitchFamily="18" charset="0"/>
              </a:rPr>
              <a:t>的确认</a:t>
            </a:r>
            <a:endParaRPr lang="zh-CN" altLang="en-US" sz="1800" b="0" dirty="0">
              <a:latin typeface="Times New Roman" panose="02020603050405020304" pitchFamily="18" charset="0"/>
            </a:endParaRPr>
          </a:p>
        </p:txBody>
      </p:sp>
      <p:sp>
        <p:nvSpPr>
          <p:cNvPr id="143380" name="Text Box 20"/>
          <p:cNvSpPr txBox="1"/>
          <p:nvPr/>
        </p:nvSpPr>
        <p:spPr>
          <a:xfrm>
            <a:off x="2203450" y="914400"/>
            <a:ext cx="685800" cy="366713"/>
          </a:xfrm>
          <a:prstGeom prst="rect">
            <a:avLst/>
          </a:prstGeom>
          <a:noFill/>
          <a:ln w="9525">
            <a:noFill/>
          </a:ln>
        </p:spPr>
        <p:txBody>
          <a:bodyPr>
            <a:spAutoFit/>
          </a:bodyPr>
          <a:p>
            <a:pPr eaLnBrk="1" hangingPunct="1">
              <a:spcBef>
                <a:spcPct val="50000"/>
              </a:spcBef>
            </a:pPr>
            <a:r>
              <a:rPr lang="en-US" altLang="zh-CN" sz="1800" b="0" dirty="0">
                <a:latin typeface="Times New Roman" panose="02020603050405020304" pitchFamily="18" charset="0"/>
              </a:rPr>
              <a:t>write</a:t>
            </a:r>
            <a:endParaRPr lang="en-US" altLang="zh-CN" sz="1800" b="0" dirty="0">
              <a:latin typeface="Times New Roman" panose="02020603050405020304" pitchFamily="18" charset="0"/>
            </a:endParaRPr>
          </a:p>
        </p:txBody>
      </p:sp>
      <p:sp>
        <p:nvSpPr>
          <p:cNvPr id="143381" name="Text Box 21"/>
          <p:cNvSpPr txBox="1"/>
          <p:nvPr/>
        </p:nvSpPr>
        <p:spPr>
          <a:xfrm>
            <a:off x="2203450" y="1295400"/>
            <a:ext cx="685800" cy="366713"/>
          </a:xfrm>
          <a:prstGeom prst="rect">
            <a:avLst/>
          </a:prstGeom>
          <a:noFill/>
          <a:ln w="9525">
            <a:noFill/>
          </a:ln>
        </p:spPr>
        <p:txBody>
          <a:bodyPr>
            <a:spAutoFit/>
          </a:bodyPr>
          <a:p>
            <a:pPr eaLnBrk="1" hangingPunct="1">
              <a:spcBef>
                <a:spcPct val="50000"/>
              </a:spcBef>
            </a:pPr>
            <a:r>
              <a:rPr lang="en-US" altLang="zh-CN" sz="1800" b="0" dirty="0">
                <a:latin typeface="Times New Roman" panose="02020603050405020304" pitchFamily="18" charset="0"/>
              </a:rPr>
              <a:t>write</a:t>
            </a:r>
            <a:endParaRPr lang="en-US" altLang="zh-CN" sz="1800" b="0" dirty="0">
              <a:latin typeface="Times New Roman" panose="02020603050405020304" pitchFamily="18" charset="0"/>
            </a:endParaRPr>
          </a:p>
        </p:txBody>
      </p:sp>
      <p:sp>
        <p:nvSpPr>
          <p:cNvPr id="143382" name="Text Box 22"/>
          <p:cNvSpPr txBox="1"/>
          <p:nvPr/>
        </p:nvSpPr>
        <p:spPr>
          <a:xfrm>
            <a:off x="1593850" y="1676400"/>
            <a:ext cx="1143000" cy="366713"/>
          </a:xfrm>
          <a:prstGeom prst="rect">
            <a:avLst/>
          </a:prstGeom>
          <a:noFill/>
          <a:ln w="9525">
            <a:noFill/>
          </a:ln>
        </p:spPr>
        <p:txBody>
          <a:bodyPr>
            <a:spAutoFit/>
          </a:bodyPr>
          <a:p>
            <a:pPr eaLnBrk="1" hangingPunct="1">
              <a:spcBef>
                <a:spcPct val="50000"/>
              </a:spcBef>
            </a:pPr>
            <a:r>
              <a:rPr lang="en-US" altLang="zh-CN" sz="1800" b="0" dirty="0">
                <a:latin typeface="Times New Roman" panose="02020603050405020304" pitchFamily="18" charset="0"/>
              </a:rPr>
              <a:t>shutdown</a:t>
            </a:r>
            <a:endParaRPr lang="en-US" altLang="zh-CN" sz="1800" b="0" dirty="0">
              <a:latin typeface="Times New Roman" panose="02020603050405020304" pitchFamily="18" charset="0"/>
            </a:endParaRPr>
          </a:p>
        </p:txBody>
      </p:sp>
      <p:sp>
        <p:nvSpPr>
          <p:cNvPr id="143383" name="Text Box 23"/>
          <p:cNvSpPr txBox="1"/>
          <p:nvPr/>
        </p:nvSpPr>
        <p:spPr>
          <a:xfrm>
            <a:off x="5403850" y="1447800"/>
            <a:ext cx="1905000" cy="366713"/>
          </a:xfrm>
          <a:prstGeom prst="rect">
            <a:avLst/>
          </a:prstGeom>
          <a:noFill/>
          <a:ln w="9525">
            <a:noFill/>
          </a:ln>
        </p:spPr>
        <p:txBody>
          <a:bodyPr>
            <a:spAutoFit/>
          </a:bodyPr>
          <a:p>
            <a:pPr eaLnBrk="1" hangingPunct="1">
              <a:spcBef>
                <a:spcPct val="50000"/>
              </a:spcBef>
            </a:pPr>
            <a:r>
              <a:rPr lang="en-US" altLang="zh-CN" sz="1800" b="0" dirty="0">
                <a:latin typeface="Times New Roman" panose="02020603050405020304" pitchFamily="18" charset="0"/>
              </a:rPr>
              <a:t>Read</a:t>
            </a:r>
            <a:r>
              <a:rPr lang="zh-CN" altLang="en-US" sz="1800" b="0" dirty="0">
                <a:latin typeface="Times New Roman" panose="02020603050405020304" pitchFamily="18" charset="0"/>
              </a:rPr>
              <a:t>返回大于</a:t>
            </a:r>
            <a:r>
              <a:rPr lang="en-US" altLang="zh-CN" sz="1800" b="0" dirty="0">
                <a:latin typeface="Times New Roman" panose="02020603050405020304" pitchFamily="18" charset="0"/>
              </a:rPr>
              <a:t>0</a:t>
            </a:r>
            <a:endParaRPr lang="en-US" altLang="zh-CN" sz="1800" b="0" dirty="0">
              <a:latin typeface="Times New Roman" panose="02020603050405020304" pitchFamily="18" charset="0"/>
            </a:endParaRPr>
          </a:p>
        </p:txBody>
      </p:sp>
      <p:sp>
        <p:nvSpPr>
          <p:cNvPr id="143384" name="Text Box 24"/>
          <p:cNvSpPr txBox="1"/>
          <p:nvPr/>
        </p:nvSpPr>
        <p:spPr>
          <a:xfrm>
            <a:off x="5403850" y="1905000"/>
            <a:ext cx="1905000" cy="366713"/>
          </a:xfrm>
          <a:prstGeom prst="rect">
            <a:avLst/>
          </a:prstGeom>
          <a:noFill/>
          <a:ln w="9525">
            <a:noFill/>
          </a:ln>
        </p:spPr>
        <p:txBody>
          <a:bodyPr>
            <a:spAutoFit/>
          </a:bodyPr>
          <a:p>
            <a:pPr eaLnBrk="1" hangingPunct="1">
              <a:spcBef>
                <a:spcPct val="50000"/>
              </a:spcBef>
            </a:pPr>
            <a:r>
              <a:rPr lang="en-US" altLang="zh-CN" sz="1800" b="0" dirty="0">
                <a:latin typeface="Times New Roman" panose="02020603050405020304" pitchFamily="18" charset="0"/>
              </a:rPr>
              <a:t>Read</a:t>
            </a:r>
            <a:r>
              <a:rPr lang="zh-CN" altLang="en-US" sz="1800" b="0" dirty="0">
                <a:latin typeface="Times New Roman" panose="02020603050405020304" pitchFamily="18" charset="0"/>
              </a:rPr>
              <a:t>返回大于</a:t>
            </a:r>
            <a:r>
              <a:rPr lang="en-US" altLang="zh-CN" sz="1800" b="0" dirty="0">
                <a:latin typeface="Times New Roman" panose="02020603050405020304" pitchFamily="18" charset="0"/>
              </a:rPr>
              <a:t>0</a:t>
            </a:r>
            <a:endParaRPr lang="en-US" altLang="zh-CN" sz="1800" b="0" dirty="0">
              <a:latin typeface="Times New Roman" panose="02020603050405020304" pitchFamily="18" charset="0"/>
            </a:endParaRPr>
          </a:p>
        </p:txBody>
      </p:sp>
      <p:sp>
        <p:nvSpPr>
          <p:cNvPr id="143385" name="Text Box 25"/>
          <p:cNvSpPr txBox="1"/>
          <p:nvPr/>
        </p:nvSpPr>
        <p:spPr>
          <a:xfrm>
            <a:off x="5403850" y="2438400"/>
            <a:ext cx="1905000" cy="366713"/>
          </a:xfrm>
          <a:prstGeom prst="rect">
            <a:avLst/>
          </a:prstGeom>
          <a:noFill/>
          <a:ln w="9525">
            <a:noFill/>
          </a:ln>
        </p:spPr>
        <p:txBody>
          <a:bodyPr>
            <a:spAutoFit/>
          </a:bodyPr>
          <a:p>
            <a:pPr eaLnBrk="1" hangingPunct="1">
              <a:spcBef>
                <a:spcPct val="50000"/>
              </a:spcBef>
            </a:pPr>
            <a:r>
              <a:rPr lang="en-US" altLang="zh-CN" sz="1800" b="0" dirty="0">
                <a:latin typeface="Times New Roman" panose="02020603050405020304" pitchFamily="18" charset="0"/>
              </a:rPr>
              <a:t>Read</a:t>
            </a:r>
            <a:r>
              <a:rPr lang="zh-CN" altLang="en-US" sz="1800" b="0" dirty="0">
                <a:latin typeface="Times New Roman" panose="02020603050405020304" pitchFamily="18" charset="0"/>
              </a:rPr>
              <a:t>返回</a:t>
            </a:r>
            <a:r>
              <a:rPr lang="en-US" altLang="zh-CN" sz="1800" b="0" dirty="0">
                <a:latin typeface="Times New Roman" panose="02020603050405020304" pitchFamily="18" charset="0"/>
              </a:rPr>
              <a:t>0</a:t>
            </a:r>
            <a:endParaRPr lang="en-US" altLang="zh-CN" sz="1800" b="0" dirty="0">
              <a:latin typeface="Times New Roman" panose="02020603050405020304" pitchFamily="18" charset="0"/>
            </a:endParaRPr>
          </a:p>
        </p:txBody>
      </p:sp>
      <p:sp>
        <p:nvSpPr>
          <p:cNvPr id="143386" name="Text Box 26"/>
          <p:cNvSpPr txBox="1"/>
          <p:nvPr/>
        </p:nvSpPr>
        <p:spPr>
          <a:xfrm>
            <a:off x="5403850" y="3124200"/>
            <a:ext cx="685800" cy="366713"/>
          </a:xfrm>
          <a:prstGeom prst="rect">
            <a:avLst/>
          </a:prstGeom>
          <a:noFill/>
          <a:ln w="9525">
            <a:noFill/>
          </a:ln>
        </p:spPr>
        <p:txBody>
          <a:bodyPr>
            <a:spAutoFit/>
          </a:bodyPr>
          <a:p>
            <a:pPr eaLnBrk="1" hangingPunct="1">
              <a:spcBef>
                <a:spcPct val="50000"/>
              </a:spcBef>
            </a:pPr>
            <a:r>
              <a:rPr lang="en-US" altLang="zh-CN" sz="1800" b="0" dirty="0">
                <a:latin typeface="Times New Roman" panose="02020603050405020304" pitchFamily="18" charset="0"/>
              </a:rPr>
              <a:t>write</a:t>
            </a:r>
            <a:endParaRPr lang="en-US" altLang="zh-CN" sz="1800" b="0" dirty="0">
              <a:latin typeface="Times New Roman" panose="02020603050405020304" pitchFamily="18" charset="0"/>
            </a:endParaRPr>
          </a:p>
        </p:txBody>
      </p:sp>
      <p:sp>
        <p:nvSpPr>
          <p:cNvPr id="143387" name="Text Box 27"/>
          <p:cNvSpPr txBox="1"/>
          <p:nvPr/>
        </p:nvSpPr>
        <p:spPr>
          <a:xfrm>
            <a:off x="5403850" y="3657600"/>
            <a:ext cx="685800" cy="366713"/>
          </a:xfrm>
          <a:prstGeom prst="rect">
            <a:avLst/>
          </a:prstGeom>
          <a:noFill/>
          <a:ln w="9525">
            <a:noFill/>
          </a:ln>
        </p:spPr>
        <p:txBody>
          <a:bodyPr>
            <a:spAutoFit/>
          </a:bodyPr>
          <a:p>
            <a:pPr eaLnBrk="1" hangingPunct="1">
              <a:spcBef>
                <a:spcPct val="50000"/>
              </a:spcBef>
            </a:pPr>
            <a:r>
              <a:rPr lang="en-US" altLang="zh-CN" sz="1800" b="0" dirty="0">
                <a:latin typeface="Times New Roman" panose="02020603050405020304" pitchFamily="18" charset="0"/>
              </a:rPr>
              <a:t>write</a:t>
            </a:r>
            <a:endParaRPr lang="en-US" altLang="zh-CN" sz="1800" b="0" dirty="0">
              <a:latin typeface="Times New Roman" panose="02020603050405020304" pitchFamily="18" charset="0"/>
            </a:endParaRPr>
          </a:p>
        </p:txBody>
      </p:sp>
      <p:sp>
        <p:nvSpPr>
          <p:cNvPr id="143388" name="Text Box 28"/>
          <p:cNvSpPr txBox="1"/>
          <p:nvPr/>
        </p:nvSpPr>
        <p:spPr>
          <a:xfrm>
            <a:off x="5403850" y="4038600"/>
            <a:ext cx="685800" cy="366713"/>
          </a:xfrm>
          <a:prstGeom prst="rect">
            <a:avLst/>
          </a:prstGeom>
          <a:noFill/>
          <a:ln w="9525">
            <a:noFill/>
          </a:ln>
        </p:spPr>
        <p:txBody>
          <a:bodyPr>
            <a:spAutoFit/>
          </a:bodyPr>
          <a:p>
            <a:pPr eaLnBrk="1" hangingPunct="1">
              <a:spcBef>
                <a:spcPct val="50000"/>
              </a:spcBef>
            </a:pPr>
            <a:r>
              <a:rPr lang="en-US" altLang="zh-CN" sz="1800" b="0" dirty="0">
                <a:latin typeface="Times New Roman" panose="02020603050405020304" pitchFamily="18" charset="0"/>
              </a:rPr>
              <a:t>close</a:t>
            </a:r>
            <a:endParaRPr lang="en-US" altLang="zh-CN" sz="1800" b="0" dirty="0">
              <a:latin typeface="Times New Roman" panose="02020603050405020304" pitchFamily="18" charset="0"/>
            </a:endParaRPr>
          </a:p>
        </p:txBody>
      </p:sp>
      <p:sp>
        <p:nvSpPr>
          <p:cNvPr id="143389" name="Text Box 29"/>
          <p:cNvSpPr txBox="1"/>
          <p:nvPr/>
        </p:nvSpPr>
        <p:spPr>
          <a:xfrm>
            <a:off x="1212850" y="3810000"/>
            <a:ext cx="1905000" cy="366713"/>
          </a:xfrm>
          <a:prstGeom prst="rect">
            <a:avLst/>
          </a:prstGeom>
          <a:noFill/>
          <a:ln w="9525">
            <a:noFill/>
          </a:ln>
        </p:spPr>
        <p:txBody>
          <a:bodyPr>
            <a:spAutoFit/>
          </a:bodyPr>
          <a:p>
            <a:pPr eaLnBrk="1" hangingPunct="1">
              <a:spcBef>
                <a:spcPct val="50000"/>
              </a:spcBef>
            </a:pPr>
            <a:r>
              <a:rPr lang="en-US" altLang="zh-CN" sz="1800" b="0" dirty="0">
                <a:latin typeface="Times New Roman" panose="02020603050405020304" pitchFamily="18" charset="0"/>
              </a:rPr>
              <a:t>Read</a:t>
            </a:r>
            <a:r>
              <a:rPr lang="zh-CN" altLang="en-US" sz="1800" b="0" dirty="0">
                <a:latin typeface="Times New Roman" panose="02020603050405020304" pitchFamily="18" charset="0"/>
              </a:rPr>
              <a:t>返回大于</a:t>
            </a:r>
            <a:r>
              <a:rPr lang="en-US" altLang="zh-CN" sz="1800" b="0" dirty="0">
                <a:latin typeface="Times New Roman" panose="02020603050405020304" pitchFamily="18" charset="0"/>
              </a:rPr>
              <a:t>0</a:t>
            </a:r>
            <a:endParaRPr lang="en-US" altLang="zh-CN" sz="1800" b="0" dirty="0">
              <a:latin typeface="Times New Roman" panose="02020603050405020304" pitchFamily="18" charset="0"/>
            </a:endParaRPr>
          </a:p>
        </p:txBody>
      </p:sp>
      <p:sp>
        <p:nvSpPr>
          <p:cNvPr id="143390" name="Text Box 30"/>
          <p:cNvSpPr txBox="1"/>
          <p:nvPr/>
        </p:nvSpPr>
        <p:spPr>
          <a:xfrm>
            <a:off x="1593850" y="4800600"/>
            <a:ext cx="1295400" cy="366713"/>
          </a:xfrm>
          <a:prstGeom prst="rect">
            <a:avLst/>
          </a:prstGeom>
          <a:noFill/>
          <a:ln w="9525">
            <a:noFill/>
          </a:ln>
        </p:spPr>
        <p:txBody>
          <a:bodyPr>
            <a:spAutoFit/>
          </a:bodyPr>
          <a:p>
            <a:pPr eaLnBrk="1" hangingPunct="1">
              <a:spcBef>
                <a:spcPct val="50000"/>
              </a:spcBef>
            </a:pPr>
            <a:r>
              <a:rPr lang="en-US" altLang="zh-CN" sz="1800" b="0" dirty="0">
                <a:latin typeface="Times New Roman" panose="02020603050405020304" pitchFamily="18" charset="0"/>
              </a:rPr>
              <a:t>Read</a:t>
            </a:r>
            <a:r>
              <a:rPr lang="zh-CN" altLang="en-US" sz="1800" b="0" dirty="0">
                <a:latin typeface="Times New Roman" panose="02020603050405020304" pitchFamily="18" charset="0"/>
              </a:rPr>
              <a:t>返回</a:t>
            </a:r>
            <a:r>
              <a:rPr lang="en-US" altLang="zh-CN" sz="1800" b="0" dirty="0">
                <a:latin typeface="Times New Roman" panose="02020603050405020304" pitchFamily="18" charset="0"/>
              </a:rPr>
              <a:t>0</a:t>
            </a:r>
            <a:endParaRPr lang="en-US" altLang="zh-CN" sz="1800" b="0" dirty="0">
              <a:latin typeface="Times New Roman" panose="02020603050405020304" pitchFamily="18" charset="0"/>
            </a:endParaRPr>
          </a:p>
        </p:txBody>
      </p:sp>
      <p:sp>
        <p:nvSpPr>
          <p:cNvPr id="143391" name="Text Box 31"/>
          <p:cNvSpPr txBox="1"/>
          <p:nvPr/>
        </p:nvSpPr>
        <p:spPr>
          <a:xfrm>
            <a:off x="1212850" y="4343400"/>
            <a:ext cx="1905000" cy="366713"/>
          </a:xfrm>
          <a:prstGeom prst="rect">
            <a:avLst/>
          </a:prstGeom>
          <a:noFill/>
          <a:ln w="9525">
            <a:noFill/>
          </a:ln>
        </p:spPr>
        <p:txBody>
          <a:bodyPr>
            <a:spAutoFit/>
          </a:bodyPr>
          <a:p>
            <a:pPr eaLnBrk="1" hangingPunct="1">
              <a:spcBef>
                <a:spcPct val="50000"/>
              </a:spcBef>
            </a:pPr>
            <a:r>
              <a:rPr lang="en-US" altLang="zh-CN" sz="1800" b="0" dirty="0">
                <a:latin typeface="Times New Roman" panose="02020603050405020304" pitchFamily="18" charset="0"/>
              </a:rPr>
              <a:t>Read</a:t>
            </a:r>
            <a:r>
              <a:rPr lang="zh-CN" altLang="en-US" sz="1800" b="0" dirty="0">
                <a:latin typeface="Times New Roman" panose="02020603050405020304" pitchFamily="18" charset="0"/>
              </a:rPr>
              <a:t>返回大于</a:t>
            </a:r>
            <a:r>
              <a:rPr lang="en-US" altLang="zh-CN" sz="1800" b="0" dirty="0">
                <a:latin typeface="Times New Roman" panose="02020603050405020304" pitchFamily="18" charset="0"/>
              </a:rPr>
              <a:t>0</a:t>
            </a:r>
            <a:endParaRPr lang="en-US" altLang="zh-CN" sz="1800" b="0" dirty="0">
              <a:latin typeface="Times New Roman" panose="02020603050405020304" pitchFamily="18" charset="0"/>
            </a:endParaRPr>
          </a:p>
        </p:txBody>
      </p:sp>
      <p:sp>
        <p:nvSpPr>
          <p:cNvPr id="143392" name="Text Box 32"/>
          <p:cNvSpPr txBox="1"/>
          <p:nvPr/>
        </p:nvSpPr>
        <p:spPr>
          <a:xfrm>
            <a:off x="2584450" y="533400"/>
            <a:ext cx="685800" cy="366713"/>
          </a:xfrm>
          <a:prstGeom prst="rect">
            <a:avLst/>
          </a:prstGeom>
          <a:noFill/>
          <a:ln w="9525">
            <a:noFill/>
          </a:ln>
        </p:spPr>
        <p:txBody>
          <a:bodyPr>
            <a:spAutoFit/>
          </a:bodyPr>
          <a:p>
            <a:pPr eaLnBrk="1" hangingPunct="1">
              <a:spcBef>
                <a:spcPct val="50000"/>
              </a:spcBef>
            </a:pPr>
            <a:r>
              <a:rPr lang="zh-CN" altLang="en-US" sz="1800" b="0" dirty="0">
                <a:latin typeface="Times New Roman" panose="02020603050405020304" pitchFamily="18" charset="0"/>
              </a:rPr>
              <a:t>客户</a:t>
            </a:r>
            <a:endParaRPr lang="zh-CN" altLang="en-US" sz="1800" b="0" dirty="0">
              <a:latin typeface="Times New Roman" panose="02020603050405020304" pitchFamily="18" charset="0"/>
            </a:endParaRPr>
          </a:p>
        </p:txBody>
      </p:sp>
      <p:sp>
        <p:nvSpPr>
          <p:cNvPr id="143393" name="Text Box 33"/>
          <p:cNvSpPr txBox="1"/>
          <p:nvPr/>
        </p:nvSpPr>
        <p:spPr>
          <a:xfrm>
            <a:off x="4870450" y="533400"/>
            <a:ext cx="990600" cy="366713"/>
          </a:xfrm>
          <a:prstGeom prst="rect">
            <a:avLst/>
          </a:prstGeom>
          <a:noFill/>
          <a:ln w="9525">
            <a:noFill/>
          </a:ln>
        </p:spPr>
        <p:txBody>
          <a:bodyPr>
            <a:spAutoFit/>
          </a:bodyPr>
          <a:p>
            <a:pPr eaLnBrk="1" hangingPunct="1">
              <a:spcBef>
                <a:spcPct val="50000"/>
              </a:spcBef>
            </a:pPr>
            <a:r>
              <a:rPr lang="zh-CN" altLang="en-US" sz="1800" b="0" dirty="0">
                <a:latin typeface="Times New Roman" panose="02020603050405020304" pitchFamily="18" charset="0"/>
              </a:rPr>
              <a:t>服务器</a:t>
            </a:r>
            <a:endParaRPr lang="zh-CN" altLang="en-US" sz="1800" b="0" dirty="0">
              <a:latin typeface="Times New Roman" panose="02020603050405020304" pitchFamily="18" charset="0"/>
            </a:endParaRPr>
          </a:p>
        </p:txBody>
      </p:sp>
      <p:sp>
        <p:nvSpPr>
          <p:cNvPr id="143394" name="Text Box 34"/>
          <p:cNvSpPr txBox="1"/>
          <p:nvPr/>
        </p:nvSpPr>
        <p:spPr>
          <a:xfrm>
            <a:off x="2660650" y="5943600"/>
            <a:ext cx="3505200" cy="366713"/>
          </a:xfrm>
          <a:prstGeom prst="rect">
            <a:avLst/>
          </a:prstGeom>
          <a:noFill/>
          <a:ln w="9525">
            <a:noFill/>
          </a:ln>
        </p:spPr>
        <p:txBody>
          <a:bodyPr>
            <a:spAutoFit/>
          </a:bodyPr>
          <a:p>
            <a:pPr eaLnBrk="1" hangingPunct="1">
              <a:spcBef>
                <a:spcPct val="50000"/>
              </a:spcBef>
            </a:pPr>
            <a:r>
              <a:rPr lang="zh-CN" altLang="en-US" sz="1800" b="0" dirty="0">
                <a:latin typeface="Times New Roman" panose="02020603050405020304" pitchFamily="18" charset="0"/>
              </a:rPr>
              <a:t>调用</a:t>
            </a:r>
            <a:r>
              <a:rPr lang="en-US" altLang="zh-CN" sz="1800" b="0" dirty="0">
                <a:latin typeface="Times New Roman" panose="02020603050405020304" pitchFamily="18" charset="0"/>
              </a:rPr>
              <a:t>shutdown</a:t>
            </a:r>
            <a:r>
              <a:rPr lang="zh-CN" altLang="en-US" sz="1800" b="0" dirty="0">
                <a:latin typeface="Times New Roman" panose="02020603050405020304" pitchFamily="18" charset="0"/>
              </a:rPr>
              <a:t>关闭一半</a:t>
            </a:r>
            <a:r>
              <a:rPr lang="en-US" altLang="zh-CN" sz="1800" b="0" dirty="0">
                <a:latin typeface="Times New Roman" panose="02020603050405020304" pitchFamily="18" charset="0"/>
              </a:rPr>
              <a:t>TCP</a:t>
            </a:r>
            <a:r>
              <a:rPr lang="zh-CN" altLang="en-US" sz="1800" b="0" dirty="0">
                <a:latin typeface="Times New Roman" panose="02020603050405020304" pitchFamily="18" charset="0"/>
              </a:rPr>
              <a:t>连接</a:t>
            </a:r>
            <a:endParaRPr lang="zh-CN" altLang="en-US" sz="1800" b="0" dirty="0">
              <a:latin typeface="Times New Roman" panose="02020603050405020304" pitchFamily="18" charset="0"/>
            </a:endParaRPr>
          </a:p>
        </p:txBody>
      </p:sp>
    </p:spTree>
  </p:cSld>
  <p:clrMapOvr>
    <a:masterClrMapping/>
  </p:clrMapOvr>
  <p:transition>
    <p:random/>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5410" name="Rectangle 2"/>
          <p:cNvSpPr>
            <a:spLocks noGrp="1"/>
          </p:cNvSpPr>
          <p:nvPr>
            <p:ph type="title"/>
          </p:nvPr>
        </p:nvSpPr>
        <p:spPr>
          <a:xfrm>
            <a:off x="228600" y="304800"/>
            <a:ext cx="7467600" cy="762000"/>
          </a:xfrm>
        </p:spPr>
        <p:txBody>
          <a:bodyPr vert="horz" wrap="square" lIns="91440" tIns="45720" rIns="91440" bIns="45720" anchor="b" anchorCtr="0"/>
          <a:p>
            <a:pPr eaLnBrk="1" hangingPunct="1"/>
            <a:r>
              <a:rPr lang="zh-CN" altLang="en-US" dirty="0"/>
              <a:t>基本套接字函数－</a:t>
            </a:r>
            <a:r>
              <a:rPr lang="en-US" altLang="zh-CN" dirty="0"/>
              <a:t>read</a:t>
            </a:r>
            <a:endParaRPr lang="en-US" altLang="zh-CN" dirty="0"/>
          </a:p>
        </p:txBody>
      </p:sp>
      <p:sp>
        <p:nvSpPr>
          <p:cNvPr id="145411" name="Rectangle 3"/>
          <p:cNvSpPr>
            <a:spLocks noGrp="1"/>
          </p:cNvSpPr>
          <p:nvPr>
            <p:ph idx="1"/>
          </p:nvPr>
        </p:nvSpPr>
        <p:spPr>
          <a:xfrm>
            <a:off x="1131888" y="1484313"/>
            <a:ext cx="7543800" cy="5113337"/>
          </a:xfrm>
        </p:spPr>
        <p:txBody>
          <a:bodyPr vert="horz" wrap="square" lIns="91440" tIns="45720" rIns="91440" bIns="45720" anchor="t" anchorCtr="0"/>
          <a:p>
            <a:pPr marL="533400" indent="-533400" eaLnBrk="1" hangingPunct="1">
              <a:lnSpc>
                <a:spcPct val="90000"/>
              </a:lnSpc>
              <a:buNone/>
            </a:pPr>
            <a:r>
              <a:rPr lang="en-US" altLang="zh-CN" sz="2400" dirty="0"/>
              <a:t>#include &lt;unistd.h&gt;</a:t>
            </a:r>
            <a:endParaRPr lang="en-US" altLang="zh-CN" sz="2400" dirty="0"/>
          </a:p>
          <a:p>
            <a:pPr marL="533400" indent="-533400" eaLnBrk="1" hangingPunct="1">
              <a:lnSpc>
                <a:spcPct val="90000"/>
              </a:lnSpc>
              <a:buNone/>
            </a:pPr>
            <a:r>
              <a:rPr lang="en-US" altLang="zh-CN" sz="2400" dirty="0"/>
              <a:t>int read(int fd, char *buf, int len);</a:t>
            </a:r>
            <a:endParaRPr lang="en-US" altLang="zh-CN" sz="2400" dirty="0"/>
          </a:p>
          <a:p>
            <a:pPr marL="533400" indent="-533400" eaLnBrk="1" hangingPunct="1">
              <a:lnSpc>
                <a:spcPct val="90000"/>
              </a:lnSpc>
              <a:buNone/>
            </a:pPr>
            <a:r>
              <a:rPr lang="en-US" altLang="zh-CN" sz="2400" dirty="0"/>
              <a:t>		</a:t>
            </a:r>
            <a:r>
              <a:rPr lang="zh-CN" altLang="en-US" sz="2400" dirty="0"/>
              <a:t>返回</a:t>
            </a:r>
            <a:r>
              <a:rPr lang="en-US" altLang="zh-CN" sz="2400" dirty="0"/>
              <a:t>:</a:t>
            </a:r>
            <a:r>
              <a:rPr lang="zh-CN" altLang="en-US" sz="2400" dirty="0"/>
              <a:t>大于</a:t>
            </a:r>
            <a:r>
              <a:rPr lang="en-US" altLang="zh-CN" sz="2400" dirty="0"/>
              <a:t>0</a:t>
            </a:r>
            <a:r>
              <a:rPr lang="zh-CN" altLang="en-US" sz="2400" dirty="0"/>
              <a:t>－读写字节大小；</a:t>
            </a:r>
            <a:r>
              <a:rPr lang="en-US" altLang="zh-CN" sz="2400" dirty="0"/>
              <a:t>-1</a:t>
            </a:r>
            <a:r>
              <a:rPr lang="zh-CN" altLang="en-US" sz="2400" dirty="0"/>
              <a:t>－出错；</a:t>
            </a:r>
            <a:endParaRPr lang="zh-CN" altLang="en-US" sz="2400" dirty="0"/>
          </a:p>
          <a:p>
            <a:pPr marL="533400" indent="-533400" eaLnBrk="1" hangingPunct="1">
              <a:lnSpc>
                <a:spcPct val="90000"/>
              </a:lnSpc>
            </a:pPr>
            <a:r>
              <a:rPr lang="zh-CN" altLang="en-US" sz="2800" dirty="0"/>
              <a:t>调用函数</a:t>
            </a:r>
            <a:r>
              <a:rPr lang="en-US" altLang="zh-CN" sz="2800" dirty="0"/>
              <a:t>read</a:t>
            </a:r>
            <a:r>
              <a:rPr lang="zh-CN" altLang="en-US" sz="2800" dirty="0"/>
              <a:t>时，有如下几种情况：</a:t>
            </a:r>
            <a:endParaRPr lang="zh-CN" altLang="en-US" sz="2800" dirty="0"/>
          </a:p>
          <a:p>
            <a:pPr marL="914400" lvl="1" indent="-457200" eaLnBrk="1" hangingPunct="1">
              <a:lnSpc>
                <a:spcPct val="90000"/>
              </a:lnSpc>
            </a:pPr>
            <a:r>
              <a:rPr lang="zh-CN" altLang="en-US" sz="2400" dirty="0"/>
              <a:t>套接字接收缓冲区接收数据，返回接收到的字节数；</a:t>
            </a:r>
            <a:endParaRPr lang="zh-CN" altLang="en-US" sz="2400" dirty="0"/>
          </a:p>
          <a:p>
            <a:pPr marL="914400" lvl="1" indent="-457200" eaLnBrk="1" hangingPunct="1">
              <a:lnSpc>
                <a:spcPct val="90000"/>
              </a:lnSpc>
            </a:pPr>
            <a:r>
              <a:rPr lang="en-US" altLang="zh-CN" sz="2400" dirty="0"/>
              <a:t>tcp</a:t>
            </a:r>
            <a:r>
              <a:rPr lang="zh-CN" altLang="en-US" sz="2400" dirty="0"/>
              <a:t>协议收到</a:t>
            </a:r>
            <a:r>
              <a:rPr lang="en-US" altLang="zh-CN" sz="2400" dirty="0"/>
              <a:t>FIN</a:t>
            </a:r>
            <a:r>
              <a:rPr lang="zh-CN" altLang="en-US" sz="2400" dirty="0"/>
              <a:t>数据，返回</a:t>
            </a:r>
            <a:r>
              <a:rPr lang="en-US" altLang="zh-CN" sz="2400" dirty="0"/>
              <a:t>0</a:t>
            </a:r>
            <a:r>
              <a:rPr lang="zh-CN" altLang="en-US" sz="2400" dirty="0"/>
              <a:t>；</a:t>
            </a:r>
            <a:endParaRPr lang="zh-CN" altLang="en-US" sz="2400" dirty="0"/>
          </a:p>
          <a:p>
            <a:pPr marL="914400" lvl="1" indent="-457200" eaLnBrk="1" hangingPunct="1">
              <a:lnSpc>
                <a:spcPct val="90000"/>
              </a:lnSpc>
            </a:pPr>
            <a:r>
              <a:rPr lang="en-US" altLang="zh-CN" sz="2400" dirty="0"/>
              <a:t>tcp</a:t>
            </a:r>
            <a:r>
              <a:rPr lang="zh-CN" altLang="en-US" sz="2400" dirty="0"/>
              <a:t>协议收到</a:t>
            </a:r>
            <a:r>
              <a:rPr lang="en-US" altLang="zh-CN" sz="2400" dirty="0"/>
              <a:t>RST</a:t>
            </a:r>
            <a:r>
              <a:rPr lang="zh-CN" altLang="en-US" sz="2400" dirty="0"/>
              <a:t>数据，返回－</a:t>
            </a:r>
            <a:r>
              <a:rPr lang="en-US" altLang="zh-CN" sz="2400" dirty="0"/>
              <a:t>1</a:t>
            </a:r>
            <a:r>
              <a:rPr lang="zh-CN" altLang="en-US" sz="2400" dirty="0"/>
              <a:t>，同时</a:t>
            </a:r>
            <a:r>
              <a:rPr lang="en-US" altLang="zh-CN" sz="2400" dirty="0"/>
              <a:t>errno</a:t>
            </a:r>
            <a:r>
              <a:rPr lang="zh-CN" altLang="en-US" sz="2400" dirty="0"/>
              <a:t>为</a:t>
            </a:r>
            <a:r>
              <a:rPr lang="en-US" altLang="zh-CN" sz="2400" dirty="0"/>
              <a:t>ECONNRESET</a:t>
            </a:r>
            <a:r>
              <a:rPr lang="zh-CN" altLang="en-US" sz="2400" dirty="0"/>
              <a:t>；</a:t>
            </a:r>
            <a:endParaRPr lang="zh-CN" altLang="en-US" sz="2400" dirty="0"/>
          </a:p>
          <a:p>
            <a:pPr marL="914400" lvl="1" indent="-457200" eaLnBrk="1" hangingPunct="1">
              <a:lnSpc>
                <a:spcPct val="90000"/>
              </a:lnSpc>
            </a:pPr>
            <a:r>
              <a:rPr lang="zh-CN" altLang="en-US" sz="2400" dirty="0"/>
              <a:t>进程阻塞过程中接收到信号，返回－</a:t>
            </a:r>
            <a:r>
              <a:rPr lang="en-US" altLang="zh-CN" sz="2400" dirty="0"/>
              <a:t>1</a:t>
            </a:r>
            <a:r>
              <a:rPr lang="zh-CN" altLang="en-US" sz="2400" dirty="0"/>
              <a:t>，同时</a:t>
            </a:r>
            <a:r>
              <a:rPr lang="en-US" altLang="zh-CN" sz="2400" dirty="0"/>
              <a:t>errno</a:t>
            </a:r>
            <a:r>
              <a:rPr lang="zh-CN" altLang="en-US" sz="2400" dirty="0"/>
              <a:t>为</a:t>
            </a:r>
            <a:r>
              <a:rPr lang="en-US" altLang="zh-CN" sz="2400" dirty="0"/>
              <a:t>EINTR</a:t>
            </a:r>
            <a:r>
              <a:rPr lang="zh-CN" altLang="en-US" sz="2400" dirty="0"/>
              <a:t>。</a:t>
            </a:r>
            <a:endParaRPr lang="zh-CN" altLang="en-US" sz="2400" dirty="0"/>
          </a:p>
          <a:p>
            <a:pPr marL="914400" lvl="1" indent="-457200" eaLnBrk="1" hangingPunct="1">
              <a:lnSpc>
                <a:spcPct val="90000"/>
              </a:lnSpc>
              <a:buNone/>
            </a:pPr>
            <a:r>
              <a:rPr lang="en-US" altLang="zh-CN" sz="2400" dirty="0"/>
              <a:t>read</a:t>
            </a:r>
            <a:r>
              <a:rPr lang="zh-CN" altLang="en-US" sz="2400" dirty="0"/>
              <a:t>（</a:t>
            </a:r>
            <a:r>
              <a:rPr lang="en-US" altLang="zh-CN" sz="2400" dirty="0"/>
              <a:t>connfd</a:t>
            </a:r>
            <a:r>
              <a:rPr lang="zh-CN" altLang="en-US" sz="2400" dirty="0"/>
              <a:t>，</a:t>
            </a:r>
            <a:r>
              <a:rPr lang="en-US" altLang="zh-CN" sz="2400" dirty="0"/>
              <a:t>buff</a:t>
            </a:r>
            <a:r>
              <a:rPr lang="zh-CN" altLang="en-US" sz="2400" dirty="0"/>
              <a:t>，</a:t>
            </a:r>
            <a:r>
              <a:rPr lang="en-US" altLang="zh-CN" sz="2400" dirty="0"/>
              <a:t>strlen</a:t>
            </a:r>
            <a:r>
              <a:rPr lang="zh-CN" altLang="en-US" sz="2400" dirty="0"/>
              <a:t>（</a:t>
            </a:r>
            <a:r>
              <a:rPr lang="en-US" altLang="zh-CN" sz="2400" dirty="0"/>
              <a:t>buff</a:t>
            </a:r>
            <a:r>
              <a:rPr lang="zh-CN" altLang="en-US" sz="2400" dirty="0"/>
              <a:t>））</a:t>
            </a:r>
            <a:r>
              <a:rPr lang="en-US" altLang="zh-CN" sz="2400" dirty="0"/>
              <a:t>;</a:t>
            </a:r>
            <a:endParaRPr lang="en-US" altLang="zh-CN" sz="2400" dirty="0"/>
          </a:p>
          <a:p>
            <a:pPr marL="914400" lvl="1" indent="-457200" eaLnBrk="1" hangingPunct="1">
              <a:lnSpc>
                <a:spcPct val="90000"/>
              </a:lnSpc>
              <a:buNone/>
            </a:pPr>
            <a:endParaRPr lang="en-US" altLang="zh-CN" sz="2400" dirty="0"/>
          </a:p>
        </p:txBody>
      </p:sp>
    </p:spTree>
  </p:cSld>
  <p:clrMapOvr>
    <a:masterClrMapping/>
  </p:clrMapOvr>
  <p:transition>
    <p:random/>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7458" name="Rectangle 2"/>
          <p:cNvSpPr>
            <a:spLocks noGrp="1"/>
          </p:cNvSpPr>
          <p:nvPr>
            <p:ph type="title"/>
          </p:nvPr>
        </p:nvSpPr>
        <p:spPr>
          <a:xfrm>
            <a:off x="228600" y="304800"/>
            <a:ext cx="7467600" cy="762000"/>
          </a:xfrm>
        </p:spPr>
        <p:txBody>
          <a:bodyPr vert="horz" wrap="square" lIns="91440" tIns="45720" rIns="91440" bIns="45720" anchor="b" anchorCtr="0"/>
          <a:p>
            <a:pPr eaLnBrk="1" hangingPunct="1"/>
            <a:r>
              <a:rPr lang="zh-CN" altLang="en-US" dirty="0"/>
              <a:t>基本套接字函数－</a:t>
            </a:r>
            <a:r>
              <a:rPr lang="en-US" altLang="zh-CN" dirty="0"/>
              <a:t>write</a:t>
            </a:r>
            <a:endParaRPr lang="en-US" altLang="zh-CN" dirty="0"/>
          </a:p>
        </p:txBody>
      </p:sp>
      <p:sp>
        <p:nvSpPr>
          <p:cNvPr id="147459" name="Rectangle 3"/>
          <p:cNvSpPr>
            <a:spLocks noGrp="1"/>
          </p:cNvSpPr>
          <p:nvPr>
            <p:ph idx="1"/>
          </p:nvPr>
        </p:nvSpPr>
        <p:spPr>
          <a:xfrm>
            <a:off x="755650" y="1484313"/>
            <a:ext cx="7543800" cy="5029200"/>
          </a:xfrm>
        </p:spPr>
        <p:txBody>
          <a:bodyPr vert="horz" wrap="square" lIns="91440" tIns="45720" rIns="91440" bIns="45720" anchor="t" anchorCtr="0"/>
          <a:p>
            <a:pPr eaLnBrk="1" hangingPunct="1">
              <a:lnSpc>
                <a:spcPct val="90000"/>
              </a:lnSpc>
              <a:buNone/>
            </a:pPr>
            <a:r>
              <a:rPr lang="en-US" altLang="zh-CN" sz="2400" dirty="0"/>
              <a:t>#include &lt;unistd.h&gt;</a:t>
            </a:r>
            <a:endParaRPr lang="en-US" altLang="zh-CN" sz="2400" dirty="0"/>
          </a:p>
          <a:p>
            <a:pPr eaLnBrk="1" hangingPunct="1">
              <a:lnSpc>
                <a:spcPct val="90000"/>
              </a:lnSpc>
              <a:buNone/>
            </a:pPr>
            <a:r>
              <a:rPr lang="en-US" altLang="zh-CN" sz="2400" dirty="0"/>
              <a:t>int write(int fd, char *buf, int len);</a:t>
            </a:r>
            <a:endParaRPr lang="en-US" altLang="zh-CN" sz="2400" dirty="0"/>
          </a:p>
          <a:p>
            <a:pPr eaLnBrk="1" hangingPunct="1">
              <a:lnSpc>
                <a:spcPct val="90000"/>
              </a:lnSpc>
              <a:buNone/>
            </a:pPr>
            <a:r>
              <a:rPr lang="en-US" altLang="zh-CN" sz="2400" dirty="0"/>
              <a:t>                     </a:t>
            </a:r>
            <a:r>
              <a:rPr lang="zh-CN" altLang="en-US" sz="2400" dirty="0"/>
              <a:t>返回</a:t>
            </a:r>
            <a:r>
              <a:rPr lang="en-US" altLang="zh-CN" sz="2400" dirty="0"/>
              <a:t>:</a:t>
            </a:r>
            <a:r>
              <a:rPr lang="zh-CN" altLang="en-US" sz="2400" dirty="0"/>
              <a:t>大于</a:t>
            </a:r>
            <a:r>
              <a:rPr lang="en-US" altLang="zh-CN" sz="2400" dirty="0"/>
              <a:t>0</a:t>
            </a:r>
            <a:r>
              <a:rPr lang="zh-CN" altLang="en-US" sz="2400" dirty="0"/>
              <a:t>－读写字节大小；</a:t>
            </a:r>
            <a:r>
              <a:rPr lang="en-US" altLang="zh-CN" sz="2400" dirty="0"/>
              <a:t>-1</a:t>
            </a:r>
            <a:r>
              <a:rPr lang="zh-CN" altLang="en-US" sz="2400" dirty="0"/>
              <a:t>－出错；</a:t>
            </a:r>
            <a:endParaRPr lang="zh-CN" altLang="en-US" sz="2400" dirty="0"/>
          </a:p>
          <a:p>
            <a:pPr eaLnBrk="1" hangingPunct="1">
              <a:lnSpc>
                <a:spcPct val="90000"/>
              </a:lnSpc>
            </a:pPr>
            <a:endParaRPr lang="zh-CN" altLang="en-US" sz="2400" dirty="0"/>
          </a:p>
          <a:p>
            <a:pPr eaLnBrk="1" hangingPunct="1">
              <a:lnSpc>
                <a:spcPct val="90000"/>
              </a:lnSpc>
            </a:pPr>
            <a:r>
              <a:rPr lang="zh-CN" altLang="en-US" sz="2400" dirty="0"/>
              <a:t>调用函数</a:t>
            </a:r>
            <a:r>
              <a:rPr lang="en-US" altLang="zh-CN" sz="2400" dirty="0"/>
              <a:t>write</a:t>
            </a:r>
            <a:r>
              <a:rPr lang="zh-CN" altLang="en-US" sz="2400" dirty="0"/>
              <a:t>，有如下几种情况：</a:t>
            </a:r>
            <a:endParaRPr lang="zh-CN" altLang="en-US" sz="2400" dirty="0"/>
          </a:p>
          <a:p>
            <a:pPr lvl="1" eaLnBrk="1" hangingPunct="1">
              <a:lnSpc>
                <a:spcPct val="90000"/>
              </a:lnSpc>
            </a:pPr>
            <a:r>
              <a:rPr lang="zh-CN" altLang="en-US" sz="2400" dirty="0"/>
              <a:t>套接字发送缓冲区有足够空间，返回发送的字节数；</a:t>
            </a:r>
            <a:endParaRPr lang="zh-CN" altLang="en-US" sz="2400" dirty="0"/>
          </a:p>
          <a:p>
            <a:pPr lvl="1" eaLnBrk="1" hangingPunct="1">
              <a:lnSpc>
                <a:spcPct val="90000"/>
              </a:lnSpc>
            </a:pPr>
            <a:r>
              <a:rPr lang="en-US" altLang="zh-CN" sz="2400" dirty="0"/>
              <a:t>tcp</a:t>
            </a:r>
            <a:r>
              <a:rPr lang="zh-CN" altLang="en-US" sz="2400" dirty="0"/>
              <a:t>协议接收到</a:t>
            </a:r>
            <a:r>
              <a:rPr lang="en-US" altLang="zh-CN" sz="2400" dirty="0"/>
              <a:t>RST</a:t>
            </a:r>
            <a:r>
              <a:rPr lang="zh-CN" altLang="en-US" sz="2400" dirty="0"/>
              <a:t>数据，返回－</a:t>
            </a:r>
            <a:r>
              <a:rPr lang="en-US" altLang="zh-CN" sz="2400" dirty="0"/>
              <a:t>1</a:t>
            </a:r>
            <a:r>
              <a:rPr lang="zh-CN" altLang="en-US" sz="2400" dirty="0"/>
              <a:t>，同时</a:t>
            </a:r>
            <a:r>
              <a:rPr lang="en-US" altLang="zh-CN" sz="2400" dirty="0"/>
              <a:t>errno</a:t>
            </a:r>
            <a:r>
              <a:rPr lang="zh-CN" altLang="en-US" sz="2400" dirty="0"/>
              <a:t>为</a:t>
            </a:r>
            <a:r>
              <a:rPr lang="en-US" altLang="zh-CN" sz="2400" dirty="0"/>
              <a:t>ECONNRESET</a:t>
            </a:r>
            <a:r>
              <a:rPr lang="zh-CN" altLang="en-US" sz="2400" dirty="0"/>
              <a:t>； ；</a:t>
            </a:r>
            <a:endParaRPr lang="zh-CN" altLang="en-US" sz="2400" dirty="0"/>
          </a:p>
          <a:p>
            <a:pPr lvl="1" eaLnBrk="1" hangingPunct="1">
              <a:lnSpc>
                <a:spcPct val="90000"/>
              </a:lnSpc>
            </a:pPr>
            <a:r>
              <a:rPr lang="zh-CN" altLang="en-US" sz="2400" dirty="0"/>
              <a:t>进程阻塞过程中接收到信号，返回－</a:t>
            </a:r>
            <a:r>
              <a:rPr lang="en-US" altLang="zh-CN" sz="2400" dirty="0"/>
              <a:t>1</a:t>
            </a:r>
            <a:r>
              <a:rPr lang="zh-CN" altLang="en-US" sz="2400" dirty="0"/>
              <a:t>，同时</a:t>
            </a:r>
            <a:r>
              <a:rPr lang="en-US" altLang="zh-CN" sz="2400" dirty="0"/>
              <a:t>errno</a:t>
            </a:r>
            <a:r>
              <a:rPr lang="zh-CN" altLang="en-US" sz="2400" dirty="0"/>
              <a:t>为</a:t>
            </a:r>
            <a:r>
              <a:rPr lang="en-US" altLang="zh-CN" sz="2400" dirty="0"/>
              <a:t>EINTR</a:t>
            </a:r>
            <a:r>
              <a:rPr lang="zh-CN" altLang="en-US" sz="2400" dirty="0"/>
              <a:t>。</a:t>
            </a:r>
            <a:endParaRPr lang="zh-CN" altLang="en-US" sz="2400" dirty="0"/>
          </a:p>
          <a:p>
            <a:pPr lvl="1" eaLnBrk="1" hangingPunct="1">
              <a:lnSpc>
                <a:spcPct val="90000"/>
              </a:lnSpc>
              <a:buNone/>
            </a:pPr>
            <a:r>
              <a:rPr lang="en-US" altLang="zh-CN" sz="2400" dirty="0"/>
              <a:t>write</a:t>
            </a:r>
            <a:r>
              <a:rPr lang="zh-CN" altLang="en-US" sz="2400" dirty="0"/>
              <a:t>（</a:t>
            </a:r>
            <a:r>
              <a:rPr lang="en-US" altLang="zh-CN" sz="2400" dirty="0"/>
              <a:t>connfd</a:t>
            </a:r>
            <a:r>
              <a:rPr lang="zh-CN" altLang="en-US" sz="2400" dirty="0"/>
              <a:t>，</a:t>
            </a:r>
            <a:r>
              <a:rPr lang="en-US" altLang="zh-CN" sz="2400" dirty="0"/>
              <a:t>buff</a:t>
            </a:r>
            <a:r>
              <a:rPr lang="zh-CN" altLang="en-US" sz="2400" dirty="0"/>
              <a:t>，</a:t>
            </a:r>
            <a:r>
              <a:rPr lang="en-US" altLang="zh-CN" sz="2400" dirty="0"/>
              <a:t>strlen</a:t>
            </a:r>
            <a:r>
              <a:rPr lang="zh-CN" altLang="en-US" sz="2400" dirty="0"/>
              <a:t>（</a:t>
            </a:r>
            <a:r>
              <a:rPr lang="en-US" altLang="zh-CN" sz="2400" dirty="0"/>
              <a:t>buff</a:t>
            </a:r>
            <a:r>
              <a:rPr lang="zh-CN" altLang="en-US" sz="2400" dirty="0"/>
              <a:t>））</a:t>
            </a:r>
            <a:r>
              <a:rPr lang="en-US" altLang="zh-CN" sz="2400" dirty="0"/>
              <a:t>;</a:t>
            </a:r>
            <a:endParaRPr lang="en-US" altLang="zh-CN" sz="2400" dirty="0"/>
          </a:p>
        </p:txBody>
      </p:sp>
    </p:spTree>
  </p:cSld>
  <p:clrMapOvr>
    <a:masterClrMapping/>
  </p:clrMapOvr>
  <p:transition>
    <p:random/>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9506" name="Rectangle 2"/>
          <p:cNvSpPr>
            <a:spLocks noGrp="1"/>
          </p:cNvSpPr>
          <p:nvPr>
            <p:ph type="title"/>
          </p:nvPr>
        </p:nvSpPr>
        <p:spPr>
          <a:xfrm>
            <a:off x="827088" y="692150"/>
            <a:ext cx="7793037" cy="485775"/>
          </a:xfrm>
        </p:spPr>
        <p:txBody>
          <a:bodyPr vert="horz" wrap="square" lIns="91440" tIns="45720" rIns="91440" bIns="45720" anchor="b" anchorCtr="0"/>
          <a:p>
            <a:pPr eaLnBrk="1" hangingPunct="1"/>
            <a:r>
              <a:rPr lang="zh-CN" altLang="en-US" dirty="0"/>
              <a:t>数据传输函数－</a:t>
            </a:r>
            <a:r>
              <a:rPr lang="en-US" altLang="zh-CN" dirty="0"/>
              <a:t>send</a:t>
            </a:r>
            <a:endParaRPr lang="en-US" altLang="zh-CN" dirty="0"/>
          </a:p>
        </p:txBody>
      </p:sp>
      <p:sp>
        <p:nvSpPr>
          <p:cNvPr id="149507" name="Rectangle 3"/>
          <p:cNvSpPr>
            <a:spLocks noGrp="1"/>
          </p:cNvSpPr>
          <p:nvPr>
            <p:ph idx="1"/>
          </p:nvPr>
        </p:nvSpPr>
        <p:spPr>
          <a:xfrm>
            <a:off x="827088" y="1557338"/>
            <a:ext cx="8137525" cy="5184775"/>
          </a:xfrm>
        </p:spPr>
        <p:txBody>
          <a:bodyPr vert="horz" wrap="square" lIns="91440" tIns="45720" rIns="91440" bIns="45720" anchor="t" anchorCtr="0"/>
          <a:p>
            <a:pPr eaLnBrk="1" hangingPunct="1">
              <a:buNone/>
            </a:pPr>
            <a:r>
              <a:rPr lang="en-US" altLang="zh-CN" sz="2400" dirty="0"/>
              <a:t>#include &lt;sys/types.h&gt;</a:t>
            </a:r>
            <a:endParaRPr lang="en-US" altLang="zh-CN" sz="2400" dirty="0"/>
          </a:p>
          <a:p>
            <a:pPr eaLnBrk="1" hangingPunct="1">
              <a:buNone/>
            </a:pPr>
            <a:r>
              <a:rPr lang="en-US" altLang="zh-CN" sz="2400" dirty="0"/>
              <a:t>#include &lt;sys/socket.h&gt;</a:t>
            </a:r>
            <a:endParaRPr lang="en-US" altLang="zh-CN" sz="2400" dirty="0"/>
          </a:p>
          <a:p>
            <a:pPr eaLnBrk="1" hangingPunct="1">
              <a:buNone/>
            </a:pPr>
            <a:r>
              <a:rPr lang="en-US" altLang="zh-CN" sz="2400" dirty="0"/>
              <a:t>ssize_t send (int fd, const void *msg, size_t len, int flags);</a:t>
            </a:r>
            <a:endParaRPr lang="en-US" altLang="zh-CN" sz="2400" dirty="0"/>
          </a:p>
          <a:p>
            <a:pPr eaLnBrk="1" hangingPunct="1">
              <a:buNone/>
            </a:pPr>
            <a:r>
              <a:rPr lang="en-US" altLang="zh-CN" sz="2400" dirty="0"/>
              <a:t>		       </a:t>
            </a:r>
            <a:r>
              <a:rPr lang="zh-CN" altLang="en-US" sz="2400" dirty="0"/>
              <a:t>返回：非</a:t>
            </a:r>
            <a:r>
              <a:rPr lang="en-US" altLang="zh-CN" sz="2400" dirty="0"/>
              <a:t>0</a:t>
            </a:r>
            <a:r>
              <a:rPr lang="zh-CN" altLang="en-US" sz="2400" dirty="0"/>
              <a:t>－发送成功的数据长度；</a:t>
            </a:r>
            <a:r>
              <a:rPr lang="en-US" altLang="zh-CN" sz="2400" dirty="0"/>
              <a:t>-1</a:t>
            </a:r>
            <a:r>
              <a:rPr lang="zh-CN" altLang="en-US" sz="2400" dirty="0"/>
              <a:t>－出错；</a:t>
            </a:r>
            <a:endParaRPr lang="en-US" altLang="zh-CN" sz="2400" dirty="0"/>
          </a:p>
          <a:p>
            <a:pPr eaLnBrk="1" hangingPunct="1">
              <a:lnSpc>
                <a:spcPct val="150000"/>
              </a:lnSpc>
            </a:pPr>
            <a:r>
              <a:rPr lang="en-US" altLang="zh-CN" sz="2400" b="1" dirty="0">
                <a:solidFill>
                  <a:srgbClr val="FF0000"/>
                </a:solidFill>
              </a:rPr>
              <a:t>fd:</a:t>
            </a:r>
            <a:r>
              <a:rPr lang="zh-CN" altLang="en-US" sz="2400" b="1" dirty="0">
                <a:solidFill>
                  <a:srgbClr val="FF0000"/>
                </a:solidFill>
              </a:rPr>
              <a:t>对服务端由</a:t>
            </a:r>
            <a:r>
              <a:rPr lang="en-US" altLang="zh-CN" sz="2400" b="1" dirty="0">
                <a:solidFill>
                  <a:srgbClr val="FF0000"/>
                </a:solidFill>
              </a:rPr>
              <a:t>accept</a:t>
            </a:r>
            <a:r>
              <a:rPr lang="zh-CN" altLang="en-US" sz="2400" b="1" dirty="0">
                <a:solidFill>
                  <a:srgbClr val="FF0000"/>
                </a:solidFill>
              </a:rPr>
              <a:t>返回的已连接套接字描述符，对客户端是</a:t>
            </a:r>
            <a:r>
              <a:rPr lang="en-US" altLang="zh-CN" sz="2400" b="1" dirty="0">
                <a:solidFill>
                  <a:srgbClr val="FF0000"/>
                </a:solidFill>
              </a:rPr>
              <a:t>socket()</a:t>
            </a:r>
            <a:r>
              <a:rPr lang="zh-CN" altLang="en-US" sz="2400" b="1" dirty="0">
                <a:solidFill>
                  <a:srgbClr val="FF0000"/>
                </a:solidFill>
              </a:rPr>
              <a:t>函数返回的套接字描述符</a:t>
            </a:r>
            <a:endParaRPr lang="zh-CN" altLang="en-US" sz="2400" b="1" dirty="0">
              <a:solidFill>
                <a:srgbClr val="FF0000"/>
              </a:solidFill>
            </a:endParaRPr>
          </a:p>
          <a:p>
            <a:pPr eaLnBrk="1" hangingPunct="1">
              <a:lnSpc>
                <a:spcPct val="150000"/>
              </a:lnSpc>
            </a:pPr>
            <a:r>
              <a:rPr lang="en-US" altLang="zh-CN" sz="2400" dirty="0"/>
              <a:t>flags </a:t>
            </a:r>
            <a:r>
              <a:rPr lang="zh-CN" altLang="en-US" sz="2400" dirty="0"/>
              <a:t>是传输控制标志，其值定义如下：</a:t>
            </a:r>
            <a:endParaRPr lang="zh-CN" altLang="en-US" sz="2400" dirty="0"/>
          </a:p>
          <a:p>
            <a:pPr lvl="1" eaLnBrk="1" hangingPunct="1"/>
            <a:r>
              <a:rPr lang="en-US" altLang="zh-CN" sz="2000" dirty="0"/>
              <a:t>0</a:t>
            </a:r>
            <a:r>
              <a:rPr lang="zh-CN" altLang="en-US" sz="2000" dirty="0"/>
              <a:t>：常规操作，如同</a:t>
            </a:r>
            <a:r>
              <a:rPr lang="en-US" altLang="zh-CN" sz="2000" dirty="0"/>
              <a:t>write()</a:t>
            </a:r>
            <a:r>
              <a:rPr lang="zh-CN" altLang="en-US" sz="2000" dirty="0"/>
              <a:t>函数</a:t>
            </a:r>
            <a:endParaRPr lang="zh-CN" altLang="en-US" sz="2000" dirty="0"/>
          </a:p>
          <a:p>
            <a:pPr lvl="1" eaLnBrk="1" hangingPunct="1"/>
            <a:r>
              <a:rPr lang="en-US" altLang="zh-CN" sz="2000" dirty="0"/>
              <a:t>MSG_OOB</a:t>
            </a:r>
            <a:r>
              <a:rPr lang="zh-CN" altLang="en-US" sz="2000" dirty="0"/>
              <a:t>，发送带外数据</a:t>
            </a:r>
            <a:r>
              <a:rPr lang="en-US" altLang="zh-CN" sz="2000" dirty="0"/>
              <a:t>(TCP</a:t>
            </a:r>
            <a:r>
              <a:rPr lang="zh-CN" altLang="en-US" sz="2000" dirty="0"/>
              <a:t>紧急数据</a:t>
            </a:r>
            <a:r>
              <a:rPr lang="en-US" altLang="zh-CN" sz="2000" dirty="0"/>
              <a:t>)</a:t>
            </a:r>
            <a:r>
              <a:rPr lang="zh-CN" altLang="en-US" sz="2000" dirty="0"/>
              <a:t>。</a:t>
            </a:r>
            <a:endParaRPr lang="zh-CN" altLang="en-US" sz="2000" dirty="0"/>
          </a:p>
          <a:p>
            <a:pPr lvl="1" eaLnBrk="1" hangingPunct="1"/>
            <a:r>
              <a:rPr lang="en-US" altLang="zh-CN" sz="2000" dirty="0"/>
              <a:t>MSG_DONTROUTE</a:t>
            </a:r>
            <a:r>
              <a:rPr lang="zh-CN" altLang="en-US" sz="2000" dirty="0"/>
              <a:t>：忽略底层协议的路由设置，告诉内核目的主机在直接连接的本地网络上，不需要查找路由表。</a:t>
            </a:r>
            <a:endParaRPr lang="zh-CN" altLang="en-US" sz="2000" dirty="0"/>
          </a:p>
        </p:txBody>
      </p:sp>
    </p:spTree>
  </p:cSld>
  <p:clrMapOvr>
    <a:masterClrMapping/>
  </p:clrMapOvr>
  <p:transition>
    <p:random/>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1554" name="Rectangle 2"/>
          <p:cNvSpPr>
            <a:spLocks noGrp="1"/>
          </p:cNvSpPr>
          <p:nvPr>
            <p:ph type="title"/>
          </p:nvPr>
        </p:nvSpPr>
        <p:spPr>
          <a:xfrm>
            <a:off x="304800" y="457200"/>
            <a:ext cx="7467600" cy="762000"/>
          </a:xfrm>
        </p:spPr>
        <p:txBody>
          <a:bodyPr vert="horz" wrap="square" lIns="91440" tIns="45720" rIns="91440" bIns="45720" anchor="b" anchorCtr="0"/>
          <a:p>
            <a:pPr eaLnBrk="1" hangingPunct="1"/>
            <a:r>
              <a:rPr lang="zh-CN" altLang="en-US" dirty="0"/>
              <a:t>数据传输函数－</a:t>
            </a:r>
            <a:r>
              <a:rPr lang="en-US" altLang="zh-CN" dirty="0"/>
              <a:t>recv</a:t>
            </a:r>
            <a:endParaRPr lang="en-US" altLang="zh-CN" dirty="0"/>
          </a:p>
        </p:txBody>
      </p:sp>
      <p:sp>
        <p:nvSpPr>
          <p:cNvPr id="151555" name="Rectangle 3"/>
          <p:cNvSpPr>
            <a:spLocks noGrp="1"/>
          </p:cNvSpPr>
          <p:nvPr>
            <p:ph idx="1"/>
          </p:nvPr>
        </p:nvSpPr>
        <p:spPr>
          <a:xfrm>
            <a:off x="468313" y="1701800"/>
            <a:ext cx="8540750" cy="4967288"/>
          </a:xfrm>
          <a:solidFill>
            <a:schemeClr val="bg1">
              <a:alpha val="100000"/>
            </a:schemeClr>
          </a:solidFill>
        </p:spPr>
        <p:txBody>
          <a:bodyPr vert="horz" wrap="square" lIns="91440" tIns="45720" rIns="91440" bIns="45720" anchor="t" anchorCtr="0"/>
          <a:p>
            <a:pPr eaLnBrk="1" hangingPunct="1">
              <a:buNone/>
            </a:pPr>
            <a:r>
              <a:rPr lang="en-US" altLang="zh-CN" sz="2000" dirty="0"/>
              <a:t>#include &lt;sys/types.h&gt;</a:t>
            </a:r>
            <a:endParaRPr lang="en-US" altLang="zh-CN" sz="2000" dirty="0"/>
          </a:p>
          <a:p>
            <a:pPr eaLnBrk="1" hangingPunct="1">
              <a:buNone/>
            </a:pPr>
            <a:r>
              <a:rPr lang="en-US" altLang="zh-CN" sz="2000" dirty="0"/>
              <a:t>#include &lt;sys/socket.h&gt;</a:t>
            </a:r>
            <a:endParaRPr lang="en-US" altLang="zh-CN" sz="2000" dirty="0"/>
          </a:p>
          <a:p>
            <a:pPr eaLnBrk="1" hangingPunct="1">
              <a:buNone/>
            </a:pPr>
            <a:r>
              <a:rPr lang="en-US" altLang="zh-CN" sz="2000" dirty="0"/>
              <a:t>ssize_t recv(int fd, void *buf ,size_t len, int flags);</a:t>
            </a:r>
            <a:endParaRPr lang="en-US" altLang="zh-CN" sz="2000" dirty="0"/>
          </a:p>
          <a:p>
            <a:pPr eaLnBrk="1" hangingPunct="1">
              <a:buNone/>
            </a:pPr>
            <a:r>
              <a:rPr lang="en-US" altLang="zh-CN" sz="2000" dirty="0"/>
              <a:t>             </a:t>
            </a:r>
            <a:r>
              <a:rPr lang="zh-CN" altLang="en-US" sz="2000" dirty="0"/>
              <a:t>返回：大于</a:t>
            </a:r>
            <a:r>
              <a:rPr lang="en-US" altLang="zh-CN" sz="2000" dirty="0"/>
              <a:t>0</a:t>
            </a:r>
            <a:r>
              <a:rPr lang="zh-CN" altLang="en-US" sz="2000" dirty="0"/>
              <a:t>表示成功接收的数据长度；</a:t>
            </a:r>
            <a:r>
              <a:rPr lang="en-US" altLang="zh-CN" sz="2000" dirty="0"/>
              <a:t>0: </a:t>
            </a:r>
            <a:r>
              <a:rPr lang="zh-CN" altLang="en-US" sz="2000" dirty="0"/>
              <a:t>对方已关闭，</a:t>
            </a:r>
            <a:r>
              <a:rPr lang="en-US" altLang="zh-CN" sz="2000" dirty="0"/>
              <a:t>-1:</a:t>
            </a:r>
            <a:r>
              <a:rPr lang="zh-CN" altLang="en-US" sz="2000" dirty="0"/>
              <a:t>出错。</a:t>
            </a:r>
            <a:endParaRPr lang="en-US" altLang="zh-CN" sz="2000" dirty="0"/>
          </a:p>
          <a:p>
            <a:pPr eaLnBrk="1" hangingPunct="1">
              <a:lnSpc>
                <a:spcPct val="150000"/>
              </a:lnSpc>
            </a:pPr>
            <a:r>
              <a:rPr lang="en-US" altLang="zh-CN" sz="2400" dirty="0"/>
              <a:t>flags</a:t>
            </a:r>
            <a:r>
              <a:rPr lang="zh-CN" altLang="en-US" sz="2400" dirty="0"/>
              <a:t>是传输控制标志，其值定义如下：</a:t>
            </a:r>
            <a:endParaRPr lang="zh-CN" altLang="en-US" sz="2400" dirty="0"/>
          </a:p>
          <a:p>
            <a:pPr lvl="1" eaLnBrk="1" hangingPunct="1"/>
            <a:r>
              <a:rPr lang="en-US" altLang="zh-CN" sz="2000" dirty="0"/>
              <a:t>0</a:t>
            </a:r>
            <a:r>
              <a:rPr lang="zh-CN" altLang="en-US" sz="2000" dirty="0"/>
              <a:t>：常规操作，如同</a:t>
            </a:r>
            <a:r>
              <a:rPr lang="en-US" altLang="zh-CN" sz="2000" dirty="0"/>
              <a:t>read()</a:t>
            </a:r>
            <a:r>
              <a:rPr lang="zh-CN" altLang="en-US" sz="2000" dirty="0"/>
              <a:t>函数；</a:t>
            </a:r>
            <a:endParaRPr lang="zh-CN" altLang="en-US" sz="2000" dirty="0"/>
          </a:p>
          <a:p>
            <a:pPr lvl="1" eaLnBrk="1" hangingPunct="1"/>
            <a:r>
              <a:rPr lang="en-US" altLang="zh-CN" sz="2000" dirty="0"/>
              <a:t>MSG_PEEK</a:t>
            </a:r>
            <a:r>
              <a:rPr lang="zh-CN" altLang="en-US" sz="2000" dirty="0"/>
              <a:t>：只查看数据而不读出数据，后续读操作仍然能读出所查看的该数据；</a:t>
            </a:r>
            <a:endParaRPr lang="zh-CN" altLang="en-US" sz="2000" dirty="0"/>
          </a:p>
          <a:p>
            <a:pPr lvl="1" eaLnBrk="1" hangingPunct="1"/>
            <a:r>
              <a:rPr lang="en-US" altLang="zh-CN" sz="2000" dirty="0"/>
              <a:t>MSG_OOB</a:t>
            </a:r>
            <a:r>
              <a:rPr lang="zh-CN" altLang="en-US" sz="2000" dirty="0"/>
              <a:t>：忽略常规数据，而只读带外数据；</a:t>
            </a:r>
            <a:endParaRPr lang="zh-CN" altLang="en-US" sz="2000" dirty="0"/>
          </a:p>
          <a:p>
            <a:pPr lvl="1" eaLnBrk="1" hangingPunct="1"/>
            <a:r>
              <a:rPr lang="en-US" altLang="zh-CN" sz="2000" dirty="0"/>
              <a:t>MSG_WAITALL</a:t>
            </a:r>
            <a:r>
              <a:rPr lang="zh-CN" altLang="en-US" sz="2000" dirty="0"/>
              <a:t>：</a:t>
            </a:r>
            <a:r>
              <a:rPr lang="en-US" altLang="zh-CN" sz="2000" dirty="0"/>
              <a:t>recv</a:t>
            </a:r>
            <a:r>
              <a:rPr lang="zh-CN" altLang="en-US" sz="2000" dirty="0"/>
              <a:t>函数只有在将接收缓冲区填满后才返回。</a:t>
            </a:r>
            <a:endParaRPr lang="zh-CN" altLang="en-US" sz="2000" dirty="0"/>
          </a:p>
        </p:txBody>
      </p:sp>
    </p:spTree>
  </p:cSld>
  <p:clrMapOvr>
    <a:masterClrMapping/>
  </p:clrMapOvr>
  <p:transition>
    <p:random/>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02" name="Rectangle 2"/>
          <p:cNvSpPr/>
          <p:nvPr/>
        </p:nvSpPr>
        <p:spPr>
          <a:xfrm>
            <a:off x="900113" y="1412875"/>
            <a:ext cx="2879725" cy="4968875"/>
          </a:xfrm>
          <a:prstGeom prst="rect">
            <a:avLst/>
          </a:prstGeom>
          <a:noFill/>
          <a:ln w="9525" cap="flat" cmpd="sng">
            <a:solidFill>
              <a:schemeClr val="tx1"/>
            </a:solidFill>
            <a:prstDash val="dash"/>
            <a:miter/>
            <a:headEnd type="none" w="med" len="med"/>
            <a:tailEnd type="none" w="med" len="med"/>
          </a:ln>
        </p:spPr>
        <p:txBody>
          <a:bodyPr wrap="none" anchor="ctr" anchorCtr="0"/>
          <a:p>
            <a:pPr eaLnBrk="1" hangingPunct="1"/>
            <a:endParaRPr lang="zh-CN" altLang="en-US" dirty="0">
              <a:latin typeface="Tahoma" panose="020B0604030504040204" pitchFamily="34" charset="0"/>
            </a:endParaRPr>
          </a:p>
        </p:txBody>
      </p:sp>
      <p:sp>
        <p:nvSpPr>
          <p:cNvPr id="153603" name="Rectangle 3"/>
          <p:cNvSpPr>
            <a:spLocks noGrp="1"/>
          </p:cNvSpPr>
          <p:nvPr>
            <p:ph type="title"/>
          </p:nvPr>
        </p:nvSpPr>
        <p:spPr>
          <a:xfrm>
            <a:off x="228600" y="228600"/>
            <a:ext cx="7467600" cy="762000"/>
          </a:xfrm>
        </p:spPr>
        <p:txBody>
          <a:bodyPr vert="horz" wrap="square" lIns="91440" tIns="45720" rIns="91440" bIns="45720" anchor="b" anchorCtr="0"/>
          <a:p>
            <a:pPr eaLnBrk="1" hangingPunct="1"/>
            <a:r>
              <a:rPr lang="en-US" altLang="zh-CN" dirty="0"/>
              <a:t>TCP</a:t>
            </a:r>
            <a:r>
              <a:rPr lang="zh-CN" altLang="en-US" dirty="0"/>
              <a:t>套接字编程（</a:t>
            </a:r>
            <a:r>
              <a:rPr lang="en-US" altLang="zh-CN" dirty="0"/>
              <a:t>cont.</a:t>
            </a:r>
            <a:r>
              <a:rPr lang="zh-CN" altLang="en-US" dirty="0"/>
              <a:t>）</a:t>
            </a:r>
            <a:endParaRPr lang="zh-CN" altLang="en-US" dirty="0"/>
          </a:p>
        </p:txBody>
      </p:sp>
      <p:sp>
        <p:nvSpPr>
          <p:cNvPr id="153604" name="AutoShape 4"/>
          <p:cNvSpPr/>
          <p:nvPr/>
        </p:nvSpPr>
        <p:spPr>
          <a:xfrm>
            <a:off x="1476375" y="1628775"/>
            <a:ext cx="1655763" cy="360363"/>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socket()</a:t>
            </a:r>
            <a:endParaRPr lang="en-US" altLang="zh-CN" sz="2000" b="0" dirty="0">
              <a:latin typeface="Comic Sans MS" panose="030F0702030302020204" pitchFamily="66" charset="0"/>
            </a:endParaRPr>
          </a:p>
        </p:txBody>
      </p:sp>
      <p:sp>
        <p:nvSpPr>
          <p:cNvPr id="153605" name="AutoShape 5"/>
          <p:cNvSpPr/>
          <p:nvPr/>
        </p:nvSpPr>
        <p:spPr>
          <a:xfrm>
            <a:off x="1476375" y="2205038"/>
            <a:ext cx="1655763" cy="360362"/>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bind()</a:t>
            </a:r>
            <a:endParaRPr lang="en-US" altLang="zh-CN" sz="2000" b="0" dirty="0">
              <a:latin typeface="Comic Sans MS" panose="030F0702030302020204" pitchFamily="66" charset="0"/>
            </a:endParaRPr>
          </a:p>
        </p:txBody>
      </p:sp>
      <p:sp>
        <p:nvSpPr>
          <p:cNvPr id="153606" name="AutoShape 6"/>
          <p:cNvSpPr/>
          <p:nvPr/>
        </p:nvSpPr>
        <p:spPr>
          <a:xfrm>
            <a:off x="1476375" y="2781300"/>
            <a:ext cx="1655763" cy="360363"/>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listen()</a:t>
            </a:r>
            <a:endParaRPr lang="en-US" altLang="zh-CN" sz="2000" b="0" dirty="0">
              <a:latin typeface="Comic Sans MS" panose="030F0702030302020204" pitchFamily="66" charset="0"/>
            </a:endParaRPr>
          </a:p>
        </p:txBody>
      </p:sp>
      <p:sp>
        <p:nvSpPr>
          <p:cNvPr id="153607" name="AutoShape 7"/>
          <p:cNvSpPr/>
          <p:nvPr/>
        </p:nvSpPr>
        <p:spPr>
          <a:xfrm>
            <a:off x="1476375" y="3357563"/>
            <a:ext cx="1655763" cy="360362"/>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accept()</a:t>
            </a:r>
            <a:endParaRPr lang="en-US" altLang="zh-CN" sz="2000" b="0" dirty="0">
              <a:latin typeface="Comic Sans MS" panose="030F0702030302020204" pitchFamily="66" charset="0"/>
            </a:endParaRPr>
          </a:p>
        </p:txBody>
      </p:sp>
      <p:sp>
        <p:nvSpPr>
          <p:cNvPr id="153608" name="AutoShape 8"/>
          <p:cNvSpPr/>
          <p:nvPr/>
        </p:nvSpPr>
        <p:spPr>
          <a:xfrm>
            <a:off x="1476375" y="4652963"/>
            <a:ext cx="1655763" cy="360362"/>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read()</a:t>
            </a:r>
            <a:endParaRPr lang="en-US" altLang="zh-CN" sz="2000" b="0" dirty="0">
              <a:latin typeface="Comic Sans MS" panose="030F0702030302020204" pitchFamily="66" charset="0"/>
            </a:endParaRPr>
          </a:p>
        </p:txBody>
      </p:sp>
      <p:sp>
        <p:nvSpPr>
          <p:cNvPr id="153609" name="AutoShape 9"/>
          <p:cNvSpPr/>
          <p:nvPr/>
        </p:nvSpPr>
        <p:spPr>
          <a:xfrm>
            <a:off x="1476375" y="5229225"/>
            <a:ext cx="1655763" cy="360363"/>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write()</a:t>
            </a:r>
            <a:endParaRPr lang="en-US" altLang="zh-CN" sz="2000" b="0" dirty="0">
              <a:latin typeface="Comic Sans MS" panose="030F0702030302020204" pitchFamily="66" charset="0"/>
            </a:endParaRPr>
          </a:p>
        </p:txBody>
      </p:sp>
      <p:sp>
        <p:nvSpPr>
          <p:cNvPr id="153610" name="AutoShape 10"/>
          <p:cNvSpPr/>
          <p:nvPr/>
        </p:nvSpPr>
        <p:spPr>
          <a:xfrm>
            <a:off x="1476375" y="5805488"/>
            <a:ext cx="1655763" cy="360362"/>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close()</a:t>
            </a:r>
            <a:endParaRPr lang="en-US" altLang="zh-CN" sz="2000" b="0" dirty="0">
              <a:latin typeface="Comic Sans MS" panose="030F0702030302020204" pitchFamily="66" charset="0"/>
            </a:endParaRPr>
          </a:p>
        </p:txBody>
      </p:sp>
      <p:sp>
        <p:nvSpPr>
          <p:cNvPr id="153611" name="Line 11"/>
          <p:cNvSpPr/>
          <p:nvPr/>
        </p:nvSpPr>
        <p:spPr>
          <a:xfrm>
            <a:off x="2268538" y="1268413"/>
            <a:ext cx="0" cy="360362"/>
          </a:xfrm>
          <a:prstGeom prst="line">
            <a:avLst/>
          </a:prstGeom>
          <a:ln w="9525" cap="flat" cmpd="sng">
            <a:solidFill>
              <a:schemeClr val="hlink"/>
            </a:solidFill>
            <a:prstDash val="solid"/>
            <a:headEnd type="none" w="med" len="med"/>
            <a:tailEnd type="triangle" w="med" len="med"/>
          </a:ln>
        </p:spPr>
      </p:sp>
      <p:sp>
        <p:nvSpPr>
          <p:cNvPr id="153612" name="Line 12"/>
          <p:cNvSpPr/>
          <p:nvPr/>
        </p:nvSpPr>
        <p:spPr>
          <a:xfrm>
            <a:off x="2268538" y="1989138"/>
            <a:ext cx="0" cy="215900"/>
          </a:xfrm>
          <a:prstGeom prst="line">
            <a:avLst/>
          </a:prstGeom>
          <a:ln w="9525" cap="flat" cmpd="sng">
            <a:solidFill>
              <a:schemeClr val="hlink"/>
            </a:solidFill>
            <a:prstDash val="solid"/>
            <a:headEnd type="none" w="med" len="med"/>
            <a:tailEnd type="triangle" w="med" len="med"/>
          </a:ln>
        </p:spPr>
      </p:sp>
      <p:sp>
        <p:nvSpPr>
          <p:cNvPr id="153613" name="Line 13"/>
          <p:cNvSpPr/>
          <p:nvPr/>
        </p:nvSpPr>
        <p:spPr>
          <a:xfrm>
            <a:off x="2268538" y="2565400"/>
            <a:ext cx="0" cy="215900"/>
          </a:xfrm>
          <a:prstGeom prst="line">
            <a:avLst/>
          </a:prstGeom>
          <a:ln w="9525" cap="flat" cmpd="sng">
            <a:solidFill>
              <a:schemeClr val="hlink"/>
            </a:solidFill>
            <a:prstDash val="solid"/>
            <a:headEnd type="none" w="med" len="med"/>
            <a:tailEnd type="triangle" w="med" len="med"/>
          </a:ln>
        </p:spPr>
      </p:sp>
      <p:sp>
        <p:nvSpPr>
          <p:cNvPr id="153614" name="Line 14"/>
          <p:cNvSpPr/>
          <p:nvPr/>
        </p:nvSpPr>
        <p:spPr>
          <a:xfrm>
            <a:off x="2268538" y="3141663"/>
            <a:ext cx="0" cy="215900"/>
          </a:xfrm>
          <a:prstGeom prst="line">
            <a:avLst/>
          </a:prstGeom>
          <a:ln w="9525" cap="flat" cmpd="sng">
            <a:solidFill>
              <a:schemeClr val="hlink"/>
            </a:solidFill>
            <a:prstDash val="solid"/>
            <a:headEnd type="none" w="med" len="med"/>
            <a:tailEnd type="triangle" w="med" len="med"/>
          </a:ln>
        </p:spPr>
      </p:sp>
      <p:sp>
        <p:nvSpPr>
          <p:cNvPr id="153615" name="Line 15"/>
          <p:cNvSpPr/>
          <p:nvPr/>
        </p:nvSpPr>
        <p:spPr>
          <a:xfrm>
            <a:off x="2268538" y="3716338"/>
            <a:ext cx="0" cy="936625"/>
          </a:xfrm>
          <a:prstGeom prst="line">
            <a:avLst/>
          </a:prstGeom>
          <a:ln w="9525" cap="flat" cmpd="sng">
            <a:solidFill>
              <a:schemeClr val="hlink"/>
            </a:solidFill>
            <a:prstDash val="dash"/>
            <a:headEnd type="none" w="med" len="med"/>
            <a:tailEnd type="triangle" w="med" len="med"/>
          </a:ln>
        </p:spPr>
      </p:sp>
      <p:sp>
        <p:nvSpPr>
          <p:cNvPr id="153616" name="Line 16"/>
          <p:cNvSpPr/>
          <p:nvPr/>
        </p:nvSpPr>
        <p:spPr>
          <a:xfrm>
            <a:off x="2268538" y="5013325"/>
            <a:ext cx="0" cy="215900"/>
          </a:xfrm>
          <a:prstGeom prst="line">
            <a:avLst/>
          </a:prstGeom>
          <a:ln w="9525" cap="flat" cmpd="sng">
            <a:solidFill>
              <a:schemeClr val="hlink"/>
            </a:solidFill>
            <a:prstDash val="solid"/>
            <a:headEnd type="none" w="med" len="med"/>
            <a:tailEnd type="triangle" w="med" len="med"/>
          </a:ln>
        </p:spPr>
      </p:sp>
      <p:sp>
        <p:nvSpPr>
          <p:cNvPr id="153617" name="Line 17"/>
          <p:cNvSpPr/>
          <p:nvPr/>
        </p:nvSpPr>
        <p:spPr>
          <a:xfrm>
            <a:off x="2268538" y="5589588"/>
            <a:ext cx="0" cy="215900"/>
          </a:xfrm>
          <a:prstGeom prst="line">
            <a:avLst/>
          </a:prstGeom>
          <a:ln w="9525" cap="flat" cmpd="sng">
            <a:solidFill>
              <a:schemeClr val="hlink"/>
            </a:solidFill>
            <a:prstDash val="solid"/>
            <a:headEnd type="none" w="med" len="med"/>
            <a:tailEnd type="triangle" w="med" len="med"/>
          </a:ln>
        </p:spPr>
      </p:sp>
      <p:sp>
        <p:nvSpPr>
          <p:cNvPr id="153618" name="Line 18"/>
          <p:cNvSpPr/>
          <p:nvPr/>
        </p:nvSpPr>
        <p:spPr>
          <a:xfrm flipH="1">
            <a:off x="1187450" y="5661025"/>
            <a:ext cx="1081088" cy="0"/>
          </a:xfrm>
          <a:prstGeom prst="line">
            <a:avLst/>
          </a:prstGeom>
          <a:ln w="9525" cap="flat" cmpd="sng">
            <a:solidFill>
              <a:schemeClr val="tx1"/>
            </a:solidFill>
            <a:prstDash val="solid"/>
            <a:headEnd type="none" w="med" len="med"/>
            <a:tailEnd type="none" w="med" len="med"/>
          </a:ln>
        </p:spPr>
      </p:sp>
      <p:sp>
        <p:nvSpPr>
          <p:cNvPr id="153619" name="Line 19"/>
          <p:cNvSpPr/>
          <p:nvPr/>
        </p:nvSpPr>
        <p:spPr>
          <a:xfrm flipV="1">
            <a:off x="1187450" y="4437063"/>
            <a:ext cx="0" cy="1223962"/>
          </a:xfrm>
          <a:prstGeom prst="line">
            <a:avLst/>
          </a:prstGeom>
          <a:ln w="9525" cap="flat" cmpd="sng">
            <a:solidFill>
              <a:schemeClr val="tx1"/>
            </a:solidFill>
            <a:prstDash val="solid"/>
            <a:headEnd type="none" w="med" len="med"/>
            <a:tailEnd type="none" w="med" len="med"/>
          </a:ln>
        </p:spPr>
      </p:sp>
      <p:sp>
        <p:nvSpPr>
          <p:cNvPr id="153620" name="Line 20"/>
          <p:cNvSpPr/>
          <p:nvPr/>
        </p:nvSpPr>
        <p:spPr>
          <a:xfrm>
            <a:off x="1187450" y="4437063"/>
            <a:ext cx="1081088" cy="0"/>
          </a:xfrm>
          <a:prstGeom prst="line">
            <a:avLst/>
          </a:prstGeom>
          <a:ln w="9525" cap="flat" cmpd="sng">
            <a:solidFill>
              <a:schemeClr val="tx1"/>
            </a:solidFill>
            <a:prstDash val="solid"/>
            <a:headEnd type="none" w="med" len="med"/>
            <a:tailEnd type="triangle" w="med" len="med"/>
          </a:ln>
        </p:spPr>
      </p:sp>
      <p:sp>
        <p:nvSpPr>
          <p:cNvPr id="153621" name="AutoShape 21"/>
          <p:cNvSpPr/>
          <p:nvPr/>
        </p:nvSpPr>
        <p:spPr>
          <a:xfrm>
            <a:off x="5724525" y="3500438"/>
            <a:ext cx="1655763" cy="360362"/>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socket()</a:t>
            </a:r>
            <a:endParaRPr lang="en-US" altLang="zh-CN" sz="2000" b="0" dirty="0">
              <a:latin typeface="Comic Sans MS" panose="030F0702030302020204" pitchFamily="66" charset="0"/>
            </a:endParaRPr>
          </a:p>
        </p:txBody>
      </p:sp>
      <p:sp>
        <p:nvSpPr>
          <p:cNvPr id="153622" name="AutoShape 22"/>
          <p:cNvSpPr/>
          <p:nvPr/>
        </p:nvSpPr>
        <p:spPr>
          <a:xfrm>
            <a:off x="5724525" y="4076700"/>
            <a:ext cx="1655763" cy="360363"/>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connect()</a:t>
            </a:r>
            <a:endParaRPr lang="en-US" altLang="zh-CN" sz="2000" b="0" dirty="0">
              <a:latin typeface="Comic Sans MS" panose="030F0702030302020204" pitchFamily="66" charset="0"/>
            </a:endParaRPr>
          </a:p>
        </p:txBody>
      </p:sp>
      <p:sp>
        <p:nvSpPr>
          <p:cNvPr id="153623" name="AutoShape 23"/>
          <p:cNvSpPr/>
          <p:nvPr/>
        </p:nvSpPr>
        <p:spPr>
          <a:xfrm>
            <a:off x="5724525" y="4652963"/>
            <a:ext cx="1655763" cy="360362"/>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write()</a:t>
            </a:r>
            <a:endParaRPr lang="en-US" altLang="zh-CN" sz="2000" b="0" dirty="0">
              <a:latin typeface="Comic Sans MS" panose="030F0702030302020204" pitchFamily="66" charset="0"/>
            </a:endParaRPr>
          </a:p>
        </p:txBody>
      </p:sp>
      <p:sp>
        <p:nvSpPr>
          <p:cNvPr id="153624" name="AutoShape 24"/>
          <p:cNvSpPr/>
          <p:nvPr/>
        </p:nvSpPr>
        <p:spPr>
          <a:xfrm>
            <a:off x="5724525" y="5229225"/>
            <a:ext cx="1655763" cy="360363"/>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read()</a:t>
            </a:r>
            <a:endParaRPr lang="en-US" altLang="zh-CN" sz="2000" b="0" dirty="0">
              <a:latin typeface="Comic Sans MS" panose="030F0702030302020204" pitchFamily="66" charset="0"/>
            </a:endParaRPr>
          </a:p>
        </p:txBody>
      </p:sp>
      <p:sp>
        <p:nvSpPr>
          <p:cNvPr id="153625" name="AutoShape 25"/>
          <p:cNvSpPr/>
          <p:nvPr/>
        </p:nvSpPr>
        <p:spPr>
          <a:xfrm>
            <a:off x="5724525" y="5805488"/>
            <a:ext cx="1655763" cy="360362"/>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close()</a:t>
            </a:r>
            <a:endParaRPr lang="en-US" altLang="zh-CN" sz="2000" b="0" dirty="0">
              <a:latin typeface="Comic Sans MS" panose="030F0702030302020204" pitchFamily="66" charset="0"/>
            </a:endParaRPr>
          </a:p>
        </p:txBody>
      </p:sp>
      <p:sp>
        <p:nvSpPr>
          <p:cNvPr id="153626" name="Line 26"/>
          <p:cNvSpPr/>
          <p:nvPr/>
        </p:nvSpPr>
        <p:spPr>
          <a:xfrm>
            <a:off x="6516688" y="3860800"/>
            <a:ext cx="0" cy="215900"/>
          </a:xfrm>
          <a:prstGeom prst="line">
            <a:avLst/>
          </a:prstGeom>
          <a:ln w="9525" cap="flat" cmpd="sng">
            <a:solidFill>
              <a:schemeClr val="hlink"/>
            </a:solidFill>
            <a:prstDash val="solid"/>
            <a:headEnd type="none" w="med" len="med"/>
            <a:tailEnd type="triangle" w="med" len="med"/>
          </a:ln>
        </p:spPr>
      </p:sp>
      <p:sp>
        <p:nvSpPr>
          <p:cNvPr id="153627" name="Line 27"/>
          <p:cNvSpPr/>
          <p:nvPr/>
        </p:nvSpPr>
        <p:spPr>
          <a:xfrm>
            <a:off x="6516688" y="4437063"/>
            <a:ext cx="0" cy="215900"/>
          </a:xfrm>
          <a:prstGeom prst="line">
            <a:avLst/>
          </a:prstGeom>
          <a:ln w="9525" cap="flat" cmpd="sng">
            <a:solidFill>
              <a:schemeClr val="hlink"/>
            </a:solidFill>
            <a:prstDash val="solid"/>
            <a:headEnd type="none" w="med" len="med"/>
            <a:tailEnd type="triangle" w="med" len="med"/>
          </a:ln>
        </p:spPr>
      </p:sp>
      <p:sp>
        <p:nvSpPr>
          <p:cNvPr id="153628" name="Line 28"/>
          <p:cNvSpPr/>
          <p:nvPr/>
        </p:nvSpPr>
        <p:spPr>
          <a:xfrm>
            <a:off x="6516688" y="5013325"/>
            <a:ext cx="0" cy="215900"/>
          </a:xfrm>
          <a:prstGeom prst="line">
            <a:avLst/>
          </a:prstGeom>
          <a:ln w="9525" cap="flat" cmpd="sng">
            <a:solidFill>
              <a:schemeClr val="hlink"/>
            </a:solidFill>
            <a:prstDash val="solid"/>
            <a:headEnd type="none" w="med" len="med"/>
            <a:tailEnd type="triangle" w="med" len="med"/>
          </a:ln>
        </p:spPr>
      </p:sp>
      <p:sp>
        <p:nvSpPr>
          <p:cNvPr id="153629" name="Line 29"/>
          <p:cNvSpPr/>
          <p:nvPr/>
        </p:nvSpPr>
        <p:spPr>
          <a:xfrm>
            <a:off x="6516688" y="5589588"/>
            <a:ext cx="0" cy="215900"/>
          </a:xfrm>
          <a:prstGeom prst="line">
            <a:avLst/>
          </a:prstGeom>
          <a:ln w="9525" cap="flat" cmpd="sng">
            <a:solidFill>
              <a:schemeClr val="hlink"/>
            </a:solidFill>
            <a:prstDash val="solid"/>
            <a:headEnd type="none" w="med" len="med"/>
            <a:tailEnd type="triangle" w="med" len="med"/>
          </a:ln>
        </p:spPr>
      </p:sp>
      <p:sp>
        <p:nvSpPr>
          <p:cNvPr id="153630" name="Text Box 30"/>
          <p:cNvSpPr txBox="1"/>
          <p:nvPr/>
        </p:nvSpPr>
        <p:spPr>
          <a:xfrm>
            <a:off x="2206625" y="3860800"/>
            <a:ext cx="1428750" cy="517525"/>
          </a:xfrm>
          <a:prstGeom prst="rect">
            <a:avLst/>
          </a:prstGeom>
          <a:noFill/>
          <a:ln w="9525">
            <a:noFill/>
          </a:ln>
        </p:spPr>
        <p:txBody>
          <a:bodyPr wrap="none">
            <a:spAutoFit/>
          </a:bodyPr>
          <a:p>
            <a:pPr eaLnBrk="1" hangingPunct="1"/>
            <a:r>
              <a:rPr lang="zh-CN" altLang="en-US" sz="1400" b="0" dirty="0">
                <a:latin typeface="Arial" panose="020B0604020202020204" pitchFamily="34" charset="0"/>
              </a:rPr>
              <a:t>阻塞直到接收</a:t>
            </a:r>
            <a:endParaRPr lang="zh-CN" altLang="en-US" sz="1400" b="0" dirty="0">
              <a:latin typeface="Arial" panose="020B0604020202020204" pitchFamily="34" charset="0"/>
            </a:endParaRPr>
          </a:p>
          <a:p>
            <a:pPr eaLnBrk="1" hangingPunct="1"/>
            <a:r>
              <a:rPr lang="zh-CN" altLang="en-US" sz="1400" b="0" dirty="0">
                <a:latin typeface="Arial" panose="020B0604020202020204" pitchFamily="34" charset="0"/>
              </a:rPr>
              <a:t>到客户连接请求</a:t>
            </a:r>
            <a:endParaRPr lang="zh-CN" altLang="en-US" sz="1400" b="0" dirty="0">
              <a:latin typeface="Arial" panose="020B0604020202020204" pitchFamily="34" charset="0"/>
            </a:endParaRPr>
          </a:p>
        </p:txBody>
      </p:sp>
      <p:sp>
        <p:nvSpPr>
          <p:cNvPr id="153631" name="Line 31"/>
          <p:cNvSpPr/>
          <p:nvPr/>
        </p:nvSpPr>
        <p:spPr>
          <a:xfrm>
            <a:off x="6516688" y="3141663"/>
            <a:ext cx="0" cy="360362"/>
          </a:xfrm>
          <a:prstGeom prst="line">
            <a:avLst/>
          </a:prstGeom>
          <a:ln w="9525" cap="flat" cmpd="sng">
            <a:solidFill>
              <a:schemeClr val="hlink"/>
            </a:solidFill>
            <a:prstDash val="solid"/>
            <a:headEnd type="none" w="med" len="med"/>
            <a:tailEnd type="triangle" w="med" len="med"/>
          </a:ln>
        </p:spPr>
      </p:sp>
      <p:sp>
        <p:nvSpPr>
          <p:cNvPr id="153632" name="Rectangle 32"/>
          <p:cNvSpPr/>
          <p:nvPr/>
        </p:nvSpPr>
        <p:spPr>
          <a:xfrm>
            <a:off x="5435600" y="2924175"/>
            <a:ext cx="2232025" cy="3457575"/>
          </a:xfrm>
          <a:prstGeom prst="rect">
            <a:avLst/>
          </a:prstGeom>
          <a:noFill/>
          <a:ln w="9525" cap="flat" cmpd="sng">
            <a:solidFill>
              <a:schemeClr val="tx1"/>
            </a:solidFill>
            <a:prstDash val="dash"/>
            <a:miter/>
            <a:headEnd type="none" w="med" len="med"/>
            <a:tailEnd type="none" w="med" len="med"/>
          </a:ln>
        </p:spPr>
        <p:txBody>
          <a:bodyPr wrap="none" anchor="ctr" anchorCtr="0"/>
          <a:p>
            <a:pPr eaLnBrk="1" hangingPunct="1"/>
            <a:endParaRPr lang="zh-CN" altLang="en-US" dirty="0">
              <a:latin typeface="Tahoma" panose="020B0604030504040204" pitchFamily="34" charset="0"/>
            </a:endParaRPr>
          </a:p>
        </p:txBody>
      </p:sp>
      <p:sp>
        <p:nvSpPr>
          <p:cNvPr id="153633" name="Line 33"/>
          <p:cNvSpPr/>
          <p:nvPr/>
        </p:nvSpPr>
        <p:spPr>
          <a:xfrm>
            <a:off x="3563938" y="4221163"/>
            <a:ext cx="2160587" cy="0"/>
          </a:xfrm>
          <a:prstGeom prst="line">
            <a:avLst/>
          </a:prstGeom>
          <a:ln w="9525" cap="flat" cmpd="sng">
            <a:solidFill>
              <a:schemeClr val="tx1"/>
            </a:solidFill>
            <a:prstDash val="solid"/>
            <a:headEnd type="triangle" w="med" len="med"/>
            <a:tailEnd type="triangle" w="med" len="med"/>
          </a:ln>
        </p:spPr>
      </p:sp>
      <p:sp>
        <p:nvSpPr>
          <p:cNvPr id="153634" name="Line 34"/>
          <p:cNvSpPr/>
          <p:nvPr/>
        </p:nvSpPr>
        <p:spPr>
          <a:xfrm>
            <a:off x="3203575" y="4868863"/>
            <a:ext cx="2449513" cy="0"/>
          </a:xfrm>
          <a:prstGeom prst="line">
            <a:avLst/>
          </a:prstGeom>
          <a:ln w="9525" cap="flat" cmpd="sng">
            <a:solidFill>
              <a:schemeClr val="tx1"/>
            </a:solidFill>
            <a:prstDash val="solid"/>
            <a:headEnd type="triangle" w="med" len="med"/>
            <a:tailEnd type="triangle" w="med" len="med"/>
          </a:ln>
        </p:spPr>
      </p:sp>
      <p:sp>
        <p:nvSpPr>
          <p:cNvPr id="153635" name="Line 35"/>
          <p:cNvSpPr/>
          <p:nvPr/>
        </p:nvSpPr>
        <p:spPr>
          <a:xfrm>
            <a:off x="3203575" y="5373688"/>
            <a:ext cx="2449513" cy="0"/>
          </a:xfrm>
          <a:prstGeom prst="line">
            <a:avLst/>
          </a:prstGeom>
          <a:ln w="9525" cap="flat" cmpd="sng">
            <a:solidFill>
              <a:schemeClr val="tx1"/>
            </a:solidFill>
            <a:prstDash val="solid"/>
            <a:headEnd type="triangle" w="med" len="med"/>
            <a:tailEnd type="triangle" w="med" len="med"/>
          </a:ln>
        </p:spPr>
      </p:sp>
      <p:sp>
        <p:nvSpPr>
          <p:cNvPr id="153636" name="Line 36"/>
          <p:cNvSpPr/>
          <p:nvPr/>
        </p:nvSpPr>
        <p:spPr>
          <a:xfrm>
            <a:off x="3203575" y="6021388"/>
            <a:ext cx="2449513" cy="0"/>
          </a:xfrm>
          <a:prstGeom prst="line">
            <a:avLst/>
          </a:prstGeom>
          <a:ln w="9525" cap="flat" cmpd="sng">
            <a:solidFill>
              <a:schemeClr val="tx1"/>
            </a:solidFill>
            <a:prstDash val="solid"/>
            <a:headEnd type="triangle" w="med" len="med"/>
            <a:tailEnd type="triangle" w="med" len="med"/>
          </a:ln>
        </p:spPr>
      </p:sp>
      <p:sp>
        <p:nvSpPr>
          <p:cNvPr id="153637" name="Text Box 37"/>
          <p:cNvSpPr txBox="1"/>
          <p:nvPr/>
        </p:nvSpPr>
        <p:spPr>
          <a:xfrm>
            <a:off x="323850" y="2159000"/>
            <a:ext cx="458788" cy="1463675"/>
          </a:xfrm>
          <a:prstGeom prst="rect">
            <a:avLst/>
          </a:prstGeom>
          <a:noFill/>
          <a:ln w="9525">
            <a:noFill/>
          </a:ln>
        </p:spPr>
        <p:txBody>
          <a:bodyPr vert="eaVert" wrap="none">
            <a:spAutoFit/>
          </a:bodyPr>
          <a:p>
            <a:pPr eaLnBrk="1" hangingPunct="1"/>
            <a:r>
              <a:rPr lang="en-US" altLang="zh-CN" sz="1800" b="0" dirty="0">
                <a:latin typeface="Arial" panose="020B0604020202020204" pitchFamily="34" charset="0"/>
              </a:rPr>
              <a:t>TCP</a:t>
            </a:r>
            <a:r>
              <a:rPr lang="zh-CN" altLang="en-US" sz="1800" b="0" dirty="0">
                <a:latin typeface="Arial" panose="020B0604020202020204" pitchFamily="34" charset="0"/>
              </a:rPr>
              <a:t>服务器端</a:t>
            </a:r>
            <a:endParaRPr lang="zh-CN" altLang="en-US" sz="1800" b="0" dirty="0">
              <a:latin typeface="Arial" panose="020B0604020202020204" pitchFamily="34" charset="0"/>
            </a:endParaRPr>
          </a:p>
        </p:txBody>
      </p:sp>
      <p:sp>
        <p:nvSpPr>
          <p:cNvPr id="153638" name="Text Box 38"/>
          <p:cNvSpPr txBox="1"/>
          <p:nvPr/>
        </p:nvSpPr>
        <p:spPr>
          <a:xfrm>
            <a:off x="7885113" y="3573463"/>
            <a:ext cx="458787" cy="1235075"/>
          </a:xfrm>
          <a:prstGeom prst="rect">
            <a:avLst/>
          </a:prstGeom>
          <a:noFill/>
          <a:ln w="9525">
            <a:noFill/>
          </a:ln>
        </p:spPr>
        <p:txBody>
          <a:bodyPr vert="eaVert" wrap="none">
            <a:spAutoFit/>
          </a:bodyPr>
          <a:p>
            <a:pPr eaLnBrk="1" hangingPunct="1"/>
            <a:r>
              <a:rPr lang="en-US" altLang="zh-CN" sz="1800" b="0" dirty="0">
                <a:latin typeface="Arial" panose="020B0604020202020204" pitchFamily="34" charset="0"/>
              </a:rPr>
              <a:t>TCP</a:t>
            </a:r>
            <a:r>
              <a:rPr lang="zh-CN" altLang="en-US" sz="1800" b="0" dirty="0">
                <a:latin typeface="Arial" panose="020B0604020202020204" pitchFamily="34" charset="0"/>
              </a:rPr>
              <a:t>客户端</a:t>
            </a:r>
            <a:endParaRPr lang="zh-CN" altLang="en-US" sz="1800" b="0" dirty="0">
              <a:latin typeface="Arial" panose="020B0604020202020204" pitchFamily="34" charset="0"/>
            </a:endParaRPr>
          </a:p>
        </p:txBody>
      </p:sp>
    </p:spTree>
  </p:cSld>
  <p:clrMapOvr>
    <a:masterClrMapping/>
  </p:clrMapOvr>
  <p:transition>
    <p:random/>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5650" name="Rectangle 2"/>
          <p:cNvSpPr>
            <a:spLocks noGrp="1"/>
          </p:cNvSpPr>
          <p:nvPr>
            <p:ph type="title"/>
          </p:nvPr>
        </p:nvSpPr>
        <p:spPr>
          <a:xfrm>
            <a:off x="395288" y="549275"/>
            <a:ext cx="8577262" cy="762000"/>
          </a:xfrm>
        </p:spPr>
        <p:txBody>
          <a:bodyPr vert="horz" wrap="square" lIns="91440" tIns="45720" rIns="91440" bIns="45720" anchor="b" anchorCtr="0"/>
          <a:p>
            <a:pPr eaLnBrk="1" hangingPunct="1"/>
            <a:r>
              <a:rPr lang="zh-CN" altLang="en-US" dirty="0"/>
              <a:t>域名解析函数－</a:t>
            </a:r>
            <a:r>
              <a:rPr lang="en-US" altLang="zh-CN" dirty="0"/>
              <a:t>gethostbyname</a:t>
            </a:r>
            <a:endParaRPr lang="en-US" altLang="zh-CN" dirty="0"/>
          </a:p>
        </p:txBody>
      </p:sp>
      <p:sp>
        <p:nvSpPr>
          <p:cNvPr id="155651" name="Rectangle 3"/>
          <p:cNvSpPr>
            <a:spLocks noGrp="1"/>
          </p:cNvSpPr>
          <p:nvPr>
            <p:ph idx="1"/>
          </p:nvPr>
        </p:nvSpPr>
        <p:spPr>
          <a:xfrm>
            <a:off x="304800" y="1962150"/>
            <a:ext cx="8540750" cy="4895850"/>
          </a:xfrm>
        </p:spPr>
        <p:txBody>
          <a:bodyPr vert="horz" wrap="square" lIns="91440" tIns="45720" rIns="91440" bIns="45720" anchor="t" anchorCtr="0"/>
          <a:p>
            <a:pPr eaLnBrk="1" hangingPunct="1">
              <a:lnSpc>
                <a:spcPct val="90000"/>
              </a:lnSpc>
              <a:buNone/>
            </a:pPr>
            <a:r>
              <a:rPr lang="en-US" altLang="zh-CN" sz="2400" dirty="0"/>
              <a:t>#include &lt;netdb.h&gt;</a:t>
            </a:r>
            <a:endParaRPr lang="en-US" altLang="zh-CN" sz="2400" dirty="0"/>
          </a:p>
          <a:p>
            <a:pPr eaLnBrk="1" hangingPunct="1">
              <a:lnSpc>
                <a:spcPct val="90000"/>
              </a:lnSpc>
              <a:buNone/>
            </a:pPr>
            <a:r>
              <a:rPr lang="en-US" altLang="zh-CN" sz="2400" dirty="0"/>
              <a:t>struct hostent *gethostbyname(const char *hostname)</a:t>
            </a:r>
            <a:endParaRPr lang="en-US" altLang="zh-CN" sz="2400" dirty="0"/>
          </a:p>
          <a:p>
            <a:pPr eaLnBrk="1" hangingPunct="1">
              <a:lnSpc>
                <a:spcPct val="90000"/>
              </a:lnSpc>
              <a:buNone/>
            </a:pPr>
            <a:r>
              <a:rPr lang="en-US" altLang="zh-CN" sz="2400" dirty="0"/>
              <a:t>     </a:t>
            </a:r>
            <a:r>
              <a:rPr lang="zh-CN" altLang="en-US" sz="2400" dirty="0"/>
              <a:t>返回：非空指针－成功；空指针－出错，同时设置</a:t>
            </a:r>
            <a:r>
              <a:rPr lang="en-US" altLang="zh-CN" sz="2400" dirty="0"/>
              <a:t>h_error</a:t>
            </a:r>
            <a:endParaRPr lang="en-US" altLang="zh-CN" sz="2400" dirty="0"/>
          </a:p>
          <a:p>
            <a:pPr eaLnBrk="1" hangingPunct="1">
              <a:lnSpc>
                <a:spcPct val="90000"/>
              </a:lnSpc>
            </a:pPr>
            <a:endParaRPr lang="en-US" altLang="zh-CN" sz="2400" dirty="0"/>
          </a:p>
          <a:p>
            <a:pPr eaLnBrk="1" hangingPunct="1">
              <a:lnSpc>
                <a:spcPct val="90000"/>
              </a:lnSpc>
            </a:pPr>
            <a:r>
              <a:rPr lang="zh-CN" altLang="en-US" sz="2800" dirty="0"/>
              <a:t>该函数既可解析</a:t>
            </a:r>
            <a:r>
              <a:rPr lang="en-US" altLang="zh-CN" sz="2800" dirty="0"/>
              <a:t>IPv4</a:t>
            </a:r>
            <a:r>
              <a:rPr lang="zh-CN" altLang="en-US" sz="2800" dirty="0"/>
              <a:t>地址，也可解析</a:t>
            </a:r>
            <a:r>
              <a:rPr lang="en-US" altLang="zh-CN" sz="2800" dirty="0"/>
              <a:t>IPv6</a:t>
            </a:r>
            <a:r>
              <a:rPr lang="zh-CN" altLang="en-US" sz="2800" dirty="0"/>
              <a:t>地址；</a:t>
            </a:r>
            <a:endParaRPr lang="zh-CN" altLang="en-US" sz="2800" dirty="0"/>
          </a:p>
          <a:p>
            <a:pPr eaLnBrk="1" hangingPunct="1">
              <a:lnSpc>
                <a:spcPct val="90000"/>
              </a:lnSpc>
            </a:pPr>
            <a:r>
              <a:rPr lang="zh-CN" altLang="en-US" sz="2800" dirty="0"/>
              <a:t>该函数既可接收域名，也可接收点分十进制参数</a:t>
            </a:r>
            <a:endParaRPr lang="zh-CN" altLang="en-US" sz="2800" dirty="0"/>
          </a:p>
          <a:p>
            <a:pPr eaLnBrk="1" hangingPunct="1">
              <a:lnSpc>
                <a:spcPct val="90000"/>
              </a:lnSpc>
            </a:pPr>
            <a:r>
              <a:rPr lang="zh-CN" altLang="en-US" sz="2800" dirty="0"/>
              <a:t>当</a:t>
            </a:r>
            <a:r>
              <a:rPr lang="en-US" altLang="zh-CN" sz="2800" dirty="0"/>
              <a:t>hostname</a:t>
            </a:r>
            <a:r>
              <a:rPr lang="zh-CN" altLang="en-US" sz="2800" dirty="0"/>
              <a:t>为点分十进制时，函数并不执行网络查询，而是直接将其拷贝到结果字段中。</a:t>
            </a:r>
            <a:endParaRPr lang="zh-CN" altLang="en-US" sz="2800" dirty="0"/>
          </a:p>
          <a:p>
            <a:pPr eaLnBrk="1" hangingPunct="1">
              <a:lnSpc>
                <a:spcPct val="90000"/>
              </a:lnSpc>
            </a:pPr>
            <a:r>
              <a:rPr lang="zh-CN" altLang="en-US" sz="2800" dirty="0"/>
              <a:t>此函数返回的非空指针指向下面的</a:t>
            </a:r>
            <a:r>
              <a:rPr lang="en-US" altLang="zh-CN" sz="2800" dirty="0"/>
              <a:t>hostent</a:t>
            </a:r>
            <a:r>
              <a:rPr lang="zh-CN" altLang="en-US" sz="2800" dirty="0"/>
              <a:t>结构</a:t>
            </a:r>
            <a:endParaRPr lang="zh-CN" altLang="en-US" sz="2800" dirty="0"/>
          </a:p>
        </p:txBody>
      </p:sp>
    </p:spTree>
  </p:cSld>
  <p:clrMapOvr>
    <a:masterClrMapping/>
  </p:clrMapOvr>
  <p:transition>
    <p:random/>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6674" name="Rectangle 2"/>
          <p:cNvSpPr>
            <a:spLocks noGrp="1"/>
          </p:cNvSpPr>
          <p:nvPr>
            <p:ph type="title"/>
          </p:nvPr>
        </p:nvSpPr>
        <p:spPr>
          <a:xfrm>
            <a:off x="1236663" y="641350"/>
            <a:ext cx="7707312" cy="484188"/>
          </a:xfrm>
        </p:spPr>
        <p:txBody>
          <a:bodyPr vert="horz" wrap="square" lIns="91440" tIns="45720" rIns="91440" bIns="45720" anchor="b" anchorCtr="0"/>
          <a:p>
            <a:pPr eaLnBrk="1" hangingPunct="1"/>
            <a:r>
              <a:rPr lang="zh-CN" altLang="en-US" dirty="0"/>
              <a:t>结构</a:t>
            </a:r>
            <a:r>
              <a:rPr lang="en-US" altLang="zh-CN" dirty="0"/>
              <a:t>hostent</a:t>
            </a:r>
            <a:endParaRPr lang="en-US" altLang="zh-CN" dirty="0"/>
          </a:p>
        </p:txBody>
      </p:sp>
      <p:sp>
        <p:nvSpPr>
          <p:cNvPr id="156675" name="Rectangle 3"/>
          <p:cNvSpPr>
            <a:spLocks noGrp="1"/>
          </p:cNvSpPr>
          <p:nvPr>
            <p:ph idx="1"/>
          </p:nvPr>
        </p:nvSpPr>
        <p:spPr>
          <a:xfrm>
            <a:off x="395288" y="1125538"/>
            <a:ext cx="8348662" cy="5732462"/>
          </a:xfrm>
          <a:solidFill>
            <a:schemeClr val="bg1">
              <a:alpha val="100000"/>
            </a:schemeClr>
          </a:solidFill>
        </p:spPr>
        <p:txBody>
          <a:bodyPr vert="horz" wrap="square" lIns="91440" tIns="45720" rIns="91440" bIns="45720" anchor="t" anchorCtr="0"/>
          <a:p>
            <a:pPr eaLnBrk="1" hangingPunct="1">
              <a:lnSpc>
                <a:spcPct val="120000"/>
              </a:lnSpc>
              <a:buNone/>
            </a:pPr>
            <a:r>
              <a:rPr lang="en-US" altLang="zh-CN" sz="2000" dirty="0"/>
              <a:t>struct hostent {</a:t>
            </a:r>
            <a:endParaRPr lang="en-US" altLang="zh-CN" sz="2000" dirty="0"/>
          </a:p>
          <a:p>
            <a:pPr eaLnBrk="1" hangingPunct="1">
              <a:lnSpc>
                <a:spcPct val="120000"/>
              </a:lnSpc>
              <a:buNone/>
            </a:pPr>
            <a:r>
              <a:rPr lang="en-US" altLang="zh-CN" sz="2000" dirty="0"/>
              <a:t>	char 	*h_name;     	 /* official (canonical) name of host */</a:t>
            </a:r>
            <a:endParaRPr lang="en-US" altLang="zh-CN" sz="2000" dirty="0"/>
          </a:p>
          <a:p>
            <a:pPr eaLnBrk="1" hangingPunct="1">
              <a:lnSpc>
                <a:spcPct val="120000"/>
              </a:lnSpc>
              <a:buNone/>
            </a:pPr>
            <a:r>
              <a:rPr lang="en-US" altLang="zh-CN" sz="2000" dirty="0"/>
              <a:t>	char 	**h__aliases;	/* pointer to array of pointers to alias names */</a:t>
            </a:r>
            <a:endParaRPr lang="en-US" altLang="zh-CN" sz="2000" dirty="0"/>
          </a:p>
          <a:p>
            <a:pPr eaLnBrk="1" hangingPunct="1">
              <a:lnSpc>
                <a:spcPct val="120000"/>
              </a:lnSpc>
              <a:buNone/>
            </a:pPr>
            <a:r>
              <a:rPr lang="en-US" altLang="zh-CN" sz="2000" dirty="0"/>
              <a:t>	int 	h_addrtype;	/* host address type: AF_INET or AF_INET6 */</a:t>
            </a:r>
            <a:endParaRPr lang="en-US" altLang="zh-CN" sz="2000" dirty="0"/>
          </a:p>
          <a:p>
            <a:pPr eaLnBrk="1" hangingPunct="1">
              <a:lnSpc>
                <a:spcPct val="120000"/>
              </a:lnSpc>
              <a:buNone/>
            </a:pPr>
            <a:r>
              <a:rPr lang="en-US" altLang="zh-CN" sz="2000" dirty="0"/>
              <a:t>	int	h_length;	/* length of address :4 or 16 */</a:t>
            </a:r>
            <a:endParaRPr lang="en-US" altLang="zh-CN" sz="2000" dirty="0"/>
          </a:p>
          <a:p>
            <a:pPr eaLnBrk="1" hangingPunct="1">
              <a:lnSpc>
                <a:spcPct val="120000"/>
              </a:lnSpc>
              <a:buNone/>
            </a:pPr>
            <a:r>
              <a:rPr lang="en-US" altLang="zh-CN" sz="2000" dirty="0"/>
              <a:t>	char	**h_addr_list;	/* ptr to array of ptrs with IPv4 or IPv6 address */</a:t>
            </a:r>
            <a:endParaRPr lang="en-US" altLang="zh-CN" sz="2000" dirty="0"/>
          </a:p>
          <a:p>
            <a:pPr eaLnBrk="1" hangingPunct="1">
              <a:lnSpc>
                <a:spcPct val="120000"/>
              </a:lnSpc>
              <a:buNone/>
            </a:pPr>
            <a:r>
              <a:rPr lang="en-US" altLang="zh-CN" sz="2000" dirty="0"/>
              <a:t>};</a:t>
            </a:r>
            <a:endParaRPr lang="en-US" altLang="zh-CN" sz="2000" dirty="0"/>
          </a:p>
          <a:p>
            <a:pPr eaLnBrk="1" hangingPunct="1">
              <a:lnSpc>
                <a:spcPct val="120000"/>
              </a:lnSpc>
              <a:buNone/>
            </a:pPr>
            <a:r>
              <a:rPr lang="en-US" altLang="zh-CN" sz="2000" b="1" dirty="0">
                <a:solidFill>
                  <a:srgbClr val="00B050"/>
                </a:solidFill>
              </a:rPr>
              <a:t>#define h_addr  h_addr_list[0]</a:t>
            </a:r>
            <a:r>
              <a:rPr lang="en-US" altLang="zh-CN" sz="2000" dirty="0"/>
              <a:t>	/* first address in list */</a:t>
            </a:r>
            <a:endParaRPr lang="en-US" altLang="zh-CN" sz="2000" dirty="0"/>
          </a:p>
          <a:p>
            <a:pPr eaLnBrk="1" hangingPunct="1">
              <a:lnSpc>
                <a:spcPct val="120000"/>
              </a:lnSpc>
            </a:pPr>
            <a:r>
              <a:rPr lang="en-US" altLang="zh-CN" sz="2000" b="1" dirty="0"/>
              <a:t>struct  hostent *      he;</a:t>
            </a:r>
            <a:endParaRPr lang="en-US" altLang="zh-CN" sz="2000" b="1" dirty="0"/>
          </a:p>
          <a:p>
            <a:pPr eaLnBrk="1" hangingPunct="1">
              <a:lnSpc>
                <a:spcPct val="120000"/>
              </a:lnSpc>
            </a:pPr>
            <a:r>
              <a:rPr lang="en-US" altLang="zh-CN" sz="2000" b="1" dirty="0"/>
              <a:t>*((struct in_addr *)he-&gt;h_addr)</a:t>
            </a:r>
            <a:endParaRPr lang="en-US" altLang="zh-CN" sz="2000" b="1" dirty="0"/>
          </a:p>
        </p:txBody>
      </p:sp>
    </p:spTree>
  </p:cSld>
  <p:clrMapOvr>
    <a:masterClrMapping/>
  </p:clrMapOvr>
  <p:transition>
    <p:random/>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8722" name="Rectangle 2"/>
          <p:cNvSpPr>
            <a:spLocks noGrp="1"/>
          </p:cNvSpPr>
          <p:nvPr>
            <p:ph type="title"/>
          </p:nvPr>
        </p:nvSpPr>
        <p:spPr>
          <a:xfrm>
            <a:off x="1150938" y="641350"/>
            <a:ext cx="7793037" cy="484188"/>
          </a:xfrm>
        </p:spPr>
        <p:txBody>
          <a:bodyPr vert="horz" wrap="square" lIns="91440" tIns="45720" rIns="91440" bIns="45720" anchor="b" anchorCtr="0"/>
          <a:p>
            <a:pPr eaLnBrk="1" hangingPunct="1"/>
            <a:r>
              <a:rPr lang="en-US" altLang="zh-CN" dirty="0"/>
              <a:t>gethostbyname </a:t>
            </a:r>
            <a:r>
              <a:rPr lang="zh-CN" altLang="en-US" dirty="0"/>
              <a:t>返回的信息</a:t>
            </a:r>
            <a:endParaRPr lang="zh-CN" altLang="en-US" dirty="0"/>
          </a:p>
        </p:txBody>
      </p:sp>
      <p:grpSp>
        <p:nvGrpSpPr>
          <p:cNvPr id="158723" name="Group 3"/>
          <p:cNvGrpSpPr/>
          <p:nvPr/>
        </p:nvGrpSpPr>
        <p:grpSpPr>
          <a:xfrm>
            <a:off x="762000" y="1724025"/>
            <a:ext cx="7562850" cy="4968875"/>
            <a:chOff x="521" y="890"/>
            <a:chExt cx="4764" cy="3130"/>
          </a:xfrm>
        </p:grpSpPr>
        <p:sp>
          <p:nvSpPr>
            <p:cNvPr id="158724" name="Rectangle 4"/>
            <p:cNvSpPr/>
            <p:nvPr/>
          </p:nvSpPr>
          <p:spPr>
            <a:xfrm>
              <a:off x="521" y="1117"/>
              <a:ext cx="998" cy="22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r>
                <a:rPr lang="en-US" altLang="zh-CN" sz="1800" b="0" dirty="0">
                  <a:solidFill>
                    <a:srgbClr val="080808"/>
                  </a:solidFill>
                  <a:latin typeface="Arial" panose="020B0604020202020204" pitchFamily="34" charset="0"/>
                </a:rPr>
                <a:t>h_name</a:t>
              </a:r>
              <a:endParaRPr lang="en-US" altLang="zh-CN" sz="1800" b="0" dirty="0">
                <a:solidFill>
                  <a:srgbClr val="080808"/>
                </a:solidFill>
                <a:latin typeface="Arial" panose="020B0604020202020204" pitchFamily="34" charset="0"/>
              </a:endParaRPr>
            </a:p>
          </p:txBody>
        </p:sp>
        <p:sp>
          <p:nvSpPr>
            <p:cNvPr id="158725" name="Rectangle 5"/>
            <p:cNvSpPr/>
            <p:nvPr/>
          </p:nvSpPr>
          <p:spPr>
            <a:xfrm>
              <a:off x="521" y="1344"/>
              <a:ext cx="998" cy="22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r>
                <a:rPr lang="en-US" altLang="zh-CN" sz="1800" b="0" dirty="0">
                  <a:solidFill>
                    <a:srgbClr val="080808"/>
                  </a:solidFill>
                  <a:latin typeface="Arial" panose="020B0604020202020204" pitchFamily="34" charset="0"/>
                </a:rPr>
                <a:t>h_aliases</a:t>
              </a:r>
              <a:endParaRPr lang="en-US" altLang="zh-CN" sz="1800" b="0" dirty="0">
                <a:solidFill>
                  <a:srgbClr val="080808"/>
                </a:solidFill>
                <a:latin typeface="Arial" panose="020B0604020202020204" pitchFamily="34" charset="0"/>
              </a:endParaRPr>
            </a:p>
          </p:txBody>
        </p:sp>
        <p:sp>
          <p:nvSpPr>
            <p:cNvPr id="158726" name="Rectangle 6"/>
            <p:cNvSpPr/>
            <p:nvPr/>
          </p:nvSpPr>
          <p:spPr>
            <a:xfrm>
              <a:off x="521" y="1570"/>
              <a:ext cx="998" cy="22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r>
                <a:rPr lang="en-US" altLang="zh-CN" sz="1800" b="0" dirty="0">
                  <a:solidFill>
                    <a:srgbClr val="080808"/>
                  </a:solidFill>
                  <a:latin typeface="Arial" panose="020B0604020202020204" pitchFamily="34" charset="0"/>
                </a:rPr>
                <a:t>h_addrtype</a:t>
              </a:r>
              <a:endParaRPr lang="en-US" altLang="zh-CN" sz="1800" b="0" dirty="0">
                <a:solidFill>
                  <a:srgbClr val="080808"/>
                </a:solidFill>
                <a:latin typeface="Arial" panose="020B0604020202020204" pitchFamily="34" charset="0"/>
              </a:endParaRPr>
            </a:p>
          </p:txBody>
        </p:sp>
        <p:sp>
          <p:nvSpPr>
            <p:cNvPr id="158727" name="Rectangle 7"/>
            <p:cNvSpPr/>
            <p:nvPr/>
          </p:nvSpPr>
          <p:spPr>
            <a:xfrm>
              <a:off x="521" y="1797"/>
              <a:ext cx="998" cy="22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r>
                <a:rPr lang="en-US" altLang="zh-CN" sz="1800" b="0" dirty="0">
                  <a:solidFill>
                    <a:srgbClr val="080808"/>
                  </a:solidFill>
                  <a:latin typeface="Arial" panose="020B0604020202020204" pitchFamily="34" charset="0"/>
                </a:rPr>
                <a:t>h_length</a:t>
              </a:r>
              <a:endParaRPr lang="en-US" altLang="zh-CN" sz="1800" b="0" dirty="0">
                <a:solidFill>
                  <a:srgbClr val="080808"/>
                </a:solidFill>
                <a:latin typeface="Arial" panose="020B0604020202020204" pitchFamily="34" charset="0"/>
              </a:endParaRPr>
            </a:p>
          </p:txBody>
        </p:sp>
        <p:sp>
          <p:nvSpPr>
            <p:cNvPr id="158728" name="Rectangle 8"/>
            <p:cNvSpPr/>
            <p:nvPr/>
          </p:nvSpPr>
          <p:spPr>
            <a:xfrm>
              <a:off x="521" y="2024"/>
              <a:ext cx="998" cy="22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r>
                <a:rPr lang="en-US" altLang="zh-CN" sz="1800" b="0" dirty="0">
                  <a:solidFill>
                    <a:srgbClr val="080808"/>
                  </a:solidFill>
                  <a:latin typeface="Arial" panose="020B0604020202020204" pitchFamily="34" charset="0"/>
                </a:rPr>
                <a:t>h_addr_list</a:t>
              </a:r>
              <a:endParaRPr lang="en-US" altLang="zh-CN" sz="1800" b="0" dirty="0">
                <a:solidFill>
                  <a:srgbClr val="080808"/>
                </a:solidFill>
                <a:latin typeface="Arial" panose="020B0604020202020204" pitchFamily="34" charset="0"/>
              </a:endParaRPr>
            </a:p>
          </p:txBody>
        </p:sp>
        <p:sp>
          <p:nvSpPr>
            <p:cNvPr id="158729" name="Text Box 9"/>
            <p:cNvSpPr txBox="1"/>
            <p:nvPr/>
          </p:nvSpPr>
          <p:spPr>
            <a:xfrm>
              <a:off x="614" y="890"/>
              <a:ext cx="724" cy="231"/>
            </a:xfrm>
            <a:prstGeom prst="rect">
              <a:avLst/>
            </a:prstGeom>
            <a:noFill/>
            <a:ln w="9525">
              <a:noFill/>
            </a:ln>
          </p:spPr>
          <p:txBody>
            <a:bodyPr wrap="none">
              <a:spAutoFit/>
            </a:bodyPr>
            <a:p>
              <a:pPr eaLnBrk="1" hangingPunct="1"/>
              <a:r>
                <a:rPr lang="en-US" altLang="zh-CN" sz="1800" b="0" dirty="0">
                  <a:latin typeface="Arial" panose="020B0604020202020204" pitchFamily="34" charset="0"/>
                </a:rPr>
                <a:t>hostent{ }</a:t>
              </a:r>
              <a:endParaRPr lang="en-US" altLang="zh-CN" sz="1800" b="0" dirty="0">
                <a:latin typeface="Arial" panose="020B0604020202020204" pitchFamily="34" charset="0"/>
              </a:endParaRPr>
            </a:p>
          </p:txBody>
        </p:sp>
        <p:sp>
          <p:nvSpPr>
            <p:cNvPr id="158730" name="Rectangle 10"/>
            <p:cNvSpPr/>
            <p:nvPr/>
          </p:nvSpPr>
          <p:spPr>
            <a:xfrm>
              <a:off x="2290" y="1117"/>
              <a:ext cx="1180" cy="22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r>
                <a:rPr lang="zh-CN" altLang="en-US" sz="1800" b="0" dirty="0">
                  <a:solidFill>
                    <a:srgbClr val="080808"/>
                  </a:solidFill>
                  <a:latin typeface="Arial" panose="020B0604020202020204" pitchFamily="34" charset="0"/>
                  <a:ea typeface="华文新魏" panose="02010800040101010101" pitchFamily="2" charset="-122"/>
                </a:rPr>
                <a:t>正式主机名    </a:t>
              </a:r>
              <a:r>
                <a:rPr lang="en-US" altLang="zh-CN" sz="1800" b="0" dirty="0">
                  <a:solidFill>
                    <a:srgbClr val="080808"/>
                  </a:solidFill>
                  <a:latin typeface="Arial" panose="020B0604020202020204" pitchFamily="34" charset="0"/>
                  <a:ea typeface="华文新魏" panose="02010800040101010101" pitchFamily="2" charset="-122"/>
                </a:rPr>
                <a:t>\0</a:t>
              </a:r>
              <a:endParaRPr lang="en-US" altLang="zh-CN" sz="1800" b="0" dirty="0">
                <a:solidFill>
                  <a:srgbClr val="080808"/>
                </a:solidFill>
                <a:latin typeface="Arial" panose="020B0604020202020204" pitchFamily="34" charset="0"/>
                <a:ea typeface="华文新魏" panose="02010800040101010101" pitchFamily="2" charset="-122"/>
              </a:endParaRPr>
            </a:p>
          </p:txBody>
        </p:sp>
        <p:sp>
          <p:nvSpPr>
            <p:cNvPr id="158731" name="Rectangle 11"/>
            <p:cNvSpPr/>
            <p:nvPr/>
          </p:nvSpPr>
          <p:spPr>
            <a:xfrm>
              <a:off x="2381" y="1570"/>
              <a:ext cx="998" cy="22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zh-CN" sz="1800" b="0" dirty="0">
                <a:solidFill>
                  <a:srgbClr val="080808"/>
                </a:solidFill>
                <a:latin typeface="Arial" panose="020B0604020202020204" pitchFamily="34" charset="0"/>
              </a:endParaRPr>
            </a:p>
          </p:txBody>
        </p:sp>
        <p:sp>
          <p:nvSpPr>
            <p:cNvPr id="158732" name="Rectangle 12"/>
            <p:cNvSpPr/>
            <p:nvPr/>
          </p:nvSpPr>
          <p:spPr>
            <a:xfrm>
              <a:off x="2381" y="1797"/>
              <a:ext cx="998" cy="22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zh-CN" sz="1800" b="0" dirty="0">
                <a:solidFill>
                  <a:srgbClr val="080808"/>
                </a:solidFill>
                <a:latin typeface="Arial" panose="020B0604020202020204" pitchFamily="34" charset="0"/>
              </a:endParaRPr>
            </a:p>
          </p:txBody>
        </p:sp>
        <p:sp>
          <p:nvSpPr>
            <p:cNvPr id="158733" name="Rectangle 13"/>
            <p:cNvSpPr/>
            <p:nvPr/>
          </p:nvSpPr>
          <p:spPr>
            <a:xfrm>
              <a:off x="2381" y="2023"/>
              <a:ext cx="998" cy="22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zh-CN" sz="1800" b="0" dirty="0">
                <a:solidFill>
                  <a:srgbClr val="080808"/>
                </a:solidFill>
                <a:latin typeface="Arial" panose="020B0604020202020204" pitchFamily="34" charset="0"/>
              </a:endParaRPr>
            </a:p>
          </p:txBody>
        </p:sp>
        <p:sp>
          <p:nvSpPr>
            <p:cNvPr id="158734" name="Rectangle 14"/>
            <p:cNvSpPr/>
            <p:nvPr/>
          </p:nvSpPr>
          <p:spPr>
            <a:xfrm>
              <a:off x="2381" y="2750"/>
              <a:ext cx="998" cy="22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zh-CN" sz="1800" b="0" dirty="0">
                <a:solidFill>
                  <a:srgbClr val="080808"/>
                </a:solidFill>
                <a:latin typeface="Arial" panose="020B0604020202020204" pitchFamily="34" charset="0"/>
              </a:endParaRPr>
            </a:p>
          </p:txBody>
        </p:sp>
        <p:sp>
          <p:nvSpPr>
            <p:cNvPr id="158735" name="Rectangle 15"/>
            <p:cNvSpPr/>
            <p:nvPr/>
          </p:nvSpPr>
          <p:spPr>
            <a:xfrm>
              <a:off x="2381" y="2976"/>
              <a:ext cx="998" cy="22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zh-CN" sz="1800" b="0" dirty="0">
                <a:solidFill>
                  <a:srgbClr val="080808"/>
                </a:solidFill>
                <a:latin typeface="Arial" panose="020B0604020202020204" pitchFamily="34" charset="0"/>
              </a:endParaRPr>
            </a:p>
          </p:txBody>
        </p:sp>
        <p:sp>
          <p:nvSpPr>
            <p:cNvPr id="158736" name="Rectangle 16"/>
            <p:cNvSpPr/>
            <p:nvPr/>
          </p:nvSpPr>
          <p:spPr>
            <a:xfrm>
              <a:off x="2381" y="3203"/>
              <a:ext cx="998" cy="22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zh-CN" sz="1800" b="0" dirty="0">
                <a:solidFill>
                  <a:srgbClr val="080808"/>
                </a:solidFill>
                <a:latin typeface="Arial" panose="020B0604020202020204" pitchFamily="34" charset="0"/>
              </a:endParaRPr>
            </a:p>
          </p:txBody>
        </p:sp>
        <p:sp>
          <p:nvSpPr>
            <p:cNvPr id="158737" name="Rectangle 17"/>
            <p:cNvSpPr/>
            <p:nvPr/>
          </p:nvSpPr>
          <p:spPr>
            <a:xfrm>
              <a:off x="2381" y="3430"/>
              <a:ext cx="998" cy="22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zh-CN" sz="1800" b="0" dirty="0">
                <a:solidFill>
                  <a:srgbClr val="080808"/>
                </a:solidFill>
                <a:latin typeface="Arial" panose="020B0604020202020204" pitchFamily="34" charset="0"/>
              </a:endParaRPr>
            </a:p>
          </p:txBody>
        </p:sp>
        <p:sp>
          <p:nvSpPr>
            <p:cNvPr id="158738" name="Line 18"/>
            <p:cNvSpPr/>
            <p:nvPr/>
          </p:nvSpPr>
          <p:spPr>
            <a:xfrm>
              <a:off x="1519" y="1253"/>
              <a:ext cx="771" cy="0"/>
            </a:xfrm>
            <a:prstGeom prst="line">
              <a:avLst/>
            </a:prstGeom>
            <a:ln w="9525" cap="flat" cmpd="sng">
              <a:solidFill>
                <a:schemeClr val="tx1"/>
              </a:solidFill>
              <a:prstDash val="solid"/>
              <a:headEnd type="none" w="med" len="med"/>
              <a:tailEnd type="triangle" w="med" len="med"/>
            </a:ln>
          </p:spPr>
        </p:sp>
        <p:sp>
          <p:nvSpPr>
            <p:cNvPr id="158739" name="Line 19"/>
            <p:cNvSpPr/>
            <p:nvPr/>
          </p:nvSpPr>
          <p:spPr>
            <a:xfrm>
              <a:off x="1519" y="1480"/>
              <a:ext cx="862" cy="181"/>
            </a:xfrm>
            <a:prstGeom prst="line">
              <a:avLst/>
            </a:prstGeom>
            <a:ln w="9525" cap="flat" cmpd="sng">
              <a:solidFill>
                <a:schemeClr val="tx1"/>
              </a:solidFill>
              <a:prstDash val="solid"/>
              <a:headEnd type="none" w="med" len="med"/>
              <a:tailEnd type="triangle" w="med" len="med"/>
            </a:ln>
          </p:spPr>
        </p:sp>
        <p:sp>
          <p:nvSpPr>
            <p:cNvPr id="158740" name="Line 20"/>
            <p:cNvSpPr/>
            <p:nvPr/>
          </p:nvSpPr>
          <p:spPr>
            <a:xfrm>
              <a:off x="1519" y="2160"/>
              <a:ext cx="862" cy="680"/>
            </a:xfrm>
            <a:prstGeom prst="line">
              <a:avLst/>
            </a:prstGeom>
            <a:ln w="9525" cap="flat" cmpd="sng">
              <a:solidFill>
                <a:schemeClr val="tx1"/>
              </a:solidFill>
              <a:prstDash val="solid"/>
              <a:headEnd type="none" w="med" len="med"/>
              <a:tailEnd type="triangle" w="med" len="med"/>
            </a:ln>
          </p:spPr>
        </p:sp>
        <p:sp>
          <p:nvSpPr>
            <p:cNvPr id="158741" name="Rectangle 21"/>
            <p:cNvSpPr/>
            <p:nvPr/>
          </p:nvSpPr>
          <p:spPr>
            <a:xfrm>
              <a:off x="4105" y="1570"/>
              <a:ext cx="1180" cy="22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r>
                <a:rPr lang="zh-CN" altLang="en-US" sz="1800" b="0" dirty="0">
                  <a:solidFill>
                    <a:srgbClr val="080808"/>
                  </a:solidFill>
                  <a:latin typeface="Arial" panose="020B0604020202020204" pitchFamily="34" charset="0"/>
                  <a:ea typeface="华文新魏" panose="02010800040101010101" pitchFamily="2" charset="-122"/>
                </a:rPr>
                <a:t>别名</a:t>
              </a:r>
              <a:r>
                <a:rPr lang="en-US" altLang="zh-CN" sz="1800" b="0" dirty="0">
                  <a:solidFill>
                    <a:srgbClr val="080808"/>
                  </a:solidFill>
                  <a:latin typeface="Arial" panose="020B0604020202020204" pitchFamily="34" charset="0"/>
                  <a:ea typeface="华文新魏" panose="02010800040101010101" pitchFamily="2" charset="-122"/>
                </a:rPr>
                <a:t>1             \0</a:t>
              </a:r>
              <a:endParaRPr lang="en-US" altLang="zh-CN" sz="1800" b="0" dirty="0">
                <a:solidFill>
                  <a:srgbClr val="080808"/>
                </a:solidFill>
                <a:latin typeface="Arial" panose="020B0604020202020204" pitchFamily="34" charset="0"/>
                <a:ea typeface="华文新魏" panose="02010800040101010101" pitchFamily="2" charset="-122"/>
              </a:endParaRPr>
            </a:p>
          </p:txBody>
        </p:sp>
        <p:sp>
          <p:nvSpPr>
            <p:cNvPr id="158742" name="Rectangle 22"/>
            <p:cNvSpPr/>
            <p:nvPr/>
          </p:nvSpPr>
          <p:spPr>
            <a:xfrm>
              <a:off x="4105" y="2024"/>
              <a:ext cx="1180" cy="22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r>
                <a:rPr lang="zh-CN" altLang="en-US" sz="1800" b="0" dirty="0">
                  <a:solidFill>
                    <a:srgbClr val="080808"/>
                  </a:solidFill>
                  <a:latin typeface="华文新魏" panose="02010800040101010101" pitchFamily="2" charset="-122"/>
                  <a:ea typeface="华文新魏" panose="02010800040101010101" pitchFamily="2" charset="-122"/>
                </a:rPr>
                <a:t>别名</a:t>
              </a:r>
              <a:r>
                <a:rPr lang="en-US" altLang="zh-CN" sz="1800" b="0" dirty="0">
                  <a:solidFill>
                    <a:srgbClr val="080808"/>
                  </a:solidFill>
                  <a:latin typeface="华文新魏" panose="02010800040101010101" pitchFamily="2" charset="-122"/>
                  <a:ea typeface="华文新魏" panose="02010800040101010101" pitchFamily="2" charset="-122"/>
                </a:rPr>
                <a:t>2        \0</a:t>
              </a:r>
              <a:endParaRPr lang="en-US" altLang="zh-CN" sz="1800" b="0" dirty="0">
                <a:solidFill>
                  <a:srgbClr val="080808"/>
                </a:solidFill>
                <a:latin typeface="华文新魏" panose="02010800040101010101" pitchFamily="2" charset="-122"/>
                <a:ea typeface="华文新魏" panose="02010800040101010101" pitchFamily="2" charset="-122"/>
              </a:endParaRPr>
            </a:p>
          </p:txBody>
        </p:sp>
        <p:sp>
          <p:nvSpPr>
            <p:cNvPr id="158743" name="Line 23"/>
            <p:cNvSpPr/>
            <p:nvPr/>
          </p:nvSpPr>
          <p:spPr>
            <a:xfrm>
              <a:off x="3379" y="1661"/>
              <a:ext cx="726" cy="0"/>
            </a:xfrm>
            <a:prstGeom prst="line">
              <a:avLst/>
            </a:prstGeom>
            <a:ln w="9525" cap="flat" cmpd="sng">
              <a:solidFill>
                <a:schemeClr val="tx1"/>
              </a:solidFill>
              <a:prstDash val="solid"/>
              <a:headEnd type="none" w="med" len="med"/>
              <a:tailEnd type="triangle" w="med" len="med"/>
            </a:ln>
          </p:spPr>
        </p:sp>
        <p:sp>
          <p:nvSpPr>
            <p:cNvPr id="158744" name="Line 24"/>
            <p:cNvSpPr/>
            <p:nvPr/>
          </p:nvSpPr>
          <p:spPr>
            <a:xfrm>
              <a:off x="3379" y="1933"/>
              <a:ext cx="726" cy="227"/>
            </a:xfrm>
            <a:prstGeom prst="line">
              <a:avLst/>
            </a:prstGeom>
            <a:ln w="9525" cap="flat" cmpd="sng">
              <a:solidFill>
                <a:schemeClr val="tx1"/>
              </a:solidFill>
              <a:prstDash val="solid"/>
              <a:headEnd type="none" w="med" len="med"/>
              <a:tailEnd type="triangle" w="med" len="med"/>
            </a:ln>
          </p:spPr>
        </p:sp>
        <p:sp>
          <p:nvSpPr>
            <p:cNvPr id="158745" name="Rectangle 25"/>
            <p:cNvSpPr/>
            <p:nvPr/>
          </p:nvSpPr>
          <p:spPr>
            <a:xfrm>
              <a:off x="4105" y="2705"/>
              <a:ext cx="998" cy="22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r>
                <a:rPr lang="en-US" altLang="zh-CN" sz="1800" b="0" dirty="0">
                  <a:solidFill>
                    <a:srgbClr val="080808"/>
                  </a:solidFill>
                  <a:latin typeface="Arial" panose="020B0604020202020204" pitchFamily="34" charset="0"/>
                </a:rPr>
                <a:t>IP</a:t>
              </a:r>
              <a:r>
                <a:rPr lang="zh-CN" altLang="en-US" sz="1800" b="0" dirty="0">
                  <a:solidFill>
                    <a:srgbClr val="080808"/>
                  </a:solidFill>
                  <a:latin typeface="Arial" panose="020B0604020202020204" pitchFamily="34" charset="0"/>
                </a:rPr>
                <a:t>地址</a:t>
              </a:r>
              <a:r>
                <a:rPr lang="en-US" altLang="zh-CN" sz="1800" b="0" dirty="0">
                  <a:solidFill>
                    <a:srgbClr val="080808"/>
                  </a:solidFill>
                  <a:latin typeface="Arial" panose="020B0604020202020204" pitchFamily="34" charset="0"/>
                </a:rPr>
                <a:t>1</a:t>
              </a:r>
              <a:endParaRPr lang="en-US" altLang="zh-CN" sz="1800" b="0" dirty="0">
                <a:solidFill>
                  <a:srgbClr val="080808"/>
                </a:solidFill>
                <a:latin typeface="Arial" panose="020B0604020202020204" pitchFamily="34" charset="0"/>
              </a:endParaRPr>
            </a:p>
          </p:txBody>
        </p:sp>
        <p:sp>
          <p:nvSpPr>
            <p:cNvPr id="158746" name="Rectangle 26"/>
            <p:cNvSpPr/>
            <p:nvPr/>
          </p:nvSpPr>
          <p:spPr>
            <a:xfrm>
              <a:off x="4105" y="3248"/>
              <a:ext cx="998" cy="22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r>
                <a:rPr lang="en-US" altLang="zh-CN" sz="1800" b="0" dirty="0">
                  <a:solidFill>
                    <a:srgbClr val="080808"/>
                  </a:solidFill>
                  <a:latin typeface="Arial" panose="020B0604020202020204" pitchFamily="34" charset="0"/>
                </a:rPr>
                <a:t>IP</a:t>
              </a:r>
              <a:r>
                <a:rPr lang="zh-CN" altLang="en-US" sz="1800" b="0" dirty="0">
                  <a:solidFill>
                    <a:srgbClr val="080808"/>
                  </a:solidFill>
                  <a:latin typeface="Arial" panose="020B0604020202020204" pitchFamily="34" charset="0"/>
                </a:rPr>
                <a:t>地址</a:t>
              </a:r>
              <a:r>
                <a:rPr lang="en-US" altLang="zh-CN" sz="1800" b="0" dirty="0">
                  <a:solidFill>
                    <a:srgbClr val="080808"/>
                  </a:solidFill>
                  <a:latin typeface="Arial" panose="020B0604020202020204" pitchFamily="34" charset="0"/>
                </a:rPr>
                <a:t>2</a:t>
              </a:r>
              <a:endParaRPr lang="en-US" altLang="zh-CN" sz="1800" b="0" dirty="0">
                <a:solidFill>
                  <a:srgbClr val="080808"/>
                </a:solidFill>
                <a:latin typeface="Arial" panose="020B0604020202020204" pitchFamily="34" charset="0"/>
              </a:endParaRPr>
            </a:p>
          </p:txBody>
        </p:sp>
        <p:sp>
          <p:nvSpPr>
            <p:cNvPr id="158747" name="Rectangle 27"/>
            <p:cNvSpPr/>
            <p:nvPr/>
          </p:nvSpPr>
          <p:spPr>
            <a:xfrm>
              <a:off x="4105" y="3793"/>
              <a:ext cx="998" cy="22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r>
                <a:rPr lang="en-US" altLang="zh-CN" sz="1800" b="0" dirty="0">
                  <a:solidFill>
                    <a:srgbClr val="080808"/>
                  </a:solidFill>
                  <a:latin typeface="Arial" panose="020B0604020202020204" pitchFamily="34" charset="0"/>
                </a:rPr>
                <a:t>IP</a:t>
              </a:r>
              <a:r>
                <a:rPr lang="zh-CN" altLang="en-US" sz="1800" b="0" dirty="0">
                  <a:solidFill>
                    <a:srgbClr val="080808"/>
                  </a:solidFill>
                  <a:latin typeface="Arial" panose="020B0604020202020204" pitchFamily="34" charset="0"/>
                </a:rPr>
                <a:t>地址</a:t>
              </a:r>
              <a:r>
                <a:rPr lang="en-US" altLang="zh-CN" sz="1800" b="0" dirty="0">
                  <a:solidFill>
                    <a:srgbClr val="080808"/>
                  </a:solidFill>
                  <a:latin typeface="Arial" panose="020B0604020202020204" pitchFamily="34" charset="0"/>
                </a:rPr>
                <a:t>3</a:t>
              </a:r>
              <a:endParaRPr lang="en-US" altLang="zh-CN" sz="1800" b="0" dirty="0">
                <a:solidFill>
                  <a:srgbClr val="080808"/>
                </a:solidFill>
                <a:latin typeface="Arial" panose="020B0604020202020204" pitchFamily="34" charset="0"/>
              </a:endParaRPr>
            </a:p>
          </p:txBody>
        </p:sp>
        <p:sp>
          <p:nvSpPr>
            <p:cNvPr id="158748" name="Line 28"/>
            <p:cNvSpPr/>
            <p:nvPr/>
          </p:nvSpPr>
          <p:spPr>
            <a:xfrm>
              <a:off x="3379" y="2840"/>
              <a:ext cx="726" cy="0"/>
            </a:xfrm>
            <a:prstGeom prst="line">
              <a:avLst/>
            </a:prstGeom>
            <a:ln w="9525" cap="flat" cmpd="sng">
              <a:solidFill>
                <a:schemeClr val="tx1"/>
              </a:solidFill>
              <a:prstDash val="solid"/>
              <a:headEnd type="none" w="med" len="med"/>
              <a:tailEnd type="triangle" w="med" len="med"/>
            </a:ln>
          </p:spPr>
        </p:sp>
        <p:sp>
          <p:nvSpPr>
            <p:cNvPr id="158749" name="Line 29"/>
            <p:cNvSpPr/>
            <p:nvPr/>
          </p:nvSpPr>
          <p:spPr>
            <a:xfrm>
              <a:off x="3379" y="3113"/>
              <a:ext cx="726" cy="272"/>
            </a:xfrm>
            <a:prstGeom prst="line">
              <a:avLst/>
            </a:prstGeom>
            <a:ln w="9525" cap="flat" cmpd="sng">
              <a:solidFill>
                <a:schemeClr val="tx1"/>
              </a:solidFill>
              <a:prstDash val="solid"/>
              <a:headEnd type="none" w="med" len="med"/>
              <a:tailEnd type="triangle" w="med" len="med"/>
            </a:ln>
          </p:spPr>
        </p:sp>
        <p:sp>
          <p:nvSpPr>
            <p:cNvPr id="158750" name="Line 30"/>
            <p:cNvSpPr/>
            <p:nvPr/>
          </p:nvSpPr>
          <p:spPr>
            <a:xfrm>
              <a:off x="3379" y="3339"/>
              <a:ext cx="726" cy="590"/>
            </a:xfrm>
            <a:prstGeom prst="line">
              <a:avLst/>
            </a:prstGeom>
            <a:ln w="9525" cap="flat" cmpd="sng">
              <a:solidFill>
                <a:schemeClr val="tx1"/>
              </a:solidFill>
              <a:prstDash val="solid"/>
              <a:headEnd type="none" w="med" len="med"/>
              <a:tailEnd type="triangle" w="med" len="med"/>
            </a:ln>
          </p:spPr>
        </p:sp>
        <p:sp>
          <p:nvSpPr>
            <p:cNvPr id="158751" name="Text Box 31"/>
            <p:cNvSpPr txBox="1"/>
            <p:nvPr/>
          </p:nvSpPr>
          <p:spPr>
            <a:xfrm>
              <a:off x="3366" y="2036"/>
              <a:ext cx="484" cy="231"/>
            </a:xfrm>
            <a:prstGeom prst="rect">
              <a:avLst/>
            </a:prstGeom>
            <a:noFill/>
            <a:ln w="9525">
              <a:noFill/>
            </a:ln>
          </p:spPr>
          <p:txBody>
            <a:bodyPr wrap="none">
              <a:spAutoFit/>
            </a:bodyPr>
            <a:p>
              <a:pPr eaLnBrk="1" hangingPunct="1"/>
              <a:r>
                <a:rPr lang="en-US" altLang="zh-CN" sz="1800" b="0" dirty="0">
                  <a:latin typeface="Arial" panose="020B0604020202020204" pitchFamily="34" charset="0"/>
                </a:rPr>
                <a:t>NULL</a:t>
              </a:r>
              <a:endParaRPr lang="en-US" altLang="zh-CN" sz="1800" b="0" dirty="0">
                <a:latin typeface="Arial" panose="020B0604020202020204" pitchFamily="34" charset="0"/>
              </a:endParaRPr>
            </a:p>
          </p:txBody>
        </p:sp>
        <p:sp>
          <p:nvSpPr>
            <p:cNvPr id="158752" name="Text Box 32"/>
            <p:cNvSpPr txBox="1"/>
            <p:nvPr/>
          </p:nvSpPr>
          <p:spPr>
            <a:xfrm>
              <a:off x="3243" y="3653"/>
              <a:ext cx="484" cy="231"/>
            </a:xfrm>
            <a:prstGeom prst="rect">
              <a:avLst/>
            </a:prstGeom>
            <a:noFill/>
            <a:ln w="9525">
              <a:noFill/>
            </a:ln>
          </p:spPr>
          <p:txBody>
            <a:bodyPr wrap="none">
              <a:spAutoFit/>
            </a:bodyPr>
            <a:p>
              <a:pPr eaLnBrk="1" hangingPunct="1"/>
              <a:r>
                <a:rPr lang="en-US" altLang="zh-CN" sz="1800" b="0" dirty="0">
                  <a:latin typeface="Arial" panose="020B0604020202020204" pitchFamily="34" charset="0"/>
                </a:rPr>
                <a:t>NULL</a:t>
              </a:r>
              <a:endParaRPr lang="en-US" altLang="zh-CN" sz="1800" b="0" dirty="0">
                <a:latin typeface="Arial" panose="020B0604020202020204" pitchFamily="34" charset="0"/>
              </a:endParaRPr>
            </a:p>
          </p:txBody>
        </p:sp>
        <p:sp>
          <p:nvSpPr>
            <p:cNvPr id="158753" name="Text Box 33"/>
            <p:cNvSpPr txBox="1"/>
            <p:nvPr/>
          </p:nvSpPr>
          <p:spPr>
            <a:xfrm>
              <a:off x="1519" y="1570"/>
              <a:ext cx="708" cy="231"/>
            </a:xfrm>
            <a:prstGeom prst="rect">
              <a:avLst/>
            </a:prstGeom>
            <a:noFill/>
            <a:ln w="9525">
              <a:noFill/>
            </a:ln>
          </p:spPr>
          <p:txBody>
            <a:bodyPr wrap="none">
              <a:spAutoFit/>
            </a:bodyPr>
            <a:p>
              <a:pPr eaLnBrk="1" hangingPunct="1"/>
              <a:r>
                <a:rPr lang="en-US" altLang="zh-CN" sz="1800" b="0" dirty="0">
                  <a:latin typeface="Arial" panose="020B0604020202020204" pitchFamily="34" charset="0"/>
                </a:rPr>
                <a:t>AF_INET</a:t>
              </a:r>
              <a:endParaRPr lang="en-US" altLang="zh-CN" sz="1800" b="0" dirty="0">
                <a:latin typeface="Arial" panose="020B0604020202020204" pitchFamily="34" charset="0"/>
              </a:endParaRPr>
            </a:p>
          </p:txBody>
        </p:sp>
        <p:sp>
          <p:nvSpPr>
            <p:cNvPr id="158754" name="Text Box 34"/>
            <p:cNvSpPr txBox="1"/>
            <p:nvPr/>
          </p:nvSpPr>
          <p:spPr>
            <a:xfrm>
              <a:off x="4137" y="2490"/>
              <a:ext cx="732" cy="231"/>
            </a:xfrm>
            <a:prstGeom prst="rect">
              <a:avLst/>
            </a:prstGeom>
            <a:noFill/>
            <a:ln w="9525">
              <a:noFill/>
            </a:ln>
          </p:spPr>
          <p:txBody>
            <a:bodyPr wrap="none">
              <a:spAutoFit/>
            </a:bodyPr>
            <a:p>
              <a:pPr eaLnBrk="1" hangingPunct="1"/>
              <a:r>
                <a:rPr lang="en-US" altLang="zh-CN" sz="1800" b="0" dirty="0">
                  <a:latin typeface="Arial" panose="020B0604020202020204" pitchFamily="34" charset="0"/>
                </a:rPr>
                <a:t>in_addr{ }</a:t>
              </a:r>
              <a:endParaRPr lang="en-US" altLang="zh-CN" sz="1800" b="0" dirty="0">
                <a:latin typeface="Arial" panose="020B0604020202020204" pitchFamily="34" charset="0"/>
              </a:endParaRPr>
            </a:p>
          </p:txBody>
        </p:sp>
        <p:sp>
          <p:nvSpPr>
            <p:cNvPr id="158755" name="Text Box 35"/>
            <p:cNvSpPr txBox="1"/>
            <p:nvPr/>
          </p:nvSpPr>
          <p:spPr>
            <a:xfrm>
              <a:off x="4150" y="3022"/>
              <a:ext cx="732" cy="231"/>
            </a:xfrm>
            <a:prstGeom prst="rect">
              <a:avLst/>
            </a:prstGeom>
            <a:noFill/>
            <a:ln w="9525">
              <a:noFill/>
            </a:ln>
          </p:spPr>
          <p:txBody>
            <a:bodyPr wrap="none">
              <a:spAutoFit/>
            </a:bodyPr>
            <a:p>
              <a:pPr eaLnBrk="1" hangingPunct="1"/>
              <a:r>
                <a:rPr lang="en-US" altLang="zh-CN" sz="1800" b="0" dirty="0">
                  <a:latin typeface="Arial" panose="020B0604020202020204" pitchFamily="34" charset="0"/>
                </a:rPr>
                <a:t>in_addr{ }</a:t>
              </a:r>
              <a:endParaRPr lang="en-US" altLang="zh-CN" sz="1800" b="0" dirty="0">
                <a:latin typeface="Arial" panose="020B0604020202020204" pitchFamily="34" charset="0"/>
              </a:endParaRPr>
            </a:p>
          </p:txBody>
        </p:sp>
        <p:sp>
          <p:nvSpPr>
            <p:cNvPr id="158756" name="Text Box 36"/>
            <p:cNvSpPr txBox="1"/>
            <p:nvPr/>
          </p:nvSpPr>
          <p:spPr>
            <a:xfrm>
              <a:off x="4150" y="3566"/>
              <a:ext cx="732" cy="231"/>
            </a:xfrm>
            <a:prstGeom prst="rect">
              <a:avLst/>
            </a:prstGeom>
            <a:noFill/>
            <a:ln w="9525">
              <a:noFill/>
            </a:ln>
          </p:spPr>
          <p:txBody>
            <a:bodyPr wrap="none">
              <a:spAutoFit/>
            </a:bodyPr>
            <a:p>
              <a:pPr eaLnBrk="1" hangingPunct="1"/>
              <a:r>
                <a:rPr lang="en-US" altLang="zh-CN" sz="1800" b="0" dirty="0">
                  <a:latin typeface="Arial" panose="020B0604020202020204" pitchFamily="34" charset="0"/>
                </a:rPr>
                <a:t>in_addr{ }</a:t>
              </a:r>
              <a:endParaRPr lang="en-US" altLang="zh-CN" sz="1800" b="0" dirty="0">
                <a:latin typeface="Arial" panose="020B0604020202020204" pitchFamily="34" charset="0"/>
              </a:endParaRPr>
            </a:p>
          </p:txBody>
        </p:sp>
      </p:grpSp>
    </p:spTree>
  </p:cSld>
  <p:clrMapOvr>
    <a:masterClrMapping/>
  </p:clrMapOvr>
  <p:transition>
    <p:random/>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0770" name="Rectangle 2"/>
          <p:cNvSpPr>
            <a:spLocks noGrp="1"/>
          </p:cNvSpPr>
          <p:nvPr>
            <p:ph type="title"/>
          </p:nvPr>
        </p:nvSpPr>
        <p:spPr/>
        <p:txBody>
          <a:bodyPr vert="horz" wrap="square" lIns="91440" tIns="45720" rIns="91440" bIns="45720" anchor="b" anchorCtr="0"/>
          <a:p>
            <a:pPr eaLnBrk="1" hangingPunct="1"/>
            <a:endParaRPr lang="zh-CN" altLang="zh-CN" dirty="0"/>
          </a:p>
        </p:txBody>
      </p:sp>
      <p:sp>
        <p:nvSpPr>
          <p:cNvPr id="160771" name="Rectangle 5"/>
          <p:cNvSpPr>
            <a:spLocks noGrp="1"/>
          </p:cNvSpPr>
          <p:nvPr>
            <p:ph idx="1"/>
          </p:nvPr>
        </p:nvSpPr>
        <p:spPr>
          <a:xfrm>
            <a:off x="395288" y="765175"/>
            <a:ext cx="8348662" cy="5903913"/>
          </a:xfrm>
          <a:solidFill>
            <a:schemeClr val="bg1">
              <a:alpha val="100000"/>
            </a:schemeClr>
          </a:solidFill>
        </p:spPr>
        <p:txBody>
          <a:bodyPr vert="horz" wrap="square" lIns="91440" tIns="45720" rIns="91440" bIns="45720" anchor="t" anchorCtr="0"/>
          <a:p>
            <a:pPr eaLnBrk="1" hangingPunct="1">
              <a:lnSpc>
                <a:spcPct val="80000"/>
              </a:lnSpc>
              <a:buNone/>
            </a:pPr>
            <a:r>
              <a:rPr lang="en-US" altLang="zh-CN" sz="2000" dirty="0"/>
              <a:t>	 </a:t>
            </a:r>
            <a:r>
              <a:rPr lang="en-US" altLang="zh-CN" sz="2000" b="1" dirty="0"/>
              <a:t>if ((he = gethostbyname(argv[1])) == NULL) </a:t>
            </a:r>
            <a:endParaRPr lang="en-US" altLang="zh-CN" sz="2000" b="1" dirty="0"/>
          </a:p>
          <a:p>
            <a:pPr eaLnBrk="1" hangingPunct="1">
              <a:lnSpc>
                <a:spcPct val="80000"/>
              </a:lnSpc>
              <a:buNone/>
            </a:pPr>
            <a:r>
              <a:rPr lang="en-US" altLang="zh-CN" sz="2000" b="1" dirty="0"/>
              <a:t>	 {</a:t>
            </a:r>
            <a:endParaRPr lang="en-US" altLang="zh-CN" sz="2000" b="1" dirty="0"/>
          </a:p>
          <a:p>
            <a:pPr eaLnBrk="1" hangingPunct="1">
              <a:lnSpc>
                <a:spcPct val="80000"/>
              </a:lnSpc>
              <a:buNone/>
            </a:pPr>
            <a:r>
              <a:rPr lang="en-US" altLang="zh-CN" sz="2000" b="1" dirty="0"/>
              <a:t>                perror("gethostbyname error.");</a:t>
            </a:r>
            <a:endParaRPr lang="en-US" altLang="zh-CN" sz="2000" b="1" dirty="0"/>
          </a:p>
          <a:p>
            <a:pPr eaLnBrk="1" hangingPunct="1">
              <a:lnSpc>
                <a:spcPct val="80000"/>
              </a:lnSpc>
              <a:buNone/>
            </a:pPr>
            <a:r>
              <a:rPr lang="en-US" altLang="zh-CN" sz="2000" b="1" dirty="0"/>
              <a:t>                exit(1);</a:t>
            </a:r>
            <a:endParaRPr lang="en-US" altLang="zh-CN" sz="2000" b="1" dirty="0"/>
          </a:p>
          <a:p>
            <a:pPr eaLnBrk="1" hangingPunct="1">
              <a:lnSpc>
                <a:spcPct val="80000"/>
              </a:lnSpc>
              <a:buNone/>
            </a:pPr>
            <a:r>
              <a:rPr lang="en-US" altLang="zh-CN" sz="2000" b="1" dirty="0"/>
              <a:t>        }</a:t>
            </a:r>
            <a:endParaRPr lang="en-US" altLang="zh-CN" sz="2000" b="1" dirty="0"/>
          </a:p>
          <a:p>
            <a:pPr eaLnBrk="1" hangingPunct="1">
              <a:lnSpc>
                <a:spcPct val="80000"/>
              </a:lnSpc>
              <a:buNone/>
            </a:pPr>
            <a:endParaRPr lang="en-US" altLang="zh-CN" sz="2000" b="1" dirty="0"/>
          </a:p>
          <a:p>
            <a:pPr eaLnBrk="1" hangingPunct="1">
              <a:lnSpc>
                <a:spcPct val="80000"/>
              </a:lnSpc>
              <a:buNone/>
            </a:pPr>
            <a:r>
              <a:rPr lang="en-US" altLang="zh-CN" sz="2000" b="1" dirty="0"/>
              <a:t>        if ((fd = socket(AF_INET, SOCK_STREAM, 0)) == -1) </a:t>
            </a:r>
            <a:endParaRPr lang="en-US" altLang="zh-CN" sz="2000" b="1" dirty="0"/>
          </a:p>
          <a:p>
            <a:pPr eaLnBrk="1" hangingPunct="1">
              <a:lnSpc>
                <a:spcPct val="80000"/>
              </a:lnSpc>
              <a:buNone/>
            </a:pPr>
            <a:r>
              <a:rPr lang="en-US" altLang="zh-CN" sz="2000" b="1" dirty="0"/>
              <a:t>	  {</a:t>
            </a:r>
            <a:endParaRPr lang="en-US" altLang="zh-CN" sz="2000" b="1" dirty="0"/>
          </a:p>
          <a:p>
            <a:pPr eaLnBrk="1" hangingPunct="1">
              <a:lnSpc>
                <a:spcPct val="80000"/>
              </a:lnSpc>
              <a:buNone/>
            </a:pPr>
            <a:r>
              <a:rPr lang="en-US" altLang="zh-CN" sz="2000" b="1" dirty="0"/>
              <a:t>                perror("Create socket failed.");</a:t>
            </a:r>
            <a:endParaRPr lang="en-US" altLang="zh-CN" sz="2000" b="1" dirty="0"/>
          </a:p>
          <a:p>
            <a:pPr eaLnBrk="1" hangingPunct="1">
              <a:lnSpc>
                <a:spcPct val="80000"/>
              </a:lnSpc>
              <a:buNone/>
            </a:pPr>
            <a:r>
              <a:rPr lang="en-US" altLang="zh-CN" sz="2000" b="1" dirty="0"/>
              <a:t>                exit(1);</a:t>
            </a:r>
            <a:endParaRPr lang="en-US" altLang="zh-CN" sz="2000" b="1" dirty="0"/>
          </a:p>
          <a:p>
            <a:pPr eaLnBrk="1" hangingPunct="1">
              <a:lnSpc>
                <a:spcPct val="80000"/>
              </a:lnSpc>
              <a:buNone/>
            </a:pPr>
            <a:r>
              <a:rPr lang="en-US" altLang="zh-CN" sz="2000" b="1" dirty="0"/>
              <a:t>        }</a:t>
            </a:r>
            <a:endParaRPr lang="en-US" altLang="zh-CN" sz="2000" b="1" dirty="0"/>
          </a:p>
          <a:p>
            <a:pPr eaLnBrk="1" hangingPunct="1">
              <a:lnSpc>
                <a:spcPct val="80000"/>
              </a:lnSpc>
              <a:buNone/>
            </a:pPr>
            <a:endParaRPr lang="en-US" altLang="zh-CN" sz="2000" b="1" dirty="0"/>
          </a:p>
          <a:p>
            <a:pPr eaLnBrk="1" hangingPunct="1">
              <a:lnSpc>
                <a:spcPct val="80000"/>
              </a:lnSpc>
              <a:buNone/>
            </a:pPr>
            <a:r>
              <a:rPr lang="en-US" altLang="zh-CN" sz="2000" b="1" dirty="0"/>
              <a:t>        bzero(&amp;server, sizeof(server));</a:t>
            </a:r>
            <a:endParaRPr lang="en-US" altLang="zh-CN" sz="2000" b="1" dirty="0"/>
          </a:p>
          <a:p>
            <a:pPr eaLnBrk="1" hangingPunct="1">
              <a:lnSpc>
                <a:spcPct val="80000"/>
              </a:lnSpc>
              <a:buNone/>
            </a:pPr>
            <a:r>
              <a:rPr lang="en-US" altLang="zh-CN" sz="2000" b="1" dirty="0"/>
              <a:t>        server.sin_family = AF_INET;</a:t>
            </a:r>
            <a:endParaRPr lang="en-US" altLang="zh-CN" sz="2000" b="1" dirty="0"/>
          </a:p>
          <a:p>
            <a:pPr eaLnBrk="1" hangingPunct="1">
              <a:lnSpc>
                <a:spcPct val="80000"/>
              </a:lnSpc>
              <a:buNone/>
            </a:pPr>
            <a:r>
              <a:rPr lang="en-US" altLang="zh-CN" sz="2000" b="1" dirty="0"/>
              <a:t>        server.sin_port = htons(PORT);</a:t>
            </a:r>
            <a:endParaRPr lang="en-US" altLang="zh-CN" sz="2000" b="1" dirty="0"/>
          </a:p>
          <a:p>
            <a:pPr eaLnBrk="1" hangingPunct="1">
              <a:lnSpc>
                <a:spcPct val="80000"/>
              </a:lnSpc>
              <a:buNone/>
            </a:pPr>
            <a:r>
              <a:rPr lang="en-US" altLang="zh-CN" sz="2000" b="1" dirty="0"/>
              <a:t>        server.sin_addr = *((struct in_addr *) he-&gt;h_addr);</a:t>
            </a:r>
            <a:endParaRPr lang="en-US" altLang="zh-CN" sz="2000" b="1" dirty="0"/>
          </a:p>
          <a:p>
            <a:pPr eaLnBrk="1" hangingPunct="1">
              <a:lnSpc>
                <a:spcPct val="80000"/>
              </a:lnSpc>
              <a:buNone/>
            </a:pPr>
            <a:r>
              <a:rPr lang="en-US" altLang="zh-CN" sz="2000" b="1" dirty="0">
                <a:solidFill>
                  <a:srgbClr val="00B050"/>
                </a:solidFill>
              </a:rPr>
              <a:t>       // #define h_addr  h_addr_list[0]</a:t>
            </a:r>
            <a:endParaRPr lang="en-US" altLang="zh-CN" sz="2000" b="1" dirty="0"/>
          </a:p>
        </p:txBody>
      </p:sp>
      <p:sp>
        <p:nvSpPr>
          <p:cNvPr id="160772" name="AutoShape 6">
            <a:hlinkClick r:id="rId1" action="ppaction://hlinksldjump"/>
          </p:cNvPr>
          <p:cNvSpPr/>
          <p:nvPr/>
        </p:nvSpPr>
        <p:spPr>
          <a:xfrm>
            <a:off x="7235825" y="6237288"/>
            <a:ext cx="792163" cy="360362"/>
          </a:xfrm>
          <a:prstGeom prst="actionButtonBackPrevious">
            <a:avLst/>
          </a:prstGeom>
          <a:solidFill>
            <a:srgbClr val="C0C0C0"/>
          </a:solidFill>
          <a:ln w="9525">
            <a:noFill/>
          </a:ln>
        </p:spPr>
        <p:txBody>
          <a:bodyPr wrap="none" anchor="ctr" anchorCtr="0"/>
          <a:p>
            <a:pPr eaLnBrk="1" hangingPunct="1"/>
            <a:endParaRPr lang="zh-CN" altLang="en-US" dirty="0">
              <a:latin typeface="Tahoma" panose="020B0604030504040204" pitchFamily="34" charset="0"/>
            </a:endParaRPr>
          </a:p>
        </p:txBody>
      </p:sp>
    </p:spTree>
  </p:cSld>
  <p:clrMapOvr>
    <a:masterClrMapping/>
  </p:clrMapOvr>
  <p:transition>
    <p:random/>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1794" name="内容占位符 3"/>
          <p:cNvSpPr>
            <a:spLocks noGrp="1"/>
          </p:cNvSpPr>
          <p:nvPr>
            <p:ph idx="1"/>
          </p:nvPr>
        </p:nvSpPr>
        <p:spPr>
          <a:xfrm>
            <a:off x="1042988" y="517525"/>
            <a:ext cx="7772400" cy="6337300"/>
          </a:xfrm>
        </p:spPr>
        <p:txBody>
          <a:bodyPr vert="horz" wrap="square" lIns="91440" tIns="45720" rIns="91440" bIns="45720" anchor="t" anchorCtr="0"/>
          <a:p>
            <a:pPr marL="0" indent="0">
              <a:lnSpc>
                <a:spcPct val="130000"/>
              </a:lnSpc>
              <a:buNone/>
            </a:pPr>
            <a:r>
              <a:rPr lang="en-US" altLang="zh-CN" sz="1800" b="1" dirty="0"/>
              <a:t>int main(int argc, char **argv)</a:t>
            </a:r>
            <a:endParaRPr lang="en-US" altLang="zh-CN" sz="1800" b="1" dirty="0"/>
          </a:p>
          <a:p>
            <a:pPr marL="0" indent="0">
              <a:lnSpc>
                <a:spcPct val="130000"/>
              </a:lnSpc>
              <a:buNone/>
            </a:pPr>
            <a:r>
              <a:rPr lang="en-US" altLang="zh-CN" sz="1800" b="1" dirty="0"/>
              <a:t>{</a:t>
            </a:r>
            <a:endParaRPr lang="en-US" altLang="zh-CN" sz="1800" b="1" dirty="0"/>
          </a:p>
          <a:p>
            <a:pPr marL="0" indent="0">
              <a:lnSpc>
                <a:spcPct val="130000"/>
              </a:lnSpc>
              <a:buNone/>
            </a:pPr>
            <a:r>
              <a:rPr lang="en-US" altLang="zh-CN" sz="1800" b="1" dirty="0"/>
              <a:t>    int i, sockfd;</a:t>
            </a:r>
            <a:endParaRPr lang="en-US" altLang="zh-CN" sz="1800" b="1" dirty="0"/>
          </a:p>
          <a:p>
            <a:pPr marL="0" indent="0">
              <a:lnSpc>
                <a:spcPct val="130000"/>
              </a:lnSpc>
              <a:buNone/>
            </a:pPr>
            <a:r>
              <a:rPr lang="en-US" altLang="zh-CN" sz="1800" b="1" dirty="0"/>
              <a:t>    struct hostent *host;</a:t>
            </a:r>
            <a:endParaRPr lang="en-US" altLang="zh-CN" sz="1800" b="1" dirty="0"/>
          </a:p>
          <a:p>
            <a:pPr marL="0" indent="0">
              <a:lnSpc>
                <a:spcPct val="130000"/>
              </a:lnSpc>
              <a:buNone/>
            </a:pPr>
            <a:r>
              <a:rPr lang="en-US" altLang="zh-CN" sz="1800" b="1" dirty="0"/>
              <a:t>    struct sockaddr_in serv_addr;</a:t>
            </a:r>
            <a:endParaRPr lang="en-US" altLang="zh-CN" sz="1800" b="1" dirty="0"/>
          </a:p>
          <a:p>
            <a:pPr marL="0" indent="0">
              <a:lnSpc>
                <a:spcPct val="130000"/>
              </a:lnSpc>
              <a:buNone/>
            </a:pPr>
            <a:r>
              <a:rPr lang="en-US" altLang="zh-CN" sz="1800" b="1" dirty="0"/>
              <a:t>    if ((host = </a:t>
            </a:r>
            <a:r>
              <a:rPr lang="en-US" altLang="zh-CN" sz="1800" b="1" dirty="0">
                <a:solidFill>
                  <a:srgbClr val="FF0000"/>
                </a:solidFill>
              </a:rPr>
              <a:t>gethostbyname</a:t>
            </a:r>
            <a:r>
              <a:rPr lang="en-US" altLang="zh-CN" sz="1800" b="1" dirty="0"/>
              <a:t>(argv[1])) == NULL) {</a:t>
            </a:r>
            <a:endParaRPr lang="en-US" altLang="zh-CN" sz="1800" b="1" dirty="0"/>
          </a:p>
          <a:p>
            <a:pPr marL="0" indent="0">
              <a:lnSpc>
                <a:spcPct val="130000"/>
              </a:lnSpc>
              <a:buNone/>
            </a:pPr>
            <a:r>
              <a:rPr lang="en-US" altLang="zh-CN" sz="1800" b="1" dirty="0"/>
              <a:t>        printf("gethostbyname error\n");</a:t>
            </a:r>
            <a:endParaRPr lang="en-US" altLang="zh-CN" sz="1800" b="1" dirty="0"/>
          </a:p>
          <a:p>
            <a:pPr marL="0" indent="0">
              <a:lnSpc>
                <a:spcPct val="130000"/>
              </a:lnSpc>
              <a:buNone/>
            </a:pPr>
            <a:r>
              <a:rPr lang="en-US" altLang="zh-CN" sz="1800" b="1" dirty="0"/>
              <a:t>        exit(0); //</a:t>
            </a:r>
            <a:r>
              <a:rPr lang="zh-CN" altLang="en-US" sz="1800" b="1" dirty="0">
                <a:solidFill>
                  <a:srgbClr val="00B050"/>
                </a:solidFill>
              </a:rPr>
              <a:t>本例中 </a:t>
            </a:r>
            <a:r>
              <a:rPr lang="en-US" altLang="zh-CN" sz="1800" b="1" dirty="0">
                <a:solidFill>
                  <a:srgbClr val="00B050"/>
                </a:solidFill>
              </a:rPr>
              <a:t>argv[1]  </a:t>
            </a:r>
            <a:r>
              <a:rPr lang="zh-CN" altLang="en-US" sz="1800" b="1" dirty="0">
                <a:solidFill>
                  <a:srgbClr val="00B050"/>
                </a:solidFill>
              </a:rPr>
              <a:t>指</a:t>
            </a:r>
            <a:r>
              <a:rPr lang="en-US" altLang="zh-CN" sz="1800" b="1" dirty="0">
                <a:solidFill>
                  <a:srgbClr val="00B050"/>
                </a:solidFill>
              </a:rPr>
              <a:t>  “www.sina.com” </a:t>
            </a:r>
            <a:endParaRPr lang="en-US" altLang="zh-CN" sz="1800" b="1" dirty="0">
              <a:solidFill>
                <a:srgbClr val="00B050"/>
              </a:solidFill>
            </a:endParaRPr>
          </a:p>
          <a:p>
            <a:pPr marL="0" indent="0">
              <a:lnSpc>
                <a:spcPct val="130000"/>
              </a:lnSpc>
              <a:buNone/>
            </a:pPr>
            <a:r>
              <a:rPr lang="en-US" altLang="zh-CN" sz="1800" b="1" dirty="0"/>
              <a:t>    }</a:t>
            </a:r>
            <a:endParaRPr lang="en-US" altLang="zh-CN" sz="1800" b="1" dirty="0"/>
          </a:p>
          <a:p>
            <a:pPr marL="0" indent="0">
              <a:lnSpc>
                <a:spcPct val="130000"/>
              </a:lnSpc>
              <a:buNone/>
            </a:pPr>
            <a:r>
              <a:rPr lang="en-US" altLang="zh-CN" sz="1800" b="1" dirty="0"/>
              <a:t>    printf("official name: %s\n\n", host-&gt;h_name);</a:t>
            </a:r>
            <a:endParaRPr lang="en-US" altLang="zh-CN" sz="1800" b="1" dirty="0"/>
          </a:p>
          <a:p>
            <a:pPr marL="0" indent="0">
              <a:lnSpc>
                <a:spcPct val="130000"/>
              </a:lnSpc>
              <a:buNone/>
            </a:pPr>
            <a:r>
              <a:rPr lang="en-US" altLang="zh-CN" sz="1800" b="1" dirty="0"/>
              <a:t>    printf("address length: %d bytes\n\n", host-&gt;h_length);</a:t>
            </a:r>
            <a:endParaRPr lang="en-US" altLang="zh-CN" sz="1800" b="1" dirty="0"/>
          </a:p>
          <a:p>
            <a:pPr marL="0" indent="0">
              <a:lnSpc>
                <a:spcPct val="130000"/>
              </a:lnSpc>
              <a:buNone/>
            </a:pPr>
            <a:r>
              <a:rPr lang="en-US" altLang="zh-CN" sz="1800" b="1" dirty="0"/>
              <a:t>    printf("host name alias: \n");</a:t>
            </a:r>
            <a:endParaRPr lang="en-US" altLang="zh-CN" sz="1800" b="1" dirty="0"/>
          </a:p>
          <a:p>
            <a:pPr marL="0" indent="0">
              <a:lnSpc>
                <a:spcPct val="130000"/>
              </a:lnSpc>
              <a:buNone/>
            </a:pPr>
            <a:r>
              <a:rPr lang="en-US" altLang="zh-CN" sz="1800" b="1" dirty="0">
                <a:solidFill>
                  <a:srgbClr val="0070C0"/>
                </a:solidFill>
              </a:rPr>
              <a:t>    for (i = 0; host-&gt;h_aliases[i]; i++)</a:t>
            </a:r>
            <a:endParaRPr lang="en-US" altLang="zh-CN" sz="1800" b="1" dirty="0">
              <a:solidFill>
                <a:srgbClr val="0070C0"/>
              </a:solidFill>
            </a:endParaRPr>
          </a:p>
          <a:p>
            <a:pPr marL="0" indent="0">
              <a:lnSpc>
                <a:spcPct val="130000"/>
              </a:lnSpc>
              <a:buNone/>
            </a:pPr>
            <a:r>
              <a:rPr lang="en-US" altLang="zh-CN" sz="1800" b="1" dirty="0">
                <a:solidFill>
                  <a:srgbClr val="0070C0"/>
                </a:solidFill>
              </a:rPr>
              <a:t>        printf("%s\n", host-&gt;h_aliases[i]);</a:t>
            </a:r>
            <a:endParaRPr lang="en-US" altLang="zh-CN" sz="1800" b="1" dirty="0">
              <a:solidFill>
                <a:srgbClr val="0070C0"/>
              </a:solidFill>
            </a:endParaRPr>
          </a:p>
          <a:p>
            <a:pPr marL="0" indent="0">
              <a:lnSpc>
                <a:spcPct val="130000"/>
              </a:lnSpc>
              <a:buNone/>
            </a:pPr>
            <a:r>
              <a:rPr lang="en-US" altLang="zh-CN" sz="1800" b="1" dirty="0"/>
              <a:t>    printf("\naddress list: \n");</a:t>
            </a:r>
            <a:endParaRPr lang="zh-CN" altLang="en-US" sz="1800" b="1" dirty="0"/>
          </a:p>
        </p:txBody>
      </p:sp>
      <p:sp>
        <p:nvSpPr>
          <p:cNvPr id="2" name="剪去对角的矩形 1"/>
          <p:cNvSpPr/>
          <p:nvPr/>
        </p:nvSpPr>
        <p:spPr bwMode="auto">
          <a:xfrm>
            <a:off x="4787900" y="0"/>
            <a:ext cx="4176713" cy="2205038"/>
          </a:xfrm>
          <a:prstGeom prst="snip2DiagRect">
            <a:avLst/>
          </a:prstGeom>
          <a:solidFill>
            <a:schemeClr val="accent1"/>
          </a:solidFill>
          <a:ln w="9525" cap="flat" cmpd="sng" algn="ctr">
            <a:solidFill>
              <a:schemeClr val="tx1"/>
            </a:solidFill>
            <a:prstDash val="solid"/>
            <a:miter lim="800000"/>
            <a:headEnd type="none" w="med" len="med"/>
            <a:tailEnd type="none" w="med" len="med"/>
          </a:ln>
          <a:effec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t>struct hostent {</a:t>
            </a:r>
            <a:endParaRPr kumimoji="0" lang="en-US" altLang="zh-CN"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t>        char  *h_name; //</a:t>
            </a:r>
            <a:r>
              <a:rPr kumimoji="0" lang="zh-CN" altLang="en-US"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t>官方名     	 </a:t>
            </a:r>
            <a:endParaRPr kumimoji="0" lang="zh-CN" altLang="en-US"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t>        </a:t>
            </a:r>
            <a:r>
              <a:rPr kumimoji="0" lang="en-US" altLang="zh-CN"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t>char  **h__aliases; //</a:t>
            </a:r>
            <a:r>
              <a:rPr kumimoji="0" lang="zh-CN" altLang="en-US"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t>别名	</a:t>
            </a:r>
            <a:endParaRPr kumimoji="0" lang="zh-CN" altLang="en-US"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t>        </a:t>
            </a:r>
            <a:r>
              <a:rPr kumimoji="0" lang="en-US" altLang="zh-CN"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t>int h_addrtype; //AF_INET</a:t>
            </a:r>
            <a:endParaRPr kumimoji="0" lang="en-US" altLang="zh-CN"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t>        int h_length; //4 or 16</a:t>
            </a:r>
            <a:endParaRPr kumimoji="0" lang="en-US" altLang="zh-CN"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t>        char **h_addr_list;//</a:t>
            </a:r>
            <a:r>
              <a:rPr kumimoji="0" lang="zh-CN" altLang="en-US"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t>地址列表	</a:t>
            </a:r>
            <a:endParaRPr kumimoji="0" lang="zh-CN" altLang="en-US"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t>};</a:t>
            </a:r>
            <a:endParaRPr kumimoji="0" lang="zh-CN" altLang="en-US"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2818" name="内容占位符 2"/>
          <p:cNvSpPr>
            <a:spLocks noGrp="1"/>
          </p:cNvSpPr>
          <p:nvPr>
            <p:ph idx="1"/>
          </p:nvPr>
        </p:nvSpPr>
        <p:spPr>
          <a:xfrm>
            <a:off x="971550" y="115888"/>
            <a:ext cx="7751763" cy="6661150"/>
          </a:xfrm>
        </p:spPr>
        <p:txBody>
          <a:bodyPr vert="horz" wrap="square" lIns="91440" tIns="45720" rIns="91440" bIns="45720" anchor="t" anchorCtr="0"/>
          <a:p>
            <a:pPr marL="0" indent="0">
              <a:buNone/>
            </a:pPr>
            <a:r>
              <a:rPr lang="en-US" altLang="zh-CN" sz="1800" b="1" dirty="0"/>
              <a:t> for (i = 0; host-&gt;h_addr_list[i]; i++) {</a:t>
            </a:r>
            <a:endParaRPr lang="en-US" altLang="zh-CN" sz="1800" b="1" dirty="0"/>
          </a:p>
          <a:p>
            <a:pPr marL="0" indent="0">
              <a:buNone/>
            </a:pPr>
            <a:r>
              <a:rPr lang="en-US" altLang="zh-CN" sz="1800" b="1" dirty="0"/>
              <a:t>        if ((sockfd = socket(AF_INET, SOCK_STREAM,0)) == -1) {</a:t>
            </a:r>
            <a:endParaRPr lang="en-US" altLang="zh-CN" sz="1800" b="1" dirty="0"/>
          </a:p>
          <a:p>
            <a:pPr marL="0" indent="0">
              <a:buNone/>
            </a:pPr>
            <a:r>
              <a:rPr lang="en-US" altLang="zh-CN" sz="1800" b="1" dirty="0"/>
              <a:t>            printf("socket error\n");</a:t>
            </a:r>
            <a:endParaRPr lang="en-US" altLang="zh-CN" sz="1800" b="1" dirty="0"/>
          </a:p>
          <a:p>
            <a:pPr marL="0" indent="0">
              <a:buNone/>
            </a:pPr>
            <a:r>
              <a:rPr lang="en-US" altLang="zh-CN" sz="1800" b="1" dirty="0"/>
              <a:t>            exit(0);}</a:t>
            </a:r>
            <a:endParaRPr lang="en-US" altLang="zh-CN" sz="1800" b="1" dirty="0"/>
          </a:p>
          <a:p>
            <a:pPr marL="0" indent="0">
              <a:buNone/>
            </a:pPr>
            <a:r>
              <a:rPr lang="en-US" altLang="zh-CN" sz="1800" b="1" dirty="0"/>
              <a:t>        bzero(&amp;serv_addr, sizeof(serv_addr));</a:t>
            </a:r>
            <a:endParaRPr lang="en-US" altLang="zh-CN" sz="1800" b="1" dirty="0"/>
          </a:p>
          <a:p>
            <a:pPr marL="0" indent="0">
              <a:buNone/>
            </a:pPr>
            <a:r>
              <a:rPr lang="en-US" altLang="zh-CN" sz="1800" b="1" dirty="0"/>
              <a:t>        serv_addr.sin_family = AF_INET;</a:t>
            </a:r>
            <a:endParaRPr lang="en-US" altLang="zh-CN" sz="1800" b="1" dirty="0"/>
          </a:p>
          <a:p>
            <a:pPr marL="0" indent="0">
              <a:buNone/>
            </a:pPr>
            <a:r>
              <a:rPr lang="en-US" altLang="zh-CN" sz="1800" b="1" dirty="0"/>
              <a:t>        serv_addr.sin_port = htons(SERVPORT);</a:t>
            </a:r>
            <a:endParaRPr lang="en-US" altLang="zh-CN" sz="1800" b="1" dirty="0"/>
          </a:p>
          <a:p>
            <a:pPr marL="0" indent="0">
              <a:buNone/>
            </a:pPr>
            <a:r>
              <a:rPr lang="en-US" altLang="zh-CN" sz="1800" b="1" dirty="0"/>
              <a:t>        serv_addr.sin_addr = *((struct in_addr *)host-&gt;h_addr_list[i]);</a:t>
            </a:r>
            <a:endParaRPr lang="en-US" altLang="zh-CN" sz="1800" b="1" dirty="0"/>
          </a:p>
          <a:p>
            <a:pPr marL="0" indent="0">
              <a:buNone/>
            </a:pPr>
            <a:r>
              <a:rPr lang="en-US" altLang="zh-CN" sz="1800" b="1" dirty="0"/>
              <a:t>        char *ip = inet_ntoa(serv_addr.sin_addr);</a:t>
            </a:r>
            <a:endParaRPr lang="en-US" altLang="zh-CN" sz="1800" b="1" dirty="0"/>
          </a:p>
          <a:p>
            <a:pPr marL="0" indent="0">
              <a:buNone/>
            </a:pPr>
            <a:r>
              <a:rPr lang="en-US" altLang="zh-CN" sz="1800" b="1" dirty="0"/>
              <a:t>        printf("connect to %s  ", ip);</a:t>
            </a:r>
            <a:endParaRPr lang="en-US" altLang="zh-CN" sz="1800" b="1" dirty="0"/>
          </a:p>
          <a:p>
            <a:pPr marL="0" indent="0">
              <a:buNone/>
            </a:pPr>
            <a:r>
              <a:rPr lang="en-US" altLang="zh-CN" sz="1800" b="1" dirty="0"/>
              <a:t>        if (connect(sockfd, (struct sockaddr *)&amp;serv_addr,                     sizeof(struct sockaddr)) == -1) {</a:t>
            </a:r>
            <a:endParaRPr lang="en-US" altLang="zh-CN" sz="1800" b="1" dirty="0"/>
          </a:p>
          <a:p>
            <a:pPr marL="0" indent="0">
              <a:buNone/>
            </a:pPr>
            <a:r>
              <a:rPr lang="en-US" altLang="zh-CN" sz="1800" b="1" dirty="0"/>
              <a:t>            printf("error\n");</a:t>
            </a:r>
            <a:endParaRPr lang="en-US" altLang="zh-CN" sz="1800" b="1" dirty="0"/>
          </a:p>
          <a:p>
            <a:pPr marL="0" indent="0">
              <a:buNone/>
            </a:pPr>
            <a:r>
              <a:rPr lang="en-US" altLang="zh-CN" sz="1800" b="1" dirty="0"/>
              <a:t>            exit(0);</a:t>
            </a:r>
            <a:endParaRPr lang="en-US" altLang="zh-CN" sz="1800" b="1" dirty="0"/>
          </a:p>
          <a:p>
            <a:pPr marL="0" indent="0">
              <a:buNone/>
            </a:pPr>
            <a:r>
              <a:rPr lang="en-US" altLang="zh-CN" sz="1800" b="1" dirty="0"/>
              <a:t>        }</a:t>
            </a:r>
            <a:endParaRPr lang="en-US" altLang="zh-CN" sz="1800" b="1" dirty="0"/>
          </a:p>
          <a:p>
            <a:pPr marL="0" indent="0">
              <a:buNone/>
            </a:pPr>
            <a:r>
              <a:rPr lang="en-US" altLang="zh-CN" sz="1800" b="1" dirty="0"/>
              <a:t>        printf("success\n");</a:t>
            </a:r>
            <a:endParaRPr lang="en-US" altLang="zh-CN" sz="1800" b="1" dirty="0"/>
          </a:p>
          <a:p>
            <a:pPr marL="0" indent="0">
              <a:buNone/>
            </a:pPr>
            <a:r>
              <a:rPr lang="en-US" altLang="zh-CN" sz="1800" b="1" dirty="0"/>
              <a:t>    }</a:t>
            </a:r>
            <a:endParaRPr lang="en-US" altLang="zh-CN" sz="1800" b="1" dirty="0"/>
          </a:p>
          <a:p>
            <a:pPr marL="0" indent="0">
              <a:buNone/>
            </a:pPr>
            <a:r>
              <a:rPr lang="en-US" altLang="zh-CN" sz="1800" b="1" dirty="0"/>
              <a:t>    return 0;</a:t>
            </a:r>
            <a:endParaRPr lang="en-US" altLang="zh-CN" sz="1800" b="1" dirty="0"/>
          </a:p>
          <a:p>
            <a:pPr marL="0" indent="0">
              <a:buNone/>
            </a:pPr>
            <a:r>
              <a:rPr lang="en-US" altLang="zh-CN" sz="1800" b="1" dirty="0"/>
              <a:t>} //end main()……</a:t>
            </a:r>
            <a:endParaRPr lang="zh-CN" altLang="en-US" sz="1800" b="1"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42" name="标题 1"/>
          <p:cNvSpPr>
            <a:spLocks noGrp="1"/>
          </p:cNvSpPr>
          <p:nvPr>
            <p:ph type="title"/>
          </p:nvPr>
        </p:nvSpPr>
        <p:spPr/>
        <p:txBody>
          <a:bodyPr vert="horz" wrap="square" lIns="91440" tIns="45720" rIns="91440" bIns="45720" anchor="b" anchorCtr="0"/>
          <a:p>
            <a:endParaRPr lang="zh-CN" altLang="en-US" dirty="0"/>
          </a:p>
        </p:txBody>
      </p:sp>
      <p:pic>
        <p:nvPicPr>
          <p:cNvPr id="163843" name="内容占位符 3"/>
          <p:cNvPicPr>
            <a:picLocks noGrp="1" noChangeAspect="1"/>
          </p:cNvPicPr>
          <p:nvPr>
            <p:ph idx="1"/>
          </p:nvPr>
        </p:nvPicPr>
        <p:blipFill>
          <a:blip r:embed="rId1"/>
          <a:srcRect/>
          <a:stretch>
            <a:fillRect/>
          </a:stretch>
        </p:blipFill>
        <p:spPr>
          <a:xfrm>
            <a:off x="971550" y="620713"/>
            <a:ext cx="7972425" cy="5184775"/>
          </a:xfr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4866" name="Rectangle 2"/>
          <p:cNvSpPr>
            <a:spLocks noGrp="1"/>
          </p:cNvSpPr>
          <p:nvPr>
            <p:ph type="title"/>
          </p:nvPr>
        </p:nvSpPr>
        <p:spPr/>
        <p:txBody>
          <a:bodyPr vert="horz" wrap="square" lIns="91440" tIns="45720" rIns="91440" bIns="45720" anchor="b" anchorCtr="0"/>
          <a:p>
            <a:pPr eaLnBrk="1" hangingPunct="1"/>
            <a:endParaRPr lang="zh-CN" altLang="zh-CN" dirty="0"/>
          </a:p>
        </p:txBody>
      </p:sp>
      <p:sp>
        <p:nvSpPr>
          <p:cNvPr id="164867" name="Rectangle 3"/>
          <p:cNvSpPr>
            <a:spLocks noGrp="1"/>
          </p:cNvSpPr>
          <p:nvPr>
            <p:ph idx="1"/>
          </p:nvPr>
        </p:nvSpPr>
        <p:spPr/>
        <p:txBody>
          <a:bodyPr vert="horz" wrap="square" lIns="91440" tIns="45720" rIns="91440" bIns="45720" anchor="t" anchorCtr="0"/>
          <a:p>
            <a:pPr eaLnBrk="1" hangingPunct="1">
              <a:lnSpc>
                <a:spcPct val="90000"/>
              </a:lnSpc>
              <a:buNone/>
            </a:pPr>
            <a:r>
              <a:rPr lang="en-US" altLang="zh-CN" dirty="0"/>
              <a:t>char *fgets(char *buf, int num, FILE *fp); </a:t>
            </a:r>
            <a:endParaRPr lang="en-US" altLang="zh-CN" dirty="0"/>
          </a:p>
          <a:p>
            <a:pPr eaLnBrk="1" hangingPunct="1">
              <a:lnSpc>
                <a:spcPct val="90000"/>
              </a:lnSpc>
            </a:pPr>
            <a:r>
              <a:rPr lang="zh-CN" altLang="en-US" dirty="0"/>
              <a:t>从</a:t>
            </a:r>
            <a:r>
              <a:rPr lang="en-US" altLang="zh-CN" dirty="0"/>
              <a:t>fp</a:t>
            </a:r>
            <a:r>
              <a:rPr lang="zh-CN" altLang="en-US" dirty="0"/>
              <a:t>指向的文件读取一个长度为</a:t>
            </a:r>
            <a:r>
              <a:rPr lang="en-US" altLang="zh-CN" dirty="0"/>
              <a:t>num-1</a:t>
            </a:r>
            <a:r>
              <a:rPr lang="zh-CN" altLang="en-US" dirty="0"/>
              <a:t>的字符串，存入起始地址为</a:t>
            </a:r>
            <a:r>
              <a:rPr lang="en-US" altLang="zh-CN" dirty="0"/>
              <a:t>buf</a:t>
            </a:r>
            <a:r>
              <a:rPr lang="zh-CN" altLang="en-US" dirty="0"/>
              <a:t>的空间。返回地址</a:t>
            </a:r>
            <a:r>
              <a:rPr lang="en-US" altLang="zh-CN" dirty="0"/>
              <a:t>buf</a:t>
            </a:r>
            <a:r>
              <a:rPr lang="zh-CN" altLang="en-US" dirty="0"/>
              <a:t>，若遇文件结束或出错，返回</a:t>
            </a:r>
            <a:r>
              <a:rPr lang="en-US" altLang="zh-CN" dirty="0"/>
              <a:t>NULL</a:t>
            </a:r>
            <a:r>
              <a:rPr lang="zh-CN" altLang="en-US" dirty="0"/>
              <a:t>。</a:t>
            </a:r>
            <a:endParaRPr lang="zh-CN" altLang="en-US" dirty="0"/>
          </a:p>
          <a:p>
            <a:pPr eaLnBrk="1" hangingPunct="1">
              <a:lnSpc>
                <a:spcPct val="90000"/>
              </a:lnSpc>
            </a:pPr>
            <a:r>
              <a:rPr lang="zh-CN" altLang="en-US" dirty="0"/>
              <a:t>其中，</a:t>
            </a:r>
            <a:r>
              <a:rPr lang="en-US" altLang="zh-CN" dirty="0"/>
              <a:t>fp</a:t>
            </a:r>
            <a:r>
              <a:rPr lang="zh-CN" altLang="en-US" dirty="0"/>
              <a:t>使用</a:t>
            </a:r>
            <a:r>
              <a:rPr lang="en-US" altLang="zh-CN" dirty="0"/>
              <a:t>stdin</a:t>
            </a:r>
            <a:r>
              <a:rPr lang="zh-CN" altLang="en-US" dirty="0"/>
              <a:t>就是从标准输入读取数据 </a:t>
            </a:r>
            <a:endParaRPr lang="zh-CN" altLang="en-US" dirty="0"/>
          </a:p>
          <a:p>
            <a:pPr eaLnBrk="1" hangingPunct="1">
              <a:lnSpc>
                <a:spcPct val="90000"/>
              </a:lnSpc>
              <a:buNone/>
            </a:pPr>
            <a:r>
              <a:rPr lang="en-US" altLang="zh-CN" dirty="0"/>
              <a:t>char	buf[MAXDATASIZE]</a:t>
            </a:r>
            <a:r>
              <a:rPr lang="zh-CN" altLang="en-US" dirty="0"/>
              <a:t>；</a:t>
            </a:r>
            <a:endParaRPr lang="zh-CN" altLang="en-US" dirty="0"/>
          </a:p>
          <a:p>
            <a:pPr eaLnBrk="1" hangingPunct="1">
              <a:lnSpc>
                <a:spcPct val="90000"/>
              </a:lnSpc>
              <a:buNone/>
            </a:pPr>
            <a:r>
              <a:rPr lang="en-US" altLang="zh-CN" dirty="0"/>
              <a:t>fgets(buf, MAXDATASIZE, </a:t>
            </a:r>
            <a:r>
              <a:rPr lang="en-US" altLang="en-US" dirty="0"/>
              <a:t>stdin</a:t>
            </a:r>
            <a:r>
              <a:rPr lang="en-US" altLang="zh-CN" dirty="0"/>
              <a:t>) </a:t>
            </a:r>
            <a:endParaRPr lang="en-US" altLang="zh-CN" dirty="0"/>
          </a:p>
        </p:txBody>
      </p:sp>
    </p:spTree>
  </p:cSld>
  <p:clrMapOvr>
    <a:masterClrMapping/>
  </p:clrMapOvr>
  <p:transition>
    <p:random/>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5890" name="Rectangle 2"/>
          <p:cNvSpPr>
            <a:spLocks noGrp="1"/>
          </p:cNvSpPr>
          <p:nvPr>
            <p:ph type="title"/>
          </p:nvPr>
        </p:nvSpPr>
        <p:spPr/>
        <p:txBody>
          <a:bodyPr vert="horz" wrap="square" lIns="91440" tIns="45720" rIns="91440" bIns="45720" anchor="b" anchorCtr="0"/>
          <a:p>
            <a:pPr eaLnBrk="1" hangingPunct="1"/>
            <a:endParaRPr lang="zh-CN" altLang="zh-CN" dirty="0"/>
          </a:p>
        </p:txBody>
      </p:sp>
      <p:pic>
        <p:nvPicPr>
          <p:cNvPr id="165891" name="图片 2"/>
          <p:cNvPicPr>
            <a:picLocks noChangeAspect="1"/>
          </p:cNvPicPr>
          <p:nvPr/>
        </p:nvPicPr>
        <p:blipFill>
          <a:blip r:embed="rId1"/>
          <a:stretch>
            <a:fillRect/>
          </a:stretch>
        </p:blipFill>
        <p:spPr>
          <a:xfrm>
            <a:off x="539750" y="1773238"/>
            <a:ext cx="8404225" cy="4751387"/>
          </a:xfrm>
          <a:prstGeom prst="rect">
            <a:avLst/>
          </a:prstGeom>
          <a:noFill/>
          <a:ln w="9525">
            <a:noFill/>
          </a:ln>
        </p:spPr>
      </p:pic>
    </p:spTree>
  </p:cSld>
  <p:clrMapOvr>
    <a:masterClrMapping/>
  </p:clrMapOvr>
  <p:transition>
    <p:random/>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6914" name="Rectangle 2"/>
          <p:cNvSpPr>
            <a:spLocks noGrp="1"/>
          </p:cNvSpPr>
          <p:nvPr>
            <p:ph type="title"/>
          </p:nvPr>
        </p:nvSpPr>
        <p:spPr/>
        <p:txBody>
          <a:bodyPr vert="horz" wrap="square" lIns="91440" tIns="45720" rIns="91440" bIns="45720" anchor="b" anchorCtr="0"/>
          <a:p>
            <a:pPr eaLnBrk="1" hangingPunct="1"/>
            <a:r>
              <a:rPr lang="en-US" altLang="zh-CN" dirty="0"/>
              <a:t>TCP</a:t>
            </a:r>
            <a:r>
              <a:rPr lang="zh-CN" altLang="en-US" dirty="0"/>
              <a:t>套接字编程</a:t>
            </a:r>
            <a:endParaRPr lang="zh-CN" altLang="en-US" dirty="0"/>
          </a:p>
        </p:txBody>
      </p:sp>
      <p:sp>
        <p:nvSpPr>
          <p:cNvPr id="166915" name="Rectangle 3"/>
          <p:cNvSpPr>
            <a:spLocks noGrp="1"/>
          </p:cNvSpPr>
          <p:nvPr>
            <p:ph idx="1"/>
          </p:nvPr>
        </p:nvSpPr>
        <p:spPr/>
        <p:txBody>
          <a:bodyPr vert="horz" wrap="square" lIns="91440" tIns="45720" rIns="91440" bIns="45720" anchor="t" anchorCtr="0"/>
          <a:p>
            <a:pPr marL="609600" indent="-609600" eaLnBrk="1" hangingPunct="1">
              <a:lnSpc>
                <a:spcPct val="90000"/>
              </a:lnSpc>
            </a:pPr>
            <a:r>
              <a:rPr lang="zh-CN" altLang="en-US" sz="2800" dirty="0"/>
              <a:t>实现</a:t>
            </a:r>
            <a:r>
              <a:rPr lang="en-US" altLang="zh-CN" sz="2800" dirty="0"/>
              <a:t>TCP</a:t>
            </a:r>
            <a:r>
              <a:rPr lang="zh-CN" altLang="en-US" sz="2800" dirty="0"/>
              <a:t>套接字基本步骤分为服务器端和客户端两部分：</a:t>
            </a:r>
            <a:endParaRPr lang="zh-CN" altLang="en-US" sz="2800" dirty="0"/>
          </a:p>
          <a:p>
            <a:pPr marL="609600" indent="-609600" eaLnBrk="1" hangingPunct="1">
              <a:lnSpc>
                <a:spcPct val="90000"/>
              </a:lnSpc>
            </a:pPr>
            <a:r>
              <a:rPr lang="zh-CN" altLang="en-US" sz="2800" dirty="0"/>
              <a:t>服务器端（</a:t>
            </a:r>
            <a:r>
              <a:rPr lang="zh-CN" altLang="en-US" sz="2800" b="1" dirty="0"/>
              <a:t>课堂作业</a:t>
            </a:r>
            <a:r>
              <a:rPr lang="zh-CN" altLang="en-US" sz="2800" dirty="0"/>
              <a:t>）</a:t>
            </a:r>
            <a:endParaRPr lang="zh-CN" altLang="en-US" sz="2800" dirty="0"/>
          </a:p>
          <a:p>
            <a:pPr marL="990600" lvl="1" indent="-533400" eaLnBrk="1" hangingPunct="1">
              <a:lnSpc>
                <a:spcPct val="90000"/>
              </a:lnSpc>
              <a:buFont typeface="Wingdings" panose="05000000000000000000" pitchFamily="2" charset="2"/>
              <a:buAutoNum type="circleNumDbPlain"/>
            </a:pPr>
            <a:r>
              <a:rPr lang="zh-CN" altLang="en-US" sz="2400" dirty="0"/>
              <a:t>创建套接字；</a:t>
            </a:r>
            <a:endParaRPr lang="zh-CN" altLang="en-US" sz="2400" dirty="0"/>
          </a:p>
          <a:p>
            <a:pPr marL="990600" lvl="1" indent="-533400" eaLnBrk="1" hangingPunct="1">
              <a:lnSpc>
                <a:spcPct val="90000"/>
              </a:lnSpc>
              <a:buFont typeface="Wingdings" panose="05000000000000000000" pitchFamily="2" charset="2"/>
              <a:buAutoNum type="circleNumDbPlain"/>
            </a:pPr>
            <a:r>
              <a:rPr lang="zh-CN" altLang="en-US" sz="2400" dirty="0"/>
              <a:t>绑定套接字；</a:t>
            </a:r>
            <a:endParaRPr lang="zh-CN" altLang="en-US" sz="2400" dirty="0"/>
          </a:p>
          <a:p>
            <a:pPr marL="990600" lvl="1" indent="-533400" eaLnBrk="1" hangingPunct="1">
              <a:lnSpc>
                <a:spcPct val="90000"/>
              </a:lnSpc>
              <a:buFont typeface="Wingdings" panose="05000000000000000000" pitchFamily="2" charset="2"/>
              <a:buAutoNum type="circleNumDbPlain"/>
            </a:pPr>
            <a:r>
              <a:rPr lang="zh-CN" altLang="en-US" sz="2400" dirty="0"/>
              <a:t>设置套接字为监听模式，进入被动接受连接状态；</a:t>
            </a:r>
            <a:endParaRPr lang="zh-CN" altLang="en-US" sz="2400" dirty="0"/>
          </a:p>
          <a:p>
            <a:pPr marL="990600" lvl="1" indent="-533400" eaLnBrk="1" hangingPunct="1">
              <a:lnSpc>
                <a:spcPct val="90000"/>
              </a:lnSpc>
              <a:buFont typeface="Wingdings" panose="05000000000000000000" pitchFamily="2" charset="2"/>
              <a:buAutoNum type="circleNumDbPlain"/>
            </a:pPr>
            <a:r>
              <a:rPr lang="zh-CN" altLang="en-US" sz="2400" dirty="0"/>
              <a:t>接受请求，建立连接</a:t>
            </a:r>
            <a:endParaRPr lang="zh-CN" altLang="en-US" sz="2400" dirty="0"/>
          </a:p>
          <a:p>
            <a:pPr marL="990600" lvl="1" indent="-533400" eaLnBrk="1" hangingPunct="1">
              <a:lnSpc>
                <a:spcPct val="90000"/>
              </a:lnSpc>
              <a:buFont typeface="Wingdings" panose="05000000000000000000" pitchFamily="2" charset="2"/>
              <a:buAutoNum type="circleNumDbPlain"/>
            </a:pPr>
            <a:r>
              <a:rPr lang="zh-CN" altLang="en-US" sz="2400" dirty="0"/>
              <a:t>读写数据</a:t>
            </a:r>
            <a:endParaRPr lang="zh-CN" altLang="en-US" sz="2400" dirty="0"/>
          </a:p>
          <a:p>
            <a:pPr marL="990600" lvl="1" indent="-533400" eaLnBrk="1" hangingPunct="1">
              <a:lnSpc>
                <a:spcPct val="90000"/>
              </a:lnSpc>
              <a:buFont typeface="Wingdings" panose="05000000000000000000" pitchFamily="2" charset="2"/>
              <a:buAutoNum type="circleNumDbPlain"/>
            </a:pPr>
            <a:r>
              <a:rPr lang="zh-CN" altLang="en-US" sz="2400" dirty="0"/>
              <a:t>终止连接</a:t>
            </a:r>
            <a:endParaRPr lang="zh-CN" altLang="en-US" sz="2400" dirty="0"/>
          </a:p>
        </p:txBody>
      </p:sp>
    </p:spTree>
  </p:cSld>
  <p:clrMapOvr>
    <a:masterClrMapping/>
  </p:clrMapOvr>
  <p:transition>
    <p:random/>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8962" name="Rectangle 2"/>
          <p:cNvSpPr>
            <a:spLocks noGrp="1"/>
          </p:cNvSpPr>
          <p:nvPr>
            <p:ph type="title"/>
          </p:nvPr>
        </p:nvSpPr>
        <p:spPr/>
        <p:txBody>
          <a:bodyPr vert="horz" wrap="square" lIns="91440" tIns="45720" rIns="91440" bIns="45720" anchor="b" anchorCtr="0"/>
          <a:p>
            <a:pPr eaLnBrk="1" hangingPunct="1"/>
            <a:r>
              <a:rPr lang="en-US" altLang="zh-CN" dirty="0"/>
              <a:t>TCP</a:t>
            </a:r>
            <a:r>
              <a:rPr lang="zh-CN" altLang="en-US" dirty="0"/>
              <a:t>套接字编程（</a:t>
            </a:r>
            <a:r>
              <a:rPr lang="en-US" altLang="zh-CN" dirty="0"/>
              <a:t>cont.</a:t>
            </a:r>
            <a:r>
              <a:rPr lang="zh-CN" altLang="en-US" dirty="0"/>
              <a:t>）</a:t>
            </a:r>
            <a:endParaRPr lang="zh-CN" altLang="en-US" dirty="0"/>
          </a:p>
        </p:txBody>
      </p:sp>
      <p:sp>
        <p:nvSpPr>
          <p:cNvPr id="168963" name="Rectangle 3"/>
          <p:cNvSpPr>
            <a:spLocks noGrp="1"/>
          </p:cNvSpPr>
          <p:nvPr>
            <p:ph idx="1"/>
          </p:nvPr>
        </p:nvSpPr>
        <p:spPr/>
        <p:txBody>
          <a:bodyPr vert="horz" wrap="square" lIns="91440" tIns="45720" rIns="91440" bIns="45720" anchor="t" anchorCtr="0"/>
          <a:p>
            <a:pPr marL="609600" indent="-609600" eaLnBrk="1" hangingPunct="1"/>
            <a:r>
              <a:rPr lang="zh-CN" altLang="en-US" dirty="0"/>
              <a:t>客户端步骤</a:t>
            </a:r>
            <a:endParaRPr lang="zh-CN" altLang="en-US" dirty="0"/>
          </a:p>
          <a:p>
            <a:pPr marL="990600" lvl="1" indent="-533400" eaLnBrk="1" hangingPunct="1">
              <a:buFont typeface="Wingdings" panose="05000000000000000000" pitchFamily="2" charset="2"/>
              <a:buAutoNum type="circleNumDbPlain"/>
            </a:pPr>
            <a:r>
              <a:rPr lang="zh-CN" altLang="en-US" dirty="0"/>
              <a:t>创建套接字</a:t>
            </a:r>
            <a:endParaRPr lang="zh-CN" altLang="en-US" dirty="0"/>
          </a:p>
          <a:p>
            <a:pPr marL="990600" lvl="1" indent="-533400" eaLnBrk="1" hangingPunct="1">
              <a:buFont typeface="Wingdings" panose="05000000000000000000" pitchFamily="2" charset="2"/>
              <a:buAutoNum type="circleNumDbPlain"/>
            </a:pPr>
            <a:r>
              <a:rPr lang="zh-CN" altLang="en-US" dirty="0"/>
              <a:t>与远程服务器建立连接</a:t>
            </a:r>
            <a:endParaRPr lang="zh-CN" altLang="en-US" dirty="0"/>
          </a:p>
          <a:p>
            <a:pPr marL="990600" lvl="1" indent="-533400" eaLnBrk="1" hangingPunct="1">
              <a:buFont typeface="Wingdings" panose="05000000000000000000" pitchFamily="2" charset="2"/>
              <a:buAutoNum type="circleNumDbPlain"/>
            </a:pPr>
            <a:r>
              <a:rPr lang="zh-CN" altLang="en-US" dirty="0"/>
              <a:t>读</a:t>
            </a:r>
            <a:r>
              <a:rPr lang="en-US" altLang="zh-CN" dirty="0"/>
              <a:t>/</a:t>
            </a:r>
            <a:r>
              <a:rPr lang="zh-CN" altLang="en-US" dirty="0"/>
              <a:t>写数据；</a:t>
            </a:r>
            <a:endParaRPr lang="zh-CN" altLang="en-US" dirty="0"/>
          </a:p>
          <a:p>
            <a:pPr marL="990600" lvl="1" indent="-533400" eaLnBrk="1" hangingPunct="1">
              <a:buFont typeface="Wingdings" panose="05000000000000000000" pitchFamily="2" charset="2"/>
              <a:buAutoNum type="circleNumDbPlain"/>
            </a:pPr>
            <a:r>
              <a:rPr lang="zh-CN" altLang="en-US" dirty="0"/>
              <a:t>终止连接</a:t>
            </a:r>
            <a:endParaRPr lang="zh-CN" altLang="en-US" dirty="0"/>
          </a:p>
        </p:txBody>
      </p:sp>
    </p:spTree>
  </p:cSld>
  <p:clrMapOvr>
    <a:masterClrMapping/>
  </p:clrMapOvr>
  <p:transition>
    <p:random/>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1010" name="Rectangle 2"/>
          <p:cNvSpPr>
            <a:spLocks noGrp="1"/>
          </p:cNvSpPr>
          <p:nvPr>
            <p:ph type="title"/>
          </p:nvPr>
        </p:nvSpPr>
        <p:spPr>
          <a:xfrm>
            <a:off x="395288" y="404813"/>
            <a:ext cx="7467600" cy="762000"/>
          </a:xfrm>
        </p:spPr>
        <p:txBody>
          <a:bodyPr vert="horz" wrap="square" lIns="91440" tIns="45720" rIns="91440" bIns="45720" anchor="b" anchorCtr="0"/>
          <a:p>
            <a:pPr eaLnBrk="1" hangingPunct="1"/>
            <a:r>
              <a:rPr lang="en-US" altLang="zh-CN" dirty="0"/>
              <a:t>TCP</a:t>
            </a:r>
            <a:r>
              <a:rPr lang="zh-CN" altLang="en-US" dirty="0"/>
              <a:t>服务器模板</a:t>
            </a:r>
            <a:endParaRPr lang="zh-CN" altLang="en-US" dirty="0"/>
          </a:p>
        </p:txBody>
      </p:sp>
      <p:sp>
        <p:nvSpPr>
          <p:cNvPr id="171011" name="Rectangle 3"/>
          <p:cNvSpPr>
            <a:spLocks noGrp="1"/>
          </p:cNvSpPr>
          <p:nvPr>
            <p:ph idx="1"/>
          </p:nvPr>
        </p:nvSpPr>
        <p:spPr>
          <a:xfrm>
            <a:off x="1187450" y="1557338"/>
            <a:ext cx="7704138" cy="5184775"/>
          </a:xfrm>
        </p:spPr>
        <p:txBody>
          <a:bodyPr vert="horz" wrap="square" lIns="91440" tIns="45720" rIns="91440" bIns="45720" anchor="t" anchorCtr="0"/>
          <a:p>
            <a:pPr eaLnBrk="1" hangingPunct="1">
              <a:lnSpc>
                <a:spcPct val="60000"/>
              </a:lnSpc>
              <a:buNone/>
            </a:pPr>
            <a:r>
              <a:rPr lang="en-US" altLang="zh-CN" sz="1800" b="1" dirty="0"/>
              <a:t>int main(void)</a:t>
            </a:r>
            <a:endParaRPr lang="en-US" altLang="zh-CN" sz="1800" b="1" dirty="0"/>
          </a:p>
          <a:p>
            <a:pPr eaLnBrk="1" hangingPunct="1">
              <a:lnSpc>
                <a:spcPct val="60000"/>
              </a:lnSpc>
              <a:buNone/>
            </a:pPr>
            <a:r>
              <a:rPr lang="en-US" altLang="zh-CN" sz="1800" b="1" dirty="0"/>
              <a:t>{</a:t>
            </a:r>
            <a:endParaRPr lang="en-US" altLang="zh-CN" sz="1800" b="1" dirty="0"/>
          </a:p>
          <a:p>
            <a:pPr eaLnBrk="1" hangingPunct="1">
              <a:lnSpc>
                <a:spcPct val="60000"/>
              </a:lnSpc>
              <a:buNone/>
            </a:pPr>
            <a:r>
              <a:rPr lang="en-US" altLang="zh-CN" sz="1800" b="1" dirty="0"/>
              <a:t>	int sockfd,connect_sock;</a:t>
            </a:r>
            <a:endParaRPr lang="en-US" altLang="zh-CN" sz="1800" b="1" dirty="0"/>
          </a:p>
          <a:p>
            <a:pPr eaLnBrk="1" hangingPunct="1">
              <a:lnSpc>
                <a:spcPct val="60000"/>
              </a:lnSpc>
              <a:buNone/>
            </a:pPr>
            <a:r>
              <a:rPr lang="en-US" altLang="zh-CN" sz="1800" b="1" dirty="0"/>
              <a:t>	if((sockfd=socket(AF_INET,SOCK_STREAM,0))==-1)   {</a:t>
            </a:r>
            <a:endParaRPr lang="en-US" altLang="zh-CN" sz="1800" b="1" dirty="0"/>
          </a:p>
          <a:p>
            <a:pPr eaLnBrk="1" hangingPunct="1">
              <a:lnSpc>
                <a:spcPct val="60000"/>
              </a:lnSpc>
              <a:buNone/>
            </a:pPr>
            <a:endParaRPr lang="en-US" altLang="zh-CN" sz="1800" b="1" dirty="0"/>
          </a:p>
          <a:p>
            <a:pPr eaLnBrk="1" hangingPunct="1">
              <a:lnSpc>
                <a:spcPct val="60000"/>
              </a:lnSpc>
              <a:buNone/>
            </a:pPr>
            <a:r>
              <a:rPr lang="en-US" altLang="zh-CN" sz="1800" b="1" dirty="0"/>
              <a:t>		perror(</a:t>
            </a:r>
            <a:r>
              <a:rPr lang="en-US" altLang="zh-CN" sz="1800" b="1" dirty="0">
                <a:latin typeface="Arial" panose="020B0604020202020204" pitchFamily="34" charset="0"/>
              </a:rPr>
              <a:t>“</a:t>
            </a:r>
            <a:r>
              <a:rPr lang="en-US" altLang="zh-CN" sz="1800" b="1" dirty="0"/>
              <a:t>create socket failed.</a:t>
            </a:r>
            <a:r>
              <a:rPr lang="en-US" altLang="zh-CN" sz="1800" b="1" dirty="0">
                <a:latin typeface="Arial" panose="020B0604020202020204" pitchFamily="34" charset="0"/>
              </a:rPr>
              <a:t>”</a:t>
            </a:r>
            <a:r>
              <a:rPr lang="en-US" altLang="zh-CN" sz="1800" b="1" dirty="0"/>
              <a:t>);</a:t>
            </a:r>
            <a:endParaRPr lang="en-US" altLang="zh-CN" sz="1800" b="1" dirty="0"/>
          </a:p>
          <a:p>
            <a:pPr eaLnBrk="1" hangingPunct="1">
              <a:lnSpc>
                <a:spcPct val="60000"/>
              </a:lnSpc>
              <a:buNone/>
            </a:pPr>
            <a:r>
              <a:rPr lang="en-US" altLang="zh-CN" sz="1800" b="1" dirty="0"/>
              <a:t>		exit(-1);</a:t>
            </a:r>
            <a:endParaRPr lang="en-US" altLang="zh-CN" sz="1800" b="1" dirty="0"/>
          </a:p>
          <a:p>
            <a:pPr eaLnBrk="1" hangingPunct="1">
              <a:lnSpc>
                <a:spcPct val="60000"/>
              </a:lnSpc>
              <a:buNone/>
            </a:pPr>
            <a:r>
              <a:rPr lang="en-US" altLang="zh-CN" sz="1800" b="1" dirty="0"/>
              <a:t>	}</a:t>
            </a:r>
            <a:endParaRPr lang="en-US" altLang="zh-CN" sz="1800" b="1" dirty="0"/>
          </a:p>
          <a:p>
            <a:pPr eaLnBrk="1" hangingPunct="1">
              <a:lnSpc>
                <a:spcPct val="60000"/>
              </a:lnSpc>
              <a:buNone/>
            </a:pPr>
            <a:r>
              <a:rPr lang="en-US" altLang="zh-CN" sz="1800" b="1" dirty="0">
                <a:solidFill>
                  <a:schemeClr val="hlink"/>
                </a:solidFill>
              </a:rPr>
              <a:t>	</a:t>
            </a:r>
            <a:r>
              <a:rPr lang="en-US" altLang="zh-CN" sz="1800" b="1" dirty="0">
                <a:solidFill>
                  <a:srgbClr val="00B050"/>
                </a:solidFill>
              </a:rPr>
              <a:t>/* bind sockfd to some address */</a:t>
            </a:r>
            <a:endParaRPr lang="en-US" altLang="zh-CN" sz="1800" b="1" dirty="0">
              <a:solidFill>
                <a:srgbClr val="00B050"/>
              </a:solidFill>
            </a:endParaRPr>
          </a:p>
          <a:p>
            <a:pPr eaLnBrk="1" hangingPunct="1">
              <a:lnSpc>
                <a:spcPct val="60000"/>
              </a:lnSpc>
              <a:buNone/>
            </a:pPr>
            <a:r>
              <a:rPr lang="en-US" altLang="zh-CN" sz="1800" b="1" dirty="0">
                <a:solidFill>
                  <a:srgbClr val="00B050"/>
                </a:solidFill>
              </a:rPr>
              <a:t>	/* listen */</a:t>
            </a:r>
            <a:endParaRPr lang="en-US" altLang="zh-CN" sz="1800" b="1" dirty="0">
              <a:solidFill>
                <a:srgbClr val="00B050"/>
              </a:solidFill>
            </a:endParaRPr>
          </a:p>
          <a:p>
            <a:pPr eaLnBrk="1" hangingPunct="1">
              <a:lnSpc>
                <a:spcPct val="60000"/>
              </a:lnSpc>
              <a:buNone/>
            </a:pPr>
            <a:r>
              <a:rPr lang="en-US" altLang="zh-CN" sz="1800" b="1" dirty="0"/>
              <a:t>	</a:t>
            </a:r>
            <a:r>
              <a:rPr lang="en-US" altLang="zh-CN" sz="1800" b="1" dirty="0">
                <a:latin typeface="Arial" panose="020B0604020202020204" pitchFamily="34" charset="0"/>
              </a:rPr>
              <a:t>……</a:t>
            </a:r>
            <a:endParaRPr lang="en-US" altLang="zh-CN" sz="1800" b="1" dirty="0"/>
          </a:p>
          <a:p>
            <a:pPr eaLnBrk="1" hangingPunct="1">
              <a:lnSpc>
                <a:spcPct val="60000"/>
              </a:lnSpc>
              <a:buNone/>
            </a:pPr>
            <a:r>
              <a:rPr lang="en-US" altLang="zh-CN" sz="1800" b="1" dirty="0"/>
              <a:t>	loop  {</a:t>
            </a:r>
            <a:endParaRPr lang="en-US" altLang="zh-CN" sz="1800" b="1" dirty="0"/>
          </a:p>
          <a:p>
            <a:pPr eaLnBrk="1" hangingPunct="1">
              <a:lnSpc>
                <a:spcPct val="60000"/>
              </a:lnSpc>
              <a:buNone/>
            </a:pPr>
            <a:r>
              <a:rPr lang="en-US" altLang="zh-CN" sz="1800" b="1" dirty="0"/>
              <a:t>		</a:t>
            </a:r>
            <a:endParaRPr lang="en-US" altLang="zh-CN" sz="1800" b="1" dirty="0"/>
          </a:p>
          <a:p>
            <a:pPr eaLnBrk="1" hangingPunct="1">
              <a:lnSpc>
                <a:spcPct val="60000"/>
              </a:lnSpc>
              <a:buNone/>
            </a:pPr>
            <a:r>
              <a:rPr lang="en-US" altLang="zh-CN" sz="1800" b="1" dirty="0"/>
              <a:t>               if((</a:t>
            </a:r>
            <a:r>
              <a:rPr lang="en-US" altLang="zh-CN" sz="1800" b="1" dirty="0">
                <a:solidFill>
                  <a:srgbClr val="0070C0"/>
                </a:solidFill>
              </a:rPr>
              <a:t>connect_sock</a:t>
            </a:r>
            <a:r>
              <a:rPr lang="en-US" altLang="zh-CN" sz="1800" b="1" dirty="0"/>
              <a:t>=accept(</a:t>
            </a:r>
            <a:r>
              <a:rPr lang="en-US" altLang="zh-CN" sz="1800" b="1" dirty="0">
                <a:solidFill>
                  <a:schemeClr val="hlink"/>
                </a:solidFill>
              </a:rPr>
              <a:t>sockfd</a:t>
            </a:r>
            <a:r>
              <a:rPr lang="en-US" altLang="zh-CN" sz="1800" b="1" dirty="0"/>
              <a:t>,NULL,NULL))==-1)  {</a:t>
            </a:r>
            <a:endParaRPr lang="en-US" altLang="zh-CN" sz="1800" b="1" dirty="0"/>
          </a:p>
          <a:p>
            <a:pPr eaLnBrk="1" hangingPunct="1">
              <a:lnSpc>
                <a:spcPct val="60000"/>
              </a:lnSpc>
              <a:buNone/>
            </a:pPr>
            <a:r>
              <a:rPr lang="en-US" altLang="zh-CN" sz="1800" b="1" dirty="0"/>
              <a:t>			perror(</a:t>
            </a:r>
            <a:r>
              <a:rPr lang="en-US" altLang="zh-CN" sz="1800" b="1" dirty="0">
                <a:latin typeface="Arial" panose="020B0604020202020204" pitchFamily="34" charset="0"/>
              </a:rPr>
              <a:t>“</a:t>
            </a:r>
            <a:r>
              <a:rPr lang="en-US" altLang="zh-CN" sz="1800" b="1" dirty="0"/>
              <a:t>Accept error.</a:t>
            </a:r>
            <a:r>
              <a:rPr lang="en-US" altLang="zh-CN" sz="1800" b="1" dirty="0">
                <a:latin typeface="Arial" panose="020B0604020202020204" pitchFamily="34" charset="0"/>
              </a:rPr>
              <a:t>”</a:t>
            </a:r>
            <a:r>
              <a:rPr lang="en-US" altLang="zh-CN" sz="1800" b="1" dirty="0"/>
              <a:t>);</a:t>
            </a:r>
            <a:endParaRPr lang="en-US" altLang="zh-CN" sz="1800" b="1" dirty="0"/>
          </a:p>
          <a:p>
            <a:pPr eaLnBrk="1" hangingPunct="1">
              <a:lnSpc>
                <a:spcPct val="60000"/>
              </a:lnSpc>
              <a:buNone/>
            </a:pPr>
            <a:r>
              <a:rPr lang="en-US" altLang="zh-CN" sz="1800" b="1" dirty="0"/>
              <a:t>                            exit(-1);</a:t>
            </a:r>
            <a:endParaRPr lang="en-US" altLang="zh-CN" sz="1800" b="1" dirty="0"/>
          </a:p>
          <a:p>
            <a:pPr eaLnBrk="1" hangingPunct="1">
              <a:lnSpc>
                <a:spcPct val="60000"/>
              </a:lnSpc>
              <a:buNone/>
            </a:pPr>
            <a:r>
              <a:rPr lang="en-US" altLang="zh-CN" sz="1800" b="1" dirty="0"/>
              <a:t>		  }</a:t>
            </a:r>
            <a:endParaRPr lang="en-US" altLang="zh-CN" sz="1800" b="1" dirty="0"/>
          </a:p>
          <a:p>
            <a:pPr eaLnBrk="1" hangingPunct="1">
              <a:lnSpc>
                <a:spcPct val="60000"/>
              </a:lnSpc>
              <a:buNone/>
            </a:pPr>
            <a:r>
              <a:rPr lang="en-US" altLang="zh-CN" sz="1800" b="1" dirty="0"/>
              <a:t>                 /* read and process request */</a:t>
            </a:r>
            <a:endParaRPr lang="en-US" altLang="zh-CN" sz="1800" b="1" dirty="0"/>
          </a:p>
          <a:p>
            <a:pPr eaLnBrk="1" hangingPunct="1">
              <a:lnSpc>
                <a:spcPct val="60000"/>
              </a:lnSpc>
              <a:buNone/>
            </a:pPr>
            <a:r>
              <a:rPr lang="en-US" altLang="zh-CN" sz="1800" b="1" dirty="0"/>
              <a:t>		close(</a:t>
            </a:r>
            <a:r>
              <a:rPr lang="en-US" altLang="zh-CN" sz="1800" b="1" dirty="0">
                <a:solidFill>
                  <a:srgbClr val="0070C0"/>
                </a:solidFill>
              </a:rPr>
              <a:t>connect_sock</a:t>
            </a:r>
            <a:r>
              <a:rPr lang="en-US" altLang="zh-CN" sz="1800" b="1" dirty="0"/>
              <a:t>);</a:t>
            </a:r>
            <a:endParaRPr lang="en-US" altLang="zh-CN" sz="1800" b="1" dirty="0"/>
          </a:p>
          <a:p>
            <a:pPr eaLnBrk="1" hangingPunct="1">
              <a:lnSpc>
                <a:spcPct val="60000"/>
              </a:lnSpc>
              <a:buNone/>
            </a:pPr>
            <a:r>
              <a:rPr lang="en-US" altLang="zh-CN" sz="1800" b="1" dirty="0"/>
              <a:t>	       }</a:t>
            </a:r>
            <a:endParaRPr lang="en-US" altLang="zh-CN" sz="1800" b="1" dirty="0"/>
          </a:p>
          <a:p>
            <a:pPr eaLnBrk="1" hangingPunct="1">
              <a:lnSpc>
                <a:spcPct val="60000"/>
              </a:lnSpc>
              <a:buNone/>
            </a:pPr>
            <a:r>
              <a:rPr lang="en-US" altLang="zh-CN" sz="1800" b="1" dirty="0"/>
              <a:t>	close(</a:t>
            </a:r>
            <a:r>
              <a:rPr lang="en-US" altLang="zh-CN" sz="1800" b="1" dirty="0">
                <a:solidFill>
                  <a:schemeClr val="hlink"/>
                </a:solidFill>
              </a:rPr>
              <a:t>sockfd</a:t>
            </a:r>
            <a:r>
              <a:rPr lang="en-US" altLang="zh-CN" sz="1800" b="1" dirty="0"/>
              <a:t>);</a:t>
            </a:r>
            <a:endParaRPr lang="en-US" altLang="zh-CN" sz="1800" b="1" dirty="0"/>
          </a:p>
          <a:p>
            <a:pPr eaLnBrk="1" hangingPunct="1">
              <a:lnSpc>
                <a:spcPct val="60000"/>
              </a:lnSpc>
              <a:buNone/>
            </a:pPr>
            <a:r>
              <a:rPr lang="en-US" altLang="zh-CN" sz="1800" b="1" dirty="0"/>
              <a:t>}</a:t>
            </a:r>
            <a:endParaRPr lang="en-US" altLang="zh-CN" sz="1800" b="1" dirty="0"/>
          </a:p>
        </p:txBody>
      </p:sp>
    </p:spTree>
  </p:cSld>
  <p:clrMapOvr>
    <a:masterClrMapping/>
  </p:clrMapOvr>
  <p:transition>
    <p:random/>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3058" name="Rectangle 2"/>
          <p:cNvSpPr>
            <a:spLocks noGrp="1"/>
          </p:cNvSpPr>
          <p:nvPr>
            <p:ph type="title"/>
          </p:nvPr>
        </p:nvSpPr>
        <p:spPr>
          <a:xfrm>
            <a:off x="395288" y="476250"/>
            <a:ext cx="7467600" cy="762000"/>
          </a:xfrm>
        </p:spPr>
        <p:txBody>
          <a:bodyPr vert="horz" wrap="square" lIns="91440" tIns="45720" rIns="91440" bIns="45720" anchor="b" anchorCtr="0"/>
          <a:p>
            <a:pPr eaLnBrk="1" hangingPunct="1"/>
            <a:r>
              <a:rPr lang="en-US" altLang="zh-CN" dirty="0"/>
              <a:t>TCP</a:t>
            </a:r>
            <a:r>
              <a:rPr lang="zh-CN" altLang="en-US" dirty="0"/>
              <a:t>客户模板</a:t>
            </a:r>
            <a:endParaRPr lang="zh-CN" altLang="en-US" dirty="0"/>
          </a:p>
        </p:txBody>
      </p:sp>
      <p:sp>
        <p:nvSpPr>
          <p:cNvPr id="173059" name="Rectangle 3"/>
          <p:cNvSpPr>
            <a:spLocks noGrp="1"/>
          </p:cNvSpPr>
          <p:nvPr>
            <p:ph idx="1"/>
          </p:nvPr>
        </p:nvSpPr>
        <p:spPr>
          <a:xfrm>
            <a:off x="1165225" y="1576388"/>
            <a:ext cx="6791325" cy="4876800"/>
          </a:xfrm>
        </p:spPr>
        <p:txBody>
          <a:bodyPr vert="horz" wrap="square" lIns="91440" tIns="45720" rIns="91440" bIns="45720" anchor="t" anchorCtr="0"/>
          <a:p>
            <a:pPr eaLnBrk="1" hangingPunct="1">
              <a:lnSpc>
                <a:spcPct val="90000"/>
              </a:lnSpc>
              <a:buNone/>
            </a:pPr>
            <a:r>
              <a:rPr lang="en-US" altLang="zh-CN" sz="1800" b="1" dirty="0"/>
              <a:t>/* include some header files */</a:t>
            </a:r>
            <a:endParaRPr lang="en-US" altLang="zh-CN" sz="1800" b="1" dirty="0"/>
          </a:p>
          <a:p>
            <a:pPr eaLnBrk="1" hangingPunct="1">
              <a:lnSpc>
                <a:spcPct val="90000"/>
              </a:lnSpc>
              <a:buNone/>
            </a:pPr>
            <a:r>
              <a:rPr lang="en-US" altLang="zh-CN" sz="1800" b="1" dirty="0"/>
              <a:t>int main(void)</a:t>
            </a:r>
            <a:endParaRPr lang="en-US" altLang="zh-CN" sz="1800" b="1" dirty="0"/>
          </a:p>
          <a:p>
            <a:pPr eaLnBrk="1" hangingPunct="1">
              <a:lnSpc>
                <a:spcPct val="90000"/>
              </a:lnSpc>
              <a:buNone/>
            </a:pPr>
            <a:r>
              <a:rPr lang="en-US" altLang="zh-CN" sz="1800" b="1" dirty="0"/>
              <a:t>{</a:t>
            </a:r>
            <a:endParaRPr lang="en-US" altLang="zh-CN" sz="1800" b="1" dirty="0"/>
          </a:p>
          <a:p>
            <a:pPr eaLnBrk="1" hangingPunct="1">
              <a:lnSpc>
                <a:spcPct val="90000"/>
              </a:lnSpc>
              <a:buNone/>
            </a:pPr>
            <a:r>
              <a:rPr lang="en-US" altLang="zh-CN" sz="1800" b="1" dirty="0"/>
              <a:t>	int sockfd;</a:t>
            </a:r>
            <a:endParaRPr lang="en-US" altLang="zh-CN" sz="1800" b="1" dirty="0"/>
          </a:p>
          <a:p>
            <a:pPr eaLnBrk="1" hangingPunct="1">
              <a:lnSpc>
                <a:spcPct val="90000"/>
              </a:lnSpc>
              <a:buNone/>
            </a:pPr>
            <a:r>
              <a:rPr lang="en-US" altLang="zh-CN" sz="1800" b="1" dirty="0"/>
              <a:t>	if((sockfd=socket(AF_INET,SOCK_STREAM,0))=-1)</a:t>
            </a:r>
            <a:endParaRPr lang="en-US" altLang="zh-CN" sz="1800" b="1" dirty="0"/>
          </a:p>
          <a:p>
            <a:pPr eaLnBrk="1" hangingPunct="1">
              <a:lnSpc>
                <a:spcPct val="90000"/>
              </a:lnSpc>
              <a:buNone/>
            </a:pPr>
            <a:r>
              <a:rPr lang="en-US" altLang="zh-CN" sz="1800" b="1" dirty="0"/>
              <a:t>	{</a:t>
            </a:r>
            <a:endParaRPr lang="en-US" altLang="zh-CN" sz="1800" b="1" dirty="0"/>
          </a:p>
          <a:p>
            <a:pPr eaLnBrk="1" hangingPunct="1">
              <a:lnSpc>
                <a:spcPct val="90000"/>
              </a:lnSpc>
              <a:buNone/>
            </a:pPr>
            <a:r>
              <a:rPr lang="en-US" altLang="zh-CN" sz="1800" b="1" dirty="0"/>
              <a:t>		perror(</a:t>
            </a:r>
            <a:r>
              <a:rPr lang="en-US" altLang="zh-CN" sz="1800" b="1" dirty="0">
                <a:latin typeface="Arial" panose="020B0604020202020204" pitchFamily="34" charset="0"/>
              </a:rPr>
              <a:t>“</a:t>
            </a:r>
            <a:r>
              <a:rPr lang="en-US" altLang="zh-CN" sz="1800" b="1" dirty="0"/>
              <a:t>Create socket failed.</a:t>
            </a:r>
            <a:r>
              <a:rPr lang="en-US" altLang="zh-CN" sz="1800" b="1" dirty="0">
                <a:latin typeface="Arial" panose="020B0604020202020204" pitchFamily="34" charset="0"/>
              </a:rPr>
              <a:t>”</a:t>
            </a:r>
            <a:r>
              <a:rPr lang="en-US" altLang="zh-CN" sz="1800" b="1" dirty="0"/>
              <a:t>);</a:t>
            </a:r>
            <a:endParaRPr lang="en-US" altLang="zh-CN" sz="1800" b="1" dirty="0"/>
          </a:p>
          <a:p>
            <a:pPr eaLnBrk="1" hangingPunct="1">
              <a:lnSpc>
                <a:spcPct val="90000"/>
              </a:lnSpc>
              <a:buNone/>
            </a:pPr>
            <a:r>
              <a:rPr lang="en-US" altLang="zh-CN" sz="1800" b="1" dirty="0"/>
              <a:t>		exit(-1);</a:t>
            </a:r>
            <a:endParaRPr lang="en-US" altLang="zh-CN" sz="1800" b="1" dirty="0"/>
          </a:p>
          <a:p>
            <a:pPr eaLnBrk="1" hangingPunct="1">
              <a:lnSpc>
                <a:spcPct val="90000"/>
              </a:lnSpc>
              <a:buNone/>
            </a:pPr>
            <a:r>
              <a:rPr lang="en-US" altLang="zh-CN" sz="1800" b="1" dirty="0"/>
              <a:t>	}</a:t>
            </a:r>
            <a:endParaRPr lang="en-US" altLang="zh-CN" sz="1800" b="1" dirty="0"/>
          </a:p>
          <a:p>
            <a:pPr eaLnBrk="1" hangingPunct="1">
              <a:lnSpc>
                <a:spcPct val="90000"/>
              </a:lnSpc>
              <a:buNone/>
            </a:pPr>
            <a:r>
              <a:rPr lang="en-US" altLang="zh-CN" sz="1800" b="1" dirty="0"/>
              <a:t>	/* connect to server */</a:t>
            </a:r>
            <a:endParaRPr lang="en-US" altLang="zh-CN" sz="1800" b="1" dirty="0"/>
          </a:p>
          <a:p>
            <a:pPr eaLnBrk="1" hangingPunct="1">
              <a:lnSpc>
                <a:spcPct val="90000"/>
              </a:lnSpc>
              <a:buNone/>
            </a:pPr>
            <a:r>
              <a:rPr lang="en-US" altLang="zh-CN" sz="1800" b="1" dirty="0"/>
              <a:t>	</a:t>
            </a:r>
            <a:r>
              <a:rPr lang="en-US" altLang="zh-CN" sz="1800" b="1" dirty="0">
                <a:latin typeface="Arial" panose="020B0604020202020204" pitchFamily="34" charset="0"/>
              </a:rPr>
              <a:t>……</a:t>
            </a:r>
            <a:endParaRPr lang="en-US" altLang="zh-CN" sz="1800" b="1" dirty="0"/>
          </a:p>
          <a:p>
            <a:pPr eaLnBrk="1" hangingPunct="1">
              <a:lnSpc>
                <a:spcPct val="90000"/>
              </a:lnSpc>
              <a:buNone/>
            </a:pPr>
            <a:r>
              <a:rPr lang="en-US" altLang="zh-CN" sz="1800" b="1" dirty="0"/>
              <a:t>	/* send requst and receive response */</a:t>
            </a:r>
            <a:endParaRPr lang="en-US" altLang="zh-CN" sz="1800" b="1" dirty="0"/>
          </a:p>
          <a:p>
            <a:pPr eaLnBrk="1" hangingPunct="1">
              <a:lnSpc>
                <a:spcPct val="90000"/>
              </a:lnSpc>
              <a:buNone/>
            </a:pPr>
            <a:r>
              <a:rPr lang="en-US" altLang="zh-CN" sz="1800" b="1" dirty="0"/>
              <a:t>	</a:t>
            </a:r>
            <a:r>
              <a:rPr lang="en-US" altLang="zh-CN" sz="1800" b="1" dirty="0">
                <a:latin typeface="Arial" panose="020B0604020202020204" pitchFamily="34" charset="0"/>
              </a:rPr>
              <a:t>……</a:t>
            </a:r>
            <a:endParaRPr lang="en-US" altLang="zh-CN" sz="1800" b="1" dirty="0"/>
          </a:p>
          <a:p>
            <a:pPr eaLnBrk="1" hangingPunct="1">
              <a:lnSpc>
                <a:spcPct val="90000"/>
              </a:lnSpc>
              <a:buNone/>
            </a:pPr>
            <a:r>
              <a:rPr lang="en-US" altLang="zh-CN" sz="1800" b="1" dirty="0"/>
              <a:t>	close(sockfd);</a:t>
            </a:r>
            <a:endParaRPr lang="en-US" altLang="zh-CN" sz="1800" b="1" dirty="0"/>
          </a:p>
          <a:p>
            <a:pPr eaLnBrk="1" hangingPunct="1">
              <a:lnSpc>
                <a:spcPct val="90000"/>
              </a:lnSpc>
              <a:buNone/>
            </a:pPr>
            <a:r>
              <a:rPr lang="en-US" altLang="zh-CN" sz="1800" b="1" dirty="0"/>
              <a:t>}</a:t>
            </a:r>
            <a:endParaRPr lang="en-US" altLang="zh-CN" sz="1800" b="1" dirty="0"/>
          </a:p>
        </p:txBody>
      </p:sp>
    </p:spTree>
  </p:cSld>
  <p:clrMapOvr>
    <a:masterClrMapping/>
  </p:clrMapOvr>
  <p:transition>
    <p:random/>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5106" name="Rectangle 2"/>
          <p:cNvSpPr>
            <a:spLocks noGrp="1"/>
          </p:cNvSpPr>
          <p:nvPr>
            <p:ph type="title"/>
          </p:nvPr>
        </p:nvSpPr>
        <p:spPr>
          <a:xfrm>
            <a:off x="611188" y="692150"/>
            <a:ext cx="7793037" cy="484188"/>
          </a:xfrm>
        </p:spPr>
        <p:txBody>
          <a:bodyPr vert="horz" wrap="square" lIns="91440" tIns="45720" rIns="91440" bIns="45720" anchor="b" anchorCtr="0"/>
          <a:p>
            <a:pPr eaLnBrk="1" hangingPunct="1"/>
            <a:r>
              <a:rPr lang="en-US" altLang="zh-CN" dirty="0"/>
              <a:t>TCP</a:t>
            </a:r>
            <a:r>
              <a:rPr lang="zh-CN" altLang="en-US" dirty="0"/>
              <a:t>套接字例程</a:t>
            </a:r>
            <a:endParaRPr lang="zh-CN" altLang="en-US" dirty="0"/>
          </a:p>
        </p:txBody>
      </p:sp>
      <p:sp>
        <p:nvSpPr>
          <p:cNvPr id="175107" name="Rectangle 3"/>
          <p:cNvSpPr>
            <a:spLocks noGrp="1"/>
          </p:cNvSpPr>
          <p:nvPr>
            <p:ph idx="1"/>
          </p:nvPr>
        </p:nvSpPr>
        <p:spPr>
          <a:xfrm>
            <a:off x="827088" y="1804988"/>
            <a:ext cx="7543800" cy="4648200"/>
          </a:xfrm>
        </p:spPr>
        <p:txBody>
          <a:bodyPr vert="horz" wrap="square" lIns="91440" tIns="45720" rIns="91440" bIns="45720" anchor="t" anchorCtr="0"/>
          <a:p>
            <a:pPr eaLnBrk="1" hangingPunct="1"/>
            <a:r>
              <a:rPr lang="zh-CN" altLang="en-US" dirty="0"/>
              <a:t>采用客户</a:t>
            </a:r>
            <a:r>
              <a:rPr lang="en-US" altLang="zh-CN" dirty="0"/>
              <a:t>/</a:t>
            </a:r>
            <a:r>
              <a:rPr lang="zh-CN" altLang="en-US" dirty="0"/>
              <a:t>服务器模式，完成下列功能：</a:t>
            </a:r>
            <a:endParaRPr lang="zh-CN" altLang="en-US" dirty="0"/>
          </a:p>
          <a:p>
            <a:pPr lvl="1" eaLnBrk="1" hangingPunct="1"/>
            <a:r>
              <a:rPr lang="zh-CN" altLang="en-US" dirty="0"/>
              <a:t>客户根据用户提供的</a:t>
            </a:r>
            <a:r>
              <a:rPr lang="en-US" altLang="zh-CN" dirty="0"/>
              <a:t>IP</a:t>
            </a:r>
            <a:r>
              <a:rPr lang="zh-CN" altLang="en-US" dirty="0"/>
              <a:t>地址，连接相应的服务器；</a:t>
            </a:r>
            <a:endParaRPr lang="zh-CN" altLang="en-US" dirty="0"/>
          </a:p>
          <a:p>
            <a:pPr lvl="1" eaLnBrk="1" hangingPunct="1"/>
            <a:r>
              <a:rPr lang="zh-CN" altLang="en-US" dirty="0"/>
              <a:t>服务器等待客户的连接，一旦连接成功，则显示客户的</a:t>
            </a:r>
            <a:r>
              <a:rPr lang="en-US" altLang="zh-CN" dirty="0"/>
              <a:t>IP</a:t>
            </a:r>
            <a:r>
              <a:rPr lang="zh-CN" altLang="en-US" dirty="0"/>
              <a:t>地址，并发欢迎信息给客户；</a:t>
            </a:r>
            <a:endParaRPr lang="zh-CN" altLang="en-US" dirty="0"/>
          </a:p>
          <a:p>
            <a:pPr lvl="1" eaLnBrk="1" hangingPunct="1"/>
            <a:r>
              <a:rPr lang="zh-CN" altLang="en-US" dirty="0"/>
              <a:t>客户接收服务器发送的信息并显示；</a:t>
            </a:r>
            <a:endParaRPr lang="zh-CN" altLang="en-US" dirty="0"/>
          </a:p>
        </p:txBody>
      </p:sp>
    </p:spTree>
  </p:cSld>
  <p:clrMapOvr>
    <a:masterClrMapping/>
  </p:clrMapOvr>
  <p:transition>
    <p:random/>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7154" name="Rectangle 2"/>
          <p:cNvSpPr>
            <a:spLocks noGrp="1"/>
          </p:cNvSpPr>
          <p:nvPr>
            <p:ph type="title"/>
          </p:nvPr>
        </p:nvSpPr>
        <p:spPr>
          <a:xfrm>
            <a:off x="827088" y="0"/>
            <a:ext cx="7793037" cy="765175"/>
          </a:xfrm>
        </p:spPr>
        <p:txBody>
          <a:bodyPr vert="horz" wrap="square" lIns="91440" tIns="45720" rIns="91440" bIns="45720" anchor="b" anchorCtr="0"/>
          <a:p>
            <a:pPr eaLnBrk="1" hangingPunct="1"/>
            <a:r>
              <a:rPr lang="en-US" altLang="zh-CN" dirty="0"/>
              <a:t>TCP</a:t>
            </a:r>
            <a:r>
              <a:rPr lang="zh-CN" altLang="en-US" dirty="0"/>
              <a:t>服务器程序</a:t>
            </a:r>
            <a:endParaRPr lang="zh-CN" altLang="en-US" dirty="0"/>
          </a:p>
        </p:txBody>
      </p:sp>
      <p:sp>
        <p:nvSpPr>
          <p:cNvPr id="177155" name="Rectangle 3"/>
          <p:cNvSpPr>
            <a:spLocks noGrp="1"/>
          </p:cNvSpPr>
          <p:nvPr>
            <p:ph idx="1"/>
          </p:nvPr>
        </p:nvSpPr>
        <p:spPr>
          <a:xfrm>
            <a:off x="684213" y="1196975"/>
            <a:ext cx="8064500" cy="5661025"/>
          </a:xfrm>
          <a:solidFill>
            <a:schemeClr val="bg1">
              <a:alpha val="100000"/>
            </a:schemeClr>
          </a:solidFill>
        </p:spPr>
        <p:txBody>
          <a:bodyPr vert="horz" wrap="square" lIns="91440" tIns="45720" rIns="91440" bIns="45720" anchor="t" anchorCtr="0"/>
          <a:p>
            <a:pPr eaLnBrk="1" hangingPunct="1">
              <a:lnSpc>
                <a:spcPct val="90000"/>
              </a:lnSpc>
              <a:spcBef>
                <a:spcPct val="0"/>
              </a:spcBef>
              <a:buNone/>
            </a:pPr>
            <a:r>
              <a:rPr lang="en-US" altLang="zh-CN" sz="2000" b="1" dirty="0"/>
              <a:t>/*server.c*/</a:t>
            </a:r>
            <a:endParaRPr lang="en-US" altLang="zh-CN" sz="2000" b="1" dirty="0"/>
          </a:p>
          <a:p>
            <a:pPr eaLnBrk="1" hangingPunct="1">
              <a:lnSpc>
                <a:spcPct val="90000"/>
              </a:lnSpc>
              <a:spcBef>
                <a:spcPct val="0"/>
              </a:spcBef>
              <a:buNone/>
            </a:pPr>
            <a:r>
              <a:rPr lang="en-US" altLang="zh-CN" sz="2000" b="1" dirty="0"/>
              <a:t>#include &lt;unistd.h&gt;</a:t>
            </a:r>
            <a:endParaRPr lang="en-US" altLang="zh-CN" sz="2000" b="1" dirty="0"/>
          </a:p>
          <a:p>
            <a:pPr eaLnBrk="1" hangingPunct="1">
              <a:lnSpc>
                <a:spcPct val="90000"/>
              </a:lnSpc>
              <a:spcBef>
                <a:spcPct val="0"/>
              </a:spcBef>
              <a:buNone/>
            </a:pPr>
            <a:r>
              <a:rPr lang="en-US" altLang="zh-CN" sz="2000" b="1" dirty="0"/>
              <a:t>#include &lt;sys/types.h&gt;</a:t>
            </a:r>
            <a:endParaRPr lang="en-US" altLang="zh-CN" sz="2000" b="1" dirty="0"/>
          </a:p>
          <a:p>
            <a:pPr eaLnBrk="1" hangingPunct="1">
              <a:lnSpc>
                <a:spcPct val="90000"/>
              </a:lnSpc>
              <a:spcBef>
                <a:spcPct val="0"/>
              </a:spcBef>
              <a:buNone/>
            </a:pPr>
            <a:r>
              <a:rPr lang="en-US" altLang="zh-CN" sz="2000" b="1" dirty="0"/>
              <a:t>#include &lt;sys/socket.h&gt;</a:t>
            </a:r>
            <a:endParaRPr lang="en-US" altLang="zh-CN" sz="2000" b="1" dirty="0"/>
          </a:p>
          <a:p>
            <a:pPr eaLnBrk="1" hangingPunct="1">
              <a:lnSpc>
                <a:spcPct val="90000"/>
              </a:lnSpc>
              <a:spcBef>
                <a:spcPct val="0"/>
              </a:spcBef>
              <a:buNone/>
            </a:pPr>
            <a:r>
              <a:rPr lang="en-US" altLang="zh-CN" sz="2000" b="1" dirty="0"/>
              <a:t>#include &lt;netinet/in.h&gt;</a:t>
            </a:r>
            <a:endParaRPr lang="en-US" altLang="zh-CN" sz="2000" b="1" dirty="0"/>
          </a:p>
          <a:p>
            <a:pPr eaLnBrk="1" hangingPunct="1">
              <a:lnSpc>
                <a:spcPct val="90000"/>
              </a:lnSpc>
              <a:spcBef>
                <a:spcPct val="0"/>
              </a:spcBef>
              <a:buNone/>
            </a:pPr>
            <a:r>
              <a:rPr lang="en-US" altLang="zh-CN" sz="2000" b="1" dirty="0"/>
              <a:t>#include &lt;arpa/inet.h&gt;</a:t>
            </a:r>
            <a:endParaRPr lang="en-US" altLang="zh-CN" sz="2000" b="1" dirty="0"/>
          </a:p>
          <a:p>
            <a:pPr eaLnBrk="1" hangingPunct="1">
              <a:lnSpc>
                <a:spcPct val="90000"/>
              </a:lnSpc>
              <a:spcBef>
                <a:spcPct val="0"/>
              </a:spcBef>
              <a:buNone/>
            </a:pPr>
            <a:r>
              <a:rPr lang="en-US" altLang="zh-CN" sz="2000" b="1" dirty="0"/>
              <a:t>#define PORT    1234</a:t>
            </a:r>
            <a:endParaRPr lang="en-US" altLang="zh-CN" sz="2000" b="1" dirty="0"/>
          </a:p>
          <a:p>
            <a:pPr eaLnBrk="1" hangingPunct="1">
              <a:lnSpc>
                <a:spcPct val="90000"/>
              </a:lnSpc>
              <a:spcBef>
                <a:spcPct val="0"/>
              </a:spcBef>
              <a:buNone/>
            </a:pPr>
            <a:r>
              <a:rPr lang="en-US" altLang="zh-CN" sz="2000" b="1" dirty="0"/>
              <a:t>#define BACKLOG 1</a:t>
            </a:r>
            <a:endParaRPr lang="en-US" altLang="zh-CN" sz="2000" b="1" dirty="0"/>
          </a:p>
          <a:p>
            <a:pPr eaLnBrk="1" hangingPunct="1">
              <a:lnSpc>
                <a:spcPct val="90000"/>
              </a:lnSpc>
              <a:spcBef>
                <a:spcPct val="0"/>
              </a:spcBef>
              <a:buNone/>
            </a:pPr>
            <a:r>
              <a:rPr lang="en-US" altLang="zh-CN" sz="2000" b="1" dirty="0"/>
              <a:t>int main(void)</a:t>
            </a:r>
            <a:endParaRPr lang="en-US" altLang="zh-CN" sz="2000" b="1" dirty="0"/>
          </a:p>
          <a:p>
            <a:pPr eaLnBrk="1" hangingPunct="1">
              <a:lnSpc>
                <a:spcPct val="90000"/>
              </a:lnSpc>
              <a:spcBef>
                <a:spcPct val="0"/>
              </a:spcBef>
              <a:buNone/>
            </a:pPr>
            <a:r>
              <a:rPr lang="en-US" altLang="zh-CN" sz="2000" b="1" dirty="0"/>
              <a:t>{</a:t>
            </a:r>
            <a:endParaRPr lang="en-US" altLang="zh-CN" sz="2000" b="1" dirty="0"/>
          </a:p>
          <a:p>
            <a:pPr eaLnBrk="1" hangingPunct="1">
              <a:lnSpc>
                <a:spcPct val="90000"/>
              </a:lnSpc>
              <a:spcBef>
                <a:spcPct val="0"/>
              </a:spcBef>
              <a:buNone/>
            </a:pPr>
            <a:r>
              <a:rPr lang="en-US" altLang="zh-CN" sz="2000" b="1" dirty="0"/>
              <a:t>        int  listenfd, connectfd;</a:t>
            </a:r>
            <a:endParaRPr lang="en-US" altLang="zh-CN" sz="2000" b="1" dirty="0"/>
          </a:p>
          <a:p>
            <a:pPr eaLnBrk="1" hangingPunct="1">
              <a:lnSpc>
                <a:spcPct val="90000"/>
              </a:lnSpc>
              <a:spcBef>
                <a:spcPct val="0"/>
              </a:spcBef>
              <a:buNone/>
            </a:pPr>
            <a:r>
              <a:rPr lang="en-US" altLang="zh-CN" sz="2000" b="1" dirty="0"/>
              <a:t>        struct sockaddr_in  server;</a:t>
            </a:r>
            <a:endParaRPr lang="en-US" altLang="zh-CN" sz="2000" b="1" dirty="0"/>
          </a:p>
          <a:p>
            <a:pPr eaLnBrk="1" hangingPunct="1">
              <a:lnSpc>
                <a:spcPct val="90000"/>
              </a:lnSpc>
              <a:spcBef>
                <a:spcPct val="0"/>
              </a:spcBef>
              <a:buNone/>
            </a:pPr>
            <a:r>
              <a:rPr lang="en-US" altLang="zh-CN" sz="2000" b="1" dirty="0"/>
              <a:t>        struct sockaddr_in client;</a:t>
            </a:r>
            <a:endParaRPr lang="en-US" altLang="zh-CN" sz="2000" b="1" dirty="0"/>
          </a:p>
          <a:p>
            <a:pPr eaLnBrk="1" hangingPunct="1">
              <a:lnSpc>
                <a:spcPct val="90000"/>
              </a:lnSpc>
              <a:spcBef>
                <a:spcPct val="0"/>
              </a:spcBef>
              <a:buNone/>
            </a:pPr>
            <a:r>
              <a:rPr lang="en-US" altLang="zh-CN" sz="2000" b="1" dirty="0"/>
              <a:t>        int  sin_size;</a:t>
            </a:r>
            <a:endParaRPr lang="en-US" altLang="zh-CN" sz="2000" b="1" dirty="0"/>
          </a:p>
          <a:p>
            <a:pPr eaLnBrk="1" hangingPunct="1">
              <a:lnSpc>
                <a:spcPct val="90000"/>
              </a:lnSpc>
              <a:spcBef>
                <a:spcPct val="0"/>
              </a:spcBef>
              <a:buNone/>
            </a:pPr>
            <a:endParaRPr lang="en-US" altLang="zh-CN" sz="2000" b="1" dirty="0"/>
          </a:p>
          <a:p>
            <a:pPr eaLnBrk="1" hangingPunct="1">
              <a:lnSpc>
                <a:spcPct val="90000"/>
              </a:lnSpc>
              <a:spcBef>
                <a:spcPct val="0"/>
              </a:spcBef>
              <a:buNone/>
            </a:pPr>
            <a:r>
              <a:rPr lang="en-US" altLang="zh-CN" sz="2000" b="1" dirty="0"/>
              <a:t>        if((listenfd=socket(AF_INET, SOCK_STREAM, 0))==-1)</a:t>
            </a:r>
            <a:endParaRPr lang="en-US" altLang="zh-CN" sz="2000" b="1" dirty="0"/>
          </a:p>
          <a:p>
            <a:pPr eaLnBrk="1" hangingPunct="1">
              <a:lnSpc>
                <a:spcPct val="90000"/>
              </a:lnSpc>
              <a:spcBef>
                <a:spcPct val="0"/>
              </a:spcBef>
              <a:buNone/>
            </a:pPr>
            <a:r>
              <a:rPr lang="en-US" altLang="zh-CN" sz="2000" b="1" dirty="0"/>
              <a:t>        {</a:t>
            </a:r>
            <a:endParaRPr lang="en-US" altLang="zh-CN" sz="2000" b="1" dirty="0"/>
          </a:p>
          <a:p>
            <a:pPr eaLnBrk="1" hangingPunct="1">
              <a:lnSpc>
                <a:spcPct val="90000"/>
              </a:lnSpc>
              <a:spcBef>
                <a:spcPct val="0"/>
              </a:spcBef>
              <a:buNone/>
            </a:pPr>
            <a:r>
              <a:rPr lang="en-US" altLang="zh-CN" sz="2000" b="1" dirty="0"/>
              <a:t>                perror("Create socket failed");</a:t>
            </a:r>
            <a:endParaRPr lang="en-US" altLang="zh-CN" sz="2000" b="1" dirty="0"/>
          </a:p>
          <a:p>
            <a:pPr eaLnBrk="1" hangingPunct="1">
              <a:lnSpc>
                <a:spcPct val="90000"/>
              </a:lnSpc>
              <a:spcBef>
                <a:spcPct val="0"/>
              </a:spcBef>
              <a:buNone/>
            </a:pPr>
            <a:r>
              <a:rPr lang="en-US" altLang="zh-CN" sz="2000" b="1" dirty="0"/>
              <a:t>                exit(-1);</a:t>
            </a:r>
            <a:endParaRPr lang="en-US" altLang="zh-CN" sz="2000" b="1" dirty="0"/>
          </a:p>
          <a:p>
            <a:pPr eaLnBrk="1" hangingPunct="1">
              <a:lnSpc>
                <a:spcPct val="90000"/>
              </a:lnSpc>
              <a:spcBef>
                <a:spcPct val="0"/>
              </a:spcBef>
              <a:buNone/>
            </a:pPr>
            <a:r>
              <a:rPr lang="en-US" altLang="zh-CN" sz="2000" b="1" dirty="0"/>
              <a:t>        }</a:t>
            </a:r>
            <a:endParaRPr lang="en-US" altLang="zh-CN" sz="2000" b="1" dirty="0"/>
          </a:p>
        </p:txBody>
      </p:sp>
    </p:spTree>
  </p:cSld>
  <p:clrMapOvr>
    <a:masterClrMapping/>
  </p:clrMapOvr>
  <p:transition>
    <p:random/>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9202" name="Rectangle 2"/>
          <p:cNvSpPr>
            <a:spLocks noGrp="1"/>
          </p:cNvSpPr>
          <p:nvPr>
            <p:ph type="title"/>
          </p:nvPr>
        </p:nvSpPr>
        <p:spPr>
          <a:xfrm>
            <a:off x="971550" y="0"/>
            <a:ext cx="7467600" cy="762000"/>
          </a:xfrm>
        </p:spPr>
        <p:txBody>
          <a:bodyPr vert="horz" wrap="square" lIns="91440" tIns="45720" rIns="91440" bIns="45720" anchor="b" anchorCtr="0"/>
          <a:p>
            <a:pPr eaLnBrk="1" hangingPunct="1"/>
            <a:r>
              <a:rPr lang="en-US" altLang="zh-CN" dirty="0"/>
              <a:t>TCP</a:t>
            </a:r>
            <a:r>
              <a:rPr lang="zh-CN" altLang="en-US" dirty="0"/>
              <a:t>服务器程序（</a:t>
            </a:r>
            <a:r>
              <a:rPr lang="en-US" altLang="zh-CN" dirty="0"/>
              <a:t>cont.</a:t>
            </a:r>
            <a:r>
              <a:rPr lang="zh-CN" altLang="en-US" dirty="0"/>
              <a:t>）</a:t>
            </a:r>
            <a:endParaRPr lang="zh-CN" altLang="en-US" dirty="0"/>
          </a:p>
        </p:txBody>
      </p:sp>
      <p:sp>
        <p:nvSpPr>
          <p:cNvPr id="179203" name="Rectangle 3"/>
          <p:cNvSpPr>
            <a:spLocks noGrp="1"/>
          </p:cNvSpPr>
          <p:nvPr>
            <p:ph idx="1"/>
          </p:nvPr>
        </p:nvSpPr>
        <p:spPr>
          <a:xfrm>
            <a:off x="250825" y="765175"/>
            <a:ext cx="8713788" cy="5902325"/>
          </a:xfrm>
          <a:solidFill>
            <a:schemeClr val="bg1">
              <a:alpha val="100000"/>
            </a:schemeClr>
          </a:solidFill>
        </p:spPr>
        <p:txBody>
          <a:bodyPr vert="horz" wrap="square" lIns="91440" tIns="45720" rIns="91440" bIns="45720" anchor="t" anchorCtr="0"/>
          <a:p>
            <a:pPr eaLnBrk="1" hangingPunct="1">
              <a:spcBef>
                <a:spcPct val="0"/>
              </a:spcBef>
              <a:buNone/>
            </a:pPr>
            <a:r>
              <a:rPr lang="en-US" altLang="zh-CN" sz="2000" dirty="0"/>
              <a:t>	 </a:t>
            </a:r>
            <a:r>
              <a:rPr lang="en-US" altLang="zh-CN" sz="2000" b="1" dirty="0"/>
              <a:t> int opt =1;</a:t>
            </a:r>
            <a:endParaRPr lang="en-US" altLang="zh-CN" sz="2000" b="1" dirty="0"/>
          </a:p>
          <a:p>
            <a:pPr eaLnBrk="1" hangingPunct="1">
              <a:spcBef>
                <a:spcPct val="0"/>
              </a:spcBef>
              <a:buNone/>
            </a:pPr>
            <a:r>
              <a:rPr lang="en-US" altLang="zh-CN" sz="2000" b="1" dirty="0"/>
              <a:t>       setsockopt(listenfd, SOL_SOCKET, SO_REUSEADDR, &amp;opt, sizeof(opt));</a:t>
            </a:r>
            <a:endParaRPr lang="en-US" altLang="zh-CN" sz="2000" b="1" dirty="0"/>
          </a:p>
          <a:p>
            <a:pPr eaLnBrk="1" hangingPunct="1">
              <a:spcBef>
                <a:spcPct val="0"/>
              </a:spcBef>
              <a:buNone/>
            </a:pPr>
            <a:r>
              <a:rPr lang="en-US" altLang="zh-CN" sz="2000" b="1" dirty="0"/>
              <a:t>        bzero(&amp;server, sizeof(server));</a:t>
            </a:r>
            <a:endParaRPr lang="en-US" altLang="zh-CN" sz="2000" b="1" dirty="0"/>
          </a:p>
          <a:p>
            <a:pPr eaLnBrk="1" hangingPunct="1">
              <a:spcBef>
                <a:spcPct val="0"/>
              </a:spcBef>
              <a:buNone/>
            </a:pPr>
            <a:r>
              <a:rPr lang="en-US" altLang="zh-CN" sz="2000" b="1" dirty="0"/>
              <a:t>        server.sin_family = AF_INET;</a:t>
            </a:r>
            <a:endParaRPr lang="en-US" altLang="zh-CN" sz="2000" b="1" dirty="0"/>
          </a:p>
          <a:p>
            <a:pPr eaLnBrk="1" hangingPunct="1">
              <a:spcBef>
                <a:spcPct val="0"/>
              </a:spcBef>
              <a:buNone/>
            </a:pPr>
            <a:r>
              <a:rPr lang="en-US" altLang="zh-CN" sz="2000" b="1" dirty="0"/>
              <a:t>        server.sin_port = htons(PORT);</a:t>
            </a:r>
            <a:endParaRPr lang="en-US" altLang="zh-CN" sz="2000" b="1" dirty="0"/>
          </a:p>
          <a:p>
            <a:pPr eaLnBrk="1" hangingPunct="1">
              <a:spcBef>
                <a:spcPct val="0"/>
              </a:spcBef>
              <a:buNone/>
            </a:pPr>
            <a:r>
              <a:rPr lang="en-US" altLang="zh-CN" sz="2000" b="1" dirty="0"/>
              <a:t>        server.sin_addr.s_addr = htonl(INADDR_ANY);</a:t>
            </a:r>
            <a:endParaRPr lang="en-US" altLang="zh-CN" sz="2000" b="1" dirty="0"/>
          </a:p>
          <a:p>
            <a:pPr eaLnBrk="1" hangingPunct="1">
              <a:spcBef>
                <a:spcPct val="0"/>
              </a:spcBef>
              <a:buNone/>
            </a:pPr>
            <a:r>
              <a:rPr lang="en-US" altLang="zh-CN" sz="2000" b="1" dirty="0"/>
              <a:t>        if (bind(listenfd, (struct sockaddr *)&amp;server, sizeof(struct sockaddr))==-1)</a:t>
            </a:r>
            <a:endParaRPr lang="en-US" altLang="zh-CN" sz="2000" b="1" dirty="0"/>
          </a:p>
          <a:p>
            <a:pPr eaLnBrk="1" hangingPunct="1">
              <a:spcBef>
                <a:spcPct val="0"/>
              </a:spcBef>
              <a:buNone/>
            </a:pPr>
            <a:r>
              <a:rPr lang="en-US" altLang="zh-CN" sz="2000" b="1" dirty="0"/>
              <a:t>        {</a:t>
            </a:r>
            <a:endParaRPr lang="en-US" altLang="zh-CN" sz="2000" b="1" dirty="0"/>
          </a:p>
          <a:p>
            <a:pPr eaLnBrk="1" hangingPunct="1">
              <a:spcBef>
                <a:spcPct val="0"/>
              </a:spcBef>
              <a:buNone/>
            </a:pPr>
            <a:r>
              <a:rPr lang="en-US" altLang="zh-CN" sz="2000" b="1" dirty="0"/>
              <a:t>                perror("Bind error");</a:t>
            </a:r>
            <a:endParaRPr lang="en-US" altLang="zh-CN" sz="2000" b="1" dirty="0"/>
          </a:p>
          <a:p>
            <a:pPr eaLnBrk="1" hangingPunct="1">
              <a:spcBef>
                <a:spcPct val="0"/>
              </a:spcBef>
              <a:buNone/>
            </a:pPr>
            <a:r>
              <a:rPr lang="en-US" altLang="zh-CN" sz="2000" b="1" dirty="0"/>
              <a:t>                exit(-1);</a:t>
            </a:r>
            <a:endParaRPr lang="en-US" altLang="zh-CN" sz="2000" b="1" dirty="0"/>
          </a:p>
          <a:p>
            <a:pPr eaLnBrk="1" hangingPunct="1">
              <a:spcBef>
                <a:spcPct val="0"/>
              </a:spcBef>
              <a:buNone/>
            </a:pPr>
            <a:r>
              <a:rPr lang="en-US" altLang="zh-CN" sz="2000" b="1" dirty="0"/>
              <a:t>        }</a:t>
            </a:r>
            <a:endParaRPr lang="en-US" altLang="zh-CN" sz="2000" b="1" dirty="0"/>
          </a:p>
          <a:p>
            <a:pPr eaLnBrk="1" hangingPunct="1">
              <a:spcBef>
                <a:spcPct val="0"/>
              </a:spcBef>
              <a:buNone/>
            </a:pPr>
            <a:endParaRPr lang="en-US" altLang="zh-CN" sz="2000" b="1" dirty="0"/>
          </a:p>
          <a:p>
            <a:pPr eaLnBrk="1" hangingPunct="1">
              <a:spcBef>
                <a:spcPct val="0"/>
              </a:spcBef>
              <a:buNone/>
            </a:pPr>
            <a:r>
              <a:rPr lang="en-US" altLang="zh-CN" sz="2000" b="1" dirty="0"/>
              <a:t>        if (listen(listenfd, BACKLOG) == -1) </a:t>
            </a:r>
            <a:endParaRPr lang="en-US" altLang="zh-CN" sz="2000" b="1" dirty="0"/>
          </a:p>
          <a:p>
            <a:pPr eaLnBrk="1" hangingPunct="1">
              <a:spcBef>
                <a:spcPct val="0"/>
              </a:spcBef>
              <a:buNone/>
            </a:pPr>
            <a:r>
              <a:rPr lang="en-US" altLang="zh-CN" sz="2000" b="1" dirty="0"/>
              <a:t>       {</a:t>
            </a:r>
            <a:endParaRPr lang="en-US" altLang="zh-CN" sz="2000" b="1" dirty="0"/>
          </a:p>
          <a:p>
            <a:pPr eaLnBrk="1" hangingPunct="1">
              <a:spcBef>
                <a:spcPct val="0"/>
              </a:spcBef>
              <a:buNone/>
            </a:pPr>
            <a:r>
              <a:rPr lang="en-US" altLang="zh-CN" sz="2000" b="1" dirty="0"/>
              <a:t>                perror("listen error");</a:t>
            </a:r>
            <a:endParaRPr lang="en-US" altLang="zh-CN" sz="2000" b="1" dirty="0"/>
          </a:p>
          <a:p>
            <a:pPr eaLnBrk="1" hangingPunct="1">
              <a:spcBef>
                <a:spcPct val="0"/>
              </a:spcBef>
              <a:buNone/>
            </a:pPr>
            <a:r>
              <a:rPr lang="en-US" altLang="zh-CN" sz="2000" b="1" dirty="0"/>
              <a:t>                exit(-1);</a:t>
            </a:r>
            <a:endParaRPr lang="en-US" altLang="zh-CN" sz="2000" b="1" dirty="0"/>
          </a:p>
          <a:p>
            <a:pPr eaLnBrk="1" hangingPunct="1">
              <a:spcBef>
                <a:spcPct val="0"/>
              </a:spcBef>
              <a:buNone/>
            </a:pPr>
            <a:r>
              <a:rPr lang="en-US" altLang="zh-CN" sz="2000" b="1" dirty="0"/>
              <a:t>        }</a:t>
            </a:r>
            <a:endParaRPr lang="en-US" altLang="zh-CN" sz="2000" b="1" dirty="0"/>
          </a:p>
        </p:txBody>
      </p:sp>
    </p:spTree>
  </p:cSld>
  <p:clrMapOvr>
    <a:masterClrMapping/>
  </p:clrMapOvr>
  <p:transition>
    <p:random/>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1250" name="Rectangle 2"/>
          <p:cNvSpPr>
            <a:spLocks noGrp="1"/>
          </p:cNvSpPr>
          <p:nvPr>
            <p:ph type="title"/>
          </p:nvPr>
        </p:nvSpPr>
        <p:spPr>
          <a:xfrm>
            <a:off x="971550" y="0"/>
            <a:ext cx="7793038" cy="836613"/>
          </a:xfrm>
        </p:spPr>
        <p:txBody>
          <a:bodyPr vert="horz" wrap="square" lIns="91440" tIns="45720" rIns="91440" bIns="45720" anchor="b" anchorCtr="0"/>
          <a:p>
            <a:pPr eaLnBrk="1" hangingPunct="1"/>
            <a:r>
              <a:rPr lang="en-US" altLang="zh-CN" dirty="0"/>
              <a:t>TCP</a:t>
            </a:r>
            <a:r>
              <a:rPr lang="zh-CN" altLang="en-US" dirty="0"/>
              <a:t>服务器程序（</a:t>
            </a:r>
            <a:r>
              <a:rPr lang="en-US" altLang="zh-CN" dirty="0"/>
              <a:t>cont.</a:t>
            </a:r>
            <a:r>
              <a:rPr lang="zh-CN" altLang="en-US" dirty="0"/>
              <a:t>）</a:t>
            </a:r>
            <a:endParaRPr lang="zh-CN" altLang="en-US" dirty="0"/>
          </a:p>
        </p:txBody>
      </p:sp>
      <p:sp>
        <p:nvSpPr>
          <p:cNvPr id="181251" name="Rectangle 3"/>
          <p:cNvSpPr>
            <a:spLocks noGrp="1"/>
          </p:cNvSpPr>
          <p:nvPr>
            <p:ph idx="1"/>
          </p:nvPr>
        </p:nvSpPr>
        <p:spPr>
          <a:xfrm>
            <a:off x="611188" y="692150"/>
            <a:ext cx="8132762" cy="5616575"/>
          </a:xfrm>
          <a:solidFill>
            <a:schemeClr val="bg1">
              <a:alpha val="100000"/>
            </a:schemeClr>
          </a:solidFill>
        </p:spPr>
        <p:txBody>
          <a:bodyPr vert="horz" wrap="square" lIns="91440" tIns="45720" rIns="91440" bIns="45720" anchor="t" anchorCtr="0"/>
          <a:p>
            <a:pPr eaLnBrk="1" hangingPunct="1">
              <a:spcBef>
                <a:spcPct val="0"/>
              </a:spcBef>
              <a:buNone/>
            </a:pPr>
            <a:r>
              <a:rPr lang="en-US" altLang="zh-CN" sz="2400" b="1" dirty="0"/>
              <a:t>     sin_size = sizeof(struct sockaddr_in);</a:t>
            </a:r>
            <a:endParaRPr lang="en-US" altLang="zh-CN" sz="2400" b="1" dirty="0"/>
          </a:p>
          <a:p>
            <a:pPr eaLnBrk="1" hangingPunct="1">
              <a:spcBef>
                <a:spcPct val="0"/>
              </a:spcBef>
              <a:buNone/>
            </a:pPr>
            <a:r>
              <a:rPr lang="en-US" altLang="zh-CN" sz="2400" b="1" dirty="0"/>
              <a:t>     while(1) </a:t>
            </a:r>
            <a:endParaRPr lang="en-US" altLang="zh-CN" sz="2400" b="1" dirty="0"/>
          </a:p>
          <a:p>
            <a:pPr eaLnBrk="1" hangingPunct="1">
              <a:spcBef>
                <a:spcPct val="0"/>
              </a:spcBef>
              <a:buNone/>
            </a:pPr>
            <a:r>
              <a:rPr lang="en-US" altLang="zh-CN" sz="2400" b="1" dirty="0"/>
              <a:t>	{</a:t>
            </a:r>
            <a:endParaRPr lang="en-US" altLang="zh-CN" sz="2400" b="1" dirty="0"/>
          </a:p>
          <a:p>
            <a:pPr eaLnBrk="1" hangingPunct="1">
              <a:spcBef>
                <a:spcPct val="0"/>
              </a:spcBef>
              <a:buNone/>
            </a:pPr>
            <a:r>
              <a:rPr lang="en-US" altLang="zh-CN" sz="2400" b="1" dirty="0"/>
              <a:t>            if ((</a:t>
            </a:r>
            <a:r>
              <a:rPr lang="en-US" altLang="zh-CN" sz="2400" b="1" dirty="0">
                <a:solidFill>
                  <a:srgbClr val="FF0000"/>
                </a:solidFill>
              </a:rPr>
              <a:t>connectfd</a:t>
            </a:r>
            <a:r>
              <a:rPr lang="en-US" altLang="zh-CN" sz="2400" b="1" dirty="0"/>
              <a:t> = accept(listenfd, (struct sockaddr *)&amp;client, &amp;sin_size)) == -1) </a:t>
            </a:r>
            <a:endParaRPr lang="en-US" altLang="zh-CN" sz="2400" b="1" dirty="0"/>
          </a:p>
          <a:p>
            <a:pPr eaLnBrk="1" hangingPunct="1">
              <a:spcBef>
                <a:spcPct val="0"/>
              </a:spcBef>
              <a:buNone/>
            </a:pPr>
            <a:r>
              <a:rPr lang="en-US" altLang="zh-CN" sz="2400" b="1" dirty="0"/>
              <a:t>		{</a:t>
            </a:r>
            <a:endParaRPr lang="en-US" altLang="zh-CN" sz="2400" b="1" dirty="0"/>
          </a:p>
          <a:p>
            <a:pPr eaLnBrk="1" hangingPunct="1">
              <a:spcBef>
                <a:spcPct val="0"/>
              </a:spcBef>
              <a:buNone/>
            </a:pPr>
            <a:r>
              <a:rPr lang="en-US" altLang="zh-CN" sz="2400" b="1" dirty="0"/>
              <a:t>                        perror("accept error");</a:t>
            </a:r>
            <a:endParaRPr lang="en-US" altLang="zh-CN" sz="2400" b="1" dirty="0"/>
          </a:p>
          <a:p>
            <a:pPr eaLnBrk="1" hangingPunct="1">
              <a:spcBef>
                <a:spcPct val="0"/>
              </a:spcBef>
              <a:buNone/>
            </a:pPr>
            <a:r>
              <a:rPr lang="en-US" altLang="zh-CN" sz="2400" b="1" dirty="0"/>
              <a:t>                        exit(-1);</a:t>
            </a:r>
            <a:endParaRPr lang="en-US" altLang="zh-CN" sz="2400" b="1" dirty="0"/>
          </a:p>
          <a:p>
            <a:pPr eaLnBrk="1" hangingPunct="1">
              <a:spcBef>
                <a:spcPct val="0"/>
              </a:spcBef>
              <a:buNone/>
            </a:pPr>
            <a:r>
              <a:rPr lang="en-US" altLang="zh-CN" sz="2400" b="1" dirty="0"/>
              <a:t>              }</a:t>
            </a:r>
            <a:endParaRPr lang="en-US" altLang="zh-CN" sz="2400" b="1" dirty="0"/>
          </a:p>
          <a:p>
            <a:pPr eaLnBrk="1" hangingPunct="1">
              <a:spcBef>
                <a:spcPct val="0"/>
              </a:spcBef>
              <a:buNone/>
            </a:pPr>
            <a:r>
              <a:rPr lang="en-US" altLang="zh-CN" sz="2400" b="1" dirty="0"/>
              <a:t>              printf("you get a connection from %s\n", inet_ntoa(client.sin_addr));</a:t>
            </a:r>
            <a:endParaRPr lang="en-US" altLang="zh-CN" sz="2400" b="1" dirty="0"/>
          </a:p>
          <a:p>
            <a:pPr eaLnBrk="1" hangingPunct="1">
              <a:spcBef>
                <a:spcPct val="0"/>
              </a:spcBef>
              <a:buNone/>
            </a:pPr>
            <a:r>
              <a:rPr lang="en-US" altLang="zh-CN" sz="2400" b="1" dirty="0"/>
              <a:t>              </a:t>
            </a:r>
            <a:r>
              <a:rPr lang="en-US" altLang="zh-CN" sz="2400" b="1" dirty="0">
                <a:solidFill>
                  <a:srgbClr val="00B0F0"/>
                </a:solidFill>
              </a:rPr>
              <a:t>send</a:t>
            </a:r>
            <a:r>
              <a:rPr lang="en-US" altLang="zh-CN" sz="2400" b="1" dirty="0"/>
              <a:t>(</a:t>
            </a:r>
            <a:r>
              <a:rPr lang="en-US" altLang="zh-CN" sz="2400" b="1" dirty="0">
                <a:solidFill>
                  <a:srgbClr val="FF0000"/>
                </a:solidFill>
              </a:rPr>
              <a:t>connectfd</a:t>
            </a:r>
            <a:r>
              <a:rPr lang="en-US" altLang="zh-CN" sz="2400" b="1" dirty="0"/>
              <a:t>,"welcome to my server\n",22, 0);</a:t>
            </a:r>
            <a:endParaRPr lang="en-US" altLang="zh-CN" sz="2400" b="1" dirty="0"/>
          </a:p>
          <a:p>
            <a:pPr eaLnBrk="1" hangingPunct="1">
              <a:spcBef>
                <a:spcPct val="0"/>
              </a:spcBef>
              <a:buNone/>
            </a:pPr>
            <a:r>
              <a:rPr lang="en-US" altLang="zh-CN" sz="2400" b="1" dirty="0"/>
              <a:t>               close(connectfd);</a:t>
            </a:r>
            <a:endParaRPr lang="en-US" altLang="zh-CN" sz="2400" b="1" dirty="0"/>
          </a:p>
          <a:p>
            <a:pPr eaLnBrk="1" hangingPunct="1">
              <a:spcBef>
                <a:spcPct val="0"/>
              </a:spcBef>
              <a:buNone/>
            </a:pPr>
            <a:r>
              <a:rPr lang="en-US" altLang="zh-CN" sz="2400" b="1" dirty="0"/>
              <a:t>        } /* while */</a:t>
            </a:r>
            <a:endParaRPr lang="en-US" altLang="zh-CN" sz="2400" b="1" dirty="0"/>
          </a:p>
          <a:p>
            <a:pPr eaLnBrk="1" hangingPunct="1">
              <a:spcBef>
                <a:spcPct val="0"/>
              </a:spcBef>
              <a:buNone/>
            </a:pPr>
            <a:r>
              <a:rPr lang="en-US" altLang="zh-CN" sz="2400" b="1" dirty="0"/>
              <a:t>        close(listenfd);</a:t>
            </a:r>
            <a:endParaRPr lang="en-US" altLang="zh-CN" sz="2400" b="1" dirty="0"/>
          </a:p>
          <a:p>
            <a:pPr eaLnBrk="1" hangingPunct="1">
              <a:spcBef>
                <a:spcPct val="0"/>
              </a:spcBef>
              <a:buNone/>
            </a:pPr>
            <a:r>
              <a:rPr lang="en-US" altLang="zh-CN" sz="2400" b="1" dirty="0"/>
              <a:t>}</a:t>
            </a:r>
            <a:endParaRPr lang="en-US" altLang="zh-CN" sz="2400" b="1" dirty="0"/>
          </a:p>
        </p:txBody>
      </p:sp>
    </p:spTree>
  </p:cSld>
  <p:clrMapOvr>
    <a:masterClrMapping/>
  </p:clrMapOvr>
  <p:transition>
    <p:random/>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3298" name="Rectangle 2"/>
          <p:cNvSpPr>
            <a:spLocks noGrp="1"/>
          </p:cNvSpPr>
          <p:nvPr>
            <p:ph type="title"/>
          </p:nvPr>
        </p:nvSpPr>
        <p:spPr>
          <a:xfrm>
            <a:off x="827088" y="0"/>
            <a:ext cx="7467600" cy="762000"/>
          </a:xfrm>
        </p:spPr>
        <p:txBody>
          <a:bodyPr vert="horz" wrap="square" lIns="91440" tIns="45720" rIns="91440" bIns="45720" anchor="b" anchorCtr="0"/>
          <a:p>
            <a:pPr eaLnBrk="1" hangingPunct="1"/>
            <a:r>
              <a:rPr lang="en-US" altLang="zh-CN" dirty="0"/>
              <a:t>TCP</a:t>
            </a:r>
            <a:r>
              <a:rPr lang="zh-CN" altLang="en-US" dirty="0"/>
              <a:t>客户程序</a:t>
            </a:r>
            <a:endParaRPr lang="zh-CN" altLang="en-US" dirty="0"/>
          </a:p>
        </p:txBody>
      </p:sp>
      <p:sp>
        <p:nvSpPr>
          <p:cNvPr id="183299" name="Rectangle 3"/>
          <p:cNvSpPr>
            <a:spLocks noGrp="1"/>
          </p:cNvSpPr>
          <p:nvPr>
            <p:ph idx="1"/>
          </p:nvPr>
        </p:nvSpPr>
        <p:spPr>
          <a:xfrm>
            <a:off x="323850" y="765175"/>
            <a:ext cx="8569325" cy="6092825"/>
          </a:xfrm>
          <a:solidFill>
            <a:schemeClr val="bg1">
              <a:alpha val="100000"/>
            </a:schemeClr>
          </a:solidFill>
        </p:spPr>
        <p:txBody>
          <a:bodyPr vert="horz" wrap="square" lIns="91440" tIns="45720" rIns="91440" bIns="45720" anchor="t" anchorCtr="0"/>
          <a:p>
            <a:pPr eaLnBrk="1" hangingPunct="1">
              <a:lnSpc>
                <a:spcPct val="90000"/>
              </a:lnSpc>
              <a:spcBef>
                <a:spcPct val="0"/>
              </a:spcBef>
              <a:buNone/>
            </a:pPr>
            <a:r>
              <a:rPr lang="en-US" altLang="zh-CN" sz="2400" b="1" dirty="0"/>
              <a:t>/*client.c*/</a:t>
            </a:r>
            <a:endParaRPr lang="en-US" altLang="zh-CN" sz="2400" b="1" dirty="0"/>
          </a:p>
          <a:p>
            <a:pPr eaLnBrk="1" hangingPunct="1">
              <a:lnSpc>
                <a:spcPct val="90000"/>
              </a:lnSpc>
              <a:spcBef>
                <a:spcPct val="0"/>
              </a:spcBef>
              <a:buNone/>
            </a:pPr>
            <a:r>
              <a:rPr lang="en-US" altLang="zh-CN" sz="2400" b="1" dirty="0"/>
              <a:t>#include &lt;unistd.h&gt;</a:t>
            </a:r>
            <a:endParaRPr lang="en-US" altLang="zh-CN" sz="2400" b="1" dirty="0"/>
          </a:p>
          <a:p>
            <a:pPr eaLnBrk="1" hangingPunct="1">
              <a:lnSpc>
                <a:spcPct val="90000"/>
              </a:lnSpc>
              <a:spcBef>
                <a:spcPct val="0"/>
              </a:spcBef>
              <a:buNone/>
            </a:pPr>
            <a:r>
              <a:rPr lang="en-US" altLang="zh-CN" sz="2400" b="1" dirty="0"/>
              <a:t>#include &lt;sys/socket.h&gt;</a:t>
            </a:r>
            <a:endParaRPr lang="en-US" altLang="zh-CN" sz="2400" b="1" dirty="0"/>
          </a:p>
          <a:p>
            <a:pPr eaLnBrk="1" hangingPunct="1">
              <a:lnSpc>
                <a:spcPct val="90000"/>
              </a:lnSpc>
              <a:spcBef>
                <a:spcPct val="0"/>
              </a:spcBef>
              <a:buNone/>
            </a:pPr>
            <a:r>
              <a:rPr lang="en-US" altLang="zh-CN" sz="2400" b="1" dirty="0"/>
              <a:t>#include &lt;netinet/in.h&gt;</a:t>
            </a:r>
            <a:endParaRPr lang="en-US" altLang="zh-CN" sz="2400" b="1" dirty="0"/>
          </a:p>
          <a:p>
            <a:pPr eaLnBrk="1" hangingPunct="1">
              <a:lnSpc>
                <a:spcPct val="90000"/>
              </a:lnSpc>
              <a:spcBef>
                <a:spcPct val="0"/>
              </a:spcBef>
              <a:buNone/>
            </a:pPr>
            <a:r>
              <a:rPr lang="en-US" altLang="zh-CN" sz="2400" b="1" dirty="0"/>
              <a:t>#include &lt;netdb.h&gt;</a:t>
            </a:r>
            <a:endParaRPr lang="en-US" altLang="zh-CN" sz="2400" b="1" dirty="0"/>
          </a:p>
          <a:p>
            <a:pPr eaLnBrk="1" hangingPunct="1">
              <a:lnSpc>
                <a:spcPct val="90000"/>
              </a:lnSpc>
              <a:spcBef>
                <a:spcPct val="0"/>
              </a:spcBef>
              <a:buNone/>
            </a:pPr>
            <a:r>
              <a:rPr lang="en-US" altLang="zh-CN" sz="2400" b="1" dirty="0"/>
              <a:t>#define PORT            1234</a:t>
            </a:r>
            <a:endParaRPr lang="en-US" altLang="zh-CN" sz="2400" b="1" dirty="0"/>
          </a:p>
          <a:p>
            <a:pPr eaLnBrk="1" hangingPunct="1">
              <a:lnSpc>
                <a:spcPct val="90000"/>
              </a:lnSpc>
              <a:spcBef>
                <a:spcPct val="0"/>
              </a:spcBef>
              <a:buNone/>
            </a:pPr>
            <a:r>
              <a:rPr lang="en-US" altLang="zh-CN" sz="2400" b="1" dirty="0"/>
              <a:t>#define MAXDATASIZE     100</a:t>
            </a:r>
            <a:endParaRPr lang="en-US" altLang="zh-CN" sz="2400" b="1" dirty="0"/>
          </a:p>
          <a:p>
            <a:pPr eaLnBrk="1" hangingPunct="1">
              <a:lnSpc>
                <a:spcPct val="90000"/>
              </a:lnSpc>
              <a:spcBef>
                <a:spcPct val="0"/>
              </a:spcBef>
              <a:buNone/>
            </a:pPr>
            <a:r>
              <a:rPr lang="en-US" altLang="zh-CN" sz="2000" b="1" dirty="0"/>
              <a:t>int main(int argc, char *argv[])</a:t>
            </a:r>
            <a:endParaRPr lang="en-US" altLang="zh-CN" sz="2000" b="1" dirty="0"/>
          </a:p>
          <a:p>
            <a:pPr eaLnBrk="1" hangingPunct="1">
              <a:lnSpc>
                <a:spcPct val="90000"/>
              </a:lnSpc>
              <a:spcBef>
                <a:spcPct val="0"/>
              </a:spcBef>
              <a:buNone/>
            </a:pPr>
            <a:r>
              <a:rPr lang="en-US" altLang="zh-CN" sz="2000" b="1" dirty="0"/>
              <a:t>{</a:t>
            </a:r>
            <a:endParaRPr lang="en-US" altLang="zh-CN" sz="2000" b="1" dirty="0"/>
          </a:p>
          <a:p>
            <a:pPr eaLnBrk="1" hangingPunct="1">
              <a:lnSpc>
                <a:spcPct val="90000"/>
              </a:lnSpc>
              <a:spcBef>
                <a:spcPct val="0"/>
              </a:spcBef>
              <a:buNone/>
            </a:pPr>
            <a:r>
              <a:rPr lang="en-US" altLang="zh-CN" sz="2000" b="1" dirty="0"/>
              <a:t>        int fd, numbytes;</a:t>
            </a:r>
            <a:endParaRPr lang="en-US" altLang="zh-CN" sz="2000" b="1" dirty="0"/>
          </a:p>
          <a:p>
            <a:pPr eaLnBrk="1" hangingPunct="1">
              <a:lnSpc>
                <a:spcPct val="90000"/>
              </a:lnSpc>
              <a:spcBef>
                <a:spcPct val="0"/>
              </a:spcBef>
              <a:buNone/>
            </a:pPr>
            <a:r>
              <a:rPr lang="en-US" altLang="zh-CN" sz="2000" b="1" dirty="0"/>
              <a:t>        char        buf[MAXDATASIZE];</a:t>
            </a:r>
            <a:endParaRPr lang="en-US" altLang="zh-CN" sz="2000" b="1" dirty="0"/>
          </a:p>
          <a:p>
            <a:pPr eaLnBrk="1" hangingPunct="1">
              <a:lnSpc>
                <a:spcPct val="90000"/>
              </a:lnSpc>
              <a:spcBef>
                <a:spcPct val="0"/>
              </a:spcBef>
              <a:buNone/>
            </a:pPr>
            <a:r>
              <a:rPr lang="en-US" altLang="zh-CN" sz="2000" b="1" dirty="0"/>
              <a:t>        struct  hostent *        he;</a:t>
            </a:r>
            <a:endParaRPr lang="en-US" altLang="zh-CN" sz="2000" b="1" dirty="0"/>
          </a:p>
          <a:p>
            <a:pPr eaLnBrk="1" hangingPunct="1">
              <a:lnSpc>
                <a:spcPct val="90000"/>
              </a:lnSpc>
              <a:spcBef>
                <a:spcPct val="0"/>
              </a:spcBef>
              <a:buNone/>
            </a:pPr>
            <a:r>
              <a:rPr lang="en-US" altLang="zh-CN" sz="2000" b="1" dirty="0"/>
              <a:t>        struct sockaddr_in server;</a:t>
            </a:r>
            <a:endParaRPr lang="en-US" altLang="zh-CN" sz="2000" b="1" dirty="0"/>
          </a:p>
          <a:p>
            <a:pPr eaLnBrk="1" hangingPunct="1">
              <a:lnSpc>
                <a:spcPct val="90000"/>
              </a:lnSpc>
              <a:spcBef>
                <a:spcPct val="0"/>
              </a:spcBef>
              <a:buNone/>
            </a:pPr>
            <a:r>
              <a:rPr lang="en-US" altLang="zh-CN" sz="2000" b="1" dirty="0"/>
              <a:t>        if (argc != 2)</a:t>
            </a:r>
            <a:endParaRPr lang="en-US" altLang="zh-CN" sz="2000" b="1" dirty="0"/>
          </a:p>
          <a:p>
            <a:pPr eaLnBrk="1" hangingPunct="1">
              <a:lnSpc>
                <a:spcPct val="90000"/>
              </a:lnSpc>
              <a:spcBef>
                <a:spcPct val="0"/>
              </a:spcBef>
              <a:buNone/>
            </a:pPr>
            <a:r>
              <a:rPr lang="en-US" altLang="zh-CN" sz="2000" b="1" dirty="0"/>
              <a:t>        {</a:t>
            </a:r>
            <a:endParaRPr lang="en-US" altLang="zh-CN" sz="2000" b="1" dirty="0"/>
          </a:p>
          <a:p>
            <a:pPr eaLnBrk="1" hangingPunct="1">
              <a:lnSpc>
                <a:spcPct val="90000"/>
              </a:lnSpc>
              <a:spcBef>
                <a:spcPct val="0"/>
              </a:spcBef>
              <a:buNone/>
            </a:pPr>
            <a:r>
              <a:rPr lang="en-US" altLang="zh-CN" sz="2000" b="1" dirty="0"/>
              <a:t>                printf("Usage: %s  &lt;IP address&gt;\n", argv[0]);</a:t>
            </a:r>
            <a:endParaRPr lang="en-US" altLang="zh-CN" sz="2000" b="1" dirty="0"/>
          </a:p>
          <a:p>
            <a:pPr eaLnBrk="1" hangingPunct="1">
              <a:lnSpc>
                <a:spcPct val="90000"/>
              </a:lnSpc>
              <a:spcBef>
                <a:spcPct val="0"/>
              </a:spcBef>
              <a:buNone/>
            </a:pPr>
            <a:r>
              <a:rPr lang="en-US" altLang="zh-CN" sz="2000" b="1" dirty="0"/>
              <a:t>                exit(-1);</a:t>
            </a:r>
            <a:endParaRPr lang="en-US" altLang="zh-CN" sz="2000" b="1" dirty="0"/>
          </a:p>
          <a:p>
            <a:pPr eaLnBrk="1" hangingPunct="1">
              <a:lnSpc>
                <a:spcPct val="90000"/>
              </a:lnSpc>
              <a:spcBef>
                <a:spcPct val="0"/>
              </a:spcBef>
              <a:buNone/>
            </a:pPr>
            <a:r>
              <a:rPr lang="en-US" altLang="zh-CN" sz="2000" b="1" dirty="0"/>
              <a:t>        }</a:t>
            </a:r>
            <a:endParaRPr lang="en-US" altLang="zh-CN" sz="2000" b="1" dirty="0"/>
          </a:p>
          <a:p>
            <a:pPr eaLnBrk="1" hangingPunct="1">
              <a:lnSpc>
                <a:spcPct val="90000"/>
              </a:lnSpc>
              <a:spcBef>
                <a:spcPct val="0"/>
              </a:spcBef>
              <a:buNone/>
            </a:pPr>
            <a:r>
              <a:rPr lang="en-US" altLang="zh-CN" sz="2000" b="1" dirty="0"/>
              <a:t>}</a:t>
            </a:r>
            <a:endParaRPr lang="en-US" altLang="zh-CN" sz="2000" b="1" dirty="0"/>
          </a:p>
        </p:txBody>
      </p:sp>
    </p:spTree>
  </p:cSld>
  <p:clrMapOvr>
    <a:masterClrMapping/>
  </p:clrMapOvr>
  <p:transition>
    <p:random/>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5346" name="Rectangle 2"/>
          <p:cNvSpPr>
            <a:spLocks noGrp="1"/>
          </p:cNvSpPr>
          <p:nvPr>
            <p:ph type="title"/>
          </p:nvPr>
        </p:nvSpPr>
        <p:spPr>
          <a:xfrm>
            <a:off x="1042988" y="0"/>
            <a:ext cx="7793037" cy="765175"/>
          </a:xfrm>
        </p:spPr>
        <p:txBody>
          <a:bodyPr vert="horz" wrap="square" lIns="91440" tIns="45720" rIns="91440" bIns="45720" anchor="b" anchorCtr="0"/>
          <a:p>
            <a:pPr eaLnBrk="1" hangingPunct="1"/>
            <a:r>
              <a:rPr lang="en-US" altLang="zh-CN" dirty="0"/>
              <a:t>TCP</a:t>
            </a:r>
            <a:r>
              <a:rPr lang="zh-CN" altLang="en-US" dirty="0"/>
              <a:t>客户程序（</a:t>
            </a:r>
            <a:r>
              <a:rPr lang="en-US" altLang="zh-CN" dirty="0"/>
              <a:t>cont.</a:t>
            </a:r>
            <a:r>
              <a:rPr lang="zh-CN" altLang="en-US" dirty="0"/>
              <a:t>）</a:t>
            </a:r>
            <a:endParaRPr lang="zh-CN" altLang="en-US" dirty="0"/>
          </a:p>
        </p:txBody>
      </p:sp>
      <p:sp>
        <p:nvSpPr>
          <p:cNvPr id="185347" name="Rectangle 3"/>
          <p:cNvSpPr>
            <a:spLocks noGrp="1"/>
          </p:cNvSpPr>
          <p:nvPr>
            <p:ph idx="1"/>
          </p:nvPr>
        </p:nvSpPr>
        <p:spPr>
          <a:xfrm>
            <a:off x="395288" y="836613"/>
            <a:ext cx="8424862" cy="5540375"/>
          </a:xfrm>
          <a:solidFill>
            <a:schemeClr val="bg1">
              <a:alpha val="100000"/>
            </a:schemeClr>
          </a:solidFill>
        </p:spPr>
        <p:txBody>
          <a:bodyPr vert="horz" wrap="square" lIns="91440" tIns="45720" rIns="91440" bIns="45720" anchor="t" anchorCtr="0"/>
          <a:p>
            <a:pPr eaLnBrk="1" hangingPunct="1">
              <a:spcBef>
                <a:spcPct val="0"/>
              </a:spcBef>
              <a:buNone/>
            </a:pPr>
            <a:r>
              <a:rPr lang="en-US" altLang="zh-CN" sz="2400" dirty="0"/>
              <a:t>	</a:t>
            </a:r>
            <a:r>
              <a:rPr lang="en-US" altLang="zh-CN" sz="2400" b="1" dirty="0"/>
              <a:t>if ((he = gethostbyname(argv[1])) == NULL) </a:t>
            </a:r>
            <a:endParaRPr lang="en-US" altLang="zh-CN" sz="2400" b="1" dirty="0"/>
          </a:p>
          <a:p>
            <a:pPr eaLnBrk="1" hangingPunct="1">
              <a:spcBef>
                <a:spcPct val="0"/>
              </a:spcBef>
              <a:buNone/>
            </a:pPr>
            <a:r>
              <a:rPr lang="en-US" altLang="zh-CN" sz="2400" b="1" dirty="0"/>
              <a:t>    {</a:t>
            </a:r>
            <a:endParaRPr lang="en-US" altLang="zh-CN" sz="2400" b="1" dirty="0"/>
          </a:p>
          <a:p>
            <a:pPr eaLnBrk="1" hangingPunct="1">
              <a:spcBef>
                <a:spcPct val="0"/>
              </a:spcBef>
              <a:buNone/>
            </a:pPr>
            <a:r>
              <a:rPr lang="en-US" altLang="zh-CN" sz="2400" b="1" dirty="0"/>
              <a:t>                perror("gethostbyname error.");</a:t>
            </a:r>
            <a:endParaRPr lang="en-US" altLang="zh-CN" sz="2400" b="1" dirty="0"/>
          </a:p>
          <a:p>
            <a:pPr eaLnBrk="1" hangingPunct="1">
              <a:spcBef>
                <a:spcPct val="0"/>
              </a:spcBef>
              <a:buNone/>
            </a:pPr>
            <a:r>
              <a:rPr lang="en-US" altLang="zh-CN" sz="2400" b="1" dirty="0"/>
              <a:t>                exit(1);</a:t>
            </a:r>
            <a:endParaRPr lang="en-US" altLang="zh-CN" sz="2400" b="1" dirty="0"/>
          </a:p>
          <a:p>
            <a:pPr eaLnBrk="1" hangingPunct="1">
              <a:spcBef>
                <a:spcPct val="0"/>
              </a:spcBef>
              <a:buNone/>
            </a:pPr>
            <a:r>
              <a:rPr lang="en-US" altLang="zh-CN" sz="2400" b="1" dirty="0"/>
              <a:t>     }</a:t>
            </a:r>
            <a:endParaRPr lang="en-US" altLang="zh-CN" sz="2400" b="1" dirty="0"/>
          </a:p>
          <a:p>
            <a:pPr eaLnBrk="1" hangingPunct="1">
              <a:spcBef>
                <a:spcPct val="0"/>
              </a:spcBef>
              <a:buNone/>
            </a:pPr>
            <a:endParaRPr lang="en-US" altLang="zh-CN" sz="2400" b="1" dirty="0"/>
          </a:p>
          <a:p>
            <a:pPr eaLnBrk="1" hangingPunct="1">
              <a:spcBef>
                <a:spcPct val="0"/>
              </a:spcBef>
              <a:buNone/>
            </a:pPr>
            <a:r>
              <a:rPr lang="en-US" altLang="zh-CN" sz="2400" b="1" dirty="0"/>
              <a:t>   if ((</a:t>
            </a:r>
            <a:r>
              <a:rPr lang="en-US" altLang="zh-CN" sz="2400" b="1" dirty="0">
                <a:solidFill>
                  <a:srgbClr val="FF0000"/>
                </a:solidFill>
              </a:rPr>
              <a:t>fd</a:t>
            </a:r>
            <a:r>
              <a:rPr lang="en-US" altLang="zh-CN" sz="2400" b="1" dirty="0"/>
              <a:t> = socket(AF_INET, SOCK_STREAM, 0)) == -1) {</a:t>
            </a:r>
            <a:endParaRPr lang="en-US" altLang="zh-CN" sz="2400" b="1" dirty="0"/>
          </a:p>
          <a:p>
            <a:pPr eaLnBrk="1" hangingPunct="1">
              <a:spcBef>
                <a:spcPct val="0"/>
              </a:spcBef>
              <a:buNone/>
            </a:pPr>
            <a:r>
              <a:rPr lang="en-US" altLang="zh-CN" sz="2400" b="1" dirty="0"/>
              <a:t>                perror("Create socket failed.");</a:t>
            </a:r>
            <a:endParaRPr lang="en-US" altLang="zh-CN" sz="2400" b="1" dirty="0"/>
          </a:p>
          <a:p>
            <a:pPr eaLnBrk="1" hangingPunct="1">
              <a:spcBef>
                <a:spcPct val="0"/>
              </a:spcBef>
              <a:buNone/>
            </a:pPr>
            <a:r>
              <a:rPr lang="en-US" altLang="zh-CN" sz="2400" b="1" dirty="0"/>
              <a:t>                exit(1);</a:t>
            </a:r>
            <a:endParaRPr lang="en-US" altLang="zh-CN" sz="2400" b="1" dirty="0"/>
          </a:p>
          <a:p>
            <a:pPr eaLnBrk="1" hangingPunct="1">
              <a:spcBef>
                <a:spcPct val="0"/>
              </a:spcBef>
              <a:buNone/>
            </a:pPr>
            <a:r>
              <a:rPr lang="en-US" altLang="zh-CN" sz="2400" b="1" dirty="0"/>
              <a:t>     }</a:t>
            </a:r>
            <a:endParaRPr lang="en-US" altLang="zh-CN" sz="2400" b="1" dirty="0"/>
          </a:p>
          <a:p>
            <a:pPr eaLnBrk="1" hangingPunct="1">
              <a:spcBef>
                <a:spcPct val="0"/>
              </a:spcBef>
              <a:buNone/>
            </a:pPr>
            <a:r>
              <a:rPr lang="en-US" altLang="zh-CN" sz="2400" b="1" dirty="0"/>
              <a:t>     bzero(&amp;server, sizeof(server));</a:t>
            </a:r>
            <a:endParaRPr lang="en-US" altLang="zh-CN" sz="2400" b="1" dirty="0"/>
          </a:p>
          <a:p>
            <a:pPr eaLnBrk="1" hangingPunct="1">
              <a:spcBef>
                <a:spcPct val="0"/>
              </a:spcBef>
              <a:buNone/>
            </a:pPr>
            <a:r>
              <a:rPr lang="en-US" altLang="zh-CN" sz="2400" b="1" dirty="0"/>
              <a:t>     server.sin_family = AF_INET;</a:t>
            </a:r>
            <a:endParaRPr lang="en-US" altLang="zh-CN" sz="2400" b="1" dirty="0"/>
          </a:p>
          <a:p>
            <a:pPr eaLnBrk="1" hangingPunct="1">
              <a:spcBef>
                <a:spcPct val="0"/>
              </a:spcBef>
              <a:buNone/>
            </a:pPr>
            <a:r>
              <a:rPr lang="en-US" altLang="zh-CN" sz="2400" b="1" dirty="0"/>
              <a:t>     server.sin_port = htons(PORT);</a:t>
            </a:r>
            <a:endParaRPr lang="en-US" altLang="zh-CN" sz="2400" b="1" dirty="0"/>
          </a:p>
          <a:p>
            <a:pPr eaLnBrk="1" hangingPunct="1">
              <a:spcBef>
                <a:spcPct val="0"/>
              </a:spcBef>
              <a:buNone/>
            </a:pPr>
            <a:r>
              <a:rPr lang="en-US" altLang="zh-CN" sz="2400" b="1" dirty="0"/>
              <a:t>     server.sin_addr = *((struct in_addr *) he-&gt;h_addr);</a:t>
            </a:r>
            <a:endParaRPr lang="en-US" altLang="zh-CN" sz="2400" b="1" dirty="0"/>
          </a:p>
        </p:txBody>
      </p:sp>
    </p:spTree>
  </p:cSld>
  <p:clrMapOvr>
    <a:masterClrMapping/>
  </p:clrMapOvr>
  <p:transition>
    <p:random/>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7394" name="Rectangle 2"/>
          <p:cNvSpPr>
            <a:spLocks noGrp="1"/>
          </p:cNvSpPr>
          <p:nvPr>
            <p:ph type="title"/>
          </p:nvPr>
        </p:nvSpPr>
        <p:spPr>
          <a:xfrm>
            <a:off x="900113" y="0"/>
            <a:ext cx="7467600" cy="762000"/>
          </a:xfrm>
        </p:spPr>
        <p:txBody>
          <a:bodyPr vert="horz" wrap="square" lIns="91440" tIns="45720" rIns="91440" bIns="45720" anchor="b" anchorCtr="0"/>
          <a:p>
            <a:pPr eaLnBrk="1" hangingPunct="1"/>
            <a:r>
              <a:rPr lang="en-US" altLang="zh-CN" dirty="0"/>
              <a:t>TCP</a:t>
            </a:r>
            <a:r>
              <a:rPr lang="zh-CN" altLang="en-US" dirty="0"/>
              <a:t>客户程序（</a:t>
            </a:r>
            <a:r>
              <a:rPr lang="en-US" altLang="zh-CN" dirty="0"/>
              <a:t>cont.</a:t>
            </a:r>
            <a:r>
              <a:rPr lang="zh-CN" altLang="en-US" dirty="0"/>
              <a:t>）</a:t>
            </a:r>
            <a:endParaRPr lang="zh-CN" altLang="en-US" dirty="0"/>
          </a:p>
        </p:txBody>
      </p:sp>
      <p:sp>
        <p:nvSpPr>
          <p:cNvPr id="187395" name="Rectangle 3"/>
          <p:cNvSpPr>
            <a:spLocks noGrp="1"/>
          </p:cNvSpPr>
          <p:nvPr>
            <p:ph idx="1"/>
          </p:nvPr>
        </p:nvSpPr>
        <p:spPr>
          <a:xfrm>
            <a:off x="395288" y="892175"/>
            <a:ext cx="8120062" cy="5965825"/>
          </a:xfrm>
          <a:solidFill>
            <a:schemeClr val="bg1">
              <a:alpha val="100000"/>
            </a:schemeClr>
          </a:solidFill>
        </p:spPr>
        <p:txBody>
          <a:bodyPr vert="horz" wrap="square" lIns="91440" tIns="45720" rIns="91440" bIns="45720" anchor="t" anchorCtr="0"/>
          <a:p>
            <a:pPr eaLnBrk="1" hangingPunct="1">
              <a:spcBef>
                <a:spcPct val="0"/>
              </a:spcBef>
              <a:buNone/>
            </a:pPr>
            <a:r>
              <a:rPr lang="en-US" altLang="zh-CN" sz="2400" b="1" dirty="0"/>
              <a:t>	if (connect(</a:t>
            </a:r>
            <a:r>
              <a:rPr lang="en-US" altLang="zh-CN" sz="2400" b="1" dirty="0">
                <a:solidFill>
                  <a:srgbClr val="FF0000"/>
                </a:solidFill>
              </a:rPr>
              <a:t>fd</a:t>
            </a:r>
            <a:r>
              <a:rPr lang="en-US" altLang="zh-CN" sz="2400" b="1" dirty="0"/>
              <a:t>, (struct sockaddr *)&amp;server, sizeof(struct sockaddr)) == -1)</a:t>
            </a:r>
            <a:endParaRPr lang="en-US" altLang="zh-CN" sz="2400" b="1" dirty="0"/>
          </a:p>
          <a:p>
            <a:pPr eaLnBrk="1" hangingPunct="1">
              <a:spcBef>
                <a:spcPct val="0"/>
              </a:spcBef>
              <a:buNone/>
            </a:pPr>
            <a:r>
              <a:rPr lang="en-US" altLang="zh-CN" sz="2400" b="1" dirty="0"/>
              <a:t>   {</a:t>
            </a:r>
            <a:endParaRPr lang="en-US" altLang="zh-CN" sz="2400" b="1" dirty="0"/>
          </a:p>
          <a:p>
            <a:pPr eaLnBrk="1" hangingPunct="1">
              <a:spcBef>
                <a:spcPct val="0"/>
              </a:spcBef>
              <a:buNone/>
            </a:pPr>
            <a:r>
              <a:rPr lang="en-US" altLang="zh-CN" sz="2400" b="1" dirty="0"/>
              <a:t>                perror("connect failed.");</a:t>
            </a:r>
            <a:endParaRPr lang="en-US" altLang="zh-CN" sz="2400" b="1" dirty="0"/>
          </a:p>
          <a:p>
            <a:pPr eaLnBrk="1" hangingPunct="1">
              <a:spcBef>
                <a:spcPct val="0"/>
              </a:spcBef>
              <a:buNone/>
            </a:pPr>
            <a:r>
              <a:rPr lang="en-US" altLang="zh-CN" sz="2400" b="1" dirty="0"/>
              <a:t>                exit(1);</a:t>
            </a:r>
            <a:endParaRPr lang="en-US" altLang="zh-CN" sz="2400" b="1" dirty="0"/>
          </a:p>
          <a:p>
            <a:pPr eaLnBrk="1" hangingPunct="1">
              <a:spcBef>
                <a:spcPct val="0"/>
              </a:spcBef>
              <a:buNone/>
            </a:pPr>
            <a:r>
              <a:rPr lang="en-US" altLang="zh-CN" sz="2400" b="1" dirty="0"/>
              <a:t>   }</a:t>
            </a:r>
            <a:endParaRPr lang="en-US" altLang="zh-CN" sz="2400" b="1" dirty="0"/>
          </a:p>
          <a:p>
            <a:pPr eaLnBrk="1" hangingPunct="1">
              <a:spcBef>
                <a:spcPct val="0"/>
              </a:spcBef>
              <a:buNone/>
            </a:pPr>
            <a:r>
              <a:rPr lang="en-US" altLang="zh-CN" sz="2400" b="1" dirty="0"/>
              <a:t>   if( ((numbytes = recv(</a:t>
            </a:r>
            <a:r>
              <a:rPr lang="en-US" altLang="zh-CN" sz="2400" b="1" dirty="0">
                <a:solidFill>
                  <a:srgbClr val="FF0000"/>
                </a:solidFill>
              </a:rPr>
              <a:t>fd</a:t>
            </a:r>
            <a:r>
              <a:rPr lang="en-US" altLang="zh-CN" sz="2400" b="1" dirty="0"/>
              <a:t>, buf, MAXDATASIZE, 0)) == -1))  </a:t>
            </a:r>
            <a:endParaRPr lang="en-US" altLang="zh-CN" sz="2400" b="1" dirty="0"/>
          </a:p>
          <a:p>
            <a:pPr eaLnBrk="1" hangingPunct="1">
              <a:spcBef>
                <a:spcPct val="0"/>
              </a:spcBef>
              <a:buNone/>
            </a:pPr>
            <a:r>
              <a:rPr lang="en-US" altLang="zh-CN" sz="2400" b="1" dirty="0"/>
              <a:t>    {</a:t>
            </a:r>
            <a:endParaRPr lang="en-US" altLang="zh-CN" sz="2400" b="1" dirty="0"/>
          </a:p>
          <a:p>
            <a:pPr eaLnBrk="1" hangingPunct="1">
              <a:spcBef>
                <a:spcPct val="0"/>
              </a:spcBef>
              <a:buNone/>
            </a:pPr>
            <a:r>
              <a:rPr lang="en-US" altLang="zh-CN" sz="2400" b="1" dirty="0"/>
              <a:t>                perror("recv error.");</a:t>
            </a:r>
            <a:endParaRPr lang="en-US" altLang="zh-CN" sz="2400" b="1" dirty="0"/>
          </a:p>
          <a:p>
            <a:pPr eaLnBrk="1" hangingPunct="1">
              <a:spcBef>
                <a:spcPct val="0"/>
              </a:spcBef>
              <a:buNone/>
            </a:pPr>
            <a:r>
              <a:rPr lang="en-US" altLang="zh-CN" sz="2400" b="1" dirty="0"/>
              <a:t>                exit(1);</a:t>
            </a:r>
            <a:endParaRPr lang="en-US" altLang="zh-CN" sz="2400" b="1" dirty="0"/>
          </a:p>
          <a:p>
            <a:pPr eaLnBrk="1" hangingPunct="1">
              <a:spcBef>
                <a:spcPct val="0"/>
              </a:spcBef>
              <a:buNone/>
            </a:pPr>
            <a:r>
              <a:rPr lang="en-US" altLang="zh-CN" sz="2400" b="1" dirty="0"/>
              <a:t>    }</a:t>
            </a:r>
            <a:endParaRPr lang="en-US" altLang="zh-CN" sz="2400" b="1" dirty="0"/>
          </a:p>
          <a:p>
            <a:pPr eaLnBrk="1" hangingPunct="1">
              <a:spcBef>
                <a:spcPct val="0"/>
              </a:spcBef>
              <a:buNone/>
            </a:pPr>
            <a:r>
              <a:rPr lang="en-US" altLang="zh-CN" sz="2400" b="1" dirty="0"/>
              <a:t>    buf[numbytes] ='\0';</a:t>
            </a:r>
            <a:endParaRPr lang="en-US" altLang="zh-CN" sz="2400" b="1" dirty="0"/>
          </a:p>
          <a:p>
            <a:pPr eaLnBrk="1" hangingPunct="1">
              <a:spcBef>
                <a:spcPct val="0"/>
              </a:spcBef>
              <a:buNone/>
            </a:pPr>
            <a:r>
              <a:rPr lang="en-US" altLang="zh-CN" sz="2400" b="1" dirty="0"/>
              <a:t>    printf("Server Message: %s\n",buf);</a:t>
            </a:r>
            <a:endParaRPr lang="en-US" altLang="zh-CN" sz="2400" b="1" dirty="0"/>
          </a:p>
          <a:p>
            <a:pPr eaLnBrk="1" hangingPunct="1">
              <a:spcBef>
                <a:spcPct val="0"/>
              </a:spcBef>
              <a:buNone/>
            </a:pPr>
            <a:r>
              <a:rPr lang="en-US" altLang="zh-CN" sz="2400" b="1" dirty="0"/>
              <a:t>    close(fd);</a:t>
            </a:r>
            <a:endParaRPr lang="en-US" altLang="zh-CN" sz="2400" b="1" dirty="0"/>
          </a:p>
          <a:p>
            <a:pPr eaLnBrk="1" hangingPunct="1">
              <a:spcBef>
                <a:spcPct val="0"/>
              </a:spcBef>
              <a:buNone/>
            </a:pPr>
            <a:r>
              <a:rPr lang="en-US" altLang="zh-CN" sz="2400" b="1" dirty="0"/>
              <a:t>}</a:t>
            </a:r>
            <a:endParaRPr lang="en-US" altLang="zh-CN" sz="2400" b="1" dirty="0"/>
          </a:p>
        </p:txBody>
      </p:sp>
    </p:spTree>
  </p:cSld>
  <p:clrMapOvr>
    <a:masterClrMapping/>
  </p:clrMapOvr>
  <p:transition>
    <p:random/>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89442" name="Object 2"/>
          <p:cNvGraphicFramePr>
            <a:graphicFrameLocks noChangeAspect="1"/>
          </p:cNvGraphicFramePr>
          <p:nvPr/>
        </p:nvGraphicFramePr>
        <p:xfrm>
          <a:off x="990600" y="304800"/>
          <a:ext cx="6781800" cy="6189663"/>
        </p:xfrm>
        <a:graphic>
          <a:graphicData uri="http://schemas.openxmlformats.org/presentationml/2006/ole">
            <mc:AlternateContent xmlns:mc="http://schemas.openxmlformats.org/markup-compatibility/2006">
              <mc:Choice xmlns:v="urn:schemas-microsoft-com:vml" Requires="v">
                <p:oleObj spid="_x0000_s3076" name="" r:id="rId1" imgW="5695950" imgH="4248150" progId="Paint.Picture">
                  <p:embed/>
                </p:oleObj>
              </mc:Choice>
              <mc:Fallback>
                <p:oleObj name="" r:id="rId1" imgW="5695950" imgH="4248150" progId="Paint.Picture">
                  <p:embed/>
                  <p:pic>
                    <p:nvPicPr>
                      <p:cNvPr id="0" name="图片 3075"/>
                      <p:cNvPicPr/>
                      <p:nvPr/>
                    </p:nvPicPr>
                    <p:blipFill>
                      <a:blip r:embed="rId2"/>
                      <a:stretch>
                        <a:fillRect/>
                      </a:stretch>
                    </p:blipFill>
                    <p:spPr>
                      <a:xfrm>
                        <a:off x="990600" y="304800"/>
                        <a:ext cx="6781800" cy="6189663"/>
                      </a:xfrm>
                      <a:prstGeom prst="rect">
                        <a:avLst/>
                      </a:prstGeom>
                      <a:noFill/>
                      <a:ln w="38100">
                        <a:noFill/>
                        <a:miter/>
                      </a:ln>
                    </p:spPr>
                  </p:pic>
                </p:oleObj>
              </mc:Fallback>
            </mc:AlternateContent>
          </a:graphicData>
        </a:graphic>
      </p:graphicFrame>
    </p:spTree>
  </p:cSld>
  <p:clrMapOvr>
    <a:masterClrMapping/>
  </p:clrMapOvr>
  <p:transition>
    <p:random/>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1490" name="Rectangle 2"/>
          <p:cNvSpPr>
            <a:spLocks noGrp="1"/>
          </p:cNvSpPr>
          <p:nvPr>
            <p:ph type="title"/>
          </p:nvPr>
        </p:nvSpPr>
        <p:spPr/>
        <p:txBody>
          <a:bodyPr vert="horz" wrap="square" lIns="91440" tIns="45720" rIns="91440" bIns="45720" anchor="b" anchorCtr="0"/>
          <a:p>
            <a:pPr eaLnBrk="1" hangingPunct="1"/>
            <a:r>
              <a:rPr lang="zh-CN" altLang="en-US" dirty="0"/>
              <a:t>上机</a:t>
            </a:r>
            <a:r>
              <a:rPr lang="en-US" altLang="zh-CN" dirty="0"/>
              <a:t>1</a:t>
            </a:r>
            <a:endParaRPr lang="en-US" altLang="zh-CN" dirty="0"/>
          </a:p>
        </p:txBody>
      </p:sp>
      <p:sp>
        <p:nvSpPr>
          <p:cNvPr id="191491" name="Rectangle 3"/>
          <p:cNvSpPr>
            <a:spLocks noGrp="1"/>
          </p:cNvSpPr>
          <p:nvPr>
            <p:ph idx="1"/>
          </p:nvPr>
        </p:nvSpPr>
        <p:spPr>
          <a:xfrm>
            <a:off x="468313" y="1125538"/>
            <a:ext cx="8204200" cy="5543550"/>
          </a:xfrm>
          <a:solidFill>
            <a:schemeClr val="bg1">
              <a:alpha val="100000"/>
            </a:schemeClr>
          </a:solidFill>
        </p:spPr>
        <p:txBody>
          <a:bodyPr vert="horz" wrap="square" lIns="91440" tIns="45720" rIns="91440" bIns="45720" anchor="t" anchorCtr="0"/>
          <a:p>
            <a:pPr eaLnBrk="1" hangingPunct="1">
              <a:lnSpc>
                <a:spcPct val="90000"/>
              </a:lnSpc>
            </a:pPr>
            <a:r>
              <a:rPr lang="zh-CN" altLang="en-US" sz="2800" dirty="0"/>
              <a:t>客户端：</a:t>
            </a:r>
            <a:endParaRPr lang="zh-CN" altLang="en-US" sz="2800" dirty="0"/>
          </a:p>
          <a:p>
            <a:pPr lvl="1" eaLnBrk="1" hangingPunct="1">
              <a:lnSpc>
                <a:spcPct val="90000"/>
              </a:lnSpc>
            </a:pPr>
            <a:r>
              <a:rPr lang="zh-CN" altLang="en-US" dirty="0"/>
              <a:t>从命令行读入服务器的</a:t>
            </a:r>
            <a:r>
              <a:rPr lang="en-US" altLang="zh-CN" dirty="0"/>
              <a:t>IP</a:t>
            </a:r>
            <a:r>
              <a:rPr lang="zh-CN" altLang="en-US" dirty="0"/>
              <a:t>地址；并连接到服务器；</a:t>
            </a:r>
            <a:endParaRPr lang="zh-CN" altLang="en-US" dirty="0"/>
          </a:p>
          <a:p>
            <a:pPr lvl="1" eaLnBrk="1" hangingPunct="1">
              <a:lnSpc>
                <a:spcPct val="90000"/>
              </a:lnSpc>
            </a:pPr>
            <a:r>
              <a:rPr lang="zh-CN" altLang="en-US" dirty="0"/>
              <a:t>循环从命令行读入一行字符串，并传递给服务器，由服务器对字符串反转，并将结果返回客户程序，如果用户输入的是</a:t>
            </a:r>
            <a:r>
              <a:rPr lang="en-US" altLang="zh-CN" dirty="0"/>
              <a:t>quit</a:t>
            </a:r>
            <a:r>
              <a:rPr lang="zh-CN" altLang="en-US" dirty="0"/>
              <a:t>，则关闭连接；</a:t>
            </a:r>
            <a:endParaRPr lang="zh-CN" altLang="en-US" dirty="0"/>
          </a:p>
          <a:p>
            <a:pPr lvl="1" eaLnBrk="1" hangingPunct="1">
              <a:lnSpc>
                <a:spcPct val="90000"/>
              </a:lnSpc>
            </a:pPr>
            <a:r>
              <a:rPr lang="zh-CN" altLang="en-US" dirty="0"/>
              <a:t>客户程序显示反转后的字符串；</a:t>
            </a:r>
            <a:endParaRPr lang="en-US" altLang="zh-CN" dirty="0"/>
          </a:p>
          <a:p>
            <a:pPr lvl="1" eaLnBrk="1" hangingPunct="1">
              <a:lnSpc>
                <a:spcPct val="90000"/>
              </a:lnSpc>
            </a:pPr>
            <a:r>
              <a:rPr lang="zh-CN" altLang="en-US" dirty="0"/>
              <a:t>通过使用</a:t>
            </a:r>
            <a:r>
              <a:rPr lang="en-US" altLang="zh-CN" dirty="0"/>
              <a:t>getsockname</a:t>
            </a:r>
            <a:r>
              <a:rPr lang="zh-CN" altLang="en-US" dirty="0"/>
              <a:t>和</a:t>
            </a:r>
            <a:r>
              <a:rPr lang="en-US" altLang="zh-CN" dirty="0"/>
              <a:t>getpeername</a:t>
            </a:r>
            <a:r>
              <a:rPr lang="zh-CN" altLang="en-US" dirty="0"/>
              <a:t>来获取本地和远程用户的地址信息</a:t>
            </a:r>
            <a:endParaRPr lang="zh-CN" altLang="en-US" dirty="0"/>
          </a:p>
          <a:p>
            <a:pPr eaLnBrk="1" hangingPunct="1">
              <a:lnSpc>
                <a:spcPct val="90000"/>
              </a:lnSpc>
            </a:pPr>
            <a:r>
              <a:rPr lang="zh-CN" altLang="en-US" sz="2800" dirty="0"/>
              <a:t>服务器端：</a:t>
            </a:r>
            <a:endParaRPr lang="zh-CN" altLang="en-US" sz="2800" dirty="0"/>
          </a:p>
          <a:p>
            <a:pPr lvl="1" eaLnBrk="1" hangingPunct="1">
              <a:lnSpc>
                <a:spcPct val="90000"/>
              </a:lnSpc>
            </a:pPr>
            <a:r>
              <a:rPr lang="zh-CN" altLang="en-US" dirty="0"/>
              <a:t>循环接收客户的连接请求，并显示客户的</a:t>
            </a:r>
            <a:r>
              <a:rPr lang="en-US" altLang="zh-CN" dirty="0"/>
              <a:t>IP</a:t>
            </a:r>
            <a:r>
              <a:rPr lang="zh-CN" altLang="en-US" dirty="0"/>
              <a:t>地址和端口号；</a:t>
            </a:r>
            <a:endParaRPr lang="zh-CN" altLang="en-US" dirty="0"/>
          </a:p>
          <a:p>
            <a:pPr lvl="1" eaLnBrk="1" hangingPunct="1">
              <a:lnSpc>
                <a:spcPct val="90000"/>
              </a:lnSpc>
            </a:pPr>
            <a:r>
              <a:rPr lang="zh-CN" altLang="en-US" dirty="0"/>
              <a:t>接收客户传来的字符串，反转后传递给客户；</a:t>
            </a:r>
            <a:r>
              <a:rPr lang="zh-CN" altLang="en-US" sz="2400" dirty="0"/>
              <a:t> </a:t>
            </a:r>
            <a:endParaRPr lang="zh-CN" altLang="en-US" sz="2400" dirty="0"/>
          </a:p>
        </p:txBody>
      </p:sp>
    </p:spTree>
  </p:cSld>
  <p:clrMapOvr>
    <a:masterClrMapping/>
  </p:clrMapOvr>
  <p:transition>
    <p:random/>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3538" name="Rectangle 2"/>
          <p:cNvSpPr>
            <a:spLocks noGrp="1"/>
          </p:cNvSpPr>
          <p:nvPr>
            <p:ph type="title"/>
          </p:nvPr>
        </p:nvSpPr>
        <p:spPr>
          <a:xfrm>
            <a:off x="684213" y="333375"/>
            <a:ext cx="7793037" cy="911225"/>
          </a:xfrm>
        </p:spPr>
        <p:txBody>
          <a:bodyPr vert="horz" wrap="square" lIns="91440" tIns="45720" rIns="91440" bIns="45720" anchor="b" anchorCtr="0"/>
          <a:p>
            <a:pPr eaLnBrk="1" hangingPunct="1"/>
            <a:r>
              <a:rPr lang="zh-CN" altLang="en-US" dirty="0"/>
              <a:t>三种异常情况</a:t>
            </a:r>
            <a:endParaRPr lang="zh-CN" altLang="en-US" dirty="0"/>
          </a:p>
        </p:txBody>
      </p:sp>
      <p:sp>
        <p:nvSpPr>
          <p:cNvPr id="193539" name="Rectangle 3"/>
          <p:cNvSpPr>
            <a:spLocks noGrp="1"/>
          </p:cNvSpPr>
          <p:nvPr>
            <p:ph idx="1"/>
          </p:nvPr>
        </p:nvSpPr>
        <p:spPr>
          <a:xfrm>
            <a:off x="971550" y="1844675"/>
            <a:ext cx="7772400" cy="4679950"/>
          </a:xfrm>
        </p:spPr>
        <p:txBody>
          <a:bodyPr vert="horz" wrap="square" lIns="91440" tIns="45720" rIns="91440" bIns="45720" anchor="t" anchorCtr="0"/>
          <a:p>
            <a:pPr eaLnBrk="1" hangingPunct="1"/>
            <a:r>
              <a:rPr lang="zh-CN" altLang="en-US" dirty="0"/>
              <a:t>下面我们考虑在以下三种异常情况发生后，</a:t>
            </a:r>
            <a:r>
              <a:rPr lang="en-US" altLang="zh-CN" dirty="0"/>
              <a:t>tcp</a:t>
            </a:r>
            <a:r>
              <a:rPr lang="zh-CN" altLang="en-US" dirty="0"/>
              <a:t>客户／服务器程序的反映；</a:t>
            </a:r>
            <a:endParaRPr lang="zh-CN" altLang="en-US" dirty="0"/>
          </a:p>
          <a:p>
            <a:pPr lvl="1" eaLnBrk="1" hangingPunct="1"/>
            <a:r>
              <a:rPr lang="zh-CN" altLang="en-US" dirty="0"/>
              <a:t>服务器主机崩溃</a:t>
            </a:r>
            <a:endParaRPr lang="zh-CN" altLang="en-US" dirty="0"/>
          </a:p>
          <a:p>
            <a:pPr lvl="1" eaLnBrk="1" hangingPunct="1"/>
            <a:r>
              <a:rPr lang="zh-CN" altLang="en-US" dirty="0"/>
              <a:t>服务器主机崩溃后重启</a:t>
            </a:r>
            <a:endParaRPr lang="zh-CN" altLang="en-US" dirty="0"/>
          </a:p>
          <a:p>
            <a:pPr lvl="1" eaLnBrk="1" hangingPunct="1"/>
            <a:r>
              <a:rPr lang="zh-CN" altLang="en-US" dirty="0"/>
              <a:t>服务器主机关机。</a:t>
            </a:r>
            <a:endParaRPr lang="zh-CN" altLang="en-US" dirty="0"/>
          </a:p>
        </p:txBody>
      </p:sp>
    </p:spTree>
  </p:cSld>
  <p:clrMapOvr>
    <a:masterClrMapping/>
  </p:clrMapOvr>
  <p:transition>
    <p:random/>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5586" name="Rectangle 2"/>
          <p:cNvSpPr>
            <a:spLocks noGrp="1"/>
          </p:cNvSpPr>
          <p:nvPr>
            <p:ph type="title"/>
          </p:nvPr>
        </p:nvSpPr>
        <p:spPr>
          <a:xfrm>
            <a:off x="827088" y="476250"/>
            <a:ext cx="7467600" cy="762000"/>
          </a:xfrm>
        </p:spPr>
        <p:txBody>
          <a:bodyPr vert="horz" wrap="square" lIns="91440" tIns="45720" rIns="91440" bIns="45720" anchor="b" anchorCtr="0"/>
          <a:p>
            <a:pPr eaLnBrk="1" hangingPunct="1"/>
            <a:r>
              <a:rPr lang="zh-CN" altLang="en-US" dirty="0"/>
              <a:t>服务器主机崩溃</a:t>
            </a:r>
            <a:endParaRPr lang="zh-CN" altLang="en-US" dirty="0"/>
          </a:p>
        </p:txBody>
      </p:sp>
      <p:sp>
        <p:nvSpPr>
          <p:cNvPr id="195587" name="Rectangle 3"/>
          <p:cNvSpPr>
            <a:spLocks noGrp="1"/>
          </p:cNvSpPr>
          <p:nvPr>
            <p:ph idx="1"/>
          </p:nvPr>
        </p:nvSpPr>
        <p:spPr>
          <a:xfrm>
            <a:off x="323850" y="1557338"/>
            <a:ext cx="8540750" cy="5111750"/>
          </a:xfrm>
          <a:solidFill>
            <a:schemeClr val="bg1">
              <a:alpha val="100000"/>
            </a:schemeClr>
          </a:solidFill>
        </p:spPr>
        <p:txBody>
          <a:bodyPr vert="horz" wrap="square" lIns="91440" tIns="45720" rIns="91440" bIns="45720" anchor="t" anchorCtr="0"/>
          <a:p>
            <a:pPr eaLnBrk="1" hangingPunct="1"/>
            <a:r>
              <a:rPr lang="zh-CN" altLang="en-US" sz="2400" dirty="0"/>
              <a:t>服务器主机崩溃时，已有的网络连接上发不出任何东西。</a:t>
            </a:r>
            <a:endParaRPr lang="zh-CN" altLang="en-US" sz="2400" dirty="0"/>
          </a:p>
          <a:p>
            <a:pPr eaLnBrk="1" hangingPunct="1"/>
            <a:r>
              <a:rPr lang="zh-CN" altLang="en-US" sz="2400" dirty="0"/>
              <a:t>同时假设应用程序发出数据后，然后阻塞于从套接字读取响应。</a:t>
            </a:r>
            <a:endParaRPr lang="zh-CN" altLang="en-US" sz="2400" dirty="0"/>
          </a:p>
          <a:p>
            <a:pPr eaLnBrk="1" hangingPunct="1"/>
            <a:r>
              <a:rPr lang="zh-CN" altLang="en-US" sz="2400" dirty="0"/>
              <a:t>由于服务器主机崩溃，因此客户</a:t>
            </a:r>
            <a:r>
              <a:rPr lang="en-US" altLang="zh-CN" sz="2400" dirty="0"/>
              <a:t>tcp</a:t>
            </a:r>
            <a:r>
              <a:rPr lang="zh-CN" altLang="en-US" sz="2400" dirty="0"/>
              <a:t>会持续重传数据分节，试图从服务器接收一个</a:t>
            </a:r>
            <a:r>
              <a:rPr lang="en-US" altLang="zh-CN" sz="2400" dirty="0"/>
              <a:t>ACK</a:t>
            </a:r>
            <a:r>
              <a:rPr lang="zh-CN" altLang="en-US" sz="2400" dirty="0"/>
              <a:t>：源自</a:t>
            </a:r>
            <a:r>
              <a:rPr lang="en-US" altLang="zh-CN" sz="2400" dirty="0"/>
              <a:t>Berkeley</a:t>
            </a:r>
            <a:r>
              <a:rPr lang="zh-CN" altLang="en-US" sz="2400" dirty="0"/>
              <a:t>的实现将重传</a:t>
            </a:r>
            <a:r>
              <a:rPr lang="en-US" altLang="zh-CN" sz="2400" dirty="0"/>
              <a:t>12</a:t>
            </a:r>
            <a:r>
              <a:rPr lang="zh-CN" altLang="en-US" sz="2400" dirty="0"/>
              <a:t>次。当客户</a:t>
            </a:r>
            <a:r>
              <a:rPr lang="en-US" altLang="zh-CN" sz="2400" dirty="0"/>
              <a:t>tcp</a:t>
            </a:r>
            <a:r>
              <a:rPr lang="zh-CN" altLang="en-US" sz="2400" dirty="0"/>
              <a:t>最终放弃时，返回给客户一个错误，此时错误是</a:t>
            </a:r>
            <a:r>
              <a:rPr lang="en-US" altLang="zh-CN" sz="2400" dirty="0"/>
              <a:t>ETIMEDOUT</a:t>
            </a:r>
            <a:r>
              <a:rPr lang="zh-CN" altLang="en-US" sz="2400" dirty="0"/>
              <a:t>，或者是因为中间路由器判定服务器主机不可达，且以一个目的地不可达的</a:t>
            </a:r>
            <a:r>
              <a:rPr lang="en-US" altLang="zh-CN" sz="2400" dirty="0"/>
              <a:t>ICMP</a:t>
            </a:r>
            <a:r>
              <a:rPr lang="zh-CN" altLang="en-US" sz="2400" dirty="0"/>
              <a:t>消息响应，则错误是</a:t>
            </a:r>
            <a:r>
              <a:rPr lang="en-US" altLang="zh-CN" sz="2400" dirty="0"/>
              <a:t>EHOSTUNREACH</a:t>
            </a:r>
            <a:r>
              <a:rPr lang="zh-CN" altLang="en-US" sz="2400" dirty="0"/>
              <a:t>或</a:t>
            </a:r>
            <a:r>
              <a:rPr lang="en-US" altLang="zh-CN" sz="2400" dirty="0"/>
              <a:t>ENETUNREACH</a:t>
            </a:r>
            <a:r>
              <a:rPr lang="zh-CN" altLang="en-US" sz="2400" dirty="0"/>
              <a:t>。</a:t>
            </a:r>
            <a:endParaRPr lang="zh-CN" altLang="en-US" sz="2400" dirty="0"/>
          </a:p>
          <a:p>
            <a:pPr eaLnBrk="1" hangingPunct="1"/>
            <a:r>
              <a:rPr lang="zh-CN" altLang="en-US" sz="2400" dirty="0"/>
              <a:t>通过设置套接字选项可以更改</a:t>
            </a:r>
            <a:r>
              <a:rPr lang="en-US" altLang="zh-CN" sz="2400" dirty="0"/>
              <a:t>tcp</a:t>
            </a:r>
            <a:r>
              <a:rPr lang="zh-CN" altLang="en-US" sz="2400" dirty="0"/>
              <a:t>持续重传等待的超时时间。</a:t>
            </a:r>
            <a:endParaRPr lang="zh-CN" altLang="en-US" sz="2400" dirty="0"/>
          </a:p>
        </p:txBody>
      </p:sp>
    </p:spTree>
  </p:cSld>
  <p:clrMapOvr>
    <a:masterClrMapping/>
  </p:clrMapOvr>
  <p:transition>
    <p:random/>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7634" name="Rectangle 2"/>
          <p:cNvSpPr>
            <a:spLocks noGrp="1"/>
          </p:cNvSpPr>
          <p:nvPr>
            <p:ph type="title"/>
          </p:nvPr>
        </p:nvSpPr>
        <p:spPr>
          <a:xfrm>
            <a:off x="611188" y="476250"/>
            <a:ext cx="7467600" cy="762000"/>
          </a:xfrm>
        </p:spPr>
        <p:txBody>
          <a:bodyPr vert="horz" wrap="square" lIns="91440" tIns="45720" rIns="91440" bIns="45720" anchor="b" anchorCtr="0"/>
          <a:p>
            <a:pPr eaLnBrk="1" hangingPunct="1"/>
            <a:r>
              <a:rPr lang="zh-CN" altLang="en-US" dirty="0"/>
              <a:t>服务器主机崩溃后重启</a:t>
            </a:r>
            <a:endParaRPr lang="zh-CN" altLang="en-US" dirty="0"/>
          </a:p>
        </p:txBody>
      </p:sp>
      <p:sp>
        <p:nvSpPr>
          <p:cNvPr id="197635" name="Rectangle 3"/>
          <p:cNvSpPr>
            <a:spLocks noGrp="1"/>
          </p:cNvSpPr>
          <p:nvPr>
            <p:ph idx="1"/>
          </p:nvPr>
        </p:nvSpPr>
        <p:spPr>
          <a:xfrm>
            <a:off x="395288" y="1844675"/>
            <a:ext cx="8540750" cy="4608513"/>
          </a:xfrm>
          <a:solidFill>
            <a:schemeClr val="bg1">
              <a:alpha val="100000"/>
            </a:schemeClr>
          </a:solidFill>
        </p:spPr>
        <p:txBody>
          <a:bodyPr vert="horz" wrap="square" lIns="91440" tIns="45720" rIns="91440" bIns="45720" anchor="t" anchorCtr="0"/>
          <a:p>
            <a:pPr eaLnBrk="1" hangingPunct="1"/>
            <a:r>
              <a:rPr lang="zh-CN" altLang="en-US" sz="2400" dirty="0"/>
              <a:t>在这种情况下，如果客户在主机崩溃重启前不主动发送数据，那么客户是不会知道服务器已崩溃的。在服务器重启后，客户向服务器发送一个数据分节；</a:t>
            </a:r>
            <a:endParaRPr lang="zh-CN" altLang="en-US" sz="2400" dirty="0"/>
          </a:p>
          <a:p>
            <a:pPr eaLnBrk="1" hangingPunct="1"/>
            <a:r>
              <a:rPr lang="zh-CN" altLang="en-US" sz="2400" dirty="0"/>
              <a:t>由于服务器重启后丢失了以前的连接信息（尽管在服务端口上有进程监听，但连接套接字所在的端口无进程等待），因此导致服务器主机的</a:t>
            </a:r>
            <a:r>
              <a:rPr lang="en-US" altLang="zh-CN" sz="2400" dirty="0"/>
              <a:t>tcp</a:t>
            </a:r>
            <a:r>
              <a:rPr lang="zh-CN" altLang="en-US" sz="2400" dirty="0"/>
              <a:t>响应</a:t>
            </a:r>
            <a:r>
              <a:rPr lang="en-US" altLang="zh-CN" sz="2400" dirty="0"/>
              <a:t>RST</a:t>
            </a:r>
            <a:r>
              <a:rPr lang="zh-CN" altLang="en-US" sz="2400" dirty="0"/>
              <a:t>；</a:t>
            </a:r>
            <a:endParaRPr lang="zh-CN" altLang="en-US" sz="2400" dirty="0"/>
          </a:p>
          <a:p>
            <a:pPr eaLnBrk="1" hangingPunct="1"/>
            <a:r>
              <a:rPr lang="zh-CN" altLang="en-US" sz="2400" dirty="0"/>
              <a:t>当客户</a:t>
            </a:r>
            <a:r>
              <a:rPr lang="en-US" altLang="zh-CN" sz="2400" dirty="0"/>
              <a:t>tcp</a:t>
            </a:r>
            <a:r>
              <a:rPr lang="zh-CN" altLang="en-US" sz="2400" dirty="0"/>
              <a:t>收到</a:t>
            </a:r>
            <a:r>
              <a:rPr lang="en-US" altLang="zh-CN" sz="2400" dirty="0"/>
              <a:t>RST</a:t>
            </a:r>
            <a:r>
              <a:rPr lang="zh-CN" altLang="en-US" sz="2400" dirty="0"/>
              <a:t>，向客户返回错误，</a:t>
            </a:r>
            <a:r>
              <a:rPr lang="en-US" altLang="zh-CN" sz="2400" dirty="0"/>
              <a:t>ECONNRESET</a:t>
            </a:r>
            <a:endParaRPr lang="en-US" altLang="zh-CN" sz="2400" dirty="0"/>
          </a:p>
          <a:p>
            <a:pPr eaLnBrk="1" hangingPunct="1"/>
            <a:r>
              <a:rPr lang="zh-CN" altLang="en-US" sz="2400" dirty="0"/>
              <a:t>如果客户对服务器的崩溃情况很关心，即使客户不主动发送数据也这样，就需要其他技术支持（如套接口选项</a:t>
            </a:r>
            <a:r>
              <a:rPr lang="en-US" altLang="zh-CN" sz="2400" dirty="0"/>
              <a:t>SO_KEEPALIVE</a:t>
            </a:r>
            <a:r>
              <a:rPr lang="zh-CN" altLang="en-US" sz="2400" dirty="0"/>
              <a:t>或某些客户／服务器心跳函数）。</a:t>
            </a:r>
            <a:endParaRPr lang="zh-CN" altLang="en-US" sz="2400" dirty="0"/>
          </a:p>
        </p:txBody>
      </p:sp>
    </p:spTree>
  </p:cSld>
  <p:clrMapOvr>
    <a:masterClrMapping/>
  </p:clrMapOvr>
  <p:transition>
    <p:random/>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9682" name="Rectangle 2"/>
          <p:cNvSpPr>
            <a:spLocks noGrp="1"/>
          </p:cNvSpPr>
          <p:nvPr>
            <p:ph type="title"/>
          </p:nvPr>
        </p:nvSpPr>
        <p:spPr>
          <a:xfrm>
            <a:off x="755650" y="692150"/>
            <a:ext cx="7793038" cy="485775"/>
          </a:xfrm>
        </p:spPr>
        <p:txBody>
          <a:bodyPr vert="horz" wrap="square" lIns="91440" tIns="45720" rIns="91440" bIns="45720" anchor="b" anchorCtr="0"/>
          <a:p>
            <a:pPr eaLnBrk="1" hangingPunct="1"/>
            <a:r>
              <a:rPr lang="zh-CN" altLang="en-US" dirty="0"/>
              <a:t>服务器主机关机</a:t>
            </a:r>
            <a:endParaRPr lang="zh-CN" altLang="en-US" dirty="0"/>
          </a:p>
        </p:txBody>
      </p:sp>
      <p:sp>
        <p:nvSpPr>
          <p:cNvPr id="199683" name="Rectangle 3"/>
          <p:cNvSpPr>
            <a:spLocks noGrp="1"/>
          </p:cNvSpPr>
          <p:nvPr>
            <p:ph idx="1"/>
          </p:nvPr>
        </p:nvSpPr>
        <p:spPr>
          <a:xfrm>
            <a:off x="1258888" y="1628775"/>
            <a:ext cx="7543800" cy="4724400"/>
          </a:xfrm>
        </p:spPr>
        <p:txBody>
          <a:bodyPr vert="horz" wrap="square" lIns="91440" tIns="45720" rIns="91440" bIns="45720" anchor="t" anchorCtr="0"/>
          <a:p>
            <a:pPr eaLnBrk="1" hangingPunct="1"/>
            <a:r>
              <a:rPr lang="zh-CN" altLang="en-US" sz="2400" dirty="0"/>
              <a:t>当</a:t>
            </a:r>
            <a:r>
              <a:rPr lang="en-US" altLang="zh-CN" sz="2400" dirty="0"/>
              <a:t>Linux</a:t>
            </a:r>
            <a:r>
              <a:rPr lang="zh-CN" altLang="en-US" sz="2400" dirty="0"/>
              <a:t>主机关机时，由</a:t>
            </a:r>
            <a:r>
              <a:rPr lang="en-US" altLang="zh-CN" sz="2400" dirty="0"/>
              <a:t>init</a:t>
            </a:r>
            <a:r>
              <a:rPr lang="zh-CN" altLang="en-US" sz="2400" dirty="0"/>
              <a:t>进程给所有运行的进程发信号</a:t>
            </a:r>
            <a:r>
              <a:rPr lang="en-US" altLang="zh-CN" sz="2400" dirty="0"/>
              <a:t>SIGTERM</a:t>
            </a:r>
            <a:r>
              <a:rPr lang="zh-CN" altLang="en-US" sz="2400" dirty="0"/>
              <a:t>（我们的服务器程序可以捕获该信号，并在信号处理程序中正常关闭网络连接）。</a:t>
            </a:r>
            <a:endParaRPr lang="zh-CN" altLang="en-US" sz="2400" dirty="0"/>
          </a:p>
          <a:p>
            <a:pPr eaLnBrk="1" hangingPunct="1"/>
            <a:r>
              <a:rPr lang="zh-CN" altLang="en-US" sz="2400" dirty="0"/>
              <a:t>如果服务器程序忽略了</a:t>
            </a:r>
            <a:r>
              <a:rPr lang="en-US" altLang="zh-CN" sz="2400" dirty="0"/>
              <a:t>SIGTERM</a:t>
            </a:r>
            <a:r>
              <a:rPr lang="zh-CN" altLang="en-US" sz="2400" dirty="0"/>
              <a:t>信号，则</a:t>
            </a:r>
            <a:r>
              <a:rPr lang="en-US" altLang="zh-CN" sz="2400" dirty="0"/>
              <a:t>init</a:t>
            </a:r>
            <a:r>
              <a:rPr lang="zh-CN" altLang="en-US" sz="2400" dirty="0"/>
              <a:t>进程会等待一段固定的时间（通常是</a:t>
            </a:r>
            <a:r>
              <a:rPr lang="en-US" altLang="zh-CN" sz="2400" dirty="0"/>
              <a:t>5s~20s</a:t>
            </a:r>
            <a:r>
              <a:rPr lang="zh-CN" altLang="en-US" sz="2400" dirty="0"/>
              <a:t>），然后给所有还在运行的程序发信号</a:t>
            </a:r>
            <a:r>
              <a:rPr lang="en-US" altLang="zh-CN" sz="2400" dirty="0"/>
              <a:t>SIGKILL</a:t>
            </a:r>
            <a:r>
              <a:rPr lang="zh-CN" altLang="en-US" sz="2400" dirty="0"/>
              <a:t>（该信号不能由服务器程序捕获）；服务器将由信号</a:t>
            </a:r>
            <a:r>
              <a:rPr lang="en-US" altLang="zh-CN" sz="2400" dirty="0"/>
              <a:t>SIGKILL</a:t>
            </a:r>
            <a:r>
              <a:rPr lang="zh-CN" altLang="en-US" sz="2400" dirty="0"/>
              <a:t>终止，其终止时，所有打开的描述字被关闭，这导致向客户发送</a:t>
            </a:r>
            <a:r>
              <a:rPr lang="en-US" altLang="zh-CN" sz="2400" dirty="0"/>
              <a:t>FIN</a:t>
            </a:r>
            <a:r>
              <a:rPr lang="zh-CN" altLang="en-US" sz="2400" dirty="0"/>
              <a:t>分节；</a:t>
            </a:r>
            <a:endParaRPr lang="zh-CN" altLang="en-US" sz="2400" dirty="0"/>
          </a:p>
          <a:p>
            <a:pPr eaLnBrk="1" hangingPunct="1"/>
            <a:r>
              <a:rPr lang="zh-CN" altLang="en-US" sz="2400" dirty="0"/>
              <a:t>客户收到</a:t>
            </a:r>
            <a:r>
              <a:rPr lang="en-US" altLang="zh-CN" sz="2400" dirty="0"/>
              <a:t>FIN</a:t>
            </a:r>
            <a:r>
              <a:rPr lang="zh-CN" altLang="en-US" sz="2400" dirty="0"/>
              <a:t>分节后，能推断出服务器将终止服务。</a:t>
            </a:r>
            <a:endParaRPr lang="zh-CN" altLang="en-US" sz="2400" dirty="0"/>
          </a:p>
        </p:txBody>
      </p:sp>
    </p:spTree>
  </p:cSld>
  <p:clrMapOvr>
    <a:masterClrMapping/>
  </p:clrMapOvr>
  <p:transition>
    <p:random/>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1730" name="Rectangle 2"/>
          <p:cNvSpPr>
            <a:spLocks noGrp="1"/>
          </p:cNvSpPr>
          <p:nvPr>
            <p:ph type="title"/>
          </p:nvPr>
        </p:nvSpPr>
        <p:spPr>
          <a:xfrm>
            <a:off x="381000" y="2362200"/>
            <a:ext cx="7467600" cy="762000"/>
          </a:xfrm>
        </p:spPr>
        <p:txBody>
          <a:bodyPr vert="horz" wrap="square" lIns="91440" tIns="45720" rIns="91440" bIns="45720" anchor="b" anchorCtr="0"/>
          <a:p>
            <a:pPr eaLnBrk="1" hangingPunct="1"/>
            <a:r>
              <a:rPr lang="zh-CN" altLang="en-US" dirty="0"/>
              <a:t>第四章 </a:t>
            </a:r>
            <a:r>
              <a:rPr lang="en-US" altLang="zh-CN" dirty="0"/>
              <a:t>UDP</a:t>
            </a:r>
            <a:r>
              <a:rPr lang="zh-CN" altLang="en-US" dirty="0"/>
              <a:t>套接字</a:t>
            </a:r>
            <a:endParaRPr lang="zh-CN" altLang="en-US" dirty="0"/>
          </a:p>
        </p:txBody>
      </p:sp>
    </p:spTree>
  </p:cSld>
  <p:clrMapOvr>
    <a:masterClrMapping/>
  </p:clrMapOvr>
  <p:transition>
    <p:random/>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3778" name="Rectangle 2"/>
          <p:cNvSpPr>
            <a:spLocks noGrp="1"/>
          </p:cNvSpPr>
          <p:nvPr>
            <p:ph type="title"/>
          </p:nvPr>
        </p:nvSpPr>
        <p:spPr>
          <a:xfrm>
            <a:off x="827088" y="620713"/>
            <a:ext cx="7793037" cy="485775"/>
          </a:xfrm>
        </p:spPr>
        <p:txBody>
          <a:bodyPr vert="horz" wrap="square" lIns="91440" tIns="45720" rIns="91440" bIns="45720" anchor="b" anchorCtr="0"/>
          <a:p>
            <a:pPr eaLnBrk="1" hangingPunct="1"/>
            <a:r>
              <a:rPr lang="en-US" altLang="zh-CN" dirty="0"/>
              <a:t>UDP</a:t>
            </a:r>
            <a:r>
              <a:rPr lang="zh-CN" altLang="en-US" dirty="0"/>
              <a:t>套接字编程概述</a:t>
            </a:r>
            <a:endParaRPr lang="zh-CN" altLang="en-US" dirty="0"/>
          </a:p>
        </p:txBody>
      </p:sp>
      <p:sp>
        <p:nvSpPr>
          <p:cNvPr id="193539" name="Rectangle 3"/>
          <p:cNvSpPr>
            <a:spLocks noGrp="1"/>
          </p:cNvSpPr>
          <p:nvPr>
            <p:ph idx="1"/>
          </p:nvPr>
        </p:nvSpPr>
        <p:spPr>
          <a:xfrm>
            <a:off x="827088" y="1628775"/>
            <a:ext cx="7543800" cy="5040313"/>
          </a:xfrm>
        </p:spPr>
        <p:txBody>
          <a:bodyPr vert="horz" wrap="square" lIns="91440" tIns="45720" rIns="91440" bIns="45720" anchor="t" anchorCtr="0"/>
          <a:p>
            <a:pPr marL="609600" indent="-609600" eaLnBrk="1" hangingPunct="1">
              <a:lnSpc>
                <a:spcPct val="90000"/>
              </a:lnSpc>
            </a:pPr>
            <a:r>
              <a:rPr lang="zh-CN" altLang="en-US" dirty="0"/>
              <a:t>使用</a:t>
            </a:r>
            <a:r>
              <a:rPr lang="en-US" altLang="zh-CN" dirty="0"/>
              <a:t>TCP</a:t>
            </a:r>
            <a:r>
              <a:rPr lang="zh-CN" altLang="en-US" dirty="0"/>
              <a:t>编写应用程序与使用</a:t>
            </a:r>
            <a:r>
              <a:rPr lang="en-US" altLang="zh-CN" dirty="0"/>
              <a:t>UDP</a:t>
            </a:r>
            <a:r>
              <a:rPr lang="zh-CN" altLang="en-US" dirty="0"/>
              <a:t>编写应用程序存在一些本质的差异，其原因在于这两个传输层之间的差别。</a:t>
            </a:r>
            <a:endParaRPr lang="zh-CN" altLang="en-US" dirty="0"/>
          </a:p>
          <a:p>
            <a:pPr marL="609600" indent="-609600" eaLnBrk="1" hangingPunct="1">
              <a:lnSpc>
                <a:spcPct val="90000"/>
              </a:lnSpc>
            </a:pPr>
            <a:r>
              <a:rPr lang="zh-CN" altLang="en-US" dirty="0"/>
              <a:t>相较于</a:t>
            </a:r>
            <a:r>
              <a:rPr lang="en-US" altLang="zh-CN" dirty="0"/>
              <a:t>TCP</a:t>
            </a:r>
            <a:r>
              <a:rPr lang="zh-CN" altLang="en-US" dirty="0"/>
              <a:t>，有些场合确实更适合使用</a:t>
            </a:r>
            <a:r>
              <a:rPr lang="en-US" altLang="zh-CN" dirty="0"/>
              <a:t>UDP</a:t>
            </a:r>
            <a:r>
              <a:rPr lang="zh-CN" altLang="en-US" dirty="0"/>
              <a:t>协议，比如域名系统</a:t>
            </a:r>
            <a:r>
              <a:rPr lang="en-US" altLang="zh-CN" dirty="0"/>
              <a:t>DNS</a:t>
            </a:r>
            <a:r>
              <a:rPr lang="zh-CN" altLang="en-US" dirty="0"/>
              <a:t>、网络文件系统</a:t>
            </a:r>
            <a:r>
              <a:rPr lang="en-US" altLang="zh-CN" dirty="0"/>
              <a:t>NFS</a:t>
            </a:r>
            <a:r>
              <a:rPr lang="zh-CN" altLang="en-US" dirty="0"/>
              <a:t>、以及简单网络管理协议</a:t>
            </a:r>
            <a:r>
              <a:rPr lang="en-US" altLang="zh-CN" dirty="0"/>
              <a:t>SNMP</a:t>
            </a:r>
            <a:r>
              <a:rPr lang="zh-CN" altLang="en-US" dirty="0"/>
              <a:t>。</a:t>
            </a:r>
            <a:endParaRPr lang="en-US" altLang="zh-CN" dirty="0"/>
          </a:p>
          <a:p>
            <a:pPr marL="609600" indent="-609600" eaLnBrk="1" hangingPunct="1">
              <a:lnSpc>
                <a:spcPct val="90000"/>
              </a:lnSpc>
            </a:pPr>
            <a:r>
              <a:rPr lang="zh-CN" altLang="en-US" dirty="0"/>
              <a:t>问题，生活中还有什么场景是适合使用</a:t>
            </a:r>
            <a:r>
              <a:rPr lang="en-US" altLang="zh-CN" dirty="0"/>
              <a:t>UDP</a:t>
            </a:r>
            <a:r>
              <a:rPr lang="zh-CN" altLang="en-US" dirty="0"/>
              <a:t>协议的？</a:t>
            </a:r>
            <a:endParaRPr lang="en-US" altLang="zh-CN" dirty="0"/>
          </a:p>
          <a:p>
            <a:pPr marL="609600" indent="-609600" eaLnBrk="1" hangingPunct="1">
              <a:lnSpc>
                <a:spcPct val="90000"/>
              </a:lnSpc>
            </a:pPr>
            <a:endParaRPr lang="zh-CN" altLang="en-US"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3539">
                                            <p:txEl>
                                              <p:charRg st="111" end="136"/>
                                            </p:txEl>
                                          </p:spTgt>
                                        </p:tgtEl>
                                        <p:attrNameLst>
                                          <p:attrName>style.visibility</p:attrName>
                                        </p:attrNameLst>
                                      </p:cBhvr>
                                      <p:to>
                                        <p:strVal val="visible"/>
                                      </p:to>
                                    </p:set>
                                    <p:anim calcmode="lin" valueType="num">
                                      <p:cBhvr additive="base">
                                        <p:cTn id="7" dur="500" fill="hold"/>
                                        <p:tgtEl>
                                          <p:spTgt spid="193539">
                                            <p:txEl>
                                              <p:charRg st="111" end="13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93539">
                                            <p:txEl>
                                              <p:charRg st="111" end="13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5826" name="Rectangle 2"/>
          <p:cNvSpPr>
            <a:spLocks noGrp="1"/>
          </p:cNvSpPr>
          <p:nvPr>
            <p:ph type="title"/>
          </p:nvPr>
        </p:nvSpPr>
        <p:spPr>
          <a:xfrm>
            <a:off x="827088" y="620713"/>
            <a:ext cx="7793037" cy="485775"/>
          </a:xfrm>
        </p:spPr>
        <p:txBody>
          <a:bodyPr vert="horz" wrap="square" lIns="91440" tIns="45720" rIns="91440" bIns="45720" anchor="b" anchorCtr="0"/>
          <a:p>
            <a:pPr eaLnBrk="1" hangingPunct="1"/>
            <a:r>
              <a:rPr lang="en-US" altLang="zh-CN" dirty="0"/>
              <a:t>UDP</a:t>
            </a:r>
            <a:r>
              <a:rPr lang="zh-CN" altLang="en-US" dirty="0"/>
              <a:t>套接字编程</a:t>
            </a:r>
            <a:endParaRPr lang="zh-CN" altLang="en-US" dirty="0"/>
          </a:p>
        </p:txBody>
      </p:sp>
      <p:sp>
        <p:nvSpPr>
          <p:cNvPr id="205827" name="Rectangle 3"/>
          <p:cNvSpPr>
            <a:spLocks noGrp="1"/>
          </p:cNvSpPr>
          <p:nvPr>
            <p:ph idx="1"/>
          </p:nvPr>
        </p:nvSpPr>
        <p:spPr>
          <a:xfrm>
            <a:off x="827088" y="1628775"/>
            <a:ext cx="7543800" cy="4724400"/>
          </a:xfrm>
        </p:spPr>
        <p:txBody>
          <a:bodyPr vert="horz" wrap="square" lIns="91440" tIns="45720" rIns="91440" bIns="45720" anchor="t" anchorCtr="0"/>
          <a:p>
            <a:pPr marL="609600" indent="-609600" eaLnBrk="1" hangingPunct="1">
              <a:lnSpc>
                <a:spcPct val="90000"/>
              </a:lnSpc>
            </a:pPr>
            <a:r>
              <a:rPr lang="zh-CN" altLang="en-US" dirty="0"/>
              <a:t>实现</a:t>
            </a:r>
            <a:r>
              <a:rPr lang="en-US" altLang="zh-CN" dirty="0"/>
              <a:t>UDP</a:t>
            </a:r>
            <a:r>
              <a:rPr lang="zh-CN" altLang="en-US" dirty="0"/>
              <a:t>套接字基本步骤分为服务器端和客户端两部分：</a:t>
            </a:r>
            <a:endParaRPr lang="zh-CN" altLang="en-US" dirty="0"/>
          </a:p>
          <a:p>
            <a:pPr marL="609600" indent="-609600" eaLnBrk="1" hangingPunct="1">
              <a:lnSpc>
                <a:spcPct val="90000"/>
              </a:lnSpc>
            </a:pPr>
            <a:r>
              <a:rPr lang="zh-CN" altLang="en-US" dirty="0"/>
              <a:t>服务器端</a:t>
            </a:r>
            <a:endParaRPr lang="zh-CN" altLang="en-US" dirty="0"/>
          </a:p>
          <a:p>
            <a:pPr marL="990600" lvl="1" indent="-533400" eaLnBrk="1" hangingPunct="1">
              <a:lnSpc>
                <a:spcPct val="90000"/>
              </a:lnSpc>
              <a:buFont typeface="Wingdings" panose="05000000000000000000" pitchFamily="2" charset="2"/>
              <a:buAutoNum type="circleNumDbPlain"/>
            </a:pPr>
            <a:r>
              <a:rPr lang="zh-CN" altLang="en-US" dirty="0"/>
              <a:t>建立</a:t>
            </a:r>
            <a:r>
              <a:rPr lang="en-US" altLang="zh-CN" dirty="0"/>
              <a:t>UDP</a:t>
            </a:r>
            <a:r>
              <a:rPr lang="zh-CN" altLang="en-US" dirty="0"/>
              <a:t>套接字；</a:t>
            </a:r>
            <a:endParaRPr lang="zh-CN" altLang="en-US" dirty="0"/>
          </a:p>
          <a:p>
            <a:pPr marL="990600" lvl="1" indent="-533400" eaLnBrk="1" hangingPunct="1">
              <a:lnSpc>
                <a:spcPct val="90000"/>
              </a:lnSpc>
              <a:buFont typeface="Wingdings" panose="05000000000000000000" pitchFamily="2" charset="2"/>
              <a:buAutoNum type="circleNumDbPlain"/>
            </a:pPr>
            <a:r>
              <a:rPr lang="zh-CN" altLang="en-US" dirty="0"/>
              <a:t>绑定套接字到特定地址；</a:t>
            </a:r>
            <a:endParaRPr lang="zh-CN" altLang="en-US" dirty="0"/>
          </a:p>
          <a:p>
            <a:pPr marL="990600" lvl="1" indent="-533400" eaLnBrk="1" hangingPunct="1">
              <a:lnSpc>
                <a:spcPct val="90000"/>
              </a:lnSpc>
              <a:buFont typeface="Wingdings" panose="05000000000000000000" pitchFamily="2" charset="2"/>
              <a:buAutoNum type="circleNumDbPlain"/>
            </a:pPr>
            <a:r>
              <a:rPr lang="zh-CN" altLang="en-US" dirty="0"/>
              <a:t>等待并接收客户端信息；</a:t>
            </a:r>
            <a:endParaRPr lang="zh-CN" altLang="en-US" dirty="0"/>
          </a:p>
          <a:p>
            <a:pPr marL="990600" lvl="1" indent="-533400" eaLnBrk="1" hangingPunct="1">
              <a:lnSpc>
                <a:spcPct val="90000"/>
              </a:lnSpc>
              <a:buFont typeface="Wingdings" panose="05000000000000000000" pitchFamily="2" charset="2"/>
              <a:buAutoNum type="circleNumDbPlain"/>
            </a:pPr>
            <a:r>
              <a:rPr lang="zh-CN" altLang="en-US" dirty="0"/>
              <a:t>处理客户端请求；</a:t>
            </a:r>
            <a:endParaRPr lang="zh-CN" altLang="en-US" dirty="0"/>
          </a:p>
          <a:p>
            <a:pPr marL="990600" lvl="1" indent="-533400" eaLnBrk="1" hangingPunct="1">
              <a:lnSpc>
                <a:spcPct val="90000"/>
              </a:lnSpc>
              <a:buFont typeface="Wingdings" panose="05000000000000000000" pitchFamily="2" charset="2"/>
              <a:buAutoNum type="circleNumDbPlain"/>
            </a:pPr>
            <a:r>
              <a:rPr lang="zh-CN" altLang="en-US" dirty="0"/>
              <a:t>发送信息回客户端；</a:t>
            </a:r>
            <a:endParaRPr lang="zh-CN" altLang="en-US" dirty="0"/>
          </a:p>
          <a:p>
            <a:pPr marL="990600" lvl="1" indent="-533400" eaLnBrk="1" hangingPunct="1">
              <a:lnSpc>
                <a:spcPct val="90000"/>
              </a:lnSpc>
              <a:buFont typeface="Wingdings" panose="05000000000000000000" pitchFamily="2" charset="2"/>
              <a:buAutoNum type="circleNumDbPlain"/>
            </a:pPr>
            <a:r>
              <a:rPr lang="zh-CN" altLang="en-US" dirty="0"/>
              <a:t>关闭套接字；</a:t>
            </a:r>
            <a:endParaRPr lang="zh-CN" altLang="en-US" dirty="0"/>
          </a:p>
        </p:txBody>
      </p:sp>
    </p:spTree>
  </p:cSld>
  <p:clrMapOvr>
    <a:masterClrMapping/>
  </p:clrMapOvr>
  <p:transition>
    <p:random/>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7874" name="Rectangle 2"/>
          <p:cNvSpPr>
            <a:spLocks noGrp="1"/>
          </p:cNvSpPr>
          <p:nvPr>
            <p:ph type="title"/>
          </p:nvPr>
        </p:nvSpPr>
        <p:spPr/>
        <p:txBody>
          <a:bodyPr vert="horz" wrap="square" lIns="91440" tIns="45720" rIns="91440" bIns="45720" anchor="b" anchorCtr="0"/>
          <a:p>
            <a:pPr eaLnBrk="1" hangingPunct="1"/>
            <a:r>
              <a:rPr lang="en-US" altLang="zh-CN" dirty="0"/>
              <a:t>UDP</a:t>
            </a:r>
            <a:r>
              <a:rPr lang="zh-CN" altLang="en-US" dirty="0"/>
              <a:t>套接字编程（</a:t>
            </a:r>
            <a:r>
              <a:rPr lang="en-US" altLang="zh-CN" dirty="0"/>
              <a:t>Cont.</a:t>
            </a:r>
            <a:r>
              <a:rPr lang="zh-CN" altLang="en-US" dirty="0"/>
              <a:t>）</a:t>
            </a:r>
            <a:endParaRPr lang="zh-CN" altLang="en-US" dirty="0"/>
          </a:p>
        </p:txBody>
      </p:sp>
      <p:sp>
        <p:nvSpPr>
          <p:cNvPr id="207875" name="Rectangle 3"/>
          <p:cNvSpPr>
            <a:spLocks noGrp="1"/>
          </p:cNvSpPr>
          <p:nvPr>
            <p:ph idx="1"/>
          </p:nvPr>
        </p:nvSpPr>
        <p:spPr/>
        <p:txBody>
          <a:bodyPr vert="horz" wrap="square" lIns="91440" tIns="45720" rIns="91440" bIns="45720" anchor="t" anchorCtr="0"/>
          <a:p>
            <a:pPr marL="609600" indent="-609600" eaLnBrk="1" hangingPunct="1"/>
            <a:r>
              <a:rPr lang="zh-CN" altLang="en-US" dirty="0"/>
              <a:t>客户端步骤</a:t>
            </a:r>
            <a:endParaRPr lang="zh-CN" altLang="en-US" dirty="0"/>
          </a:p>
          <a:p>
            <a:pPr marL="990600" lvl="1" indent="-533400" eaLnBrk="1" hangingPunct="1">
              <a:buFont typeface="Wingdings" panose="05000000000000000000" pitchFamily="2" charset="2"/>
              <a:buAutoNum type="circleNumDbPlain"/>
            </a:pPr>
            <a:r>
              <a:rPr lang="zh-CN" altLang="en-US" dirty="0"/>
              <a:t>建立</a:t>
            </a:r>
            <a:r>
              <a:rPr lang="en-US" altLang="zh-CN" dirty="0"/>
              <a:t>UDP</a:t>
            </a:r>
            <a:r>
              <a:rPr lang="zh-CN" altLang="en-US" dirty="0"/>
              <a:t>套接字；</a:t>
            </a:r>
            <a:endParaRPr lang="zh-CN" altLang="en-US" dirty="0"/>
          </a:p>
          <a:p>
            <a:pPr marL="990600" lvl="1" indent="-533400" eaLnBrk="1" hangingPunct="1">
              <a:buFont typeface="Wingdings" panose="05000000000000000000" pitchFamily="2" charset="2"/>
              <a:buAutoNum type="circleNumDbPlain"/>
            </a:pPr>
            <a:r>
              <a:rPr lang="zh-CN" altLang="en-US" dirty="0"/>
              <a:t>发送信息给服务器；</a:t>
            </a:r>
            <a:endParaRPr lang="zh-CN" altLang="en-US" dirty="0"/>
          </a:p>
          <a:p>
            <a:pPr marL="990600" lvl="1" indent="-533400" eaLnBrk="1" hangingPunct="1">
              <a:buFont typeface="Wingdings" panose="05000000000000000000" pitchFamily="2" charset="2"/>
              <a:buAutoNum type="circleNumDbPlain"/>
            </a:pPr>
            <a:r>
              <a:rPr lang="zh-CN" altLang="en-US" dirty="0"/>
              <a:t>接收来自服务器的信息；</a:t>
            </a:r>
            <a:endParaRPr lang="zh-CN" altLang="en-US" dirty="0"/>
          </a:p>
          <a:p>
            <a:pPr marL="990600" lvl="1" indent="-533400" eaLnBrk="1" hangingPunct="1">
              <a:buFont typeface="Wingdings" panose="05000000000000000000" pitchFamily="2" charset="2"/>
              <a:buAutoNum type="circleNumDbPlain"/>
            </a:pPr>
            <a:r>
              <a:rPr lang="zh-CN" altLang="en-US" dirty="0"/>
              <a:t>关闭套接字</a:t>
            </a:r>
            <a:endParaRPr lang="zh-CN" altLang="en-US" dirty="0"/>
          </a:p>
        </p:txBody>
      </p:sp>
    </p:spTree>
  </p:cSld>
  <p:clrMapOvr>
    <a:masterClrMapping/>
  </p:clrMapOvr>
  <p:transition>
    <p:random/>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9922" name="Rectangle 2"/>
          <p:cNvSpPr>
            <a:spLocks noGrp="1"/>
          </p:cNvSpPr>
          <p:nvPr>
            <p:ph type="title"/>
          </p:nvPr>
        </p:nvSpPr>
        <p:spPr>
          <a:xfrm>
            <a:off x="1150938" y="252413"/>
            <a:ext cx="7793037" cy="485775"/>
          </a:xfrm>
        </p:spPr>
        <p:txBody>
          <a:bodyPr vert="horz" wrap="square" lIns="91440" tIns="45720" rIns="91440" bIns="45720" anchor="b" anchorCtr="0"/>
          <a:p>
            <a:pPr eaLnBrk="1" hangingPunct="1"/>
            <a:r>
              <a:rPr lang="en-US" altLang="zh-CN" dirty="0"/>
              <a:t>UDP</a:t>
            </a:r>
            <a:r>
              <a:rPr lang="zh-CN" altLang="en-US" dirty="0"/>
              <a:t>套接字编程（</a:t>
            </a:r>
            <a:r>
              <a:rPr lang="en-US" altLang="zh-CN" dirty="0"/>
              <a:t>Cont.</a:t>
            </a:r>
            <a:r>
              <a:rPr lang="zh-CN" altLang="en-US" dirty="0"/>
              <a:t>）</a:t>
            </a:r>
            <a:endParaRPr lang="zh-CN" altLang="en-US" dirty="0"/>
          </a:p>
        </p:txBody>
      </p:sp>
      <p:sp>
        <p:nvSpPr>
          <p:cNvPr id="209923" name="Rectangle 3"/>
          <p:cNvSpPr/>
          <p:nvPr/>
        </p:nvSpPr>
        <p:spPr>
          <a:xfrm>
            <a:off x="900113" y="1412875"/>
            <a:ext cx="2879725" cy="4968875"/>
          </a:xfrm>
          <a:prstGeom prst="rect">
            <a:avLst/>
          </a:prstGeom>
          <a:noFill/>
          <a:ln w="9525" cap="flat" cmpd="sng">
            <a:solidFill>
              <a:schemeClr val="tx1"/>
            </a:solidFill>
            <a:prstDash val="dash"/>
            <a:miter/>
            <a:headEnd type="none" w="med" len="med"/>
            <a:tailEnd type="none" w="med" len="med"/>
          </a:ln>
        </p:spPr>
        <p:txBody>
          <a:bodyPr wrap="none" anchor="ctr" anchorCtr="0"/>
          <a:p>
            <a:pPr eaLnBrk="1" hangingPunct="1"/>
            <a:endParaRPr lang="zh-CN" altLang="en-US" dirty="0">
              <a:latin typeface="Tahoma" panose="020B0604030504040204" pitchFamily="34" charset="0"/>
            </a:endParaRPr>
          </a:p>
        </p:txBody>
      </p:sp>
      <p:sp>
        <p:nvSpPr>
          <p:cNvPr id="209924" name="AutoShape 4"/>
          <p:cNvSpPr/>
          <p:nvPr/>
        </p:nvSpPr>
        <p:spPr>
          <a:xfrm>
            <a:off x="1476375" y="1628775"/>
            <a:ext cx="1655763" cy="360363"/>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socket()</a:t>
            </a:r>
            <a:endParaRPr lang="en-US" altLang="zh-CN" sz="2000" b="0" dirty="0">
              <a:latin typeface="Comic Sans MS" panose="030F0702030302020204" pitchFamily="66" charset="0"/>
            </a:endParaRPr>
          </a:p>
        </p:txBody>
      </p:sp>
      <p:sp>
        <p:nvSpPr>
          <p:cNvPr id="209925" name="AutoShape 5"/>
          <p:cNvSpPr/>
          <p:nvPr/>
        </p:nvSpPr>
        <p:spPr>
          <a:xfrm>
            <a:off x="1476375" y="2349500"/>
            <a:ext cx="1655763" cy="360363"/>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bind()</a:t>
            </a:r>
            <a:endParaRPr lang="en-US" altLang="zh-CN" sz="2000" b="0" dirty="0">
              <a:latin typeface="Comic Sans MS" panose="030F0702030302020204" pitchFamily="66" charset="0"/>
            </a:endParaRPr>
          </a:p>
        </p:txBody>
      </p:sp>
      <p:sp>
        <p:nvSpPr>
          <p:cNvPr id="209926" name="AutoShape 6"/>
          <p:cNvSpPr/>
          <p:nvPr/>
        </p:nvSpPr>
        <p:spPr>
          <a:xfrm>
            <a:off x="1476375" y="5013325"/>
            <a:ext cx="1655763" cy="360363"/>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sendto()</a:t>
            </a:r>
            <a:endParaRPr lang="en-US" altLang="zh-CN" sz="2000" b="0" dirty="0">
              <a:latin typeface="Comic Sans MS" panose="030F0702030302020204" pitchFamily="66" charset="0"/>
            </a:endParaRPr>
          </a:p>
        </p:txBody>
      </p:sp>
      <p:sp>
        <p:nvSpPr>
          <p:cNvPr id="209927" name="AutoShape 7"/>
          <p:cNvSpPr/>
          <p:nvPr/>
        </p:nvSpPr>
        <p:spPr>
          <a:xfrm>
            <a:off x="1476375" y="5805488"/>
            <a:ext cx="1655763" cy="360362"/>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close()</a:t>
            </a:r>
            <a:endParaRPr lang="en-US" altLang="zh-CN" sz="2000" b="0" dirty="0">
              <a:latin typeface="Comic Sans MS" panose="030F0702030302020204" pitchFamily="66" charset="0"/>
            </a:endParaRPr>
          </a:p>
        </p:txBody>
      </p:sp>
      <p:sp>
        <p:nvSpPr>
          <p:cNvPr id="209928" name="Line 8"/>
          <p:cNvSpPr/>
          <p:nvPr/>
        </p:nvSpPr>
        <p:spPr>
          <a:xfrm>
            <a:off x="2268538" y="1268413"/>
            <a:ext cx="0" cy="360362"/>
          </a:xfrm>
          <a:prstGeom prst="line">
            <a:avLst/>
          </a:prstGeom>
          <a:ln w="9525" cap="flat" cmpd="sng">
            <a:solidFill>
              <a:schemeClr val="hlink"/>
            </a:solidFill>
            <a:prstDash val="solid"/>
            <a:headEnd type="none" w="med" len="med"/>
            <a:tailEnd type="triangle" w="med" len="med"/>
          </a:ln>
        </p:spPr>
      </p:sp>
      <p:sp>
        <p:nvSpPr>
          <p:cNvPr id="209929" name="Line 9"/>
          <p:cNvSpPr/>
          <p:nvPr/>
        </p:nvSpPr>
        <p:spPr>
          <a:xfrm>
            <a:off x="2268538" y="1989138"/>
            <a:ext cx="0" cy="360362"/>
          </a:xfrm>
          <a:prstGeom prst="line">
            <a:avLst/>
          </a:prstGeom>
          <a:ln w="9525" cap="flat" cmpd="sng">
            <a:solidFill>
              <a:schemeClr val="hlink"/>
            </a:solidFill>
            <a:prstDash val="solid"/>
            <a:headEnd type="none" w="med" len="med"/>
            <a:tailEnd type="triangle" w="med" len="med"/>
          </a:ln>
        </p:spPr>
      </p:sp>
      <p:sp>
        <p:nvSpPr>
          <p:cNvPr id="209930" name="Line 10"/>
          <p:cNvSpPr/>
          <p:nvPr/>
        </p:nvSpPr>
        <p:spPr>
          <a:xfrm>
            <a:off x="2268538" y="3429000"/>
            <a:ext cx="0" cy="1584325"/>
          </a:xfrm>
          <a:prstGeom prst="line">
            <a:avLst/>
          </a:prstGeom>
          <a:ln w="9525" cap="flat" cmpd="sng">
            <a:solidFill>
              <a:schemeClr val="hlink"/>
            </a:solidFill>
            <a:prstDash val="dash"/>
            <a:headEnd type="none" w="med" len="med"/>
            <a:tailEnd type="triangle" w="med" len="med"/>
          </a:ln>
        </p:spPr>
      </p:sp>
      <p:sp>
        <p:nvSpPr>
          <p:cNvPr id="209931" name="Line 11"/>
          <p:cNvSpPr/>
          <p:nvPr/>
        </p:nvSpPr>
        <p:spPr>
          <a:xfrm>
            <a:off x="2268538" y="5373688"/>
            <a:ext cx="0" cy="431800"/>
          </a:xfrm>
          <a:prstGeom prst="line">
            <a:avLst/>
          </a:prstGeom>
          <a:ln w="9525" cap="flat" cmpd="sng">
            <a:solidFill>
              <a:schemeClr val="hlink"/>
            </a:solidFill>
            <a:prstDash val="solid"/>
            <a:headEnd type="none" w="med" len="med"/>
            <a:tailEnd type="triangle" w="med" len="med"/>
          </a:ln>
        </p:spPr>
      </p:sp>
      <p:sp>
        <p:nvSpPr>
          <p:cNvPr id="209932" name="Line 12"/>
          <p:cNvSpPr/>
          <p:nvPr/>
        </p:nvSpPr>
        <p:spPr>
          <a:xfrm flipH="1">
            <a:off x="1187450" y="5589588"/>
            <a:ext cx="1081088" cy="0"/>
          </a:xfrm>
          <a:prstGeom prst="line">
            <a:avLst/>
          </a:prstGeom>
          <a:ln w="9525" cap="flat" cmpd="sng">
            <a:solidFill>
              <a:schemeClr val="tx1"/>
            </a:solidFill>
            <a:prstDash val="solid"/>
            <a:headEnd type="none" w="med" len="med"/>
            <a:tailEnd type="none" w="med" len="med"/>
          </a:ln>
        </p:spPr>
      </p:sp>
      <p:sp>
        <p:nvSpPr>
          <p:cNvPr id="209933" name="Line 13"/>
          <p:cNvSpPr/>
          <p:nvPr/>
        </p:nvSpPr>
        <p:spPr>
          <a:xfrm flipV="1">
            <a:off x="1187450" y="2924175"/>
            <a:ext cx="0" cy="2665413"/>
          </a:xfrm>
          <a:prstGeom prst="line">
            <a:avLst/>
          </a:prstGeom>
          <a:ln w="9525" cap="flat" cmpd="sng">
            <a:solidFill>
              <a:schemeClr val="tx1"/>
            </a:solidFill>
            <a:prstDash val="solid"/>
            <a:headEnd type="none" w="med" len="med"/>
            <a:tailEnd type="none" w="med" len="med"/>
          </a:ln>
        </p:spPr>
      </p:sp>
      <p:sp>
        <p:nvSpPr>
          <p:cNvPr id="209934" name="Line 14"/>
          <p:cNvSpPr/>
          <p:nvPr/>
        </p:nvSpPr>
        <p:spPr>
          <a:xfrm>
            <a:off x="1187450" y="2924175"/>
            <a:ext cx="1081088" cy="0"/>
          </a:xfrm>
          <a:prstGeom prst="line">
            <a:avLst/>
          </a:prstGeom>
          <a:ln w="9525" cap="flat" cmpd="sng">
            <a:solidFill>
              <a:schemeClr val="tx1"/>
            </a:solidFill>
            <a:prstDash val="solid"/>
            <a:headEnd type="none" w="med" len="med"/>
            <a:tailEnd type="triangle" w="med" len="med"/>
          </a:ln>
        </p:spPr>
      </p:sp>
      <p:sp>
        <p:nvSpPr>
          <p:cNvPr id="209935" name="AutoShape 15"/>
          <p:cNvSpPr/>
          <p:nvPr/>
        </p:nvSpPr>
        <p:spPr>
          <a:xfrm>
            <a:off x="5724525" y="2995613"/>
            <a:ext cx="1655763" cy="360362"/>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socket()</a:t>
            </a:r>
            <a:endParaRPr lang="en-US" altLang="zh-CN" sz="2000" b="0" dirty="0">
              <a:latin typeface="Comic Sans MS" panose="030F0702030302020204" pitchFamily="66" charset="0"/>
            </a:endParaRPr>
          </a:p>
        </p:txBody>
      </p:sp>
      <p:sp>
        <p:nvSpPr>
          <p:cNvPr id="209936" name="AutoShape 16"/>
          <p:cNvSpPr/>
          <p:nvPr/>
        </p:nvSpPr>
        <p:spPr>
          <a:xfrm>
            <a:off x="5724525" y="3789363"/>
            <a:ext cx="1655763" cy="360362"/>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sendto()</a:t>
            </a:r>
            <a:endParaRPr lang="en-US" altLang="zh-CN" sz="2000" b="0" dirty="0">
              <a:latin typeface="Comic Sans MS" panose="030F0702030302020204" pitchFamily="66" charset="0"/>
            </a:endParaRPr>
          </a:p>
        </p:txBody>
      </p:sp>
      <p:sp>
        <p:nvSpPr>
          <p:cNvPr id="209937" name="AutoShape 17"/>
          <p:cNvSpPr/>
          <p:nvPr/>
        </p:nvSpPr>
        <p:spPr>
          <a:xfrm>
            <a:off x="5724525" y="5013325"/>
            <a:ext cx="1655763" cy="360363"/>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recvfrom()</a:t>
            </a:r>
            <a:endParaRPr lang="en-US" altLang="zh-CN" sz="2000" b="0" dirty="0">
              <a:latin typeface="Comic Sans MS" panose="030F0702030302020204" pitchFamily="66" charset="0"/>
            </a:endParaRPr>
          </a:p>
        </p:txBody>
      </p:sp>
      <p:sp>
        <p:nvSpPr>
          <p:cNvPr id="209938" name="AutoShape 18"/>
          <p:cNvSpPr/>
          <p:nvPr/>
        </p:nvSpPr>
        <p:spPr>
          <a:xfrm>
            <a:off x="5724525" y="5805488"/>
            <a:ext cx="1655763" cy="360362"/>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close()</a:t>
            </a:r>
            <a:endParaRPr lang="en-US" altLang="zh-CN" sz="2000" b="0" dirty="0">
              <a:latin typeface="Comic Sans MS" panose="030F0702030302020204" pitchFamily="66" charset="0"/>
            </a:endParaRPr>
          </a:p>
        </p:txBody>
      </p:sp>
      <p:sp>
        <p:nvSpPr>
          <p:cNvPr id="209939" name="Line 19"/>
          <p:cNvSpPr/>
          <p:nvPr/>
        </p:nvSpPr>
        <p:spPr>
          <a:xfrm>
            <a:off x="6516688" y="3355975"/>
            <a:ext cx="0" cy="433388"/>
          </a:xfrm>
          <a:prstGeom prst="line">
            <a:avLst/>
          </a:prstGeom>
          <a:ln w="9525" cap="flat" cmpd="sng">
            <a:solidFill>
              <a:schemeClr val="hlink"/>
            </a:solidFill>
            <a:prstDash val="solid"/>
            <a:headEnd type="none" w="med" len="med"/>
            <a:tailEnd type="triangle" w="med" len="med"/>
          </a:ln>
        </p:spPr>
      </p:sp>
      <p:sp>
        <p:nvSpPr>
          <p:cNvPr id="209940" name="Line 20"/>
          <p:cNvSpPr/>
          <p:nvPr/>
        </p:nvSpPr>
        <p:spPr>
          <a:xfrm>
            <a:off x="6516688" y="4149725"/>
            <a:ext cx="0" cy="863600"/>
          </a:xfrm>
          <a:prstGeom prst="line">
            <a:avLst/>
          </a:prstGeom>
          <a:ln w="9525" cap="flat" cmpd="sng">
            <a:solidFill>
              <a:schemeClr val="hlink"/>
            </a:solidFill>
            <a:prstDash val="solid"/>
            <a:headEnd type="none" w="med" len="med"/>
            <a:tailEnd type="triangle" w="med" len="med"/>
          </a:ln>
        </p:spPr>
      </p:sp>
      <p:sp>
        <p:nvSpPr>
          <p:cNvPr id="209941" name="Line 21"/>
          <p:cNvSpPr/>
          <p:nvPr/>
        </p:nvSpPr>
        <p:spPr>
          <a:xfrm>
            <a:off x="6516688" y="5373688"/>
            <a:ext cx="0" cy="431800"/>
          </a:xfrm>
          <a:prstGeom prst="line">
            <a:avLst/>
          </a:prstGeom>
          <a:ln w="9525" cap="flat" cmpd="sng">
            <a:solidFill>
              <a:schemeClr val="hlink"/>
            </a:solidFill>
            <a:prstDash val="solid"/>
            <a:headEnd type="none" w="med" len="med"/>
            <a:tailEnd type="triangle" w="med" len="med"/>
          </a:ln>
        </p:spPr>
      </p:sp>
      <p:sp>
        <p:nvSpPr>
          <p:cNvPr id="209942" name="Text Box 22"/>
          <p:cNvSpPr txBox="1"/>
          <p:nvPr/>
        </p:nvSpPr>
        <p:spPr>
          <a:xfrm>
            <a:off x="2206625" y="3573463"/>
            <a:ext cx="1250950" cy="517525"/>
          </a:xfrm>
          <a:prstGeom prst="rect">
            <a:avLst/>
          </a:prstGeom>
          <a:noFill/>
          <a:ln w="9525">
            <a:noFill/>
          </a:ln>
        </p:spPr>
        <p:txBody>
          <a:bodyPr wrap="none">
            <a:spAutoFit/>
          </a:bodyPr>
          <a:p>
            <a:pPr eaLnBrk="1" hangingPunct="1"/>
            <a:r>
              <a:rPr lang="zh-CN" altLang="en-US" sz="1400" b="0" dirty="0">
                <a:latin typeface="Arial" panose="020B0604020202020204" pitchFamily="34" charset="0"/>
              </a:rPr>
              <a:t>阻塞直到接收</a:t>
            </a:r>
            <a:endParaRPr lang="zh-CN" altLang="en-US" sz="1400" b="0" dirty="0">
              <a:latin typeface="Arial" panose="020B0604020202020204" pitchFamily="34" charset="0"/>
            </a:endParaRPr>
          </a:p>
          <a:p>
            <a:pPr eaLnBrk="1" hangingPunct="1"/>
            <a:r>
              <a:rPr lang="zh-CN" altLang="en-US" sz="1400" b="0" dirty="0">
                <a:latin typeface="Arial" panose="020B0604020202020204" pitchFamily="34" charset="0"/>
              </a:rPr>
              <a:t>到客户信息</a:t>
            </a:r>
            <a:endParaRPr lang="zh-CN" altLang="en-US" sz="1400" b="0" dirty="0">
              <a:latin typeface="Arial" panose="020B0604020202020204" pitchFamily="34" charset="0"/>
            </a:endParaRPr>
          </a:p>
        </p:txBody>
      </p:sp>
      <p:sp>
        <p:nvSpPr>
          <p:cNvPr id="209943" name="Line 23"/>
          <p:cNvSpPr/>
          <p:nvPr/>
        </p:nvSpPr>
        <p:spPr>
          <a:xfrm>
            <a:off x="6516688" y="2636838"/>
            <a:ext cx="0" cy="360362"/>
          </a:xfrm>
          <a:prstGeom prst="line">
            <a:avLst/>
          </a:prstGeom>
          <a:ln w="9525" cap="flat" cmpd="sng">
            <a:solidFill>
              <a:schemeClr val="hlink"/>
            </a:solidFill>
            <a:prstDash val="solid"/>
            <a:headEnd type="none" w="med" len="med"/>
            <a:tailEnd type="triangle" w="med" len="med"/>
          </a:ln>
        </p:spPr>
      </p:sp>
      <p:sp>
        <p:nvSpPr>
          <p:cNvPr id="209944" name="Rectangle 24"/>
          <p:cNvSpPr/>
          <p:nvPr/>
        </p:nvSpPr>
        <p:spPr>
          <a:xfrm>
            <a:off x="5435600" y="2492375"/>
            <a:ext cx="2449513" cy="3889375"/>
          </a:xfrm>
          <a:prstGeom prst="rect">
            <a:avLst/>
          </a:prstGeom>
          <a:noFill/>
          <a:ln w="9525" cap="flat" cmpd="sng">
            <a:solidFill>
              <a:schemeClr val="tx1"/>
            </a:solidFill>
            <a:prstDash val="dash"/>
            <a:miter/>
            <a:headEnd type="none" w="med" len="med"/>
            <a:tailEnd type="none" w="med" len="med"/>
          </a:ln>
        </p:spPr>
        <p:txBody>
          <a:bodyPr wrap="none" anchor="ctr" anchorCtr="0"/>
          <a:p>
            <a:pPr eaLnBrk="1" hangingPunct="1"/>
            <a:endParaRPr lang="zh-CN" altLang="en-US" dirty="0">
              <a:latin typeface="Tahoma" panose="020B0604030504040204" pitchFamily="34" charset="0"/>
            </a:endParaRPr>
          </a:p>
        </p:txBody>
      </p:sp>
      <p:sp>
        <p:nvSpPr>
          <p:cNvPr id="209945" name="Line 25"/>
          <p:cNvSpPr/>
          <p:nvPr/>
        </p:nvSpPr>
        <p:spPr>
          <a:xfrm>
            <a:off x="3563938" y="4005263"/>
            <a:ext cx="2160587" cy="0"/>
          </a:xfrm>
          <a:prstGeom prst="line">
            <a:avLst/>
          </a:prstGeom>
          <a:ln w="9525" cap="flat" cmpd="sng">
            <a:solidFill>
              <a:schemeClr val="tx1"/>
            </a:solidFill>
            <a:prstDash val="solid"/>
            <a:headEnd type="triangle" w="med" len="med"/>
            <a:tailEnd type="none" w="med" len="med"/>
          </a:ln>
        </p:spPr>
      </p:sp>
      <p:sp>
        <p:nvSpPr>
          <p:cNvPr id="209946" name="Line 26"/>
          <p:cNvSpPr/>
          <p:nvPr/>
        </p:nvSpPr>
        <p:spPr>
          <a:xfrm>
            <a:off x="3203575" y="5157788"/>
            <a:ext cx="2449513" cy="0"/>
          </a:xfrm>
          <a:prstGeom prst="line">
            <a:avLst/>
          </a:prstGeom>
          <a:ln w="9525" cap="flat" cmpd="sng">
            <a:solidFill>
              <a:schemeClr val="tx1"/>
            </a:solidFill>
            <a:prstDash val="solid"/>
            <a:headEnd type="none" w="med" len="med"/>
            <a:tailEnd type="triangle" w="med" len="med"/>
          </a:ln>
        </p:spPr>
      </p:sp>
      <p:sp>
        <p:nvSpPr>
          <p:cNvPr id="209947" name="Line 27"/>
          <p:cNvSpPr/>
          <p:nvPr/>
        </p:nvSpPr>
        <p:spPr>
          <a:xfrm>
            <a:off x="3203575" y="6021388"/>
            <a:ext cx="2449513" cy="0"/>
          </a:xfrm>
          <a:prstGeom prst="line">
            <a:avLst/>
          </a:prstGeom>
          <a:ln w="9525" cap="flat" cmpd="sng">
            <a:solidFill>
              <a:schemeClr val="tx1"/>
            </a:solidFill>
            <a:prstDash val="solid"/>
            <a:headEnd type="triangle" w="med" len="med"/>
            <a:tailEnd type="triangle" w="med" len="med"/>
          </a:ln>
        </p:spPr>
      </p:sp>
      <p:sp>
        <p:nvSpPr>
          <p:cNvPr id="209948" name="Text Box 28"/>
          <p:cNvSpPr txBox="1"/>
          <p:nvPr/>
        </p:nvSpPr>
        <p:spPr>
          <a:xfrm>
            <a:off x="323850" y="2159000"/>
            <a:ext cx="458788" cy="1489075"/>
          </a:xfrm>
          <a:prstGeom prst="rect">
            <a:avLst/>
          </a:prstGeom>
          <a:noFill/>
          <a:ln w="9525">
            <a:noFill/>
          </a:ln>
        </p:spPr>
        <p:txBody>
          <a:bodyPr vert="eaVert" wrap="none">
            <a:spAutoFit/>
          </a:bodyPr>
          <a:p>
            <a:pPr eaLnBrk="1" hangingPunct="1"/>
            <a:r>
              <a:rPr lang="en-US" altLang="zh-CN" sz="1800" b="0" dirty="0">
                <a:latin typeface="Arial" panose="020B0604020202020204" pitchFamily="34" charset="0"/>
              </a:rPr>
              <a:t>UDP</a:t>
            </a:r>
            <a:r>
              <a:rPr lang="zh-CN" altLang="en-US" sz="1800" b="0" dirty="0">
                <a:latin typeface="Arial" panose="020B0604020202020204" pitchFamily="34" charset="0"/>
              </a:rPr>
              <a:t>服务器端</a:t>
            </a:r>
            <a:endParaRPr lang="zh-CN" altLang="en-US" sz="1800" b="0" dirty="0">
              <a:latin typeface="Arial" panose="020B0604020202020204" pitchFamily="34" charset="0"/>
            </a:endParaRPr>
          </a:p>
        </p:txBody>
      </p:sp>
      <p:sp>
        <p:nvSpPr>
          <p:cNvPr id="209949" name="Text Box 29"/>
          <p:cNvSpPr txBox="1"/>
          <p:nvPr/>
        </p:nvSpPr>
        <p:spPr>
          <a:xfrm>
            <a:off x="7885113" y="3573463"/>
            <a:ext cx="458787" cy="1260475"/>
          </a:xfrm>
          <a:prstGeom prst="rect">
            <a:avLst/>
          </a:prstGeom>
          <a:noFill/>
          <a:ln w="9525">
            <a:noFill/>
          </a:ln>
        </p:spPr>
        <p:txBody>
          <a:bodyPr vert="eaVert" wrap="none">
            <a:spAutoFit/>
          </a:bodyPr>
          <a:p>
            <a:pPr eaLnBrk="1" hangingPunct="1"/>
            <a:r>
              <a:rPr lang="en-US" altLang="zh-CN" sz="1800" b="0" dirty="0">
                <a:latin typeface="Arial" panose="020B0604020202020204" pitchFamily="34" charset="0"/>
              </a:rPr>
              <a:t>UDP</a:t>
            </a:r>
            <a:r>
              <a:rPr lang="zh-CN" altLang="en-US" sz="1800" b="0" dirty="0">
                <a:latin typeface="Arial" panose="020B0604020202020204" pitchFamily="34" charset="0"/>
              </a:rPr>
              <a:t>客户端</a:t>
            </a:r>
            <a:endParaRPr lang="zh-CN" altLang="en-US" sz="1800" b="0" dirty="0">
              <a:latin typeface="Arial" panose="020B0604020202020204" pitchFamily="34" charset="0"/>
            </a:endParaRPr>
          </a:p>
        </p:txBody>
      </p:sp>
      <p:sp>
        <p:nvSpPr>
          <p:cNvPr id="209950" name="AutoShape 30"/>
          <p:cNvSpPr/>
          <p:nvPr/>
        </p:nvSpPr>
        <p:spPr>
          <a:xfrm>
            <a:off x="1403350" y="3068638"/>
            <a:ext cx="1655763" cy="360362"/>
          </a:xfrm>
          <a:prstGeom prst="roundRect">
            <a:avLst>
              <a:gd name="adj" fmla="val 16667"/>
            </a:avLst>
          </a:prstGeom>
          <a:solidFill>
            <a:srgbClr val="FFFF99"/>
          </a:solidFill>
          <a:ln w="9525" cap="flat" cmpd="sng">
            <a:solidFill>
              <a:schemeClr val="tx1"/>
            </a:solidFill>
            <a:prstDash val="solid"/>
            <a:headEnd type="none" w="med" len="med"/>
            <a:tailEnd type="none" w="med" len="med"/>
          </a:ln>
        </p:spPr>
        <p:txBody>
          <a:bodyPr wrap="none" anchor="ctr" anchorCtr="0"/>
          <a:p>
            <a:pPr algn="ctr" eaLnBrk="1" hangingPunct="1"/>
            <a:r>
              <a:rPr lang="en-US" altLang="zh-CN" sz="2000" b="0" dirty="0">
                <a:latin typeface="Comic Sans MS" panose="030F0702030302020204" pitchFamily="66" charset="0"/>
              </a:rPr>
              <a:t>recvfrom()</a:t>
            </a:r>
            <a:endParaRPr lang="en-US" altLang="zh-CN" sz="2000" b="0" dirty="0">
              <a:latin typeface="Comic Sans MS" panose="030F0702030302020204" pitchFamily="66" charset="0"/>
            </a:endParaRPr>
          </a:p>
        </p:txBody>
      </p:sp>
      <p:sp>
        <p:nvSpPr>
          <p:cNvPr id="209951" name="Line 31"/>
          <p:cNvSpPr/>
          <p:nvPr/>
        </p:nvSpPr>
        <p:spPr>
          <a:xfrm>
            <a:off x="2268538" y="2708275"/>
            <a:ext cx="0" cy="360363"/>
          </a:xfrm>
          <a:prstGeom prst="line">
            <a:avLst/>
          </a:prstGeom>
          <a:ln w="9525" cap="flat" cmpd="sng">
            <a:solidFill>
              <a:schemeClr val="hlink"/>
            </a:solidFill>
            <a:prstDash val="solid"/>
            <a:headEnd type="none" w="med" len="med"/>
            <a:tailEnd type="triangle" w="med" len="med"/>
          </a:ln>
        </p:spPr>
      </p:sp>
      <p:sp>
        <p:nvSpPr>
          <p:cNvPr id="209952" name="Text Box 32"/>
          <p:cNvSpPr txBox="1"/>
          <p:nvPr/>
        </p:nvSpPr>
        <p:spPr>
          <a:xfrm>
            <a:off x="2268538" y="4437063"/>
            <a:ext cx="1250950" cy="304800"/>
          </a:xfrm>
          <a:prstGeom prst="rect">
            <a:avLst/>
          </a:prstGeom>
          <a:noFill/>
          <a:ln w="9525">
            <a:noFill/>
          </a:ln>
        </p:spPr>
        <p:txBody>
          <a:bodyPr wrap="none">
            <a:spAutoFit/>
          </a:bodyPr>
          <a:p>
            <a:pPr eaLnBrk="1" hangingPunct="1"/>
            <a:r>
              <a:rPr lang="zh-CN" altLang="en-US" sz="1400" b="0" dirty="0">
                <a:latin typeface="Arial" panose="020B0604020202020204" pitchFamily="34" charset="0"/>
              </a:rPr>
              <a:t>处理客户信息</a:t>
            </a:r>
            <a:endParaRPr lang="zh-CN" altLang="en-US" sz="1400" b="0" dirty="0">
              <a:latin typeface="Arial" panose="020B0604020202020204" pitchFamily="34" charset="0"/>
            </a:endParaRPr>
          </a:p>
        </p:txBody>
      </p:sp>
      <p:sp>
        <p:nvSpPr>
          <p:cNvPr id="209953" name="Line 33"/>
          <p:cNvSpPr/>
          <p:nvPr/>
        </p:nvSpPr>
        <p:spPr>
          <a:xfrm>
            <a:off x="6516688" y="5516563"/>
            <a:ext cx="1150937" cy="0"/>
          </a:xfrm>
          <a:prstGeom prst="line">
            <a:avLst/>
          </a:prstGeom>
          <a:ln w="9525" cap="flat" cmpd="sng">
            <a:solidFill>
              <a:schemeClr val="tx1"/>
            </a:solidFill>
            <a:prstDash val="solid"/>
            <a:headEnd type="none" w="med" len="med"/>
            <a:tailEnd type="none" w="med" len="med"/>
          </a:ln>
        </p:spPr>
      </p:sp>
      <p:sp>
        <p:nvSpPr>
          <p:cNvPr id="209954" name="Line 34"/>
          <p:cNvSpPr/>
          <p:nvPr/>
        </p:nvSpPr>
        <p:spPr>
          <a:xfrm flipV="1">
            <a:off x="7667625" y="3573463"/>
            <a:ext cx="0" cy="1943100"/>
          </a:xfrm>
          <a:prstGeom prst="line">
            <a:avLst/>
          </a:prstGeom>
          <a:ln w="9525" cap="flat" cmpd="sng">
            <a:solidFill>
              <a:schemeClr val="tx1"/>
            </a:solidFill>
            <a:prstDash val="solid"/>
            <a:headEnd type="none" w="med" len="med"/>
            <a:tailEnd type="none" w="med" len="med"/>
          </a:ln>
        </p:spPr>
      </p:sp>
      <p:sp>
        <p:nvSpPr>
          <p:cNvPr id="209955" name="Line 35"/>
          <p:cNvSpPr/>
          <p:nvPr/>
        </p:nvSpPr>
        <p:spPr>
          <a:xfrm flipH="1">
            <a:off x="6516688" y="3573463"/>
            <a:ext cx="1150937" cy="0"/>
          </a:xfrm>
          <a:prstGeom prst="line">
            <a:avLst/>
          </a:prstGeom>
          <a:ln w="9525" cap="flat" cmpd="sng">
            <a:solidFill>
              <a:schemeClr val="tx1"/>
            </a:solidFill>
            <a:prstDash val="solid"/>
            <a:headEnd type="none" w="med" len="med"/>
            <a:tailEnd type="triangle" w="med" len="med"/>
          </a:ln>
        </p:spPr>
      </p:sp>
    </p:spTree>
  </p:cSld>
  <p:clrMapOvr>
    <a:masterClrMapping/>
  </p:clrMapOvr>
  <p:transition>
    <p:random/>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1970" name="Rectangle 2"/>
          <p:cNvSpPr>
            <a:spLocks noGrp="1"/>
          </p:cNvSpPr>
          <p:nvPr>
            <p:ph type="title"/>
          </p:nvPr>
        </p:nvSpPr>
        <p:spPr>
          <a:xfrm>
            <a:off x="228600" y="228600"/>
            <a:ext cx="7924800" cy="762000"/>
          </a:xfrm>
        </p:spPr>
        <p:txBody>
          <a:bodyPr vert="horz" wrap="square" lIns="91440" tIns="45720" rIns="91440" bIns="45720" anchor="b" anchorCtr="0"/>
          <a:p>
            <a:pPr eaLnBrk="1" hangingPunct="1"/>
            <a:r>
              <a:rPr lang="en-US" altLang="zh-CN" dirty="0"/>
              <a:t>UDP</a:t>
            </a:r>
            <a:r>
              <a:rPr lang="zh-CN" altLang="en-US" dirty="0"/>
              <a:t>数据传输函数－</a:t>
            </a:r>
            <a:r>
              <a:rPr lang="en-US" altLang="zh-CN" dirty="0"/>
              <a:t>sendto</a:t>
            </a:r>
            <a:endParaRPr lang="en-US" altLang="zh-CN" dirty="0"/>
          </a:p>
        </p:txBody>
      </p:sp>
      <p:sp>
        <p:nvSpPr>
          <p:cNvPr id="211971" name="Rectangle 3"/>
          <p:cNvSpPr>
            <a:spLocks noGrp="1"/>
          </p:cNvSpPr>
          <p:nvPr>
            <p:ph idx="1"/>
          </p:nvPr>
        </p:nvSpPr>
        <p:spPr>
          <a:xfrm>
            <a:off x="304800" y="1066800"/>
            <a:ext cx="8540750" cy="5530850"/>
          </a:xfrm>
          <a:solidFill>
            <a:schemeClr val="bg1">
              <a:alpha val="100000"/>
            </a:schemeClr>
          </a:solidFill>
        </p:spPr>
        <p:txBody>
          <a:bodyPr vert="horz" wrap="square" lIns="91440" tIns="45720" rIns="91440" bIns="45720" anchor="t" anchorCtr="0"/>
          <a:p>
            <a:pPr eaLnBrk="1" hangingPunct="1">
              <a:buNone/>
            </a:pPr>
            <a:r>
              <a:rPr lang="en-US" altLang="zh-CN" sz="2400" dirty="0"/>
              <a:t>#include &lt;sys/types.h&gt;</a:t>
            </a:r>
            <a:endParaRPr lang="en-US" altLang="zh-CN" sz="2400" dirty="0"/>
          </a:p>
          <a:p>
            <a:pPr eaLnBrk="1" hangingPunct="1">
              <a:buNone/>
            </a:pPr>
            <a:r>
              <a:rPr lang="en-US" altLang="zh-CN" sz="2400" dirty="0"/>
              <a:t>#include &lt;sys/socket.h&gt;</a:t>
            </a:r>
            <a:endParaRPr lang="en-US" altLang="zh-CN" sz="2400" dirty="0"/>
          </a:p>
          <a:p>
            <a:pPr eaLnBrk="1" hangingPunct="1">
              <a:buNone/>
            </a:pPr>
            <a:r>
              <a:rPr lang="en-US" altLang="zh-CN" sz="2400" dirty="0"/>
              <a:t>ssize_t sendto(int sockfd, const void *msg, size_t len, int flags, const struct sockaddr *to, int tolen);</a:t>
            </a:r>
            <a:endParaRPr lang="en-US" altLang="zh-CN" sz="2400" dirty="0"/>
          </a:p>
          <a:p>
            <a:pPr eaLnBrk="1" hangingPunct="1">
              <a:buNone/>
            </a:pPr>
            <a:r>
              <a:rPr lang="en-US" altLang="zh-CN" sz="2800" dirty="0"/>
              <a:t>        </a:t>
            </a:r>
            <a:r>
              <a:rPr lang="zh-CN" altLang="en-US" sz="2800" dirty="0"/>
              <a:t>返回：大于</a:t>
            </a:r>
            <a:r>
              <a:rPr lang="en-US" altLang="zh-CN" sz="2800" dirty="0"/>
              <a:t>0</a:t>
            </a:r>
            <a:r>
              <a:rPr lang="zh-CN" altLang="en-US" sz="2800" dirty="0"/>
              <a:t>－成功发送数据长度；</a:t>
            </a:r>
            <a:r>
              <a:rPr lang="en-US" altLang="zh-CN" sz="2800" dirty="0"/>
              <a:t>-1</a:t>
            </a:r>
            <a:r>
              <a:rPr lang="zh-CN" altLang="en-US" sz="2800" dirty="0"/>
              <a:t>－出错；</a:t>
            </a:r>
            <a:endParaRPr lang="zh-CN" altLang="en-US" sz="2800" dirty="0"/>
          </a:p>
          <a:p>
            <a:pPr eaLnBrk="1" hangingPunct="1">
              <a:buNone/>
            </a:pPr>
            <a:endParaRPr lang="zh-CN" altLang="en-US" sz="2800" dirty="0"/>
          </a:p>
          <a:p>
            <a:pPr eaLnBrk="1" hangingPunct="1"/>
            <a:r>
              <a:rPr lang="en-US" altLang="zh-CN" sz="2800" dirty="0"/>
              <a:t>UDP</a:t>
            </a:r>
            <a:r>
              <a:rPr lang="zh-CN" altLang="en-US" sz="2800" dirty="0"/>
              <a:t>套接字使用无连接协议，因此必须使用</a:t>
            </a:r>
            <a:r>
              <a:rPr lang="en-US" altLang="zh-CN" sz="2800" dirty="0"/>
              <a:t>sendto</a:t>
            </a:r>
            <a:r>
              <a:rPr lang="zh-CN" altLang="en-US" sz="2800" dirty="0"/>
              <a:t>函数，指明目的地址；</a:t>
            </a:r>
            <a:endParaRPr lang="zh-CN" altLang="en-US" sz="2800" dirty="0"/>
          </a:p>
          <a:p>
            <a:pPr eaLnBrk="1" hangingPunct="1"/>
            <a:r>
              <a:rPr lang="en-US" altLang="zh-CN" sz="2800" dirty="0"/>
              <a:t>flags</a:t>
            </a:r>
            <a:r>
              <a:rPr lang="zh-CN" altLang="en-US" sz="2800" dirty="0"/>
              <a:t>是传输控制标志，其值定义如下：</a:t>
            </a:r>
            <a:endParaRPr lang="zh-CN" altLang="en-US" sz="2800" dirty="0"/>
          </a:p>
          <a:p>
            <a:pPr lvl="1" eaLnBrk="1" hangingPunct="1"/>
            <a:r>
              <a:rPr lang="en-US" altLang="zh-CN" sz="2400" dirty="0"/>
              <a:t>0</a:t>
            </a:r>
            <a:r>
              <a:rPr lang="zh-CN" altLang="en-US" sz="2400" dirty="0"/>
              <a:t>：常规操作，如同</a:t>
            </a:r>
            <a:r>
              <a:rPr lang="en-US" altLang="zh-CN" sz="2400" dirty="0"/>
              <a:t>write()</a:t>
            </a:r>
            <a:r>
              <a:rPr lang="zh-CN" altLang="en-US" sz="2400" dirty="0"/>
              <a:t>函数；</a:t>
            </a:r>
            <a:endParaRPr lang="zh-CN" altLang="en-US" sz="2400" dirty="0"/>
          </a:p>
          <a:p>
            <a:pPr lvl="1" eaLnBrk="1" hangingPunct="1"/>
            <a:r>
              <a:rPr lang="en-US" altLang="zh-CN" sz="2400" dirty="0"/>
              <a:t>MSG_OOB</a:t>
            </a:r>
            <a:r>
              <a:rPr lang="zh-CN" altLang="en-US" sz="2400" dirty="0"/>
              <a:t>：发送带外数据；</a:t>
            </a:r>
            <a:endParaRPr lang="zh-CN" altLang="en-US" sz="2400" dirty="0"/>
          </a:p>
          <a:p>
            <a:pPr lvl="1" eaLnBrk="1" hangingPunct="1"/>
            <a:r>
              <a:rPr lang="en-US" altLang="zh-CN" sz="2400" dirty="0"/>
              <a:t>MSG_DONTROUTE</a:t>
            </a:r>
            <a:r>
              <a:rPr lang="zh-CN" altLang="en-US" sz="2400" dirty="0"/>
              <a:t>：忽略底层路由协议，直接发送。</a:t>
            </a:r>
            <a:endParaRPr lang="zh-CN" altLang="en-US" sz="2400" dirty="0"/>
          </a:p>
        </p:txBody>
      </p:sp>
    </p:spTree>
  </p:cSld>
  <p:clrMapOvr>
    <a:masterClrMapping/>
  </p:clrMapOvr>
  <p:transition>
    <p:random/>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4018" name="Rectangle 2"/>
          <p:cNvSpPr>
            <a:spLocks noGrp="1"/>
          </p:cNvSpPr>
          <p:nvPr>
            <p:ph type="title"/>
          </p:nvPr>
        </p:nvSpPr>
        <p:spPr>
          <a:xfrm>
            <a:off x="228600" y="228600"/>
            <a:ext cx="7924800" cy="762000"/>
          </a:xfrm>
        </p:spPr>
        <p:txBody>
          <a:bodyPr vert="horz" wrap="square" lIns="91440" tIns="45720" rIns="91440" bIns="45720" anchor="b" anchorCtr="0"/>
          <a:p>
            <a:pPr eaLnBrk="1" hangingPunct="1"/>
            <a:r>
              <a:rPr lang="en-US" altLang="zh-CN" dirty="0"/>
              <a:t>UDP</a:t>
            </a:r>
            <a:r>
              <a:rPr lang="zh-CN" altLang="en-US" dirty="0"/>
              <a:t>数据传输函数－</a:t>
            </a:r>
            <a:r>
              <a:rPr lang="en-US" altLang="zh-CN" dirty="0"/>
              <a:t>sendto</a:t>
            </a:r>
            <a:endParaRPr lang="en-US" altLang="zh-CN" dirty="0"/>
          </a:p>
        </p:txBody>
      </p:sp>
      <p:sp>
        <p:nvSpPr>
          <p:cNvPr id="214019" name="Rectangle 3"/>
          <p:cNvSpPr>
            <a:spLocks noGrp="1"/>
          </p:cNvSpPr>
          <p:nvPr>
            <p:ph idx="1"/>
          </p:nvPr>
        </p:nvSpPr>
        <p:spPr>
          <a:xfrm>
            <a:off x="304800" y="1066800"/>
            <a:ext cx="8540750" cy="2938463"/>
          </a:xfrm>
          <a:solidFill>
            <a:schemeClr val="bg1">
              <a:alpha val="100000"/>
            </a:schemeClr>
          </a:solidFill>
        </p:spPr>
        <p:txBody>
          <a:bodyPr vert="horz" wrap="square" lIns="91440" tIns="45720" rIns="91440" bIns="45720" anchor="t" anchorCtr="0"/>
          <a:p>
            <a:pPr eaLnBrk="1" hangingPunct="1">
              <a:buNone/>
            </a:pPr>
            <a:r>
              <a:rPr lang="en-US" altLang="zh-CN" sz="2400" dirty="0"/>
              <a:t>#include &lt;sys/types.h&gt;</a:t>
            </a:r>
            <a:endParaRPr lang="en-US" altLang="zh-CN" sz="2400" dirty="0"/>
          </a:p>
          <a:p>
            <a:pPr eaLnBrk="1" hangingPunct="1">
              <a:buNone/>
            </a:pPr>
            <a:r>
              <a:rPr lang="en-US" altLang="zh-CN" sz="2400" dirty="0"/>
              <a:t>#include &lt;sys/socket.h&gt;</a:t>
            </a:r>
            <a:endParaRPr lang="en-US" altLang="zh-CN" sz="2400" dirty="0"/>
          </a:p>
          <a:p>
            <a:pPr eaLnBrk="1" hangingPunct="1">
              <a:buNone/>
            </a:pPr>
            <a:r>
              <a:rPr lang="en-US" altLang="zh-CN" sz="2400" dirty="0"/>
              <a:t>ssize_t sendto(int sockfd, const void *msg, size_t len, int flags, const struct sockaddr *to, int tolen);</a:t>
            </a:r>
            <a:endParaRPr lang="en-US" altLang="zh-CN" sz="2400" dirty="0"/>
          </a:p>
          <a:p>
            <a:pPr eaLnBrk="1" hangingPunct="1">
              <a:lnSpc>
                <a:spcPct val="150000"/>
              </a:lnSpc>
            </a:pPr>
            <a:r>
              <a:rPr lang="en-US" altLang="zh-CN" sz="2400" dirty="0"/>
              <a:t>to</a:t>
            </a:r>
            <a:r>
              <a:rPr lang="zh-CN" altLang="en-US" sz="2400" dirty="0"/>
              <a:t>参数指向一个含有数据报接收者的协议地址（如</a:t>
            </a:r>
            <a:r>
              <a:rPr lang="en-US" altLang="zh-CN" sz="2400" dirty="0"/>
              <a:t>IP</a:t>
            </a:r>
            <a:r>
              <a:rPr lang="zh-CN" altLang="en-US" sz="2400" dirty="0"/>
              <a:t>地址及端口号），其大小由</a:t>
            </a:r>
            <a:r>
              <a:rPr lang="en-US" altLang="zh-CN" sz="2400" dirty="0"/>
              <a:t>tolen</a:t>
            </a:r>
            <a:r>
              <a:rPr lang="zh-CN" altLang="en-US" sz="2400" dirty="0"/>
              <a:t>决定。</a:t>
            </a:r>
            <a:endParaRPr lang="en-US" altLang="zh-CN" sz="2400" dirty="0"/>
          </a:p>
          <a:p>
            <a:pPr eaLnBrk="1" hangingPunct="1"/>
            <a:endParaRPr lang="zh-CN" altLang="en-US" sz="2400" dirty="0"/>
          </a:p>
        </p:txBody>
      </p:sp>
      <p:sp>
        <p:nvSpPr>
          <p:cNvPr id="214020" name="文本框 1"/>
          <p:cNvSpPr txBox="1"/>
          <p:nvPr/>
        </p:nvSpPr>
        <p:spPr>
          <a:xfrm>
            <a:off x="641350" y="3860800"/>
            <a:ext cx="8208963" cy="2862263"/>
          </a:xfrm>
          <a:prstGeom prst="rect">
            <a:avLst/>
          </a:prstGeom>
          <a:noFill/>
          <a:ln w="9525">
            <a:noFill/>
          </a:ln>
        </p:spPr>
        <p:txBody>
          <a:bodyPr>
            <a:spAutoFit/>
          </a:bodyPr>
          <a:p>
            <a:pPr eaLnBrk="1" hangingPunct="1">
              <a:lnSpc>
                <a:spcPct val="150000"/>
              </a:lnSpc>
            </a:pPr>
            <a:r>
              <a:rPr lang="en-US" altLang="zh-CN" b="0" dirty="0">
                <a:latin typeface="Tahoma" panose="020B0604030504040204" pitchFamily="34" charset="0"/>
              </a:rPr>
              <a:t>typedef struct sockaddr SA;</a:t>
            </a:r>
            <a:endParaRPr lang="en-US" altLang="zh-CN" b="0" dirty="0">
              <a:latin typeface="Tahoma" panose="020B0604030504040204" pitchFamily="34" charset="0"/>
            </a:endParaRPr>
          </a:p>
          <a:p>
            <a:pPr eaLnBrk="1" hangingPunct="1">
              <a:lnSpc>
                <a:spcPct val="150000"/>
              </a:lnSpc>
            </a:pPr>
            <a:r>
              <a:rPr lang="en-US" altLang="zh-CN" b="0" dirty="0">
                <a:latin typeface="Tahoma" panose="020B0604030504040204" pitchFamily="34" charset="0"/>
              </a:rPr>
              <a:t>struct sockaddr_in cliAddr;</a:t>
            </a:r>
            <a:endParaRPr lang="en-US" altLang="zh-CN" b="0" dirty="0">
              <a:latin typeface="Tahoma" panose="020B0604030504040204" pitchFamily="34" charset="0"/>
            </a:endParaRPr>
          </a:p>
          <a:p>
            <a:pPr eaLnBrk="1" hangingPunct="1">
              <a:lnSpc>
                <a:spcPct val="150000"/>
              </a:lnSpc>
            </a:pPr>
            <a:r>
              <a:rPr lang="en-US" altLang="zh-CN" b="0" dirty="0">
                <a:latin typeface="Tahoma" panose="020B0604030504040204" pitchFamily="34" charset="0"/>
              </a:rPr>
              <a:t>sockfd = socket(AF_INET,SOCK_DGRAM,0)</a:t>
            </a:r>
            <a:r>
              <a:rPr lang="zh-CN" altLang="en-US" b="0" dirty="0">
                <a:latin typeface="Tahoma" panose="020B0604030504040204" pitchFamily="34" charset="0"/>
              </a:rPr>
              <a:t>；</a:t>
            </a:r>
            <a:endParaRPr lang="en-US" altLang="zh-CN" b="0" dirty="0">
              <a:latin typeface="Tahoma" panose="020B0604030504040204" pitchFamily="34" charset="0"/>
            </a:endParaRPr>
          </a:p>
          <a:p>
            <a:pPr eaLnBrk="1" hangingPunct="1">
              <a:lnSpc>
                <a:spcPct val="150000"/>
              </a:lnSpc>
            </a:pPr>
            <a:r>
              <a:rPr lang="en-US" altLang="zh-CN" b="0" dirty="0">
                <a:latin typeface="Tahoma" panose="020B0604030504040204" pitchFamily="34" charset="0"/>
              </a:rPr>
              <a:t>num = recvfrom(sockfd,buf,MAXSIZE,0,(SA*)&amp;cliAddr,&amp;len);</a:t>
            </a:r>
            <a:endParaRPr lang="en-US" altLang="zh-CN" b="0" dirty="0">
              <a:latin typeface="Tahoma" panose="020B0604030504040204" pitchFamily="34" charset="0"/>
            </a:endParaRPr>
          </a:p>
          <a:p>
            <a:pPr eaLnBrk="1" hangingPunct="1">
              <a:lnSpc>
                <a:spcPct val="150000"/>
              </a:lnSpc>
            </a:pPr>
            <a:r>
              <a:rPr lang="it-IT" altLang="zh-CN" b="0" dirty="0">
                <a:latin typeface="Tahoma" panose="020B0604030504040204" pitchFamily="34" charset="0"/>
              </a:rPr>
              <a:t>sendto(sockfd,"Welcome\n",8,0,(SA*)&amp;cliAddr,len);</a:t>
            </a:r>
            <a:endParaRPr lang="en-US" altLang="zh-CN" b="0" dirty="0">
              <a:latin typeface="Tahoma" panose="020B0604030504040204" pitchFamily="34" charset="0"/>
            </a:endParaRPr>
          </a:p>
        </p:txBody>
      </p:sp>
    </p:spTree>
  </p:cSld>
  <p:clrMapOvr>
    <a:masterClrMapping/>
  </p:clrMapOvr>
  <p:transition>
    <p:random/>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6066" name="标题 1"/>
          <p:cNvSpPr>
            <a:spLocks noGrp="1"/>
          </p:cNvSpPr>
          <p:nvPr>
            <p:ph type="title"/>
          </p:nvPr>
        </p:nvSpPr>
        <p:spPr/>
        <p:txBody>
          <a:bodyPr vert="horz" wrap="square" lIns="91440" tIns="45720" rIns="91440" bIns="45720" anchor="b" anchorCtr="0"/>
          <a:p>
            <a:r>
              <a:rPr lang="en-US" altLang="zh-CN" dirty="0"/>
              <a:t>send</a:t>
            </a:r>
            <a:r>
              <a:rPr lang="zh-CN" altLang="en-US" dirty="0"/>
              <a:t>与</a:t>
            </a:r>
            <a:r>
              <a:rPr lang="en-US" altLang="zh-CN" dirty="0"/>
              <a:t>sendto</a:t>
            </a:r>
            <a:r>
              <a:rPr lang="zh-CN" altLang="en-US" dirty="0"/>
              <a:t>函数的对比</a:t>
            </a:r>
            <a:endParaRPr lang="zh-CN" altLang="en-US" dirty="0"/>
          </a:p>
        </p:txBody>
      </p:sp>
      <p:sp>
        <p:nvSpPr>
          <p:cNvPr id="216067" name="内容占位符 2"/>
          <p:cNvSpPr>
            <a:spLocks noGrp="1"/>
          </p:cNvSpPr>
          <p:nvPr>
            <p:ph idx="1"/>
          </p:nvPr>
        </p:nvSpPr>
        <p:spPr>
          <a:xfrm>
            <a:off x="971550" y="1628775"/>
            <a:ext cx="7772400" cy="5229225"/>
          </a:xfrm>
        </p:spPr>
        <p:txBody>
          <a:bodyPr vert="horz" wrap="square" lIns="91440" tIns="45720" rIns="91440" bIns="45720" anchor="t" anchorCtr="0"/>
          <a:p>
            <a:pPr marL="609600" indent="-609600" eaLnBrk="1" hangingPunct="1">
              <a:lnSpc>
                <a:spcPct val="80000"/>
              </a:lnSpc>
              <a:buNone/>
            </a:pPr>
            <a:r>
              <a:rPr lang="en-US" altLang="zh-CN" sz="2400" dirty="0">
                <a:solidFill>
                  <a:srgbClr val="00B050"/>
                </a:solidFill>
              </a:rPr>
              <a:t>/*tcp</a:t>
            </a:r>
            <a:r>
              <a:rPr lang="zh-CN" altLang="en-US" sz="2400" dirty="0">
                <a:solidFill>
                  <a:srgbClr val="00B050"/>
                </a:solidFill>
              </a:rPr>
              <a:t>客户端*</a:t>
            </a:r>
            <a:r>
              <a:rPr lang="en-US" altLang="zh-CN" sz="2400" dirty="0">
                <a:solidFill>
                  <a:srgbClr val="00B050"/>
                </a:solidFill>
              </a:rPr>
              <a:t>/</a:t>
            </a:r>
            <a:endParaRPr lang="en-US" altLang="zh-CN" sz="2400" dirty="0">
              <a:solidFill>
                <a:srgbClr val="00B050"/>
              </a:solidFill>
            </a:endParaRPr>
          </a:p>
          <a:p>
            <a:pPr marL="609600" indent="-609600" eaLnBrk="1" hangingPunct="1">
              <a:lnSpc>
                <a:spcPct val="80000"/>
              </a:lnSpc>
              <a:buNone/>
            </a:pPr>
            <a:r>
              <a:rPr lang="en-US" altLang="zh-CN" sz="2400" dirty="0"/>
              <a:t>int sockfd;</a:t>
            </a:r>
            <a:endParaRPr lang="en-US" altLang="zh-CN" sz="2400" dirty="0"/>
          </a:p>
          <a:p>
            <a:pPr marL="609600" indent="-609600" eaLnBrk="1" hangingPunct="1">
              <a:lnSpc>
                <a:spcPct val="80000"/>
              </a:lnSpc>
              <a:buNone/>
            </a:pPr>
            <a:r>
              <a:rPr lang="en-US" altLang="zh-CN" sz="2400" dirty="0"/>
              <a:t>struct sockaddr_in server;</a:t>
            </a:r>
            <a:endParaRPr lang="en-US" altLang="zh-CN" sz="2400" dirty="0"/>
          </a:p>
          <a:p>
            <a:pPr marL="609600" indent="-609600" eaLnBrk="1" hangingPunct="1">
              <a:lnSpc>
                <a:spcPct val="80000"/>
              </a:lnSpc>
              <a:buNone/>
            </a:pPr>
            <a:r>
              <a:rPr lang="en-US" altLang="zh-CN" sz="2400" dirty="0">
                <a:latin typeface="Arial" panose="020B0604020202020204" pitchFamily="34" charset="0"/>
              </a:rPr>
              <a:t>……</a:t>
            </a:r>
            <a:endParaRPr lang="en-US" altLang="zh-CN" sz="2400" dirty="0"/>
          </a:p>
          <a:p>
            <a:pPr marL="609600" indent="-609600" eaLnBrk="1" hangingPunct="1">
              <a:lnSpc>
                <a:spcPct val="80000"/>
              </a:lnSpc>
              <a:buNone/>
            </a:pPr>
            <a:r>
              <a:rPr lang="en-US" altLang="zh-CN" sz="2400" dirty="0"/>
              <a:t>bzero(&amp;server, sizeof(server));</a:t>
            </a:r>
            <a:endParaRPr lang="en-US" altLang="zh-CN" sz="2400" dirty="0"/>
          </a:p>
          <a:p>
            <a:pPr marL="609600" indent="-609600" eaLnBrk="1" hangingPunct="1">
              <a:lnSpc>
                <a:spcPct val="80000"/>
              </a:lnSpc>
              <a:buNone/>
            </a:pPr>
            <a:r>
              <a:rPr lang="en-US" altLang="zh-CN" sz="2400" dirty="0"/>
              <a:t>server.sin_family = AF_INET;</a:t>
            </a:r>
            <a:endParaRPr lang="en-US" altLang="zh-CN" sz="2400" dirty="0"/>
          </a:p>
          <a:p>
            <a:pPr marL="609600" indent="-609600" eaLnBrk="1" hangingPunct="1">
              <a:lnSpc>
                <a:spcPct val="80000"/>
              </a:lnSpc>
              <a:buNone/>
            </a:pPr>
            <a:r>
              <a:rPr lang="en-US" altLang="zh-CN" sz="2400" dirty="0"/>
              <a:t>server.sin_port = htons(1234);</a:t>
            </a:r>
            <a:endParaRPr lang="en-US" altLang="zh-CN" sz="2400" dirty="0"/>
          </a:p>
          <a:p>
            <a:pPr marL="609600" indent="-609600" eaLnBrk="1" hangingPunct="1">
              <a:lnSpc>
                <a:spcPct val="80000"/>
              </a:lnSpc>
              <a:buNone/>
            </a:pPr>
            <a:r>
              <a:rPr lang="en-US" altLang="zh-CN" sz="2400" dirty="0"/>
              <a:t>server.sin_addr.s_addr= inet_addr(</a:t>
            </a:r>
            <a:r>
              <a:rPr lang="en-US" altLang="zh-CN" sz="2400" dirty="0">
                <a:latin typeface="Arial" panose="020B0604020202020204" pitchFamily="34" charset="0"/>
              </a:rPr>
              <a:t>“</a:t>
            </a:r>
            <a:r>
              <a:rPr lang="en-US" altLang="zh-CN" sz="2400" dirty="0"/>
              <a:t>127.0.0.1</a:t>
            </a:r>
            <a:r>
              <a:rPr lang="en-US" altLang="zh-CN" sz="2400" dirty="0">
                <a:latin typeface="Arial" panose="020B0604020202020204" pitchFamily="34" charset="0"/>
              </a:rPr>
              <a:t>”</a:t>
            </a:r>
            <a:r>
              <a:rPr lang="en-US" altLang="zh-CN" sz="2400" dirty="0"/>
              <a:t>);</a:t>
            </a:r>
            <a:endParaRPr lang="en-US" altLang="zh-CN" sz="2400" dirty="0"/>
          </a:p>
          <a:p>
            <a:pPr marL="609600" indent="-609600" eaLnBrk="1" hangingPunct="1">
              <a:lnSpc>
                <a:spcPct val="80000"/>
              </a:lnSpc>
              <a:buNone/>
            </a:pPr>
            <a:r>
              <a:rPr lang="en-US" altLang="zh-CN" sz="2400" dirty="0"/>
              <a:t>connect(sockfd, (struct sockaddr *)&amp;server, sizeof(server))</a:t>
            </a:r>
            <a:r>
              <a:rPr lang="zh-CN" altLang="en-US" sz="2400" dirty="0"/>
              <a:t>；</a:t>
            </a:r>
            <a:endParaRPr lang="zh-CN" altLang="en-US" sz="2400" dirty="0"/>
          </a:p>
        </p:txBody>
      </p:sp>
    </p:spTree>
  </p:cSld>
  <p:clrMapOvr>
    <a:masterClrMapping/>
  </p:clrMapOvr>
  <p:transition>
    <p:random/>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8114" name="标题 1"/>
          <p:cNvSpPr>
            <a:spLocks noGrp="1"/>
          </p:cNvSpPr>
          <p:nvPr>
            <p:ph type="title"/>
          </p:nvPr>
        </p:nvSpPr>
        <p:spPr/>
        <p:txBody>
          <a:bodyPr vert="horz" wrap="square" lIns="91440" tIns="45720" rIns="91440" bIns="45720" anchor="b" anchorCtr="0"/>
          <a:p>
            <a:r>
              <a:rPr lang="zh-CN" altLang="en-US" dirty="0"/>
              <a:t>对比（</a:t>
            </a:r>
            <a:r>
              <a:rPr lang="en-US" altLang="zh-CN" dirty="0"/>
              <a:t>Cont.</a:t>
            </a:r>
            <a:r>
              <a:rPr lang="zh-CN" altLang="en-US" dirty="0"/>
              <a:t>）</a:t>
            </a:r>
            <a:endParaRPr lang="zh-CN" altLang="en-US" dirty="0"/>
          </a:p>
        </p:txBody>
      </p:sp>
      <p:sp>
        <p:nvSpPr>
          <p:cNvPr id="218115" name="内容占位符 2"/>
          <p:cNvSpPr>
            <a:spLocks noGrp="1"/>
          </p:cNvSpPr>
          <p:nvPr>
            <p:ph idx="1"/>
          </p:nvPr>
        </p:nvSpPr>
        <p:spPr>
          <a:xfrm>
            <a:off x="971550" y="1628775"/>
            <a:ext cx="7772400" cy="3671888"/>
          </a:xfrm>
        </p:spPr>
        <p:txBody>
          <a:bodyPr vert="horz" wrap="square" lIns="91440" tIns="45720" rIns="91440" bIns="45720" anchor="t" anchorCtr="0"/>
          <a:p>
            <a:pPr marL="609600" indent="-609600" eaLnBrk="1" hangingPunct="1">
              <a:lnSpc>
                <a:spcPct val="80000"/>
              </a:lnSpc>
              <a:buNone/>
            </a:pPr>
            <a:r>
              <a:rPr lang="en-US" altLang="zh-CN" sz="2400" dirty="0">
                <a:solidFill>
                  <a:srgbClr val="00B050"/>
                </a:solidFill>
              </a:rPr>
              <a:t>/*</a:t>
            </a:r>
            <a:r>
              <a:rPr lang="zh-CN" altLang="en-US" sz="2400" dirty="0">
                <a:solidFill>
                  <a:srgbClr val="00B050"/>
                </a:solidFill>
              </a:rPr>
              <a:t>服务器端*</a:t>
            </a:r>
            <a:r>
              <a:rPr lang="en-US" altLang="zh-CN" sz="2400" dirty="0">
                <a:solidFill>
                  <a:srgbClr val="00B050"/>
                </a:solidFill>
              </a:rPr>
              <a:t>/</a:t>
            </a:r>
            <a:endParaRPr lang="en-US" altLang="zh-CN" sz="2400" dirty="0">
              <a:solidFill>
                <a:srgbClr val="00B050"/>
              </a:solidFill>
            </a:endParaRPr>
          </a:p>
          <a:p>
            <a:pPr marL="609600" indent="-609600" eaLnBrk="1" hangingPunct="1">
              <a:lnSpc>
                <a:spcPct val="80000"/>
              </a:lnSpc>
              <a:buNone/>
            </a:pPr>
            <a:r>
              <a:rPr lang="en-US" altLang="zh-CN" sz="2400" dirty="0"/>
              <a:t>connfd = accept(listenfd, (struct sockaddr *)&amp;cliaddr, &amp;len);</a:t>
            </a:r>
            <a:endParaRPr lang="en-US" altLang="zh-CN" sz="2400" dirty="0"/>
          </a:p>
          <a:p>
            <a:pPr marL="609600" indent="-609600" eaLnBrk="1" hangingPunct="1">
              <a:lnSpc>
                <a:spcPct val="80000"/>
              </a:lnSpc>
              <a:buNone/>
            </a:pPr>
            <a:endParaRPr lang="en-US" altLang="zh-CN" sz="2400" dirty="0"/>
          </a:p>
          <a:p>
            <a:pPr marL="609600" indent="-609600" eaLnBrk="1" hangingPunct="1">
              <a:lnSpc>
                <a:spcPct val="80000"/>
              </a:lnSpc>
              <a:buNone/>
            </a:pPr>
            <a:r>
              <a:rPr lang="zh-CN" altLang="en-US" sz="2400" dirty="0"/>
              <a:t>函数原型</a:t>
            </a:r>
            <a:endParaRPr lang="en-US" altLang="zh-CN" sz="2400" dirty="0"/>
          </a:p>
          <a:p>
            <a:pPr marL="609600" indent="-609600" eaLnBrk="1" hangingPunct="1">
              <a:lnSpc>
                <a:spcPct val="80000"/>
              </a:lnSpc>
              <a:buNone/>
            </a:pPr>
            <a:r>
              <a:rPr lang="en-US" altLang="zh-CN" sz="2400" dirty="0"/>
              <a:t>ssize_t send (int connfd, const void *msg, size_t len, int flags);</a:t>
            </a:r>
            <a:endParaRPr lang="en-US" altLang="zh-CN" sz="2400" dirty="0"/>
          </a:p>
          <a:p>
            <a:pPr marL="609600" indent="-609600" eaLnBrk="1" hangingPunct="1">
              <a:lnSpc>
                <a:spcPct val="80000"/>
              </a:lnSpc>
              <a:buNone/>
            </a:pPr>
            <a:endParaRPr lang="en-US" altLang="zh-CN" sz="2400" dirty="0"/>
          </a:p>
          <a:p>
            <a:pPr marL="609600" indent="-609600" eaLnBrk="1" hangingPunct="1">
              <a:lnSpc>
                <a:spcPct val="80000"/>
              </a:lnSpc>
              <a:buNone/>
            </a:pPr>
            <a:r>
              <a:rPr lang="en-US" altLang="zh-CN" sz="2400" dirty="0"/>
              <a:t>ssize_t sendto(int sockfd, const void *msg, size_t len, int flags, const struct sockaddr *to, int tolen);</a:t>
            </a:r>
            <a:endParaRPr lang="en-US" altLang="zh-CN" sz="2400" dirty="0"/>
          </a:p>
          <a:p>
            <a:pPr marL="609600" indent="-609600" eaLnBrk="1" hangingPunct="1">
              <a:lnSpc>
                <a:spcPct val="80000"/>
              </a:lnSpc>
              <a:buNone/>
            </a:pPr>
            <a:endParaRPr lang="en-US" altLang="zh-CN" sz="2400" dirty="0"/>
          </a:p>
          <a:p>
            <a:pPr marL="609600" indent="-609600" eaLnBrk="1" hangingPunct="1">
              <a:lnSpc>
                <a:spcPct val="80000"/>
              </a:lnSpc>
              <a:buNone/>
            </a:pPr>
            <a:endParaRPr lang="en-US" altLang="zh-CN" sz="2400" dirty="0"/>
          </a:p>
          <a:p>
            <a:pPr marL="609600" indent="-609600" eaLnBrk="1" hangingPunct="1">
              <a:lnSpc>
                <a:spcPct val="80000"/>
              </a:lnSpc>
              <a:buNone/>
            </a:pPr>
            <a:endParaRPr lang="en-US" altLang="zh-CN" sz="2400" dirty="0">
              <a:solidFill>
                <a:srgbClr val="00B050"/>
              </a:solidFill>
            </a:endParaRPr>
          </a:p>
          <a:p>
            <a:pPr marL="609600" indent="-609600" eaLnBrk="1" hangingPunct="1">
              <a:lnSpc>
                <a:spcPct val="80000"/>
              </a:lnSpc>
              <a:buNone/>
            </a:pPr>
            <a:endParaRPr lang="zh-CN" altLang="en-US" sz="2400" dirty="0"/>
          </a:p>
        </p:txBody>
      </p:sp>
    </p:spTree>
  </p:cSld>
  <p:clrMapOvr>
    <a:masterClrMapping/>
  </p:clrMapOvr>
  <p:transition>
    <p:random/>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0162" name="Rectangle 2"/>
          <p:cNvSpPr>
            <a:spLocks noGrp="1"/>
          </p:cNvSpPr>
          <p:nvPr>
            <p:ph type="title"/>
          </p:nvPr>
        </p:nvSpPr>
        <p:spPr>
          <a:xfrm>
            <a:off x="0" y="228600"/>
            <a:ext cx="8153400" cy="762000"/>
          </a:xfrm>
        </p:spPr>
        <p:txBody>
          <a:bodyPr vert="horz" wrap="square" lIns="91440" tIns="45720" rIns="91440" bIns="45720" anchor="b" anchorCtr="0"/>
          <a:p>
            <a:pPr eaLnBrk="1" hangingPunct="1"/>
            <a:r>
              <a:rPr lang="en-US" altLang="zh-CN" dirty="0"/>
              <a:t>UDP</a:t>
            </a:r>
            <a:r>
              <a:rPr lang="zh-CN" altLang="en-US" dirty="0"/>
              <a:t>数据传输函数－</a:t>
            </a:r>
            <a:r>
              <a:rPr lang="en-US" altLang="zh-CN" dirty="0"/>
              <a:t>recvfrom</a:t>
            </a:r>
            <a:endParaRPr lang="en-US" altLang="zh-CN" dirty="0"/>
          </a:p>
        </p:txBody>
      </p:sp>
      <p:sp>
        <p:nvSpPr>
          <p:cNvPr id="220163" name="Rectangle 3"/>
          <p:cNvSpPr>
            <a:spLocks noGrp="1"/>
          </p:cNvSpPr>
          <p:nvPr>
            <p:ph idx="1"/>
          </p:nvPr>
        </p:nvSpPr>
        <p:spPr>
          <a:xfrm>
            <a:off x="228600" y="1066800"/>
            <a:ext cx="8540750" cy="5029200"/>
          </a:xfrm>
          <a:solidFill>
            <a:schemeClr val="bg1">
              <a:alpha val="100000"/>
            </a:schemeClr>
          </a:solidFill>
        </p:spPr>
        <p:txBody>
          <a:bodyPr vert="horz" wrap="square" lIns="91440" tIns="45720" rIns="91440" bIns="45720" anchor="t" anchorCtr="0"/>
          <a:p>
            <a:pPr eaLnBrk="1" hangingPunct="1">
              <a:lnSpc>
                <a:spcPct val="90000"/>
              </a:lnSpc>
              <a:buNone/>
            </a:pPr>
            <a:r>
              <a:rPr lang="en-US" altLang="zh-CN" sz="2400" dirty="0"/>
              <a:t>#include &lt;sys/types.h&gt;</a:t>
            </a:r>
            <a:endParaRPr lang="en-US" altLang="zh-CN" sz="2400" dirty="0"/>
          </a:p>
          <a:p>
            <a:pPr eaLnBrk="1" hangingPunct="1">
              <a:lnSpc>
                <a:spcPct val="90000"/>
              </a:lnSpc>
              <a:buNone/>
            </a:pPr>
            <a:r>
              <a:rPr lang="en-US" altLang="zh-CN" sz="2400" dirty="0"/>
              <a:t>#include &lt;sys/socket.h&gt;</a:t>
            </a:r>
            <a:endParaRPr lang="en-US" altLang="zh-CN" sz="2400" dirty="0"/>
          </a:p>
          <a:p>
            <a:pPr eaLnBrk="1" hangingPunct="1">
              <a:lnSpc>
                <a:spcPct val="90000"/>
              </a:lnSpc>
              <a:buNone/>
            </a:pPr>
            <a:r>
              <a:rPr lang="en-US" altLang="zh-CN" sz="2400" dirty="0"/>
              <a:t>ssize_t recvfrom(int sockfd, void *buf, size_t len, int flags, struct sockaddr *from, int *fromlen);</a:t>
            </a:r>
            <a:endParaRPr lang="en-US" altLang="zh-CN" sz="2400" dirty="0"/>
          </a:p>
          <a:p>
            <a:pPr eaLnBrk="1" hangingPunct="1">
              <a:lnSpc>
                <a:spcPct val="90000"/>
              </a:lnSpc>
              <a:buNone/>
            </a:pPr>
            <a:r>
              <a:rPr lang="en-US" altLang="zh-CN" sz="2400" dirty="0"/>
              <a:t>          </a:t>
            </a:r>
            <a:r>
              <a:rPr lang="zh-CN" altLang="en-US" sz="2400" dirty="0"/>
              <a:t>返回：大于</a:t>
            </a:r>
            <a:r>
              <a:rPr lang="en-US" altLang="zh-CN" sz="2400" dirty="0"/>
              <a:t>0</a:t>
            </a:r>
            <a:r>
              <a:rPr lang="zh-CN" altLang="en-US" sz="2400" dirty="0"/>
              <a:t>－成功接收数据长度；</a:t>
            </a:r>
            <a:r>
              <a:rPr lang="en-US" altLang="zh-CN" sz="2400" dirty="0"/>
              <a:t>-1</a:t>
            </a:r>
            <a:r>
              <a:rPr lang="zh-CN" altLang="en-US" sz="2400" dirty="0"/>
              <a:t>－出错；</a:t>
            </a:r>
            <a:endParaRPr lang="zh-CN" altLang="en-US" sz="2400" dirty="0"/>
          </a:p>
          <a:p>
            <a:pPr eaLnBrk="1" hangingPunct="1">
              <a:lnSpc>
                <a:spcPct val="90000"/>
              </a:lnSpc>
              <a:buNone/>
            </a:pPr>
            <a:endParaRPr lang="zh-CN" altLang="en-US" sz="2400" dirty="0"/>
          </a:p>
          <a:p>
            <a:pPr eaLnBrk="1" hangingPunct="1">
              <a:lnSpc>
                <a:spcPct val="90000"/>
              </a:lnSpc>
            </a:pPr>
            <a:r>
              <a:rPr lang="en-US" altLang="zh-CN" sz="2400" dirty="0"/>
              <a:t>UDP</a:t>
            </a:r>
            <a:r>
              <a:rPr lang="zh-CN" altLang="en-US" sz="2400" dirty="0"/>
              <a:t>套接字使用无连接协议，因此必须使用</a:t>
            </a:r>
            <a:r>
              <a:rPr lang="en-US" altLang="zh-CN" sz="2400" dirty="0"/>
              <a:t>recvfrom</a:t>
            </a:r>
            <a:r>
              <a:rPr lang="zh-CN" altLang="en-US" sz="2400" dirty="0"/>
              <a:t>函数，指明源地址；</a:t>
            </a:r>
            <a:endParaRPr lang="zh-CN" altLang="en-US" sz="2400" dirty="0"/>
          </a:p>
          <a:p>
            <a:pPr eaLnBrk="1" hangingPunct="1">
              <a:lnSpc>
                <a:spcPct val="90000"/>
              </a:lnSpc>
            </a:pPr>
            <a:r>
              <a:rPr lang="en-US" altLang="zh-CN" sz="2400" dirty="0"/>
              <a:t>flags</a:t>
            </a:r>
            <a:r>
              <a:rPr lang="zh-CN" altLang="en-US" sz="2400" dirty="0"/>
              <a:t>是传输控制标志，其值定义如下：</a:t>
            </a:r>
            <a:endParaRPr lang="zh-CN" altLang="en-US" sz="2400" dirty="0"/>
          </a:p>
          <a:p>
            <a:pPr lvl="1" eaLnBrk="1" hangingPunct="1">
              <a:lnSpc>
                <a:spcPct val="90000"/>
              </a:lnSpc>
            </a:pPr>
            <a:r>
              <a:rPr lang="en-US" altLang="zh-CN" sz="2000" dirty="0"/>
              <a:t>0</a:t>
            </a:r>
            <a:r>
              <a:rPr lang="zh-CN" altLang="en-US" sz="2000" dirty="0"/>
              <a:t>：常规操作，如同</a:t>
            </a:r>
            <a:r>
              <a:rPr lang="en-US" altLang="zh-CN" sz="2000" dirty="0"/>
              <a:t>read()</a:t>
            </a:r>
            <a:r>
              <a:rPr lang="zh-CN" altLang="en-US" sz="2000" dirty="0"/>
              <a:t>函数；</a:t>
            </a:r>
            <a:endParaRPr lang="zh-CN" altLang="en-US" sz="2000" dirty="0"/>
          </a:p>
          <a:p>
            <a:pPr lvl="1" eaLnBrk="1" hangingPunct="1">
              <a:lnSpc>
                <a:spcPct val="90000"/>
              </a:lnSpc>
            </a:pPr>
            <a:r>
              <a:rPr lang="en-US" altLang="zh-CN" sz="2000" dirty="0"/>
              <a:t>MSG_PEEK</a:t>
            </a:r>
            <a:r>
              <a:rPr lang="zh-CN" altLang="en-US" sz="2000" dirty="0"/>
              <a:t>：只察看数据而不读出数据；</a:t>
            </a:r>
            <a:endParaRPr lang="zh-CN" altLang="en-US" sz="2000" dirty="0"/>
          </a:p>
          <a:p>
            <a:pPr lvl="1" eaLnBrk="1" hangingPunct="1">
              <a:lnSpc>
                <a:spcPct val="90000"/>
              </a:lnSpc>
            </a:pPr>
            <a:r>
              <a:rPr lang="en-US" altLang="zh-CN" sz="2000" dirty="0"/>
              <a:t>MSG_OOB</a:t>
            </a:r>
            <a:r>
              <a:rPr lang="zh-CN" altLang="en-US" sz="2000" dirty="0"/>
              <a:t>：忽略常规数据，而只读取带外数据；</a:t>
            </a:r>
            <a:endParaRPr lang="zh-CN" altLang="en-US" sz="2000" dirty="0"/>
          </a:p>
        </p:txBody>
      </p:sp>
    </p:spTree>
  </p:cSld>
  <p:clrMapOvr>
    <a:masterClrMapping/>
  </p:clrMapOvr>
  <p:transition>
    <p:random/>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2210" name="Rectangle 2"/>
          <p:cNvSpPr>
            <a:spLocks noGrp="1"/>
          </p:cNvSpPr>
          <p:nvPr>
            <p:ph type="title"/>
          </p:nvPr>
        </p:nvSpPr>
        <p:spPr>
          <a:xfrm>
            <a:off x="0" y="228600"/>
            <a:ext cx="8153400" cy="762000"/>
          </a:xfrm>
        </p:spPr>
        <p:txBody>
          <a:bodyPr vert="horz" wrap="square" lIns="91440" tIns="45720" rIns="91440" bIns="45720" anchor="b" anchorCtr="0"/>
          <a:p>
            <a:pPr eaLnBrk="1" hangingPunct="1"/>
            <a:r>
              <a:rPr lang="en-US" altLang="zh-CN" dirty="0"/>
              <a:t>UDP</a:t>
            </a:r>
            <a:r>
              <a:rPr lang="zh-CN" altLang="en-US" dirty="0"/>
              <a:t>数据传输函数－</a:t>
            </a:r>
            <a:r>
              <a:rPr lang="en-US" altLang="zh-CN" dirty="0"/>
              <a:t>recvfrom</a:t>
            </a:r>
            <a:endParaRPr lang="en-US" altLang="zh-CN" dirty="0"/>
          </a:p>
        </p:txBody>
      </p:sp>
      <p:sp>
        <p:nvSpPr>
          <p:cNvPr id="222211" name="Rectangle 3"/>
          <p:cNvSpPr>
            <a:spLocks noGrp="1"/>
          </p:cNvSpPr>
          <p:nvPr>
            <p:ph idx="1"/>
          </p:nvPr>
        </p:nvSpPr>
        <p:spPr>
          <a:xfrm>
            <a:off x="228600" y="1066800"/>
            <a:ext cx="8540750" cy="5530850"/>
          </a:xfrm>
          <a:solidFill>
            <a:schemeClr val="bg1">
              <a:alpha val="100000"/>
            </a:schemeClr>
          </a:solidFill>
        </p:spPr>
        <p:txBody>
          <a:bodyPr vert="horz" wrap="square" lIns="91440" tIns="45720" rIns="91440" bIns="45720" anchor="t" anchorCtr="0"/>
          <a:p>
            <a:pPr eaLnBrk="1" hangingPunct="1">
              <a:lnSpc>
                <a:spcPct val="90000"/>
              </a:lnSpc>
              <a:buNone/>
            </a:pPr>
            <a:r>
              <a:rPr lang="en-US" altLang="zh-CN" sz="2400" dirty="0"/>
              <a:t>#include &lt;sys/types.h&gt;</a:t>
            </a:r>
            <a:endParaRPr lang="en-US" altLang="zh-CN" sz="2400" dirty="0"/>
          </a:p>
          <a:p>
            <a:pPr eaLnBrk="1" hangingPunct="1">
              <a:lnSpc>
                <a:spcPct val="90000"/>
              </a:lnSpc>
              <a:buNone/>
            </a:pPr>
            <a:r>
              <a:rPr lang="en-US" altLang="zh-CN" sz="2400" dirty="0"/>
              <a:t>#include &lt;sys/socket.h&gt;</a:t>
            </a:r>
            <a:endParaRPr lang="en-US" altLang="zh-CN" sz="2400" dirty="0"/>
          </a:p>
          <a:p>
            <a:pPr eaLnBrk="1" hangingPunct="1">
              <a:lnSpc>
                <a:spcPct val="90000"/>
              </a:lnSpc>
              <a:buNone/>
            </a:pPr>
            <a:r>
              <a:rPr lang="en-US" altLang="zh-CN" sz="2400" dirty="0"/>
              <a:t>ssize_t recvfrom(int sockfd, void *buf, size_t len, int flags, struct sockaddr *</a:t>
            </a:r>
            <a:r>
              <a:rPr lang="en-US" altLang="zh-CN" sz="2400" dirty="0">
                <a:solidFill>
                  <a:srgbClr val="FF0000"/>
                </a:solidFill>
              </a:rPr>
              <a:t>from</a:t>
            </a:r>
            <a:r>
              <a:rPr lang="en-US" altLang="zh-CN" sz="2400" dirty="0"/>
              <a:t>, int *</a:t>
            </a:r>
            <a:r>
              <a:rPr lang="en-US" altLang="zh-CN" sz="2400" dirty="0">
                <a:solidFill>
                  <a:schemeClr val="hlink"/>
                </a:solidFill>
              </a:rPr>
              <a:t>fromlen</a:t>
            </a:r>
            <a:r>
              <a:rPr lang="en-US" altLang="zh-CN" sz="2400" dirty="0"/>
              <a:t>);</a:t>
            </a:r>
            <a:endParaRPr lang="en-US" altLang="zh-CN" sz="2400" dirty="0"/>
          </a:p>
          <a:p>
            <a:pPr eaLnBrk="1" hangingPunct="1">
              <a:lnSpc>
                <a:spcPct val="90000"/>
              </a:lnSpc>
              <a:buNone/>
            </a:pPr>
            <a:r>
              <a:rPr lang="en-US" altLang="zh-CN" sz="2400" dirty="0"/>
              <a:t>          </a:t>
            </a:r>
            <a:r>
              <a:rPr lang="zh-CN" altLang="en-US" sz="2400" dirty="0"/>
              <a:t>返回：大于</a:t>
            </a:r>
            <a:r>
              <a:rPr lang="en-US" altLang="zh-CN" sz="2400" dirty="0"/>
              <a:t>0</a:t>
            </a:r>
            <a:r>
              <a:rPr lang="zh-CN" altLang="en-US" sz="2400" dirty="0"/>
              <a:t>－成功接收数据长度；</a:t>
            </a:r>
            <a:r>
              <a:rPr lang="en-US" altLang="zh-CN" sz="2400" dirty="0"/>
              <a:t>-1</a:t>
            </a:r>
            <a:r>
              <a:rPr lang="zh-CN" altLang="en-US" sz="2400" dirty="0"/>
              <a:t>－出错；</a:t>
            </a:r>
            <a:endParaRPr lang="zh-CN" altLang="en-US" sz="2400" dirty="0"/>
          </a:p>
          <a:p>
            <a:pPr eaLnBrk="1" hangingPunct="1">
              <a:lnSpc>
                <a:spcPct val="90000"/>
              </a:lnSpc>
              <a:buNone/>
            </a:pPr>
            <a:endParaRPr lang="zh-CN" altLang="en-US" sz="2400" dirty="0"/>
          </a:p>
          <a:p>
            <a:pPr eaLnBrk="1" hangingPunct="1">
              <a:lnSpc>
                <a:spcPct val="150000"/>
              </a:lnSpc>
            </a:pPr>
            <a:r>
              <a:rPr lang="en-US" altLang="zh-CN" sz="2400" dirty="0"/>
              <a:t>from</a:t>
            </a:r>
            <a:r>
              <a:rPr lang="zh-CN" altLang="en-US" sz="2400" dirty="0"/>
              <a:t>参数指向一个由该函数返回时填写的数据报发送者套接字地址结构，而在该套接字地址结构中填写的字节数则放在参数</a:t>
            </a:r>
            <a:r>
              <a:rPr lang="en-US" altLang="zh-CN" sz="2400" dirty="0"/>
              <a:t>fromlen</a:t>
            </a:r>
            <a:r>
              <a:rPr lang="zh-CN" altLang="en-US" sz="2400" dirty="0"/>
              <a:t>中返回给函数调用者；</a:t>
            </a:r>
            <a:endParaRPr lang="en-US" altLang="zh-CN" sz="2400" dirty="0"/>
          </a:p>
          <a:p>
            <a:pPr eaLnBrk="1" hangingPunct="1">
              <a:lnSpc>
                <a:spcPct val="150000"/>
              </a:lnSpc>
            </a:pPr>
            <a:r>
              <a:rPr lang="en-US" altLang="zh-CN" sz="2400" dirty="0"/>
              <a:t>from </a:t>
            </a:r>
            <a:r>
              <a:rPr lang="zh-CN" altLang="en-US" sz="2400" dirty="0"/>
              <a:t>和 </a:t>
            </a:r>
            <a:r>
              <a:rPr lang="en-US" altLang="zh-CN" sz="2400" dirty="0"/>
              <a:t>fromlen </a:t>
            </a:r>
            <a:r>
              <a:rPr lang="zh-CN" altLang="en-US" sz="2400" dirty="0"/>
              <a:t>是</a:t>
            </a:r>
            <a:r>
              <a:rPr lang="zh-CN" altLang="en-US" sz="2400" dirty="0">
                <a:latin typeface="Arial" panose="020B0604020202020204" pitchFamily="34" charset="0"/>
              </a:rPr>
              <a:t>“</a:t>
            </a:r>
            <a:r>
              <a:rPr lang="zh-CN" altLang="en-US" sz="2400" dirty="0">
                <a:solidFill>
                  <a:schemeClr val="hlink"/>
                </a:solidFill>
              </a:rPr>
              <a:t>值－结果</a:t>
            </a:r>
            <a:r>
              <a:rPr lang="zh-CN" altLang="en-US" sz="2400" dirty="0">
                <a:latin typeface="Arial" panose="020B0604020202020204" pitchFamily="34" charset="0"/>
              </a:rPr>
              <a:t>”</a:t>
            </a:r>
            <a:r>
              <a:rPr lang="zh-CN" altLang="en-US" sz="2400" dirty="0"/>
              <a:t>参数。</a:t>
            </a:r>
            <a:endParaRPr lang="en-US" altLang="zh-CN" sz="2400" dirty="0"/>
          </a:p>
          <a:p>
            <a:pPr eaLnBrk="1" hangingPunct="1">
              <a:lnSpc>
                <a:spcPct val="150000"/>
              </a:lnSpc>
            </a:pPr>
            <a:r>
              <a:rPr lang="zh-CN" altLang="en-US" sz="2400" dirty="0"/>
              <a:t>如果</a:t>
            </a:r>
            <a:r>
              <a:rPr lang="en-US" altLang="zh-CN" sz="2400" dirty="0"/>
              <a:t>from</a:t>
            </a:r>
            <a:r>
              <a:rPr lang="zh-CN" altLang="en-US" sz="2400" dirty="0"/>
              <a:t>是空指针，则相应的长度参数也必须是一个空指针。</a:t>
            </a:r>
            <a:endParaRPr lang="zh-CN" altLang="en-US" sz="2400" dirty="0"/>
          </a:p>
          <a:p>
            <a:pPr eaLnBrk="1" hangingPunct="1">
              <a:lnSpc>
                <a:spcPct val="90000"/>
              </a:lnSpc>
            </a:pPr>
            <a:endParaRPr lang="zh-CN" altLang="en-US" sz="2400" dirty="0"/>
          </a:p>
        </p:txBody>
      </p:sp>
    </p:spTree>
  </p:cSld>
  <p:clrMapOvr>
    <a:masterClrMapping/>
  </p:clrMapOvr>
  <p:transition>
    <p:random/>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4258" name="标题 1"/>
          <p:cNvSpPr>
            <a:spLocks noGrp="1"/>
          </p:cNvSpPr>
          <p:nvPr>
            <p:ph type="title"/>
          </p:nvPr>
        </p:nvSpPr>
        <p:spPr/>
        <p:txBody>
          <a:bodyPr vert="horz" wrap="square" lIns="91440" tIns="45720" rIns="91440" bIns="45720" anchor="b" anchorCtr="0"/>
          <a:p>
            <a:r>
              <a:rPr lang="zh-CN" altLang="en-US" dirty="0"/>
              <a:t>值</a:t>
            </a:r>
            <a:r>
              <a:rPr lang="en-US" altLang="zh-CN" dirty="0"/>
              <a:t>—</a:t>
            </a:r>
            <a:r>
              <a:rPr lang="zh-CN" altLang="en-US" dirty="0"/>
              <a:t>结果参数</a:t>
            </a:r>
            <a:endParaRPr lang="zh-CN" altLang="en-US" dirty="0"/>
          </a:p>
        </p:txBody>
      </p:sp>
      <p:sp>
        <p:nvSpPr>
          <p:cNvPr id="3" name="内容占位符 2"/>
          <p:cNvSpPr>
            <a:spLocks noGrp="1"/>
          </p:cNvSpPr>
          <p:nvPr>
            <p:ph idx="1"/>
          </p:nvPr>
        </p:nvSpPr>
        <p:spPr>
          <a:xfrm>
            <a:off x="971550" y="1628775"/>
            <a:ext cx="7972425" cy="467995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0" lang="zh-CN" altLang="en-US" sz="2400" b="0" i="0" u="none" strike="noStrike" kern="0" cap="none" spc="0" normalizeH="0" baseline="0" noProof="0">
                <a:ln>
                  <a:noFill/>
                </a:ln>
                <a:solidFill>
                  <a:schemeClr val="tx1"/>
                </a:solidFill>
                <a:effectLst/>
                <a:uLnTx/>
                <a:uFillTx/>
                <a:latin typeface="+mn-lt"/>
                <a:ea typeface="+mn-ea"/>
                <a:cs typeface="+mn-cs"/>
              </a:rPr>
              <a:t>当往一个套接字函数传递一个套接字地址结构时，该结构总是以引用方式来传递，该结构的长度也作为一个参数来传递。</a:t>
            </a:r>
            <a:endParaRPr kumimoji="0" lang="en-US" altLang="zh-CN" sz="2400" b="0" i="0" u="none" strike="noStrike" kern="0" cap="none" spc="0" normalizeH="0" baseline="0" noProof="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0" lang="zh-CN" altLang="en-US" sz="2400" b="0" i="0" u="none" strike="noStrike" kern="0" cap="none" spc="0" normalizeH="0" baseline="0" noProof="0">
                <a:ln>
                  <a:noFill/>
                </a:ln>
                <a:solidFill>
                  <a:schemeClr val="tx1"/>
                </a:solidFill>
                <a:effectLst/>
                <a:uLnTx/>
                <a:uFillTx/>
                <a:latin typeface="+mn-lt"/>
                <a:ea typeface="+mn-ea"/>
                <a:cs typeface="+mn-cs"/>
              </a:rPr>
              <a:t>传递的方式取决于该结构的传递方向：从进程到内核还是从内核到进程。</a:t>
            </a:r>
            <a:endParaRPr kumimoji="0" lang="en-US" altLang="zh-CN" sz="2400" b="0" i="0" u="none" strike="noStrike" kern="0" cap="none" spc="0" normalizeH="0" baseline="0" noProof="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0" lang="zh-CN" altLang="en-US" sz="2400" b="0" i="0" u="none" strike="noStrike" kern="0" cap="none" spc="0" normalizeH="0" baseline="0" noProof="0">
                <a:ln>
                  <a:noFill/>
                </a:ln>
                <a:solidFill>
                  <a:schemeClr val="tx1"/>
                </a:solidFill>
                <a:effectLst/>
                <a:uLnTx/>
                <a:uFillTx/>
                <a:latin typeface="+mn-lt"/>
                <a:ea typeface="+mn-ea"/>
                <a:cs typeface="+mn-cs"/>
              </a:rPr>
              <a:t>从</a:t>
            </a:r>
            <a:r>
              <a:rPr kumimoji="0" lang="zh-CN" altLang="en-US" sz="2400" b="1" i="0" u="none" strike="noStrike" kern="0" cap="none" spc="0" normalizeH="0" baseline="0" noProof="0">
                <a:ln>
                  <a:noFill/>
                </a:ln>
                <a:solidFill>
                  <a:srgbClr val="00B0F0"/>
                </a:solidFill>
                <a:effectLst/>
                <a:uLnTx/>
                <a:uFillTx/>
                <a:latin typeface="+mn-lt"/>
                <a:ea typeface="+mn-ea"/>
                <a:cs typeface="+mn-cs"/>
              </a:rPr>
              <a:t>进程到内核</a:t>
            </a:r>
            <a:r>
              <a:rPr kumimoji="0" lang="zh-CN" altLang="en-US" sz="2400" b="0" i="0" u="none" strike="noStrike" kern="0" cap="none" spc="0" normalizeH="0" baseline="0" noProof="0">
                <a:ln>
                  <a:noFill/>
                </a:ln>
                <a:solidFill>
                  <a:schemeClr val="tx1"/>
                </a:solidFill>
                <a:effectLst/>
                <a:uLnTx/>
                <a:uFillTx/>
                <a:latin typeface="+mn-lt"/>
                <a:ea typeface="+mn-ea"/>
                <a:cs typeface="+mn-cs"/>
              </a:rPr>
              <a:t>传递套接字地址结构的函数有三个，</a:t>
            </a:r>
            <a:r>
              <a:rPr kumimoji="0" lang="en-US" altLang="zh-CN" sz="2400" b="0" i="0" u="none" strike="noStrike" kern="0" cap="none" spc="0" normalizeH="0" baseline="0" noProof="0">
                <a:ln>
                  <a:noFill/>
                </a:ln>
                <a:solidFill>
                  <a:schemeClr val="tx1"/>
                </a:solidFill>
                <a:effectLst/>
                <a:uLnTx/>
                <a:uFillTx/>
                <a:latin typeface="+mn-lt"/>
                <a:ea typeface="+mn-ea"/>
                <a:cs typeface="+mn-cs"/>
              </a:rPr>
              <a:t>bind</a:t>
            </a:r>
            <a:r>
              <a:rPr kumimoji="0" lang="zh-CN" altLang="en-US" sz="2400" b="0" i="0" u="none" strike="noStrike" kern="0" cap="none" spc="0" normalizeH="0" baseline="0" noProof="0">
                <a:ln>
                  <a:noFill/>
                </a:ln>
                <a:solidFill>
                  <a:schemeClr val="tx1"/>
                </a:solidFill>
                <a:effectLst/>
                <a:uLnTx/>
                <a:uFillTx/>
                <a:latin typeface="+mn-lt"/>
                <a:ea typeface="+mn-ea"/>
                <a:cs typeface="+mn-cs"/>
              </a:rPr>
              <a:t>、</a:t>
            </a:r>
            <a:r>
              <a:rPr kumimoji="0" lang="en-US" altLang="zh-CN" sz="2400" b="0" i="0" u="none" strike="noStrike" kern="0" cap="none" spc="0" normalizeH="0" baseline="0" noProof="0">
                <a:ln>
                  <a:noFill/>
                </a:ln>
                <a:solidFill>
                  <a:schemeClr val="tx1"/>
                </a:solidFill>
                <a:effectLst/>
                <a:uLnTx/>
                <a:uFillTx/>
                <a:latin typeface="+mn-lt"/>
                <a:ea typeface="+mn-ea"/>
                <a:cs typeface="+mn-cs"/>
              </a:rPr>
              <a:t>connect</a:t>
            </a:r>
            <a:r>
              <a:rPr kumimoji="0" lang="zh-CN" altLang="en-US" sz="2400" b="0" i="0" u="none" strike="noStrike" kern="0" cap="none" spc="0" normalizeH="0" baseline="0" noProof="0">
                <a:ln>
                  <a:noFill/>
                </a:ln>
                <a:solidFill>
                  <a:schemeClr val="tx1"/>
                </a:solidFill>
                <a:effectLst/>
                <a:uLnTx/>
                <a:uFillTx/>
                <a:latin typeface="+mn-lt"/>
                <a:ea typeface="+mn-ea"/>
                <a:cs typeface="+mn-cs"/>
              </a:rPr>
              <a:t>、</a:t>
            </a:r>
            <a:r>
              <a:rPr kumimoji="0" lang="en-US" altLang="zh-CN" sz="2400" b="0" i="0" u="none" strike="noStrike" kern="0" cap="none" spc="0" normalizeH="0" baseline="0" noProof="0">
                <a:ln>
                  <a:noFill/>
                </a:ln>
                <a:solidFill>
                  <a:schemeClr val="tx1"/>
                </a:solidFill>
                <a:effectLst/>
                <a:uLnTx/>
                <a:uFillTx/>
                <a:latin typeface="+mn-lt"/>
                <a:ea typeface="+mn-ea"/>
                <a:cs typeface="+mn-cs"/>
              </a:rPr>
              <a:t>sendto</a:t>
            </a:r>
            <a:r>
              <a:rPr kumimoji="0" lang="zh-CN" altLang="en-US" sz="2400" b="0" i="0" u="none" strike="noStrike" kern="0" cap="none" spc="0" normalizeH="0" baseline="0" noProof="0">
                <a:ln>
                  <a:noFill/>
                </a:ln>
                <a:solidFill>
                  <a:schemeClr val="tx1"/>
                </a:solidFill>
                <a:effectLst/>
                <a:uLnTx/>
                <a:uFillTx/>
                <a:latin typeface="+mn-lt"/>
                <a:ea typeface="+mn-ea"/>
                <a:cs typeface="+mn-cs"/>
              </a:rPr>
              <a:t>。这些函数的一个参数是指向地址结构的指针，另一个参数是该结构的大小，例如：</a:t>
            </a:r>
            <a:endParaRPr kumimoji="0" lang="en-US" altLang="zh-CN" sz="2400" b="0" i="0" u="none" strike="noStrike" kern="0" cap="none" spc="0" normalizeH="0" baseline="0" noProof="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0" lang="en-US" altLang="zh-CN" sz="2000" b="0" i="0" u="none" strike="noStrike" kern="0" cap="none" spc="0" normalizeH="0" baseline="0" noProof="0">
                <a:ln>
                  <a:noFill/>
                </a:ln>
                <a:solidFill>
                  <a:schemeClr val="tx1"/>
                </a:solidFill>
                <a:effectLst/>
                <a:uLnTx/>
                <a:uFillTx/>
                <a:latin typeface="+mn-lt"/>
                <a:ea typeface="+mn-ea"/>
                <a:cs typeface="+mn-cs"/>
              </a:rPr>
              <a:t>   </a:t>
            </a:r>
            <a:r>
              <a:rPr kumimoji="0" lang="en-US" altLang="zh-CN" sz="2200" b="0" i="0" u="none" strike="noStrike" kern="0" cap="none" spc="0" normalizeH="0" baseline="0" noProof="0">
                <a:ln>
                  <a:noFill/>
                </a:ln>
                <a:solidFill>
                  <a:schemeClr val="tx1"/>
                </a:solidFill>
                <a:effectLst/>
                <a:uLnTx/>
                <a:uFillTx/>
                <a:latin typeface="+mn-lt"/>
                <a:ea typeface="+mn-ea"/>
                <a:cs typeface="+mn-cs"/>
              </a:rPr>
              <a:t>struct sockaddr_in server;   </a:t>
            </a:r>
            <a:endParaRPr kumimoji="0" lang="en-US" altLang="zh-CN" sz="2200" b="0" i="0" u="none" strike="noStrike" kern="0" cap="none" spc="0" normalizeH="0" baseline="0" noProof="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0" lang="en-US" altLang="zh-CN" sz="2200" b="0" i="0" u="none" strike="noStrike" kern="0" cap="none" spc="0" normalizeH="0" baseline="0" noProof="0">
                <a:ln>
                  <a:noFill/>
                </a:ln>
                <a:solidFill>
                  <a:schemeClr val="tx1"/>
                </a:solidFill>
                <a:effectLst/>
                <a:uLnTx/>
                <a:uFillTx/>
                <a:latin typeface="+mn-lt"/>
                <a:ea typeface="+mn-ea"/>
                <a:cs typeface="+mn-cs"/>
              </a:rPr>
              <a:t>    ……</a:t>
            </a:r>
            <a:endParaRPr kumimoji="0" lang="en-US" altLang="zh-CN" sz="2200" b="0" i="0" u="none" strike="noStrike" kern="0" cap="none" spc="0" normalizeH="0" baseline="0" noProof="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0" lang="en-US" altLang="zh-CN" sz="2200" b="0" i="0" u="none" strike="noStrike" kern="0" cap="none" spc="0" normalizeH="0" baseline="0" noProof="0">
                <a:ln>
                  <a:noFill/>
                </a:ln>
                <a:solidFill>
                  <a:schemeClr val="tx1"/>
                </a:solidFill>
                <a:effectLst/>
                <a:uLnTx/>
                <a:uFillTx/>
                <a:latin typeface="+mn-lt"/>
                <a:ea typeface="+mn-ea"/>
                <a:cs typeface="+mn-cs"/>
              </a:rPr>
              <a:t>   connect(sockfd,(struct sockaddr*)&amp;server,sizeof(server));</a:t>
            </a:r>
            <a:endParaRPr kumimoji="0" lang="zh-CN" altLang="en-US" sz="2200" b="0" i="0" u="none" strike="noStrike" kern="0" cap="none" spc="0" normalizeH="0" baseline="0" noProof="0">
              <a:ln>
                <a:noFill/>
              </a:ln>
              <a:solidFill>
                <a:schemeClr val="tx1"/>
              </a:solidFill>
              <a:effectLst/>
              <a:uLnTx/>
              <a:uFillTx/>
              <a:latin typeface="+mn-lt"/>
              <a:ea typeface="+mn-ea"/>
              <a:cs typeface="+mn-cs"/>
            </a:endParaRPr>
          </a:p>
        </p:txBody>
      </p:sp>
    </p:spTree>
  </p:cSld>
  <p:clrMapOvr>
    <a:masterClrMapping/>
  </p:clrMapOvr>
  <p:transition>
    <p:random/>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82" name="标题 1"/>
          <p:cNvSpPr>
            <a:spLocks noGrp="1"/>
          </p:cNvSpPr>
          <p:nvPr>
            <p:ph type="title"/>
          </p:nvPr>
        </p:nvSpPr>
        <p:spPr>
          <a:xfrm>
            <a:off x="1150938" y="173038"/>
            <a:ext cx="7793037" cy="911225"/>
          </a:xfrm>
        </p:spPr>
        <p:txBody>
          <a:bodyPr vert="horz" wrap="square" lIns="91440" tIns="45720" rIns="91440" bIns="45720" anchor="b" anchorCtr="0"/>
          <a:p>
            <a:r>
              <a:rPr lang="zh-CN" altLang="en-US" dirty="0"/>
              <a:t>值</a:t>
            </a:r>
            <a:r>
              <a:rPr lang="en-US" altLang="zh-CN" dirty="0"/>
              <a:t>—</a:t>
            </a:r>
            <a:r>
              <a:rPr lang="zh-CN" altLang="en-US" dirty="0"/>
              <a:t>结果参数</a:t>
            </a:r>
            <a:endParaRPr lang="zh-CN" altLang="en-US" dirty="0"/>
          </a:p>
        </p:txBody>
      </p:sp>
      <p:sp>
        <p:nvSpPr>
          <p:cNvPr id="225283" name="文本框 4"/>
          <p:cNvSpPr txBox="1"/>
          <p:nvPr/>
        </p:nvSpPr>
        <p:spPr>
          <a:xfrm>
            <a:off x="1150938" y="5157788"/>
            <a:ext cx="6805612" cy="1200150"/>
          </a:xfrm>
          <a:prstGeom prst="rect">
            <a:avLst/>
          </a:prstGeom>
          <a:noFill/>
          <a:ln w="9525">
            <a:noFill/>
          </a:ln>
        </p:spPr>
        <p:txBody>
          <a:bodyPr>
            <a:spAutoFit/>
          </a:bodyPr>
          <a:p>
            <a:r>
              <a:rPr lang="zh-CN" altLang="en-US" b="0" dirty="0">
                <a:latin typeface="Tahoma" panose="020B0604030504040204" pitchFamily="34" charset="0"/>
              </a:rPr>
              <a:t>既然指针以及指针所指内容的大小都传递给了内核，于是内核就知道到底需要从进程中复制多少数据进来。</a:t>
            </a:r>
            <a:endParaRPr lang="zh-CN" altLang="en-US" b="0" dirty="0">
              <a:latin typeface="Tahoma" panose="020B0604030504040204" pitchFamily="34" charset="0"/>
            </a:endParaRPr>
          </a:p>
        </p:txBody>
      </p:sp>
      <p:sp>
        <p:nvSpPr>
          <p:cNvPr id="225284" name="内容占位符 5"/>
          <p:cNvSpPr>
            <a:spLocks noGrp="1"/>
          </p:cNvSpPr>
          <p:nvPr>
            <p:ph idx="1"/>
          </p:nvPr>
        </p:nvSpPr>
        <p:spPr/>
        <p:txBody>
          <a:bodyPr vert="horz" wrap="square" lIns="91440" tIns="45720" rIns="91440" bIns="45720" anchor="t" anchorCtr="0"/>
          <a:p>
            <a:endParaRPr lang="zh-CN" altLang="en-US" dirty="0"/>
          </a:p>
        </p:txBody>
      </p:sp>
      <p:sp>
        <p:nvSpPr>
          <p:cNvPr id="225285" name="Rectangle 2"/>
          <p:cNvSpPr/>
          <p:nvPr/>
        </p:nvSpPr>
        <p:spPr>
          <a:xfrm>
            <a:off x="1550988" y="1868488"/>
            <a:ext cx="5181600" cy="1652587"/>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Tahoma" panose="020B0604030504040204" pitchFamily="34" charset="0"/>
            </a:endParaRPr>
          </a:p>
        </p:txBody>
      </p:sp>
      <p:sp>
        <p:nvSpPr>
          <p:cNvPr id="225286" name="Rectangle 3"/>
          <p:cNvSpPr/>
          <p:nvPr/>
        </p:nvSpPr>
        <p:spPr>
          <a:xfrm>
            <a:off x="1474788" y="3810000"/>
            <a:ext cx="5105400" cy="91440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algn="ctr" eaLnBrk="1" hangingPunct="1"/>
            <a:r>
              <a:rPr lang="zh-CN" altLang="en-US" b="0" dirty="0">
                <a:latin typeface="Times New Roman" panose="02020603050405020304" pitchFamily="18" charset="0"/>
              </a:rPr>
              <a:t>内核</a:t>
            </a:r>
            <a:endParaRPr lang="zh-CN" altLang="en-US" b="0" dirty="0">
              <a:latin typeface="Times New Roman" panose="02020603050405020304" pitchFamily="18" charset="0"/>
            </a:endParaRPr>
          </a:p>
        </p:txBody>
      </p:sp>
      <p:sp>
        <p:nvSpPr>
          <p:cNvPr id="225287" name="Rectangle 4"/>
          <p:cNvSpPr/>
          <p:nvPr/>
        </p:nvSpPr>
        <p:spPr>
          <a:xfrm>
            <a:off x="2084388" y="1997075"/>
            <a:ext cx="1752600" cy="53340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algn="ctr" eaLnBrk="1" hangingPunct="1"/>
            <a:r>
              <a:rPr lang="zh-CN" altLang="en-US" b="0" dirty="0">
                <a:latin typeface="Times New Roman" panose="02020603050405020304" pitchFamily="18" charset="0"/>
              </a:rPr>
              <a:t>长度</a:t>
            </a:r>
            <a:endParaRPr lang="zh-CN" altLang="en-US" b="0" dirty="0">
              <a:latin typeface="Times New Roman" panose="02020603050405020304" pitchFamily="18" charset="0"/>
            </a:endParaRPr>
          </a:p>
        </p:txBody>
      </p:sp>
      <p:sp>
        <p:nvSpPr>
          <p:cNvPr id="225288" name="Rectangle 5"/>
          <p:cNvSpPr/>
          <p:nvPr/>
        </p:nvSpPr>
        <p:spPr>
          <a:xfrm>
            <a:off x="4903788" y="1989138"/>
            <a:ext cx="1447800" cy="1008062"/>
          </a:xfrm>
          <a:prstGeom prst="rect">
            <a:avLst/>
          </a:prstGeom>
          <a:solidFill>
            <a:schemeClr val="bg1"/>
          </a:solidFill>
          <a:ln w="9525" cap="flat" cmpd="sng">
            <a:solidFill>
              <a:schemeClr val="tx1"/>
            </a:solidFill>
            <a:prstDash val="solid"/>
            <a:miter/>
            <a:headEnd type="none" w="med" len="med"/>
            <a:tailEnd type="none" w="med" len="med"/>
          </a:ln>
        </p:spPr>
        <p:txBody>
          <a:bodyPr anchor="ctr" anchorCtr="0"/>
          <a:p>
            <a:pPr algn="ctr" eaLnBrk="1" hangingPunct="1"/>
            <a:r>
              <a:rPr lang="zh-CN" altLang="en-US" b="0" dirty="0">
                <a:latin typeface="Times New Roman" panose="02020603050405020304" pitchFamily="18" charset="0"/>
              </a:rPr>
              <a:t>套接口地址结构</a:t>
            </a:r>
            <a:endParaRPr lang="zh-CN" altLang="en-US" b="0" dirty="0">
              <a:latin typeface="Times New Roman" panose="02020603050405020304" pitchFamily="18" charset="0"/>
            </a:endParaRPr>
          </a:p>
        </p:txBody>
      </p:sp>
      <p:sp>
        <p:nvSpPr>
          <p:cNvPr id="225289" name="Text Box 6"/>
          <p:cNvSpPr txBox="1"/>
          <p:nvPr/>
        </p:nvSpPr>
        <p:spPr>
          <a:xfrm>
            <a:off x="3132138" y="1387475"/>
            <a:ext cx="1752600" cy="457200"/>
          </a:xfrm>
          <a:prstGeom prst="rect">
            <a:avLst/>
          </a:prstGeom>
          <a:noFill/>
          <a:ln w="9525">
            <a:noFill/>
          </a:ln>
        </p:spPr>
        <p:txBody>
          <a:bodyPr>
            <a:spAutoFit/>
          </a:bodyPr>
          <a:p>
            <a:pPr eaLnBrk="1" hangingPunct="1">
              <a:spcBef>
                <a:spcPct val="50000"/>
              </a:spcBef>
            </a:pPr>
            <a:r>
              <a:rPr lang="zh-CN" altLang="en-US" b="0" dirty="0">
                <a:latin typeface="Times New Roman" panose="02020603050405020304" pitchFamily="18" charset="0"/>
              </a:rPr>
              <a:t>用户进程</a:t>
            </a:r>
            <a:endParaRPr lang="zh-CN" altLang="en-US" b="0" dirty="0">
              <a:latin typeface="Times New Roman" panose="02020603050405020304" pitchFamily="18" charset="0"/>
            </a:endParaRPr>
          </a:p>
        </p:txBody>
      </p:sp>
      <p:sp>
        <p:nvSpPr>
          <p:cNvPr id="225290" name="Line 7"/>
          <p:cNvSpPr/>
          <p:nvPr/>
        </p:nvSpPr>
        <p:spPr>
          <a:xfrm>
            <a:off x="2916238" y="2530475"/>
            <a:ext cx="0" cy="1828800"/>
          </a:xfrm>
          <a:prstGeom prst="line">
            <a:avLst/>
          </a:prstGeom>
          <a:ln w="9525" cap="flat" cmpd="sng">
            <a:solidFill>
              <a:schemeClr val="tx1"/>
            </a:solidFill>
            <a:prstDash val="solid"/>
            <a:headEnd type="none" w="med" len="med"/>
            <a:tailEnd type="triangle" w="med" len="med"/>
          </a:ln>
        </p:spPr>
      </p:sp>
      <p:sp>
        <p:nvSpPr>
          <p:cNvPr id="225291" name="Text Box 10"/>
          <p:cNvSpPr txBox="1"/>
          <p:nvPr/>
        </p:nvSpPr>
        <p:spPr>
          <a:xfrm>
            <a:off x="2230438" y="2779713"/>
            <a:ext cx="609600" cy="457200"/>
          </a:xfrm>
          <a:prstGeom prst="rect">
            <a:avLst/>
          </a:prstGeom>
          <a:noFill/>
          <a:ln w="9525">
            <a:noFill/>
          </a:ln>
        </p:spPr>
        <p:txBody>
          <a:bodyPr>
            <a:spAutoFit/>
          </a:bodyPr>
          <a:p>
            <a:pPr eaLnBrk="1" hangingPunct="1">
              <a:spcBef>
                <a:spcPct val="50000"/>
              </a:spcBef>
            </a:pPr>
            <a:r>
              <a:rPr lang="zh-CN" altLang="en-US" b="0" dirty="0">
                <a:latin typeface="Times New Roman" panose="02020603050405020304" pitchFamily="18" charset="0"/>
              </a:rPr>
              <a:t>值</a:t>
            </a:r>
            <a:endParaRPr lang="zh-CN" altLang="en-US" b="0" dirty="0">
              <a:latin typeface="Times New Roman" panose="02020603050405020304" pitchFamily="18" charset="0"/>
            </a:endParaRPr>
          </a:p>
        </p:txBody>
      </p:sp>
      <p:sp>
        <p:nvSpPr>
          <p:cNvPr id="225292" name="Line 7"/>
          <p:cNvSpPr/>
          <p:nvPr/>
        </p:nvSpPr>
        <p:spPr>
          <a:xfrm>
            <a:off x="5580063" y="2997200"/>
            <a:ext cx="0" cy="1377950"/>
          </a:xfrm>
          <a:prstGeom prst="line">
            <a:avLst/>
          </a:prstGeom>
          <a:ln w="9525" cap="flat" cmpd="sng">
            <a:solidFill>
              <a:schemeClr val="tx1"/>
            </a:solidFill>
            <a:prstDash val="solid"/>
            <a:headEnd type="none" w="med" len="med"/>
            <a:tailEnd type="triangle" w="med" len="med"/>
          </a:ln>
        </p:spPr>
      </p:sp>
      <p:sp>
        <p:nvSpPr>
          <p:cNvPr id="225293" name="Text Box 10"/>
          <p:cNvSpPr txBox="1"/>
          <p:nvPr/>
        </p:nvSpPr>
        <p:spPr>
          <a:xfrm>
            <a:off x="4275138" y="3028950"/>
            <a:ext cx="1449387" cy="460375"/>
          </a:xfrm>
          <a:prstGeom prst="rect">
            <a:avLst/>
          </a:prstGeom>
          <a:noFill/>
          <a:ln w="9525">
            <a:noFill/>
          </a:ln>
        </p:spPr>
        <p:txBody>
          <a:bodyPr>
            <a:spAutoFit/>
          </a:bodyPr>
          <a:p>
            <a:pPr eaLnBrk="1" hangingPunct="1">
              <a:spcBef>
                <a:spcPct val="50000"/>
              </a:spcBef>
            </a:pPr>
            <a:r>
              <a:rPr lang="zh-CN" altLang="en-US" b="0" dirty="0">
                <a:latin typeface="Times New Roman" panose="02020603050405020304" pitchFamily="18" charset="0"/>
              </a:rPr>
              <a:t>协议地址</a:t>
            </a:r>
            <a:endParaRPr lang="zh-CN" altLang="en-US" b="0" dirty="0">
              <a:latin typeface="Times New Roman" panose="02020603050405020304" pitchFamily="18" charset="0"/>
            </a:endParaRPr>
          </a:p>
        </p:txBody>
      </p:sp>
    </p:spTree>
  </p:cSld>
  <p:clrMapOvr>
    <a:masterClrMapping/>
  </p:clrMapOvr>
  <p:transition>
    <p:random/>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7330" name="标题 1"/>
          <p:cNvSpPr>
            <a:spLocks noGrp="1"/>
          </p:cNvSpPr>
          <p:nvPr>
            <p:ph type="title"/>
          </p:nvPr>
        </p:nvSpPr>
        <p:spPr/>
        <p:txBody>
          <a:bodyPr vert="horz" wrap="square" lIns="91440" tIns="45720" rIns="91440" bIns="45720" anchor="b" anchorCtr="0"/>
          <a:p>
            <a:r>
              <a:rPr lang="zh-CN" altLang="en-US" dirty="0"/>
              <a:t>值</a:t>
            </a:r>
            <a:r>
              <a:rPr lang="en-US" altLang="zh-CN" dirty="0"/>
              <a:t>—</a:t>
            </a:r>
            <a:r>
              <a:rPr lang="zh-CN" altLang="en-US" dirty="0"/>
              <a:t>结果参数</a:t>
            </a:r>
            <a:endParaRPr lang="zh-CN" altLang="en-US" dirty="0"/>
          </a:p>
        </p:txBody>
      </p:sp>
      <p:sp>
        <p:nvSpPr>
          <p:cNvPr id="3" name="内容占位符 2"/>
          <p:cNvSpPr>
            <a:spLocks noGrp="1"/>
          </p:cNvSpPr>
          <p:nvPr>
            <p:ph idx="1"/>
          </p:nvPr>
        </p:nvSpPr>
        <p:spPr>
          <a:xfrm>
            <a:off x="971550" y="1628775"/>
            <a:ext cx="7972425" cy="467995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0" lang="zh-CN" altLang="en-US" sz="2400" b="0" i="0" u="none" strike="noStrike" kern="0" cap="none" spc="0" normalizeH="0" baseline="0" noProof="0">
                <a:ln>
                  <a:noFill/>
                </a:ln>
                <a:solidFill>
                  <a:schemeClr val="tx1"/>
                </a:solidFill>
                <a:effectLst/>
                <a:uLnTx/>
                <a:uFillTx/>
                <a:latin typeface="+mn-lt"/>
                <a:ea typeface="+mn-ea"/>
                <a:cs typeface="+mn-cs"/>
              </a:rPr>
              <a:t>从</a:t>
            </a:r>
            <a:r>
              <a:rPr kumimoji="0" lang="zh-CN" altLang="en-US" sz="2400" b="1" i="0" u="none" strike="noStrike" kern="0" cap="none" spc="0" normalizeH="0" baseline="0" noProof="0">
                <a:ln>
                  <a:noFill/>
                </a:ln>
                <a:solidFill>
                  <a:srgbClr val="00B0F0"/>
                </a:solidFill>
                <a:effectLst/>
                <a:uLnTx/>
                <a:uFillTx/>
                <a:latin typeface="+mn-lt"/>
                <a:ea typeface="+mn-ea"/>
                <a:cs typeface="+mn-cs"/>
              </a:rPr>
              <a:t>内核到进程</a:t>
            </a:r>
            <a:r>
              <a:rPr kumimoji="0" lang="zh-CN" altLang="en-US" sz="2400" b="0" i="0" u="none" strike="noStrike" kern="0" cap="none" spc="0" normalizeH="0" baseline="0" noProof="0">
                <a:ln>
                  <a:noFill/>
                </a:ln>
                <a:solidFill>
                  <a:schemeClr val="tx1"/>
                </a:solidFill>
                <a:effectLst/>
                <a:uLnTx/>
                <a:uFillTx/>
                <a:latin typeface="+mn-lt"/>
                <a:ea typeface="+mn-ea"/>
                <a:cs typeface="+mn-cs"/>
              </a:rPr>
              <a:t>传递套接字地址结构的函数有四个，</a:t>
            </a:r>
            <a:r>
              <a:rPr kumimoji="0" lang="en-US" altLang="zh-CN" sz="2400" b="0" i="0" u="none" strike="noStrike" kern="0" cap="none" spc="0" normalizeH="0" baseline="0" noProof="0">
                <a:ln>
                  <a:noFill/>
                </a:ln>
                <a:solidFill>
                  <a:schemeClr val="tx1"/>
                </a:solidFill>
                <a:effectLst/>
                <a:uLnTx/>
                <a:uFillTx/>
                <a:latin typeface="+mn-lt"/>
                <a:ea typeface="+mn-ea"/>
                <a:cs typeface="+mn-cs"/>
              </a:rPr>
              <a:t>accept</a:t>
            </a:r>
            <a:r>
              <a:rPr kumimoji="0" lang="zh-CN" altLang="en-US" sz="2400" b="0" i="0" u="none" strike="noStrike" kern="0" cap="none" spc="0" normalizeH="0" baseline="0" noProof="0">
                <a:ln>
                  <a:noFill/>
                </a:ln>
                <a:solidFill>
                  <a:schemeClr val="tx1"/>
                </a:solidFill>
                <a:effectLst/>
                <a:uLnTx/>
                <a:uFillTx/>
                <a:latin typeface="+mn-lt"/>
                <a:ea typeface="+mn-ea"/>
                <a:cs typeface="+mn-cs"/>
              </a:rPr>
              <a:t>、</a:t>
            </a:r>
            <a:r>
              <a:rPr kumimoji="0" lang="en-US" altLang="zh-CN" sz="2400" b="0" i="0" u="none" strike="noStrike" kern="0" cap="none" spc="0" normalizeH="0" baseline="0" noProof="0">
                <a:ln>
                  <a:noFill/>
                </a:ln>
                <a:solidFill>
                  <a:schemeClr val="tx1"/>
                </a:solidFill>
                <a:effectLst/>
                <a:uLnTx/>
                <a:uFillTx/>
                <a:latin typeface="+mn-lt"/>
                <a:ea typeface="+mn-ea"/>
                <a:cs typeface="+mn-cs"/>
              </a:rPr>
              <a:t>recvfrom</a:t>
            </a:r>
            <a:r>
              <a:rPr kumimoji="0" lang="zh-CN" altLang="en-US" sz="2400" b="0" i="0" u="none" strike="noStrike" kern="0" cap="none" spc="0" normalizeH="0" baseline="0" noProof="0">
                <a:ln>
                  <a:noFill/>
                </a:ln>
                <a:solidFill>
                  <a:schemeClr val="tx1"/>
                </a:solidFill>
                <a:effectLst/>
                <a:uLnTx/>
                <a:uFillTx/>
                <a:latin typeface="+mn-lt"/>
                <a:ea typeface="+mn-ea"/>
                <a:cs typeface="+mn-cs"/>
              </a:rPr>
              <a:t>、</a:t>
            </a:r>
            <a:r>
              <a:rPr kumimoji="0" lang="en-US" altLang="zh-CN" sz="2400" b="0" i="0" u="none" strike="noStrike" kern="0" cap="none" spc="0" normalizeH="0" baseline="0" noProof="0">
                <a:ln>
                  <a:noFill/>
                </a:ln>
                <a:solidFill>
                  <a:schemeClr val="tx1"/>
                </a:solidFill>
                <a:effectLst/>
                <a:uLnTx/>
                <a:uFillTx/>
                <a:latin typeface="+mn-lt"/>
                <a:ea typeface="+mn-ea"/>
                <a:cs typeface="+mn-cs"/>
              </a:rPr>
              <a:t>getsockname</a:t>
            </a:r>
            <a:r>
              <a:rPr kumimoji="0" lang="zh-CN" altLang="en-US" sz="2400" b="0" i="0" u="none" strike="noStrike" kern="0" cap="none" spc="0" normalizeH="0" baseline="0" noProof="0">
                <a:ln>
                  <a:noFill/>
                </a:ln>
                <a:solidFill>
                  <a:schemeClr val="tx1"/>
                </a:solidFill>
                <a:effectLst/>
                <a:uLnTx/>
                <a:uFillTx/>
                <a:latin typeface="+mn-lt"/>
                <a:ea typeface="+mn-ea"/>
                <a:cs typeface="+mn-cs"/>
              </a:rPr>
              <a:t>、</a:t>
            </a:r>
            <a:r>
              <a:rPr kumimoji="0" lang="en-US" altLang="zh-CN" sz="2400" b="0" i="0" u="none" strike="noStrike" kern="0" cap="none" spc="0" normalizeH="0" baseline="0" noProof="0">
                <a:ln>
                  <a:noFill/>
                </a:ln>
                <a:solidFill>
                  <a:schemeClr val="tx1"/>
                </a:solidFill>
                <a:effectLst/>
                <a:uLnTx/>
                <a:uFillTx/>
                <a:latin typeface="+mn-lt"/>
                <a:ea typeface="+mn-ea"/>
                <a:cs typeface="+mn-cs"/>
              </a:rPr>
              <a:t>getpeername.</a:t>
            </a:r>
            <a:endParaRPr kumimoji="0" lang="en-US" altLang="zh-CN" sz="2400" b="0" i="0" u="none" strike="noStrike" kern="0" cap="none" spc="0" normalizeH="0" baseline="0" noProof="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0" lang="zh-CN" altLang="en-US" sz="2400" b="0" i="0" u="none" strike="noStrike" kern="0" cap="none" spc="0" normalizeH="0" baseline="0" noProof="0">
                <a:ln>
                  <a:noFill/>
                </a:ln>
                <a:solidFill>
                  <a:schemeClr val="tx1"/>
                </a:solidFill>
                <a:effectLst/>
                <a:uLnTx/>
                <a:uFillTx/>
                <a:latin typeface="+mn-lt"/>
                <a:ea typeface="+mn-ea"/>
                <a:cs typeface="+mn-cs"/>
              </a:rPr>
              <a:t>这些函数的其中两个参数是指向地址结构的指针，另一个参数是指向该结构大小的整数变量的指针，例如：</a:t>
            </a:r>
            <a:endParaRPr kumimoji="0" lang="en-US" altLang="zh-CN" sz="2400" b="0" i="0" u="none" strike="noStrike" kern="0" cap="none" spc="0" normalizeH="0" baseline="0" noProof="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0" lang="en-US" altLang="zh-CN" sz="2000" b="0" i="0" u="none" strike="noStrike" kern="0" cap="none" spc="0" normalizeH="0" baseline="0" noProof="0">
                <a:ln>
                  <a:noFill/>
                </a:ln>
                <a:solidFill>
                  <a:schemeClr val="tx1"/>
                </a:solidFill>
                <a:effectLst/>
                <a:uLnTx/>
                <a:uFillTx/>
                <a:latin typeface="+mn-lt"/>
                <a:ea typeface="+mn-ea"/>
                <a:cs typeface="+mn-cs"/>
              </a:rPr>
              <a:t>   </a:t>
            </a:r>
            <a:r>
              <a:rPr kumimoji="0" lang="en-US" altLang="zh-CN" sz="2200" b="0" i="0" u="none" strike="noStrike" kern="0" cap="none" spc="0" normalizeH="0" baseline="0" noProof="0">
                <a:ln>
                  <a:noFill/>
                </a:ln>
                <a:solidFill>
                  <a:schemeClr val="tx1"/>
                </a:solidFill>
                <a:effectLst/>
                <a:uLnTx/>
                <a:uFillTx/>
                <a:latin typeface="+mn-lt"/>
                <a:ea typeface="+mn-ea"/>
                <a:cs typeface="+mn-cs"/>
              </a:rPr>
              <a:t>struct sockaddr_in </a:t>
            </a:r>
            <a:r>
              <a:rPr kumimoji="0" lang="en-US" altLang="zh-CN" sz="2000" b="0" i="0" u="none" strike="noStrike" kern="0" cap="none" spc="0" normalizeH="0" baseline="0" noProof="0">
                <a:ln>
                  <a:noFill/>
                </a:ln>
                <a:solidFill>
                  <a:schemeClr val="tx1"/>
                </a:solidFill>
                <a:effectLst/>
                <a:uLnTx/>
                <a:uFillTx/>
                <a:latin typeface="+mn-lt"/>
                <a:ea typeface="+mn-ea"/>
                <a:cs typeface="+mn-cs"/>
              </a:rPr>
              <a:t>cliaddr</a:t>
            </a:r>
            <a:r>
              <a:rPr kumimoji="0" lang="en-US" altLang="zh-CN" sz="2200" b="0" i="0" u="none" strike="noStrike" kern="0" cap="none" spc="0" normalizeH="0" baseline="0" noProof="0">
                <a:ln>
                  <a:noFill/>
                </a:ln>
                <a:solidFill>
                  <a:schemeClr val="tx1"/>
                </a:solidFill>
                <a:effectLst/>
                <a:uLnTx/>
                <a:uFillTx/>
                <a:latin typeface="+mn-lt"/>
                <a:ea typeface="+mn-ea"/>
                <a:cs typeface="+mn-cs"/>
              </a:rPr>
              <a:t>;   </a:t>
            </a:r>
            <a:endParaRPr kumimoji="0" lang="en-US" altLang="zh-CN" sz="2200" b="0" i="0" u="none" strike="noStrike" kern="0" cap="none" spc="0" normalizeH="0" baseline="0" noProof="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0" lang="en-US" altLang="zh-CN" sz="2200" b="0" i="0" u="none" strike="noStrike" kern="0" cap="none" spc="0" normalizeH="0" baseline="0" noProof="0">
                <a:ln>
                  <a:noFill/>
                </a:ln>
                <a:solidFill>
                  <a:schemeClr val="tx1"/>
                </a:solidFill>
                <a:effectLst/>
                <a:uLnTx/>
                <a:uFillTx/>
                <a:latin typeface="+mn-lt"/>
                <a:ea typeface="+mn-ea"/>
                <a:cs typeface="+mn-cs"/>
              </a:rPr>
              <a:t>    ……</a:t>
            </a:r>
            <a:endParaRPr kumimoji="0" lang="en-US" altLang="zh-CN" sz="2200" b="0" i="0" u="none" strike="noStrike" kern="0" cap="none" spc="0" normalizeH="0" baseline="0" noProof="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0" lang="en-US" altLang="zh-CN" sz="2200" b="0" i="0" u="none" strike="noStrike" kern="0" cap="none" spc="0" normalizeH="0" baseline="0" noProof="0">
                <a:ln>
                  <a:noFill/>
                </a:ln>
                <a:solidFill>
                  <a:schemeClr val="tx1"/>
                </a:solidFill>
                <a:effectLst/>
                <a:uLnTx/>
                <a:uFillTx/>
                <a:latin typeface="+mn-lt"/>
                <a:ea typeface="+mn-ea"/>
                <a:cs typeface="+mn-cs"/>
              </a:rPr>
              <a:t>  len = sizeof(cliaddr);</a:t>
            </a:r>
            <a:endParaRPr kumimoji="0" lang="en-US" altLang="zh-CN" sz="2200" b="0" i="0" u="none" strike="noStrike" kern="0" cap="none" spc="0" normalizeH="0" baseline="0" noProof="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0" lang="en-US" altLang="zh-CN" sz="2200" b="0" i="0" u="none" strike="noStrike" kern="0" cap="none" spc="0" normalizeH="0" baseline="0" noProof="0">
                <a:ln>
                  <a:noFill/>
                </a:ln>
                <a:solidFill>
                  <a:schemeClr val="tx1"/>
                </a:solidFill>
                <a:effectLst/>
                <a:uLnTx/>
                <a:uFillTx/>
                <a:latin typeface="+mn-lt"/>
                <a:ea typeface="+mn-ea"/>
                <a:cs typeface="+mn-cs"/>
              </a:rPr>
              <a:t>  </a:t>
            </a:r>
            <a:r>
              <a:rPr kumimoji="0" lang="en-US" altLang="zh-CN" sz="2400" b="0" i="0" u="none" strike="noStrike" kern="0" cap="none" spc="0" normalizeH="0" baseline="0" noProof="0">
                <a:ln>
                  <a:noFill/>
                </a:ln>
                <a:solidFill>
                  <a:schemeClr val="tx1"/>
                </a:solidFill>
                <a:effectLst/>
                <a:uLnTx/>
                <a:uFillTx/>
                <a:latin typeface="+mn-lt"/>
                <a:ea typeface="+mn-ea"/>
                <a:cs typeface="+mn-cs"/>
              </a:rPr>
              <a:t>accept(listenfd, (struct sockaddr *)&amp;cliaddr, &amp;len);</a:t>
            </a:r>
            <a:endParaRPr kumimoji="0" lang="zh-CN" altLang="en-US" sz="2200" b="0" i="0" u="none" strike="noStrike" kern="0" cap="none" spc="0" normalizeH="0" baseline="0" noProof="0">
              <a:ln>
                <a:noFill/>
              </a:ln>
              <a:solidFill>
                <a:schemeClr val="tx1"/>
              </a:solidFill>
              <a:effectLst/>
              <a:uLnTx/>
              <a:uFillTx/>
              <a:latin typeface="+mn-lt"/>
              <a:ea typeface="+mn-ea"/>
              <a:cs typeface="+mn-cs"/>
            </a:endParaRPr>
          </a:p>
        </p:txBody>
      </p:sp>
    </p:spTree>
  </p:cSld>
  <p:clrMapOvr>
    <a:masterClrMapping/>
  </p:clrMapOvr>
  <p:transition>
    <p:random/>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8354" name="Rectangle 2"/>
          <p:cNvSpPr/>
          <p:nvPr/>
        </p:nvSpPr>
        <p:spPr>
          <a:xfrm>
            <a:off x="1550988" y="1868488"/>
            <a:ext cx="5181600" cy="1652587"/>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Tahoma" panose="020B0604030504040204" pitchFamily="34" charset="0"/>
            </a:endParaRPr>
          </a:p>
        </p:txBody>
      </p:sp>
      <p:sp>
        <p:nvSpPr>
          <p:cNvPr id="228355" name="Rectangle 3"/>
          <p:cNvSpPr/>
          <p:nvPr/>
        </p:nvSpPr>
        <p:spPr>
          <a:xfrm>
            <a:off x="1474788" y="3810000"/>
            <a:ext cx="5105400" cy="91440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algn="ctr" eaLnBrk="1" hangingPunct="1"/>
            <a:r>
              <a:rPr lang="zh-CN" altLang="en-US" b="0" dirty="0">
                <a:latin typeface="Times New Roman" panose="02020603050405020304" pitchFamily="18" charset="0"/>
              </a:rPr>
              <a:t>内核</a:t>
            </a:r>
            <a:endParaRPr lang="zh-CN" altLang="en-US" b="0" dirty="0">
              <a:latin typeface="Times New Roman" panose="02020603050405020304" pitchFamily="18" charset="0"/>
            </a:endParaRPr>
          </a:p>
        </p:txBody>
      </p:sp>
      <p:sp>
        <p:nvSpPr>
          <p:cNvPr id="228356" name="Rectangle 4"/>
          <p:cNvSpPr/>
          <p:nvPr/>
        </p:nvSpPr>
        <p:spPr>
          <a:xfrm>
            <a:off x="2084388" y="1997075"/>
            <a:ext cx="1752600" cy="53340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algn="ctr" eaLnBrk="1" hangingPunct="1"/>
            <a:r>
              <a:rPr lang="zh-CN" altLang="en-US" b="0" dirty="0">
                <a:latin typeface="Times New Roman" panose="02020603050405020304" pitchFamily="18" charset="0"/>
              </a:rPr>
              <a:t>长度 </a:t>
            </a:r>
            <a:r>
              <a:rPr lang="en-US" altLang="zh-CN" b="0" dirty="0">
                <a:latin typeface="Times New Roman" panose="02020603050405020304" pitchFamily="18" charset="0"/>
              </a:rPr>
              <a:t>int*</a:t>
            </a:r>
            <a:endParaRPr lang="zh-CN" altLang="en-US" b="0" dirty="0">
              <a:latin typeface="Times New Roman" panose="02020603050405020304" pitchFamily="18" charset="0"/>
            </a:endParaRPr>
          </a:p>
        </p:txBody>
      </p:sp>
      <p:sp>
        <p:nvSpPr>
          <p:cNvPr id="228357" name="Rectangle 5"/>
          <p:cNvSpPr/>
          <p:nvPr/>
        </p:nvSpPr>
        <p:spPr>
          <a:xfrm>
            <a:off x="4903788" y="1989138"/>
            <a:ext cx="1447800" cy="1008062"/>
          </a:xfrm>
          <a:prstGeom prst="rect">
            <a:avLst/>
          </a:prstGeom>
          <a:solidFill>
            <a:schemeClr val="bg1"/>
          </a:solidFill>
          <a:ln w="9525" cap="flat" cmpd="sng">
            <a:solidFill>
              <a:schemeClr val="tx1"/>
            </a:solidFill>
            <a:prstDash val="solid"/>
            <a:miter/>
            <a:headEnd type="none" w="med" len="med"/>
            <a:tailEnd type="none" w="med" len="med"/>
          </a:ln>
        </p:spPr>
        <p:txBody>
          <a:bodyPr anchor="ctr" anchorCtr="0"/>
          <a:p>
            <a:pPr algn="ctr" eaLnBrk="1" hangingPunct="1"/>
            <a:r>
              <a:rPr lang="zh-CN" altLang="en-US" b="0" dirty="0">
                <a:latin typeface="Times New Roman" panose="02020603050405020304" pitchFamily="18" charset="0"/>
              </a:rPr>
              <a:t>套接口地址结构</a:t>
            </a:r>
            <a:endParaRPr lang="zh-CN" altLang="en-US" b="0" dirty="0">
              <a:latin typeface="Times New Roman" panose="02020603050405020304" pitchFamily="18" charset="0"/>
            </a:endParaRPr>
          </a:p>
        </p:txBody>
      </p:sp>
      <p:sp>
        <p:nvSpPr>
          <p:cNvPr id="228358" name="Text Box 6"/>
          <p:cNvSpPr txBox="1"/>
          <p:nvPr/>
        </p:nvSpPr>
        <p:spPr>
          <a:xfrm>
            <a:off x="3132138" y="1387475"/>
            <a:ext cx="1752600" cy="457200"/>
          </a:xfrm>
          <a:prstGeom prst="rect">
            <a:avLst/>
          </a:prstGeom>
          <a:noFill/>
          <a:ln w="9525">
            <a:noFill/>
          </a:ln>
        </p:spPr>
        <p:txBody>
          <a:bodyPr>
            <a:spAutoFit/>
          </a:bodyPr>
          <a:p>
            <a:pPr eaLnBrk="1" hangingPunct="1">
              <a:spcBef>
                <a:spcPct val="50000"/>
              </a:spcBef>
            </a:pPr>
            <a:r>
              <a:rPr lang="zh-CN" altLang="en-US" b="0" dirty="0">
                <a:latin typeface="Times New Roman" panose="02020603050405020304" pitchFamily="18" charset="0"/>
              </a:rPr>
              <a:t>用户进程</a:t>
            </a:r>
            <a:endParaRPr lang="zh-CN" altLang="en-US" b="0" dirty="0">
              <a:latin typeface="Times New Roman" panose="02020603050405020304" pitchFamily="18" charset="0"/>
            </a:endParaRPr>
          </a:p>
        </p:txBody>
      </p:sp>
      <p:sp>
        <p:nvSpPr>
          <p:cNvPr id="228359" name="Line 7"/>
          <p:cNvSpPr/>
          <p:nvPr/>
        </p:nvSpPr>
        <p:spPr>
          <a:xfrm>
            <a:off x="2312988" y="2530475"/>
            <a:ext cx="0" cy="1828800"/>
          </a:xfrm>
          <a:prstGeom prst="line">
            <a:avLst/>
          </a:prstGeom>
          <a:ln w="9525" cap="flat" cmpd="sng">
            <a:solidFill>
              <a:schemeClr val="tx1"/>
            </a:solidFill>
            <a:prstDash val="solid"/>
            <a:headEnd type="none" w="med" len="med"/>
            <a:tailEnd type="triangle" w="med" len="med"/>
          </a:ln>
        </p:spPr>
      </p:sp>
      <p:sp>
        <p:nvSpPr>
          <p:cNvPr id="228360" name="Line 8"/>
          <p:cNvSpPr/>
          <p:nvPr/>
        </p:nvSpPr>
        <p:spPr>
          <a:xfrm flipV="1">
            <a:off x="3151188" y="2530475"/>
            <a:ext cx="0" cy="1752600"/>
          </a:xfrm>
          <a:prstGeom prst="line">
            <a:avLst/>
          </a:prstGeom>
          <a:ln w="9525" cap="flat" cmpd="sng">
            <a:solidFill>
              <a:schemeClr val="tx1"/>
            </a:solidFill>
            <a:prstDash val="solid"/>
            <a:headEnd type="none" w="med" len="med"/>
            <a:tailEnd type="triangle" w="med" len="med"/>
          </a:ln>
        </p:spPr>
      </p:sp>
      <p:sp>
        <p:nvSpPr>
          <p:cNvPr id="228361" name="Text Box 9"/>
          <p:cNvSpPr txBox="1"/>
          <p:nvPr/>
        </p:nvSpPr>
        <p:spPr>
          <a:xfrm>
            <a:off x="3227388" y="2759075"/>
            <a:ext cx="1066800" cy="457200"/>
          </a:xfrm>
          <a:prstGeom prst="rect">
            <a:avLst/>
          </a:prstGeom>
          <a:noFill/>
          <a:ln w="9525">
            <a:noFill/>
          </a:ln>
        </p:spPr>
        <p:txBody>
          <a:bodyPr>
            <a:spAutoFit/>
          </a:bodyPr>
          <a:p>
            <a:pPr eaLnBrk="1" hangingPunct="1">
              <a:spcBef>
                <a:spcPct val="50000"/>
              </a:spcBef>
            </a:pPr>
            <a:r>
              <a:rPr lang="zh-CN" altLang="en-US" b="0" dirty="0">
                <a:latin typeface="Times New Roman" panose="02020603050405020304" pitchFamily="18" charset="0"/>
              </a:rPr>
              <a:t>结果</a:t>
            </a:r>
            <a:endParaRPr lang="zh-CN" altLang="en-US" b="0" dirty="0">
              <a:latin typeface="Times New Roman" panose="02020603050405020304" pitchFamily="18" charset="0"/>
            </a:endParaRPr>
          </a:p>
        </p:txBody>
      </p:sp>
      <p:sp>
        <p:nvSpPr>
          <p:cNvPr id="228362" name="Text Box 10"/>
          <p:cNvSpPr txBox="1"/>
          <p:nvPr/>
        </p:nvSpPr>
        <p:spPr>
          <a:xfrm>
            <a:off x="1703388" y="2759075"/>
            <a:ext cx="609600" cy="457200"/>
          </a:xfrm>
          <a:prstGeom prst="rect">
            <a:avLst/>
          </a:prstGeom>
          <a:noFill/>
          <a:ln w="9525">
            <a:noFill/>
          </a:ln>
        </p:spPr>
        <p:txBody>
          <a:bodyPr>
            <a:spAutoFit/>
          </a:bodyPr>
          <a:p>
            <a:pPr eaLnBrk="1" hangingPunct="1">
              <a:spcBef>
                <a:spcPct val="50000"/>
              </a:spcBef>
            </a:pPr>
            <a:r>
              <a:rPr lang="zh-CN" altLang="en-US" b="0" dirty="0">
                <a:latin typeface="Times New Roman" panose="02020603050405020304" pitchFamily="18" charset="0"/>
              </a:rPr>
              <a:t>值</a:t>
            </a:r>
            <a:endParaRPr lang="zh-CN" altLang="en-US" b="0" dirty="0">
              <a:latin typeface="Times New Roman" panose="02020603050405020304" pitchFamily="18" charset="0"/>
            </a:endParaRPr>
          </a:p>
        </p:txBody>
      </p:sp>
      <p:sp>
        <p:nvSpPr>
          <p:cNvPr id="252939" name="Text Box 11"/>
          <p:cNvSpPr txBox="1"/>
          <p:nvPr/>
        </p:nvSpPr>
        <p:spPr>
          <a:xfrm>
            <a:off x="684213" y="4833938"/>
            <a:ext cx="7632700" cy="1570037"/>
          </a:xfrm>
          <a:prstGeom prst="rect">
            <a:avLst/>
          </a:prstGeom>
          <a:noFill/>
          <a:ln w="9525">
            <a:noFill/>
          </a:ln>
        </p:spPr>
        <p:txBody>
          <a:bodyPr>
            <a:spAutoFit/>
          </a:bodyPr>
          <a:p>
            <a:pPr eaLnBrk="1" hangingPunct="1">
              <a:spcBef>
                <a:spcPct val="50000"/>
              </a:spcBef>
            </a:pPr>
            <a:r>
              <a:rPr lang="zh-CN" altLang="en-US" b="0" dirty="0">
                <a:latin typeface="Times New Roman" panose="02020603050405020304" pitchFamily="18" charset="0"/>
              </a:rPr>
              <a:t>当函数调用时，结构大小是一个值</a:t>
            </a:r>
            <a:r>
              <a:rPr lang="en-US" altLang="zh-CN" dirty="0">
                <a:solidFill>
                  <a:srgbClr val="0070C0"/>
                </a:solidFill>
                <a:latin typeface="Times New Roman" panose="02020603050405020304" pitchFamily="18" charset="0"/>
              </a:rPr>
              <a:t>value</a:t>
            </a:r>
            <a:r>
              <a:rPr lang="zh-CN" altLang="en-US" b="0" dirty="0">
                <a:latin typeface="Times New Roman" panose="02020603050405020304" pitchFamily="18" charset="0"/>
              </a:rPr>
              <a:t>，它告诉内核该结构的大小，使内核在写此结构时不至于越界；当函数返回时，结构大小又是一个结果</a:t>
            </a:r>
            <a:r>
              <a:rPr lang="en-US" altLang="zh-CN" dirty="0">
                <a:solidFill>
                  <a:srgbClr val="0070C0"/>
                </a:solidFill>
                <a:latin typeface="Times New Roman" panose="02020603050405020304" pitchFamily="18" charset="0"/>
              </a:rPr>
              <a:t>result</a:t>
            </a:r>
            <a:r>
              <a:rPr lang="zh-CN" altLang="en-US" b="0" dirty="0">
                <a:latin typeface="Times New Roman" panose="02020603050405020304" pitchFamily="18" charset="0"/>
              </a:rPr>
              <a:t>，它告诉进程内核在此结构中确切存储了多少信息。</a:t>
            </a:r>
            <a:endParaRPr lang="en-US" altLang="zh-CN" b="0" dirty="0">
              <a:latin typeface="Times New Roman" panose="02020603050405020304" pitchFamily="18" charset="0"/>
            </a:endParaRPr>
          </a:p>
        </p:txBody>
      </p:sp>
      <p:sp>
        <p:nvSpPr>
          <p:cNvPr id="214028" name="Text Box 12"/>
          <p:cNvSpPr txBox="1">
            <a:spLocks noChangeArrowheads="1"/>
          </p:cNvSpPr>
          <p:nvPr/>
        </p:nvSpPr>
        <p:spPr bwMode="auto">
          <a:xfrm>
            <a:off x="3048000" y="457200"/>
            <a:ext cx="3684588" cy="769938"/>
          </a:xfrm>
          <a:prstGeom prst="rect">
            <a:avLst/>
          </a:prstGeom>
          <a:noFill/>
          <a:ln>
            <a:noFill/>
          </a:ln>
          <a:effec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4400" b="0" i="0" u="none" strike="noStrike" kern="0" cap="none" spc="0" normalizeH="0" baseline="0" noProof="0">
                <a:ln>
                  <a:noFill/>
                </a:ln>
                <a:solidFill>
                  <a:srgbClr val="333399"/>
                </a:solidFill>
                <a:effectLst/>
                <a:uLnTx/>
                <a:uFillTx/>
                <a:latin typeface="Tahoma" panose="020B0604030504040204"/>
                <a:ea typeface="宋体" panose="02010600030101010101" pitchFamily="2" charset="-122"/>
                <a:cs typeface="+mj-cs"/>
              </a:rPr>
              <a:t>值</a:t>
            </a:r>
            <a:r>
              <a:rPr kumimoji="0" lang="en-US" altLang="zh-CN" sz="4400" b="0" i="0" u="none" strike="noStrike" kern="0" cap="none" spc="0" normalizeH="0" baseline="0" noProof="0">
                <a:ln>
                  <a:noFill/>
                </a:ln>
                <a:solidFill>
                  <a:srgbClr val="333399"/>
                </a:solidFill>
                <a:effectLst/>
                <a:uLnTx/>
                <a:uFillTx/>
                <a:latin typeface="Tahoma" panose="020B0604030504040204"/>
                <a:ea typeface="宋体" panose="02010600030101010101" pitchFamily="2" charset="-122"/>
                <a:cs typeface="+mj-cs"/>
              </a:rPr>
              <a:t>—</a:t>
            </a:r>
            <a:r>
              <a:rPr kumimoji="0" lang="zh-CN" altLang="en-US" sz="4400" b="0" i="0" u="none" strike="noStrike" kern="0" cap="none" spc="0" normalizeH="0" baseline="0" noProof="0">
                <a:ln>
                  <a:noFill/>
                </a:ln>
                <a:solidFill>
                  <a:srgbClr val="333399"/>
                </a:solidFill>
                <a:effectLst/>
                <a:uLnTx/>
                <a:uFillTx/>
                <a:latin typeface="Tahoma" panose="020B0604030504040204"/>
                <a:ea typeface="宋体" panose="02010600030101010101" pitchFamily="2" charset="-122"/>
                <a:cs typeface="+mj-cs"/>
              </a:rPr>
              <a:t>结果参数</a:t>
            </a:r>
            <a:endParaRPr kumimoji="1"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28365" name="Line 8"/>
          <p:cNvSpPr/>
          <p:nvPr/>
        </p:nvSpPr>
        <p:spPr>
          <a:xfrm flipV="1">
            <a:off x="5580063" y="2971800"/>
            <a:ext cx="0" cy="1190625"/>
          </a:xfrm>
          <a:prstGeom prst="line">
            <a:avLst/>
          </a:prstGeom>
          <a:ln w="9525" cap="flat" cmpd="sng">
            <a:solidFill>
              <a:schemeClr val="tx1"/>
            </a:solidFill>
            <a:prstDash val="solid"/>
            <a:headEnd type="none" w="med" len="med"/>
            <a:tailEnd type="triangle" w="med" len="med"/>
          </a:ln>
        </p:spPr>
      </p:sp>
      <p:sp>
        <p:nvSpPr>
          <p:cNvPr id="228366" name="Rectangle 4"/>
          <p:cNvSpPr/>
          <p:nvPr/>
        </p:nvSpPr>
        <p:spPr>
          <a:xfrm>
            <a:off x="4703763" y="4141788"/>
            <a:ext cx="1752600" cy="439737"/>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p>
            <a:pPr algn="ctr" eaLnBrk="1" hangingPunct="1"/>
            <a:r>
              <a:rPr lang="zh-CN" altLang="en-US" b="0" dirty="0">
                <a:latin typeface="Times New Roman" panose="02020603050405020304" pitchFamily="18" charset="0"/>
              </a:rPr>
              <a:t>协议地址</a:t>
            </a:r>
            <a:endParaRPr lang="zh-CN" altLang="en-US" b="0" dirty="0">
              <a:latin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252939">
                                            <p:txEl>
                                              <p:charRg st="0" end="95"/>
                                            </p:txEl>
                                          </p:spTgt>
                                        </p:tgtEl>
                                        <p:attrNameLst>
                                          <p:attrName>style.visibility</p:attrName>
                                        </p:attrNameLst>
                                      </p:cBhvr>
                                      <p:to>
                                        <p:strVal val="visible"/>
                                      </p:to>
                                    </p:set>
                                    <p:animEffect transition="in" filter="strips(downLeft)">
                                      <p:cBhvr>
                                        <p:cTn id="7" dur="500"/>
                                        <p:tgtEl>
                                          <p:spTgt spid="252939">
                                            <p:txEl>
                                              <p:charRg st="0" end="9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0402" name="标题 1"/>
          <p:cNvSpPr>
            <a:spLocks noGrp="1"/>
          </p:cNvSpPr>
          <p:nvPr>
            <p:ph type="title"/>
          </p:nvPr>
        </p:nvSpPr>
        <p:spPr/>
        <p:txBody>
          <a:bodyPr vert="horz" wrap="square" lIns="91440" tIns="45720" rIns="91440" bIns="45720" anchor="b" anchorCtr="0"/>
          <a:p>
            <a:r>
              <a:rPr lang="zh-CN" altLang="en-US" dirty="0"/>
              <a:t>值</a:t>
            </a:r>
            <a:r>
              <a:rPr lang="en-US" altLang="zh-CN" dirty="0"/>
              <a:t>—</a:t>
            </a:r>
            <a:r>
              <a:rPr lang="zh-CN" altLang="en-US" dirty="0"/>
              <a:t>结果参数</a:t>
            </a:r>
            <a:endParaRPr lang="zh-CN" altLang="en-US" dirty="0"/>
          </a:p>
        </p:txBody>
      </p:sp>
      <p:pic>
        <p:nvPicPr>
          <p:cNvPr id="230403" name="图片 5"/>
          <p:cNvPicPr>
            <a:picLocks noChangeAspect="1"/>
          </p:cNvPicPr>
          <p:nvPr/>
        </p:nvPicPr>
        <p:blipFill>
          <a:blip r:embed="rId1"/>
          <a:stretch>
            <a:fillRect/>
          </a:stretch>
        </p:blipFill>
        <p:spPr>
          <a:xfrm>
            <a:off x="0" y="1989138"/>
            <a:ext cx="9067800" cy="1223962"/>
          </a:xfrm>
          <a:prstGeom prst="rect">
            <a:avLst/>
          </a:prstGeom>
          <a:noFill/>
          <a:ln w="9525">
            <a:noFill/>
          </a:ln>
        </p:spPr>
      </p:pic>
      <p:pic>
        <p:nvPicPr>
          <p:cNvPr id="230404" name="图片 7"/>
          <p:cNvPicPr>
            <a:picLocks noChangeAspect="1"/>
          </p:cNvPicPr>
          <p:nvPr/>
        </p:nvPicPr>
        <p:blipFill>
          <a:blip r:embed="rId2"/>
          <a:stretch>
            <a:fillRect/>
          </a:stretch>
        </p:blipFill>
        <p:spPr>
          <a:xfrm>
            <a:off x="1619250" y="3500438"/>
            <a:ext cx="7129463" cy="2665412"/>
          </a:xfrm>
          <a:prstGeom prst="rect">
            <a:avLst/>
          </a:prstGeom>
          <a:noFill/>
          <a:ln w="9525">
            <a:noFill/>
          </a:ln>
        </p:spPr>
      </p:pic>
    </p:spTree>
  </p:cSld>
  <p:clrMapOvr>
    <a:masterClrMapping/>
  </p:clrMapOvr>
  <p:transition>
    <p:random/>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1426" name="标题 1"/>
          <p:cNvSpPr>
            <a:spLocks noGrp="1"/>
          </p:cNvSpPr>
          <p:nvPr>
            <p:ph type="title"/>
          </p:nvPr>
        </p:nvSpPr>
        <p:spPr/>
        <p:txBody>
          <a:bodyPr vert="horz" wrap="square" lIns="91440" tIns="45720" rIns="91440" bIns="45720" anchor="b" anchorCtr="0"/>
          <a:p>
            <a:r>
              <a:rPr lang="zh-CN" altLang="en-US" dirty="0"/>
              <a:t>值</a:t>
            </a:r>
            <a:r>
              <a:rPr lang="en-US" altLang="zh-CN" dirty="0"/>
              <a:t>—</a:t>
            </a:r>
            <a:r>
              <a:rPr lang="zh-CN" altLang="en-US" dirty="0"/>
              <a:t>结果参数</a:t>
            </a:r>
            <a:endParaRPr lang="zh-CN" altLang="en-US" dirty="0"/>
          </a:p>
        </p:txBody>
      </p:sp>
      <p:pic>
        <p:nvPicPr>
          <p:cNvPr id="231427" name="图片 4"/>
          <p:cNvPicPr>
            <a:picLocks noChangeAspect="1"/>
          </p:cNvPicPr>
          <p:nvPr/>
        </p:nvPicPr>
        <p:blipFill>
          <a:blip r:embed="rId1"/>
          <a:stretch>
            <a:fillRect/>
          </a:stretch>
        </p:blipFill>
        <p:spPr>
          <a:xfrm>
            <a:off x="1547813" y="4437063"/>
            <a:ext cx="6985000" cy="2305050"/>
          </a:xfrm>
          <a:prstGeom prst="rect">
            <a:avLst/>
          </a:prstGeom>
          <a:noFill/>
          <a:ln w="9525">
            <a:noFill/>
          </a:ln>
        </p:spPr>
      </p:pic>
      <p:pic>
        <p:nvPicPr>
          <p:cNvPr id="231428" name="图片 6"/>
          <p:cNvPicPr>
            <a:picLocks noChangeAspect="1"/>
          </p:cNvPicPr>
          <p:nvPr/>
        </p:nvPicPr>
        <p:blipFill>
          <a:blip r:embed="rId2"/>
          <a:stretch>
            <a:fillRect/>
          </a:stretch>
        </p:blipFill>
        <p:spPr>
          <a:xfrm>
            <a:off x="179388" y="1844675"/>
            <a:ext cx="8893175" cy="2089150"/>
          </a:xfrm>
          <a:prstGeom prst="rect">
            <a:avLst/>
          </a:prstGeom>
          <a:noFill/>
          <a:ln w="9525">
            <a:noFill/>
          </a:ln>
        </p:spPr>
      </p:pic>
      <p:sp>
        <p:nvSpPr>
          <p:cNvPr id="2" name="剪去对角的矩形 1"/>
          <p:cNvSpPr/>
          <p:nvPr/>
        </p:nvSpPr>
        <p:spPr bwMode="auto">
          <a:xfrm>
            <a:off x="4248150" y="2439988"/>
            <a:ext cx="4895850" cy="898525"/>
          </a:xfrm>
          <a:prstGeom prst="snip2DiagRect">
            <a:avLst/>
          </a:prstGeom>
          <a:solidFill>
            <a:schemeClr val="accent1"/>
          </a:solidFill>
          <a:ln w="9525" cap="flat" cmpd="sng" algn="ctr">
            <a:solidFill>
              <a:schemeClr val="tx1"/>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1"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t>s_addr=16777343=0x100007f</a:t>
            </a:r>
            <a:r>
              <a:rPr kumimoji="0" lang="zh-CN" altLang="en-US" sz="1600" b="1"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t>（网络序）</a:t>
            </a:r>
            <a:endParaRPr kumimoji="0" lang="en-US" altLang="zh-CN" sz="1600" b="1"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600" b="1"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t>主机序</a:t>
            </a:r>
            <a:r>
              <a:rPr kumimoji="0" lang="en-US" altLang="zh-CN" sz="1600" b="1"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t>0x7f000001&lt;</a:t>
            </a:r>
            <a:r>
              <a:rPr kumimoji="0" lang="en-US" altLang="zh-CN" sz="1600" b="1"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sym typeface="Wingdings" panose="05000000000000000000" pitchFamily="2" charset="2"/>
              </a:rPr>
              <a:t>==&gt;”127.0.0.1”</a:t>
            </a:r>
            <a:r>
              <a:rPr kumimoji="0" lang="zh-CN" altLang="en-US" sz="1600" b="1"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t> </a:t>
            </a:r>
            <a:endParaRPr kumimoji="0" lang="zh-CN" altLang="en-US" sz="1600" b="1"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2450" name="Rectangle 2"/>
          <p:cNvSpPr>
            <a:spLocks noGrp="1"/>
          </p:cNvSpPr>
          <p:nvPr>
            <p:ph type="title"/>
          </p:nvPr>
        </p:nvSpPr>
        <p:spPr>
          <a:xfrm>
            <a:off x="684213" y="188913"/>
            <a:ext cx="7467600" cy="762000"/>
          </a:xfrm>
        </p:spPr>
        <p:txBody>
          <a:bodyPr vert="horz" wrap="square" lIns="91440" tIns="45720" rIns="91440" bIns="45720" anchor="b" anchorCtr="0"/>
          <a:p>
            <a:pPr eaLnBrk="1" hangingPunct="1"/>
            <a:r>
              <a:rPr lang="en-US" altLang="zh-CN" dirty="0"/>
              <a:t>UDP</a:t>
            </a:r>
            <a:r>
              <a:rPr lang="zh-CN" altLang="en-US" dirty="0"/>
              <a:t>服务器模板</a:t>
            </a:r>
            <a:endParaRPr lang="zh-CN" altLang="en-US" dirty="0"/>
          </a:p>
        </p:txBody>
      </p:sp>
      <p:sp>
        <p:nvSpPr>
          <p:cNvPr id="232451" name="Rectangle 3"/>
          <p:cNvSpPr>
            <a:spLocks noGrp="1"/>
          </p:cNvSpPr>
          <p:nvPr>
            <p:ph idx="1"/>
          </p:nvPr>
        </p:nvSpPr>
        <p:spPr>
          <a:xfrm>
            <a:off x="1116013" y="1098550"/>
            <a:ext cx="7086600" cy="5715000"/>
          </a:xfrm>
        </p:spPr>
        <p:txBody>
          <a:bodyPr vert="horz" wrap="square" lIns="91440" tIns="45720" rIns="91440" bIns="45720" anchor="t" anchorCtr="0"/>
          <a:p>
            <a:pPr eaLnBrk="1" hangingPunct="1">
              <a:lnSpc>
                <a:spcPct val="90000"/>
              </a:lnSpc>
              <a:buNone/>
            </a:pPr>
            <a:r>
              <a:rPr lang="en-US" altLang="zh-CN" sz="1800" b="1" dirty="0"/>
              <a:t>#include &lt;sys/types.h&gt;</a:t>
            </a:r>
            <a:endParaRPr lang="en-US" altLang="zh-CN" sz="1800" b="1" dirty="0"/>
          </a:p>
          <a:p>
            <a:pPr eaLnBrk="1" hangingPunct="1">
              <a:lnSpc>
                <a:spcPct val="90000"/>
              </a:lnSpc>
              <a:buNone/>
            </a:pPr>
            <a:r>
              <a:rPr lang="en-US" altLang="zh-CN" sz="1800" b="1" dirty="0"/>
              <a:t>#include &lt;sys/socket.h&gt;</a:t>
            </a:r>
            <a:endParaRPr lang="en-US" altLang="zh-CN" sz="1800" b="1" dirty="0"/>
          </a:p>
          <a:p>
            <a:pPr eaLnBrk="1" hangingPunct="1">
              <a:lnSpc>
                <a:spcPct val="90000"/>
              </a:lnSpc>
              <a:buNone/>
            </a:pPr>
            <a:r>
              <a:rPr lang="en-US" altLang="zh-CN" sz="1800" b="1" dirty="0"/>
              <a:t>#inlcude &lt;netinet/in.h&gt;</a:t>
            </a:r>
            <a:endParaRPr lang="en-US" altLang="zh-CN" sz="1800" b="1" dirty="0"/>
          </a:p>
          <a:p>
            <a:pPr eaLnBrk="1" hangingPunct="1">
              <a:lnSpc>
                <a:spcPct val="90000"/>
              </a:lnSpc>
              <a:buNone/>
            </a:pPr>
            <a:r>
              <a:rPr lang="en-US" altLang="zh-CN" sz="1800" b="1" dirty="0"/>
              <a:t>int main(void)</a:t>
            </a:r>
            <a:endParaRPr lang="en-US" altLang="zh-CN" sz="1800" b="1" dirty="0"/>
          </a:p>
          <a:p>
            <a:pPr eaLnBrk="1" hangingPunct="1">
              <a:lnSpc>
                <a:spcPct val="90000"/>
              </a:lnSpc>
              <a:buNone/>
            </a:pPr>
            <a:r>
              <a:rPr lang="en-US" altLang="zh-CN" sz="1800" b="1" dirty="0"/>
              <a:t>{</a:t>
            </a:r>
            <a:endParaRPr lang="en-US" altLang="zh-CN" sz="1800" b="1" dirty="0"/>
          </a:p>
          <a:p>
            <a:pPr eaLnBrk="1" hangingPunct="1">
              <a:lnSpc>
                <a:spcPct val="90000"/>
              </a:lnSpc>
              <a:buNone/>
            </a:pPr>
            <a:r>
              <a:rPr lang="en-US" altLang="zh-CN" sz="1800" b="1" dirty="0"/>
              <a:t>	int socketfd;</a:t>
            </a:r>
            <a:endParaRPr lang="en-US" altLang="zh-CN" sz="1800" b="1" dirty="0"/>
          </a:p>
          <a:p>
            <a:pPr eaLnBrk="1" hangingPunct="1">
              <a:lnSpc>
                <a:spcPct val="90000"/>
              </a:lnSpc>
              <a:buNone/>
            </a:pPr>
            <a:r>
              <a:rPr lang="en-US" altLang="zh-CN" sz="1800" b="1" dirty="0"/>
              <a:t>	if ((sockfd = socket(AF_INET, </a:t>
            </a:r>
            <a:r>
              <a:rPr lang="en-US" altLang="zh-CN" sz="1800" b="1" dirty="0">
                <a:solidFill>
                  <a:schemeClr val="hlink"/>
                </a:solidFill>
              </a:rPr>
              <a:t>SOCK_DGRAM</a:t>
            </a:r>
            <a:r>
              <a:rPr lang="en-US" altLang="zh-CN" sz="1800" b="1" dirty="0"/>
              <a:t>, 0)) == -1) {</a:t>
            </a:r>
            <a:endParaRPr lang="en-US" altLang="zh-CN" sz="1800" b="1" dirty="0"/>
          </a:p>
          <a:p>
            <a:pPr eaLnBrk="1" hangingPunct="1">
              <a:lnSpc>
                <a:spcPct val="90000"/>
              </a:lnSpc>
              <a:buNone/>
            </a:pPr>
            <a:r>
              <a:rPr lang="en-US" altLang="zh-CN" sz="1800" b="1" dirty="0"/>
              <a:t>		perror(</a:t>
            </a:r>
            <a:r>
              <a:rPr lang="en-US" altLang="zh-CN" sz="1800" b="1" dirty="0">
                <a:latin typeface="Arial" panose="020B0604020202020204" pitchFamily="34" charset="0"/>
              </a:rPr>
              <a:t>“</a:t>
            </a:r>
            <a:r>
              <a:rPr lang="en-US" altLang="zh-CN" sz="1800" b="1" dirty="0"/>
              <a:t>Create socket failed.</a:t>
            </a:r>
            <a:r>
              <a:rPr lang="en-US" altLang="zh-CN" sz="1800" b="1" dirty="0">
                <a:latin typeface="Arial" panose="020B0604020202020204" pitchFamily="34" charset="0"/>
              </a:rPr>
              <a:t>”</a:t>
            </a:r>
            <a:r>
              <a:rPr lang="en-US" altLang="zh-CN" sz="1800" b="1" dirty="0"/>
              <a:t>);</a:t>
            </a:r>
            <a:endParaRPr lang="en-US" altLang="zh-CN" sz="1800" b="1" dirty="0"/>
          </a:p>
          <a:p>
            <a:pPr eaLnBrk="1" hangingPunct="1">
              <a:lnSpc>
                <a:spcPct val="90000"/>
              </a:lnSpc>
              <a:buNone/>
            </a:pPr>
            <a:r>
              <a:rPr lang="en-US" altLang="zh-CN" sz="1800" b="1" dirty="0"/>
              <a:t>		exit(1);</a:t>
            </a:r>
            <a:endParaRPr lang="en-US" altLang="zh-CN" sz="1800" b="1" dirty="0"/>
          </a:p>
          <a:p>
            <a:pPr eaLnBrk="1" hangingPunct="1">
              <a:lnSpc>
                <a:spcPct val="90000"/>
              </a:lnSpc>
              <a:buNone/>
            </a:pPr>
            <a:r>
              <a:rPr lang="en-US" altLang="zh-CN" sz="1800" b="1" dirty="0"/>
              <a:t>	}</a:t>
            </a:r>
            <a:endParaRPr lang="en-US" altLang="zh-CN" sz="1800" b="1" dirty="0"/>
          </a:p>
          <a:p>
            <a:pPr eaLnBrk="1" hangingPunct="1">
              <a:lnSpc>
                <a:spcPct val="90000"/>
              </a:lnSpc>
              <a:buNone/>
            </a:pPr>
            <a:r>
              <a:rPr lang="en-US" altLang="zh-CN" sz="1800" b="1" dirty="0"/>
              <a:t>	/* Bind socket to address */</a:t>
            </a:r>
            <a:endParaRPr lang="en-US" altLang="zh-CN" sz="1800" b="1" dirty="0"/>
          </a:p>
          <a:p>
            <a:pPr eaLnBrk="1" hangingPunct="1">
              <a:lnSpc>
                <a:spcPct val="90000"/>
              </a:lnSpc>
              <a:buNone/>
            </a:pPr>
            <a:r>
              <a:rPr lang="en-US" altLang="zh-CN" sz="1800" b="1" dirty="0"/>
              <a:t>     </a:t>
            </a:r>
            <a:r>
              <a:rPr lang="en-US" altLang="zh-CN" sz="1800" b="1" dirty="0">
                <a:latin typeface="Arial" panose="020B0604020202020204" pitchFamily="34" charset="0"/>
              </a:rPr>
              <a:t>……</a:t>
            </a:r>
            <a:endParaRPr lang="en-US" altLang="zh-CN" sz="1800" b="1" dirty="0"/>
          </a:p>
          <a:p>
            <a:pPr eaLnBrk="1" hangingPunct="1">
              <a:lnSpc>
                <a:spcPct val="90000"/>
              </a:lnSpc>
              <a:buNone/>
            </a:pPr>
            <a:r>
              <a:rPr lang="en-US" altLang="zh-CN" sz="1800" b="1" dirty="0"/>
              <a:t>     loop  {</a:t>
            </a:r>
            <a:endParaRPr lang="en-US" altLang="zh-CN" sz="1800" b="1" dirty="0"/>
          </a:p>
          <a:p>
            <a:pPr eaLnBrk="1" hangingPunct="1">
              <a:lnSpc>
                <a:spcPct val="90000"/>
              </a:lnSpc>
              <a:buNone/>
            </a:pPr>
            <a:r>
              <a:rPr lang="en-US" altLang="zh-CN" sz="1800" b="1" dirty="0"/>
              <a:t>		/* receive and process data from client */</a:t>
            </a:r>
            <a:endParaRPr lang="en-US" altLang="zh-CN" sz="1800" b="1" dirty="0"/>
          </a:p>
          <a:p>
            <a:pPr eaLnBrk="1" hangingPunct="1">
              <a:lnSpc>
                <a:spcPct val="90000"/>
              </a:lnSpc>
              <a:buNone/>
            </a:pPr>
            <a:r>
              <a:rPr lang="en-US" altLang="zh-CN" sz="1800" b="1" dirty="0"/>
              <a:t>             </a:t>
            </a:r>
            <a:r>
              <a:rPr lang="en-US" altLang="zh-CN" sz="1800" b="1" dirty="0">
                <a:latin typeface="Arial" panose="020B0604020202020204" pitchFamily="34" charset="0"/>
              </a:rPr>
              <a:t>……</a:t>
            </a:r>
            <a:endParaRPr lang="en-US" altLang="zh-CN" sz="1800" b="1" dirty="0"/>
          </a:p>
          <a:p>
            <a:pPr eaLnBrk="1" hangingPunct="1">
              <a:lnSpc>
                <a:spcPct val="90000"/>
              </a:lnSpc>
              <a:buNone/>
            </a:pPr>
            <a:r>
              <a:rPr lang="en-US" altLang="zh-CN" sz="1800" b="1" dirty="0"/>
              <a:t>             /* send resuts to client */</a:t>
            </a:r>
            <a:endParaRPr lang="en-US" altLang="zh-CN" sz="1800" b="1" dirty="0"/>
          </a:p>
          <a:p>
            <a:pPr eaLnBrk="1" hangingPunct="1">
              <a:lnSpc>
                <a:spcPct val="90000"/>
              </a:lnSpc>
              <a:buNone/>
            </a:pPr>
            <a:r>
              <a:rPr lang="en-US" altLang="zh-CN" sz="1800" b="1" dirty="0"/>
              <a:t>	}</a:t>
            </a:r>
            <a:endParaRPr lang="en-US" altLang="zh-CN" sz="1800" b="1" dirty="0"/>
          </a:p>
          <a:p>
            <a:pPr eaLnBrk="1" hangingPunct="1">
              <a:lnSpc>
                <a:spcPct val="90000"/>
              </a:lnSpc>
              <a:buNone/>
            </a:pPr>
            <a:r>
              <a:rPr lang="en-US" altLang="zh-CN" sz="1800" b="1" dirty="0"/>
              <a:t>	close(sockfd);      }</a:t>
            </a:r>
            <a:endParaRPr lang="en-US" altLang="zh-CN" sz="1800" b="1" dirty="0"/>
          </a:p>
        </p:txBody>
      </p:sp>
    </p:spTree>
  </p:cSld>
  <p:clrMapOvr>
    <a:masterClrMapping/>
  </p:clrMapOvr>
  <p:transition>
    <p:random/>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4498" name="Rectangle 2"/>
          <p:cNvSpPr>
            <a:spLocks noGrp="1"/>
          </p:cNvSpPr>
          <p:nvPr>
            <p:ph type="title"/>
          </p:nvPr>
        </p:nvSpPr>
        <p:spPr>
          <a:xfrm>
            <a:off x="827088" y="549275"/>
            <a:ext cx="7467600" cy="762000"/>
          </a:xfrm>
        </p:spPr>
        <p:txBody>
          <a:bodyPr vert="horz" wrap="square" lIns="91440" tIns="45720" rIns="91440" bIns="45720" anchor="b" anchorCtr="0"/>
          <a:p>
            <a:pPr eaLnBrk="1" hangingPunct="1"/>
            <a:r>
              <a:rPr lang="en-US" altLang="zh-CN" dirty="0"/>
              <a:t>UDP</a:t>
            </a:r>
            <a:r>
              <a:rPr lang="zh-CN" altLang="en-US" dirty="0"/>
              <a:t>客户模板</a:t>
            </a:r>
            <a:endParaRPr lang="zh-CN" altLang="en-US" dirty="0"/>
          </a:p>
        </p:txBody>
      </p:sp>
      <p:sp>
        <p:nvSpPr>
          <p:cNvPr id="234499" name="Rectangle 3"/>
          <p:cNvSpPr>
            <a:spLocks noGrp="1"/>
          </p:cNvSpPr>
          <p:nvPr>
            <p:ph idx="1"/>
          </p:nvPr>
        </p:nvSpPr>
        <p:spPr>
          <a:xfrm>
            <a:off x="1258888" y="1628775"/>
            <a:ext cx="7543800" cy="5105400"/>
          </a:xfrm>
        </p:spPr>
        <p:txBody>
          <a:bodyPr vert="horz" wrap="square" lIns="91440" tIns="45720" rIns="91440" bIns="45720" anchor="t" anchorCtr="0"/>
          <a:p>
            <a:pPr eaLnBrk="1" hangingPunct="1">
              <a:lnSpc>
                <a:spcPct val="90000"/>
              </a:lnSpc>
              <a:buNone/>
            </a:pPr>
            <a:r>
              <a:rPr lang="en-US" altLang="zh-CN" sz="1800" b="1" dirty="0"/>
              <a:t>#include &lt;sys/types.h&gt;</a:t>
            </a:r>
            <a:endParaRPr lang="en-US" altLang="zh-CN" sz="1800" b="1" dirty="0"/>
          </a:p>
          <a:p>
            <a:pPr eaLnBrk="1" hangingPunct="1">
              <a:lnSpc>
                <a:spcPct val="90000"/>
              </a:lnSpc>
              <a:buNone/>
            </a:pPr>
            <a:r>
              <a:rPr lang="en-US" altLang="zh-CN" sz="1800" b="1" dirty="0"/>
              <a:t>#include &lt;sys/socket.h&gt;</a:t>
            </a:r>
            <a:endParaRPr lang="en-US" altLang="zh-CN" sz="1800" b="1" dirty="0"/>
          </a:p>
          <a:p>
            <a:pPr eaLnBrk="1" hangingPunct="1">
              <a:lnSpc>
                <a:spcPct val="90000"/>
              </a:lnSpc>
              <a:buNone/>
            </a:pPr>
            <a:r>
              <a:rPr lang="en-US" altLang="zh-CN" sz="1800" b="1" dirty="0"/>
              <a:t>#inlcude &lt;netinet/in.h&gt;</a:t>
            </a:r>
            <a:endParaRPr lang="en-US" altLang="zh-CN" sz="1800" b="1" dirty="0"/>
          </a:p>
          <a:p>
            <a:pPr eaLnBrk="1" hangingPunct="1">
              <a:lnSpc>
                <a:spcPct val="90000"/>
              </a:lnSpc>
              <a:buNone/>
            </a:pPr>
            <a:r>
              <a:rPr lang="en-US" altLang="zh-CN" sz="1800" b="1" dirty="0"/>
              <a:t>int main(void)</a:t>
            </a:r>
            <a:endParaRPr lang="en-US" altLang="zh-CN" sz="1800" b="1" dirty="0"/>
          </a:p>
          <a:p>
            <a:pPr eaLnBrk="1" hangingPunct="1">
              <a:lnSpc>
                <a:spcPct val="90000"/>
              </a:lnSpc>
              <a:buNone/>
            </a:pPr>
            <a:r>
              <a:rPr lang="en-US" altLang="zh-CN" sz="1800" b="1" dirty="0"/>
              <a:t>{</a:t>
            </a:r>
            <a:endParaRPr lang="en-US" altLang="zh-CN" sz="1800" b="1" dirty="0"/>
          </a:p>
          <a:p>
            <a:pPr eaLnBrk="1" hangingPunct="1">
              <a:lnSpc>
                <a:spcPct val="90000"/>
              </a:lnSpc>
              <a:buNone/>
            </a:pPr>
            <a:r>
              <a:rPr lang="en-US" altLang="zh-CN" sz="1800" b="1" dirty="0"/>
              <a:t>	int sockfd;</a:t>
            </a:r>
            <a:endParaRPr lang="en-US" altLang="zh-CN" sz="1800" b="1" dirty="0"/>
          </a:p>
          <a:p>
            <a:pPr eaLnBrk="1" hangingPunct="1">
              <a:lnSpc>
                <a:spcPct val="90000"/>
              </a:lnSpc>
              <a:buNone/>
            </a:pPr>
            <a:r>
              <a:rPr lang="en-US" altLang="zh-CN" sz="1800" b="1" dirty="0"/>
              <a:t>	if ((sockfd = socket(AF_INET, SOCK_DGRAM, 0)) == -1) {</a:t>
            </a:r>
            <a:endParaRPr lang="en-US" altLang="zh-CN" sz="1800" b="1" dirty="0"/>
          </a:p>
          <a:p>
            <a:pPr eaLnBrk="1" hangingPunct="1">
              <a:lnSpc>
                <a:spcPct val="90000"/>
              </a:lnSpc>
              <a:buNone/>
            </a:pPr>
            <a:r>
              <a:rPr lang="en-US" altLang="zh-CN" sz="1800" b="1" dirty="0"/>
              <a:t>		perror(</a:t>
            </a:r>
            <a:r>
              <a:rPr lang="en-US" altLang="zh-CN" sz="1800" b="1" dirty="0">
                <a:latin typeface="Arial" panose="020B0604020202020204" pitchFamily="34" charset="0"/>
              </a:rPr>
              <a:t>“</a:t>
            </a:r>
            <a:r>
              <a:rPr lang="en-US" altLang="zh-CN" sz="1800" b="1" dirty="0"/>
              <a:t>Create socket failed.</a:t>
            </a:r>
            <a:r>
              <a:rPr lang="en-US" altLang="zh-CN" sz="1800" b="1" dirty="0">
                <a:latin typeface="Arial" panose="020B0604020202020204" pitchFamily="34" charset="0"/>
              </a:rPr>
              <a:t>”</a:t>
            </a:r>
            <a:r>
              <a:rPr lang="en-US" altLang="zh-CN" sz="1800" b="1" dirty="0"/>
              <a:t>);</a:t>
            </a:r>
            <a:endParaRPr lang="en-US" altLang="zh-CN" sz="1800" b="1" dirty="0"/>
          </a:p>
          <a:p>
            <a:pPr eaLnBrk="1" hangingPunct="1">
              <a:lnSpc>
                <a:spcPct val="90000"/>
              </a:lnSpc>
              <a:buNone/>
            </a:pPr>
            <a:r>
              <a:rPr lang="en-US" altLang="zh-CN" sz="1800" b="1" dirty="0"/>
              <a:t>		exit(1);</a:t>
            </a:r>
            <a:endParaRPr lang="en-US" altLang="zh-CN" sz="1800" b="1" dirty="0"/>
          </a:p>
          <a:p>
            <a:pPr eaLnBrk="1" hangingPunct="1">
              <a:lnSpc>
                <a:spcPct val="90000"/>
              </a:lnSpc>
              <a:buNone/>
            </a:pPr>
            <a:r>
              <a:rPr lang="en-US" altLang="zh-CN" sz="1800" b="1" dirty="0"/>
              <a:t>	}</a:t>
            </a:r>
            <a:endParaRPr lang="en-US" altLang="zh-CN" sz="1800" b="1" dirty="0"/>
          </a:p>
          <a:p>
            <a:pPr eaLnBrk="1" hangingPunct="1">
              <a:lnSpc>
                <a:spcPct val="90000"/>
              </a:lnSpc>
              <a:buNone/>
            </a:pPr>
            <a:r>
              <a:rPr lang="en-US" altLang="zh-CN" sz="1800" b="1" dirty="0"/>
              <a:t>	/* send data to the server */</a:t>
            </a:r>
            <a:endParaRPr lang="en-US" altLang="zh-CN" sz="1800" b="1" dirty="0"/>
          </a:p>
          <a:p>
            <a:pPr eaLnBrk="1" hangingPunct="1">
              <a:lnSpc>
                <a:spcPct val="90000"/>
              </a:lnSpc>
              <a:buNone/>
            </a:pPr>
            <a:r>
              <a:rPr lang="en-US" altLang="zh-CN" sz="1800" b="1" dirty="0"/>
              <a:t>	</a:t>
            </a:r>
            <a:r>
              <a:rPr lang="en-US" altLang="zh-CN" sz="1800" b="1" dirty="0">
                <a:latin typeface="Arial" panose="020B0604020202020204" pitchFamily="34" charset="0"/>
              </a:rPr>
              <a:t>……</a:t>
            </a:r>
            <a:endParaRPr lang="en-US" altLang="zh-CN" sz="1800" b="1" dirty="0"/>
          </a:p>
          <a:p>
            <a:pPr eaLnBrk="1" hangingPunct="1">
              <a:lnSpc>
                <a:spcPct val="90000"/>
              </a:lnSpc>
              <a:buNone/>
            </a:pPr>
            <a:r>
              <a:rPr lang="en-US" altLang="zh-CN" sz="1800" b="1" dirty="0"/>
              <a:t>	/* 	receive data from the server */	</a:t>
            </a:r>
            <a:endParaRPr lang="en-US" altLang="zh-CN" sz="1800" b="1" dirty="0"/>
          </a:p>
          <a:p>
            <a:pPr eaLnBrk="1" hangingPunct="1">
              <a:lnSpc>
                <a:spcPct val="90000"/>
              </a:lnSpc>
              <a:buNone/>
            </a:pPr>
            <a:r>
              <a:rPr lang="en-US" altLang="zh-CN" sz="1800" b="1" dirty="0"/>
              <a:t>	</a:t>
            </a:r>
            <a:r>
              <a:rPr lang="en-US" altLang="zh-CN" sz="1800" b="1" dirty="0">
                <a:latin typeface="Arial" panose="020B0604020202020204" pitchFamily="34" charset="0"/>
              </a:rPr>
              <a:t>……</a:t>
            </a:r>
            <a:endParaRPr lang="en-US" altLang="zh-CN" sz="1800" b="1" dirty="0"/>
          </a:p>
          <a:p>
            <a:pPr eaLnBrk="1" hangingPunct="1">
              <a:lnSpc>
                <a:spcPct val="90000"/>
              </a:lnSpc>
              <a:buNone/>
            </a:pPr>
            <a:r>
              <a:rPr lang="en-US" altLang="zh-CN" sz="1800" b="1" dirty="0"/>
              <a:t>	close(sockfd);</a:t>
            </a:r>
            <a:endParaRPr lang="en-US" altLang="zh-CN" sz="1800" b="1" dirty="0"/>
          </a:p>
          <a:p>
            <a:pPr eaLnBrk="1" hangingPunct="1">
              <a:lnSpc>
                <a:spcPct val="90000"/>
              </a:lnSpc>
              <a:buNone/>
            </a:pPr>
            <a:r>
              <a:rPr lang="en-US" altLang="zh-CN" sz="1800" b="1" dirty="0"/>
              <a:t>}</a:t>
            </a:r>
            <a:endParaRPr lang="en-US" altLang="zh-CN" b="1" dirty="0"/>
          </a:p>
        </p:txBody>
      </p:sp>
    </p:spTree>
  </p:cSld>
  <p:clrMapOvr>
    <a:masterClrMapping/>
  </p:clrMapOvr>
  <p:transition>
    <p:random/>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6546" name="Rectangle 2"/>
          <p:cNvSpPr>
            <a:spLocks noGrp="1"/>
          </p:cNvSpPr>
          <p:nvPr>
            <p:ph type="title"/>
          </p:nvPr>
        </p:nvSpPr>
        <p:spPr>
          <a:xfrm>
            <a:off x="900113" y="765175"/>
            <a:ext cx="7793037" cy="484188"/>
          </a:xfrm>
        </p:spPr>
        <p:txBody>
          <a:bodyPr vert="horz" wrap="square" lIns="91440" tIns="45720" rIns="91440" bIns="45720" anchor="b" anchorCtr="0"/>
          <a:p>
            <a:pPr eaLnBrk="1" hangingPunct="1"/>
            <a:r>
              <a:rPr lang="en-US" altLang="zh-CN" dirty="0"/>
              <a:t>UDP</a:t>
            </a:r>
            <a:r>
              <a:rPr lang="zh-CN" altLang="en-US" dirty="0"/>
              <a:t>套接字例程</a:t>
            </a:r>
            <a:endParaRPr lang="zh-CN" altLang="en-US" dirty="0"/>
          </a:p>
        </p:txBody>
      </p:sp>
      <p:sp>
        <p:nvSpPr>
          <p:cNvPr id="236547" name="Rectangle 3"/>
          <p:cNvSpPr>
            <a:spLocks noGrp="1"/>
          </p:cNvSpPr>
          <p:nvPr>
            <p:ph idx="1"/>
          </p:nvPr>
        </p:nvSpPr>
        <p:spPr>
          <a:xfrm>
            <a:off x="900113" y="1557338"/>
            <a:ext cx="7543800" cy="4800600"/>
          </a:xfrm>
        </p:spPr>
        <p:txBody>
          <a:bodyPr vert="horz" wrap="square" lIns="91440" tIns="45720" rIns="91440" bIns="45720" anchor="t" anchorCtr="0"/>
          <a:p>
            <a:pPr eaLnBrk="1" hangingPunct="1"/>
            <a:r>
              <a:rPr lang="zh-CN" altLang="en-US" sz="2800" dirty="0"/>
              <a:t>本例程分为服务器和客户两部分，主要完成如下功能：</a:t>
            </a:r>
            <a:endParaRPr lang="zh-CN" altLang="en-US" sz="2800" dirty="0"/>
          </a:p>
          <a:p>
            <a:pPr lvl="1" eaLnBrk="1" hangingPunct="1"/>
            <a:r>
              <a:rPr lang="zh-CN" altLang="en-US" sz="2400" dirty="0"/>
              <a:t>客户端：</a:t>
            </a:r>
            <a:endParaRPr lang="zh-CN" altLang="en-US" sz="2400" dirty="0"/>
          </a:p>
          <a:p>
            <a:pPr lvl="2" eaLnBrk="1" hangingPunct="1"/>
            <a:r>
              <a:rPr lang="zh-CN" altLang="en-US" sz="2000" dirty="0"/>
              <a:t>从命令行读入服务器的</a:t>
            </a:r>
            <a:r>
              <a:rPr lang="en-US" altLang="zh-CN" sz="2000" dirty="0"/>
              <a:t>IP</a:t>
            </a:r>
            <a:r>
              <a:rPr lang="zh-CN" altLang="en-US" sz="2000" dirty="0"/>
              <a:t>地址；循环从命令行读入字符串，传递给服务器，由服务器对字符串进行处理，并将结果返回客户程序；</a:t>
            </a:r>
            <a:endParaRPr lang="zh-CN" altLang="en-US" sz="2000" dirty="0"/>
          </a:p>
          <a:p>
            <a:pPr lvl="2" eaLnBrk="1" hangingPunct="1"/>
            <a:r>
              <a:rPr lang="zh-CN" altLang="en-US" sz="2000" dirty="0"/>
              <a:t>客户程序显示处理后的字符串；</a:t>
            </a:r>
            <a:endParaRPr lang="zh-CN" altLang="en-US" sz="2000" dirty="0"/>
          </a:p>
          <a:p>
            <a:pPr lvl="1" eaLnBrk="1" hangingPunct="1"/>
            <a:r>
              <a:rPr lang="zh-CN" altLang="en-US" sz="2400" dirty="0"/>
              <a:t>服务器端：</a:t>
            </a:r>
            <a:endParaRPr lang="zh-CN" altLang="en-US" sz="2400" dirty="0"/>
          </a:p>
          <a:p>
            <a:pPr lvl="2" eaLnBrk="1" hangingPunct="1"/>
            <a:r>
              <a:rPr lang="zh-CN" altLang="en-US" sz="2000" dirty="0"/>
              <a:t>循环接收客户的字符串，显示客户发送的信息和客户的</a:t>
            </a:r>
            <a:r>
              <a:rPr lang="en-US" altLang="zh-CN" sz="2000" dirty="0"/>
              <a:t>IP</a:t>
            </a:r>
            <a:r>
              <a:rPr lang="zh-CN" altLang="en-US" sz="2000" dirty="0"/>
              <a:t>地址和端口号；</a:t>
            </a:r>
            <a:endParaRPr lang="zh-CN" altLang="en-US" sz="2000" dirty="0"/>
          </a:p>
          <a:p>
            <a:pPr lvl="2" eaLnBrk="1" hangingPunct="1"/>
            <a:r>
              <a:rPr lang="zh-CN" altLang="en-US" sz="2000" dirty="0"/>
              <a:t>对接收的客户字符串进行处理，并发送回客户； </a:t>
            </a:r>
            <a:endParaRPr lang="zh-CN" altLang="en-US" sz="2000" dirty="0"/>
          </a:p>
        </p:txBody>
      </p:sp>
    </p:spTree>
  </p:cSld>
  <p:clrMapOvr>
    <a:masterClrMapping/>
  </p:clrMapOvr>
  <p:transition>
    <p:random/>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8594" name="Rectangle 2"/>
          <p:cNvSpPr>
            <a:spLocks noGrp="1"/>
          </p:cNvSpPr>
          <p:nvPr>
            <p:ph type="title"/>
          </p:nvPr>
        </p:nvSpPr>
        <p:spPr>
          <a:xfrm>
            <a:off x="323850" y="476250"/>
            <a:ext cx="7467600" cy="762000"/>
          </a:xfrm>
        </p:spPr>
        <p:txBody>
          <a:bodyPr vert="horz" wrap="square" lIns="91440" tIns="45720" rIns="91440" bIns="45720" anchor="b" anchorCtr="0"/>
          <a:p>
            <a:pPr eaLnBrk="1" hangingPunct="1"/>
            <a:r>
              <a:rPr lang="en-US" altLang="zh-CN" dirty="0"/>
              <a:t>UDP</a:t>
            </a:r>
            <a:r>
              <a:rPr lang="zh-CN" altLang="en-US" dirty="0"/>
              <a:t>服务器</a:t>
            </a:r>
            <a:endParaRPr lang="zh-CN" altLang="en-US" dirty="0"/>
          </a:p>
        </p:txBody>
      </p:sp>
      <p:sp>
        <p:nvSpPr>
          <p:cNvPr id="238595" name="Rectangle 3"/>
          <p:cNvSpPr>
            <a:spLocks noGrp="1"/>
          </p:cNvSpPr>
          <p:nvPr>
            <p:ph idx="1"/>
          </p:nvPr>
        </p:nvSpPr>
        <p:spPr>
          <a:xfrm>
            <a:off x="989013" y="1463675"/>
            <a:ext cx="8154987" cy="5394325"/>
          </a:xfrm>
        </p:spPr>
        <p:txBody>
          <a:bodyPr vert="horz" wrap="square" lIns="91440" tIns="45720" rIns="91440" bIns="45720" anchor="t" anchorCtr="0"/>
          <a:p>
            <a:pPr eaLnBrk="1" hangingPunct="1">
              <a:lnSpc>
                <a:spcPct val="90000"/>
              </a:lnSpc>
              <a:spcBef>
                <a:spcPct val="0"/>
              </a:spcBef>
              <a:buNone/>
            </a:pPr>
            <a:r>
              <a:rPr lang="en-US" altLang="zh-CN" sz="2000" b="1" dirty="0"/>
              <a:t>#include &lt;unistd.h&gt;</a:t>
            </a:r>
            <a:endParaRPr lang="en-US" altLang="zh-CN" sz="2000" b="1" dirty="0"/>
          </a:p>
          <a:p>
            <a:pPr eaLnBrk="1" hangingPunct="1">
              <a:lnSpc>
                <a:spcPct val="90000"/>
              </a:lnSpc>
              <a:spcBef>
                <a:spcPct val="0"/>
              </a:spcBef>
              <a:buNone/>
            </a:pPr>
            <a:r>
              <a:rPr lang="en-US" altLang="zh-CN" sz="2000" b="1" dirty="0"/>
              <a:t>#include &lt;sys/types.h&gt;</a:t>
            </a:r>
            <a:endParaRPr lang="en-US" altLang="zh-CN" sz="2000" b="1" dirty="0"/>
          </a:p>
          <a:p>
            <a:pPr eaLnBrk="1" hangingPunct="1">
              <a:lnSpc>
                <a:spcPct val="90000"/>
              </a:lnSpc>
              <a:spcBef>
                <a:spcPct val="0"/>
              </a:spcBef>
              <a:buNone/>
            </a:pPr>
            <a:r>
              <a:rPr lang="en-US" altLang="zh-CN" sz="2000" b="1" dirty="0"/>
              <a:t>#include &lt;sys/socket.h&gt;</a:t>
            </a:r>
            <a:endParaRPr lang="en-US" altLang="zh-CN" sz="2000" b="1" dirty="0"/>
          </a:p>
          <a:p>
            <a:pPr eaLnBrk="1" hangingPunct="1">
              <a:lnSpc>
                <a:spcPct val="90000"/>
              </a:lnSpc>
              <a:spcBef>
                <a:spcPct val="0"/>
              </a:spcBef>
              <a:buNone/>
            </a:pPr>
            <a:r>
              <a:rPr lang="en-US" altLang="zh-CN" sz="2000" b="1" dirty="0"/>
              <a:t>#include &lt;netinet/in.h&gt;</a:t>
            </a:r>
            <a:endParaRPr lang="en-US" altLang="zh-CN" sz="2000" b="1" dirty="0"/>
          </a:p>
          <a:p>
            <a:pPr eaLnBrk="1" hangingPunct="1">
              <a:lnSpc>
                <a:spcPct val="90000"/>
              </a:lnSpc>
              <a:spcBef>
                <a:spcPct val="0"/>
              </a:spcBef>
              <a:buNone/>
            </a:pPr>
            <a:r>
              <a:rPr lang="en-US" altLang="zh-CN" sz="2000" b="1" dirty="0"/>
              <a:t>#include &lt;arpa/inet.h&gt;</a:t>
            </a:r>
            <a:endParaRPr lang="en-US" altLang="zh-CN" sz="2000" b="1" dirty="0"/>
          </a:p>
          <a:p>
            <a:pPr eaLnBrk="1" hangingPunct="1">
              <a:lnSpc>
                <a:spcPct val="90000"/>
              </a:lnSpc>
              <a:spcBef>
                <a:spcPct val="0"/>
              </a:spcBef>
              <a:buNone/>
            </a:pPr>
            <a:r>
              <a:rPr lang="en-US" altLang="zh-CN" sz="2000" b="1" dirty="0"/>
              <a:t>#define PORT    1234</a:t>
            </a:r>
            <a:endParaRPr lang="en-US" altLang="zh-CN" sz="2000" b="1" dirty="0"/>
          </a:p>
          <a:p>
            <a:pPr eaLnBrk="1" hangingPunct="1">
              <a:lnSpc>
                <a:spcPct val="90000"/>
              </a:lnSpc>
              <a:spcBef>
                <a:spcPct val="0"/>
              </a:spcBef>
              <a:buNone/>
            </a:pPr>
            <a:r>
              <a:rPr lang="en-US" altLang="zh-CN" sz="2000" b="1" dirty="0"/>
              <a:t>#define MAXDATASIZE     100</a:t>
            </a:r>
            <a:endParaRPr lang="en-US" altLang="zh-CN" sz="2000" b="1" dirty="0"/>
          </a:p>
          <a:p>
            <a:pPr eaLnBrk="1" hangingPunct="1">
              <a:lnSpc>
                <a:spcPct val="90000"/>
              </a:lnSpc>
              <a:spcBef>
                <a:spcPct val="0"/>
              </a:spcBef>
              <a:buNone/>
            </a:pPr>
            <a:r>
              <a:rPr lang="en-US" altLang="zh-CN" sz="2000" b="1" dirty="0"/>
              <a:t>int main(void)</a:t>
            </a:r>
            <a:endParaRPr lang="en-US" altLang="zh-CN" sz="2000" b="1" dirty="0"/>
          </a:p>
          <a:p>
            <a:pPr eaLnBrk="1" hangingPunct="1">
              <a:lnSpc>
                <a:spcPct val="90000"/>
              </a:lnSpc>
              <a:spcBef>
                <a:spcPct val="0"/>
              </a:spcBef>
              <a:buNone/>
            </a:pPr>
            <a:r>
              <a:rPr lang="en-US" altLang="zh-CN" sz="2000" b="1" dirty="0"/>
              <a:t>{</a:t>
            </a:r>
            <a:endParaRPr lang="en-US" altLang="zh-CN" sz="2000" b="1" dirty="0"/>
          </a:p>
          <a:p>
            <a:pPr eaLnBrk="1" hangingPunct="1">
              <a:lnSpc>
                <a:spcPct val="90000"/>
              </a:lnSpc>
              <a:spcBef>
                <a:spcPct val="0"/>
              </a:spcBef>
              <a:buNone/>
            </a:pPr>
            <a:r>
              <a:rPr lang="en-US" altLang="zh-CN" sz="2000" b="1" dirty="0"/>
              <a:t>        int   sockfd;</a:t>
            </a:r>
            <a:endParaRPr lang="en-US" altLang="zh-CN" sz="2000" b="1" dirty="0"/>
          </a:p>
          <a:p>
            <a:pPr eaLnBrk="1" hangingPunct="1">
              <a:lnSpc>
                <a:spcPct val="90000"/>
              </a:lnSpc>
              <a:spcBef>
                <a:spcPct val="0"/>
              </a:spcBef>
              <a:buNone/>
            </a:pPr>
            <a:r>
              <a:rPr lang="en-US" altLang="zh-CN" sz="2000" b="1" dirty="0"/>
              <a:t>        struct sockaddr_in  server, client;</a:t>
            </a:r>
            <a:endParaRPr lang="en-US" altLang="zh-CN" sz="2000" b="1" dirty="0"/>
          </a:p>
          <a:p>
            <a:pPr eaLnBrk="1" hangingPunct="1">
              <a:lnSpc>
                <a:spcPct val="90000"/>
              </a:lnSpc>
              <a:spcBef>
                <a:spcPct val="0"/>
              </a:spcBef>
              <a:buNone/>
            </a:pPr>
            <a:r>
              <a:rPr lang="en-US" altLang="zh-CN" sz="2000" b="1" dirty="0"/>
              <a:t>        int   sin_size, num;</a:t>
            </a:r>
            <a:endParaRPr lang="en-US" altLang="zh-CN" sz="2000" b="1" dirty="0"/>
          </a:p>
          <a:p>
            <a:pPr eaLnBrk="1" hangingPunct="1">
              <a:lnSpc>
                <a:spcPct val="90000"/>
              </a:lnSpc>
              <a:spcBef>
                <a:spcPct val="0"/>
              </a:spcBef>
              <a:buNone/>
            </a:pPr>
            <a:r>
              <a:rPr lang="en-US" altLang="zh-CN" sz="2000" b="1" dirty="0"/>
              <a:t>        char  msg[MAXDATASIZE];</a:t>
            </a:r>
            <a:endParaRPr lang="en-US" altLang="zh-CN" sz="2000" b="1" dirty="0"/>
          </a:p>
          <a:p>
            <a:pPr eaLnBrk="1" hangingPunct="1">
              <a:lnSpc>
                <a:spcPct val="90000"/>
              </a:lnSpc>
              <a:spcBef>
                <a:spcPct val="0"/>
              </a:spcBef>
              <a:buNone/>
            </a:pPr>
            <a:r>
              <a:rPr lang="en-US" altLang="zh-CN" sz="2000" b="1" dirty="0"/>
              <a:t>        if ((sockfd = socket(AF_INET, SOCK_DGRAM, 0)) == -1)                  {</a:t>
            </a:r>
            <a:endParaRPr lang="en-US" altLang="zh-CN" sz="2000" b="1" dirty="0"/>
          </a:p>
          <a:p>
            <a:pPr eaLnBrk="1" hangingPunct="1">
              <a:lnSpc>
                <a:spcPct val="90000"/>
              </a:lnSpc>
              <a:spcBef>
                <a:spcPct val="0"/>
              </a:spcBef>
              <a:buNone/>
            </a:pPr>
            <a:r>
              <a:rPr lang="en-US" altLang="zh-CN" sz="2000" b="1" dirty="0"/>
              <a:t>                perror("Create socket failed");</a:t>
            </a:r>
            <a:endParaRPr lang="en-US" altLang="zh-CN" sz="2000" b="1" dirty="0"/>
          </a:p>
          <a:p>
            <a:pPr eaLnBrk="1" hangingPunct="1">
              <a:lnSpc>
                <a:spcPct val="90000"/>
              </a:lnSpc>
              <a:spcBef>
                <a:spcPct val="0"/>
              </a:spcBef>
              <a:buNone/>
            </a:pPr>
            <a:r>
              <a:rPr lang="en-US" altLang="zh-CN" sz="2000" b="1" dirty="0"/>
              <a:t>                exit(1);</a:t>
            </a:r>
            <a:endParaRPr lang="en-US" altLang="zh-CN" sz="2000" b="1" dirty="0"/>
          </a:p>
          <a:p>
            <a:pPr eaLnBrk="1" hangingPunct="1">
              <a:lnSpc>
                <a:spcPct val="90000"/>
              </a:lnSpc>
              <a:spcBef>
                <a:spcPct val="0"/>
              </a:spcBef>
              <a:buNone/>
            </a:pPr>
            <a:r>
              <a:rPr lang="en-US" altLang="zh-CN" sz="2000" b="1" dirty="0"/>
              <a:t>        }</a:t>
            </a:r>
            <a:endParaRPr lang="en-US" altLang="zh-CN" sz="2000" b="1" dirty="0"/>
          </a:p>
        </p:txBody>
      </p:sp>
    </p:spTree>
  </p:cSld>
  <p:clrMapOvr>
    <a:masterClrMapping/>
  </p:clrMapOvr>
  <p:transition>
    <p:random/>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0642" name="Rectangle 2"/>
          <p:cNvSpPr>
            <a:spLocks noGrp="1"/>
          </p:cNvSpPr>
          <p:nvPr>
            <p:ph type="title"/>
          </p:nvPr>
        </p:nvSpPr>
        <p:spPr>
          <a:xfrm>
            <a:off x="827088" y="476250"/>
            <a:ext cx="7467600" cy="762000"/>
          </a:xfrm>
        </p:spPr>
        <p:txBody>
          <a:bodyPr vert="horz" wrap="square" lIns="91440" tIns="45720" rIns="91440" bIns="45720" anchor="b" anchorCtr="0"/>
          <a:p>
            <a:pPr eaLnBrk="1" hangingPunct="1"/>
            <a:r>
              <a:rPr lang="en-US" altLang="zh-CN" dirty="0"/>
              <a:t>UDP</a:t>
            </a:r>
            <a:r>
              <a:rPr lang="zh-CN" altLang="en-US" dirty="0"/>
              <a:t>服务器（</a:t>
            </a:r>
            <a:r>
              <a:rPr lang="en-US" altLang="zh-CN" dirty="0"/>
              <a:t>Cont.</a:t>
            </a:r>
            <a:r>
              <a:rPr lang="zh-CN" altLang="en-US" dirty="0"/>
              <a:t>）</a:t>
            </a:r>
            <a:endParaRPr lang="zh-CN" altLang="en-US" dirty="0"/>
          </a:p>
        </p:txBody>
      </p:sp>
      <p:sp>
        <p:nvSpPr>
          <p:cNvPr id="240643" name="Rectangle 3"/>
          <p:cNvSpPr>
            <a:spLocks noGrp="1"/>
          </p:cNvSpPr>
          <p:nvPr>
            <p:ph idx="1"/>
          </p:nvPr>
        </p:nvSpPr>
        <p:spPr>
          <a:xfrm>
            <a:off x="755650" y="1471613"/>
            <a:ext cx="8540750" cy="5386387"/>
          </a:xfrm>
        </p:spPr>
        <p:txBody>
          <a:bodyPr vert="horz" wrap="square" lIns="91440" tIns="45720" rIns="91440" bIns="45720" anchor="t" anchorCtr="0"/>
          <a:p>
            <a:pPr eaLnBrk="1" hangingPunct="1">
              <a:spcBef>
                <a:spcPct val="0"/>
              </a:spcBef>
              <a:buNone/>
            </a:pPr>
            <a:r>
              <a:rPr lang="en-US" altLang="zh-CN" sz="1600" b="1" dirty="0"/>
              <a:t>	    </a:t>
            </a:r>
            <a:r>
              <a:rPr lang="en-US" altLang="zh-CN" sz="2000" b="1" dirty="0"/>
              <a:t>bzero(&amp;server, sizeof(server));</a:t>
            </a:r>
            <a:endParaRPr lang="en-US" altLang="zh-CN" sz="2000" b="1" dirty="0"/>
          </a:p>
          <a:p>
            <a:pPr eaLnBrk="1" hangingPunct="1">
              <a:spcBef>
                <a:spcPct val="0"/>
              </a:spcBef>
              <a:buNone/>
            </a:pPr>
            <a:r>
              <a:rPr lang="en-US" altLang="zh-CN" sz="2000" b="1" dirty="0"/>
              <a:t>        server.sin_family = AF_INET;</a:t>
            </a:r>
            <a:endParaRPr lang="en-US" altLang="zh-CN" sz="2000" b="1" dirty="0"/>
          </a:p>
          <a:p>
            <a:pPr eaLnBrk="1" hangingPunct="1">
              <a:spcBef>
                <a:spcPct val="0"/>
              </a:spcBef>
              <a:buNone/>
            </a:pPr>
            <a:r>
              <a:rPr lang="en-US" altLang="zh-CN" sz="2000" b="1" dirty="0"/>
              <a:t>        server.sin_port = htons(PORT);</a:t>
            </a:r>
            <a:endParaRPr lang="en-US" altLang="zh-CN" sz="2000" b="1" dirty="0"/>
          </a:p>
          <a:p>
            <a:pPr eaLnBrk="1" hangingPunct="1">
              <a:spcBef>
                <a:spcPct val="0"/>
              </a:spcBef>
              <a:buNone/>
            </a:pPr>
            <a:r>
              <a:rPr lang="en-US" altLang="zh-CN" sz="2000" b="1" dirty="0"/>
              <a:t>        server.sin_addr.s_addr = htonl(INADDR_ANY);</a:t>
            </a:r>
            <a:endParaRPr lang="en-US" altLang="zh-CN" sz="2000" b="1" dirty="0"/>
          </a:p>
          <a:p>
            <a:pPr eaLnBrk="1" hangingPunct="1">
              <a:spcBef>
                <a:spcPct val="0"/>
              </a:spcBef>
              <a:buNone/>
            </a:pPr>
            <a:r>
              <a:rPr lang="en-US" altLang="zh-CN" sz="2000" b="1" dirty="0"/>
              <a:t>        if (bind(sockfd, (struct sockaddr *)&amp;server, sizeof(struct sockaddr)) == -1) {</a:t>
            </a:r>
            <a:endParaRPr lang="en-US" altLang="zh-CN" sz="2000" b="1" dirty="0"/>
          </a:p>
          <a:p>
            <a:pPr eaLnBrk="1" hangingPunct="1">
              <a:spcBef>
                <a:spcPct val="0"/>
              </a:spcBef>
              <a:buNone/>
            </a:pPr>
            <a:r>
              <a:rPr lang="en-US" altLang="zh-CN" sz="2000" b="1" dirty="0"/>
              <a:t>                perror("Bind error.");</a:t>
            </a:r>
            <a:endParaRPr lang="en-US" altLang="zh-CN" sz="2000" b="1" dirty="0"/>
          </a:p>
          <a:p>
            <a:pPr eaLnBrk="1" hangingPunct="1">
              <a:spcBef>
                <a:spcPct val="0"/>
              </a:spcBef>
              <a:buNone/>
            </a:pPr>
            <a:r>
              <a:rPr lang="en-US" altLang="zh-CN" sz="2000" b="1" dirty="0"/>
              <a:t>                exit(1);</a:t>
            </a:r>
            <a:endParaRPr lang="en-US" altLang="zh-CN" sz="2000" b="1" dirty="0"/>
          </a:p>
          <a:p>
            <a:pPr eaLnBrk="1" hangingPunct="1">
              <a:spcBef>
                <a:spcPct val="0"/>
              </a:spcBef>
              <a:buNone/>
            </a:pPr>
            <a:r>
              <a:rPr lang="en-US" altLang="zh-CN" sz="2000" b="1" dirty="0"/>
              <a:t>        }</a:t>
            </a:r>
            <a:endParaRPr lang="en-US" altLang="zh-CN" sz="2000" b="1" dirty="0"/>
          </a:p>
          <a:p>
            <a:pPr eaLnBrk="1" hangingPunct="1">
              <a:spcBef>
                <a:spcPct val="0"/>
              </a:spcBef>
              <a:buNone/>
            </a:pPr>
            <a:r>
              <a:rPr lang="en-US" altLang="zh-CN" sz="2000" b="1" dirty="0"/>
              <a:t>        sin_size = sizeof(struct sockaddr_in);</a:t>
            </a:r>
            <a:endParaRPr lang="en-US" altLang="zh-CN" sz="2000" b="1" dirty="0"/>
          </a:p>
          <a:p>
            <a:pPr eaLnBrk="1" hangingPunct="1">
              <a:spcBef>
                <a:spcPct val="0"/>
              </a:spcBef>
              <a:buNone/>
            </a:pPr>
            <a:r>
              <a:rPr lang="en-US" altLang="zh-CN" sz="2000" b="1" dirty="0"/>
              <a:t>        while(1) {</a:t>
            </a:r>
            <a:endParaRPr lang="en-US" altLang="zh-CN" sz="2000" b="1" dirty="0"/>
          </a:p>
          <a:p>
            <a:pPr eaLnBrk="1" hangingPunct="1">
              <a:spcBef>
                <a:spcPct val="0"/>
              </a:spcBef>
              <a:buNone/>
            </a:pPr>
            <a:r>
              <a:rPr lang="en-US" altLang="zh-CN" sz="2000" b="1" dirty="0"/>
              <a:t>                num = recvfrom(sockfd, msg, MAXDATASIZE, 0, (struct sockaddr *)&amp;client, &amp;sin_size); </a:t>
            </a:r>
            <a:r>
              <a:rPr lang="en-US" altLang="zh-CN" sz="2000" b="1" dirty="0">
                <a:solidFill>
                  <a:srgbClr val="00B050"/>
                </a:solidFill>
              </a:rPr>
              <a:t>//</a:t>
            </a:r>
            <a:r>
              <a:rPr lang="zh-CN" altLang="en-US" sz="2000" b="1" dirty="0">
                <a:solidFill>
                  <a:srgbClr val="00B050"/>
                </a:solidFill>
                <a:latin typeface="微软雅黑" panose="020B0503020204020204" charset="-122"/>
                <a:ea typeface="微软雅黑" panose="020B0503020204020204" charset="-122"/>
              </a:rPr>
              <a:t>微信语音，别人的来电会显示</a:t>
            </a:r>
            <a:endParaRPr lang="en-US" altLang="zh-CN" sz="2000" b="1" dirty="0">
              <a:solidFill>
                <a:srgbClr val="00B050"/>
              </a:solidFill>
              <a:latin typeface="微软雅黑" panose="020B0503020204020204" charset="-122"/>
              <a:ea typeface="微软雅黑" panose="020B0503020204020204" charset="-122"/>
            </a:endParaRPr>
          </a:p>
          <a:p>
            <a:pPr eaLnBrk="1" hangingPunct="1">
              <a:spcBef>
                <a:spcPct val="0"/>
              </a:spcBef>
              <a:buNone/>
            </a:pPr>
            <a:r>
              <a:rPr lang="en-US" altLang="zh-CN" sz="2000" b="1" dirty="0"/>
              <a:t>                if (num &lt; 0)  {</a:t>
            </a:r>
            <a:endParaRPr lang="en-US" altLang="zh-CN" sz="2000" b="1" dirty="0"/>
          </a:p>
          <a:p>
            <a:pPr eaLnBrk="1" hangingPunct="1">
              <a:spcBef>
                <a:spcPct val="0"/>
              </a:spcBef>
              <a:buNone/>
            </a:pPr>
            <a:r>
              <a:rPr lang="en-US" altLang="zh-CN" sz="2000" b="1" dirty="0"/>
              <a:t>                        perror("recvfrom error.");</a:t>
            </a:r>
            <a:endParaRPr lang="en-US" altLang="zh-CN" sz="2000" b="1" dirty="0"/>
          </a:p>
          <a:p>
            <a:pPr eaLnBrk="1" hangingPunct="1">
              <a:spcBef>
                <a:spcPct val="0"/>
              </a:spcBef>
              <a:buNone/>
            </a:pPr>
            <a:r>
              <a:rPr lang="en-US" altLang="zh-CN" sz="2000" b="1" dirty="0"/>
              <a:t>        exit(1);</a:t>
            </a:r>
            <a:endParaRPr lang="en-US" altLang="zh-CN" sz="2000" b="1" dirty="0"/>
          </a:p>
          <a:p>
            <a:pPr eaLnBrk="1" hangingPunct="1">
              <a:spcBef>
                <a:spcPct val="0"/>
              </a:spcBef>
              <a:buNone/>
            </a:pPr>
            <a:r>
              <a:rPr lang="en-US" altLang="zh-CN" sz="2000" b="1" dirty="0"/>
              <a:t>                }</a:t>
            </a:r>
            <a:endParaRPr lang="en-US" altLang="zh-CN" sz="2000" b="1" dirty="0"/>
          </a:p>
        </p:txBody>
      </p:sp>
    </p:spTree>
  </p:cSld>
  <p:clrMapOvr>
    <a:masterClrMapping/>
  </p:clrMapOvr>
  <p:transition>
    <p:random/>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2690" name="Rectangle 2"/>
          <p:cNvSpPr>
            <a:spLocks noGrp="1"/>
          </p:cNvSpPr>
          <p:nvPr>
            <p:ph type="title"/>
          </p:nvPr>
        </p:nvSpPr>
        <p:spPr>
          <a:xfrm>
            <a:off x="1116013" y="620713"/>
            <a:ext cx="7634287" cy="484187"/>
          </a:xfrm>
        </p:spPr>
        <p:txBody>
          <a:bodyPr vert="horz" wrap="square" lIns="91440" tIns="45720" rIns="91440" bIns="45720" anchor="b" anchorCtr="0"/>
          <a:p>
            <a:pPr eaLnBrk="1" hangingPunct="1"/>
            <a:r>
              <a:rPr lang="en-US" altLang="zh-CN" dirty="0"/>
              <a:t>UDP</a:t>
            </a:r>
            <a:r>
              <a:rPr lang="zh-CN" altLang="en-US" dirty="0"/>
              <a:t>服务器（</a:t>
            </a:r>
            <a:r>
              <a:rPr lang="en-US" altLang="zh-CN" dirty="0"/>
              <a:t>Cont.</a:t>
            </a:r>
            <a:r>
              <a:rPr lang="zh-CN" altLang="en-US" dirty="0"/>
              <a:t>）</a:t>
            </a:r>
            <a:endParaRPr lang="zh-CN" altLang="en-US" dirty="0"/>
          </a:p>
        </p:txBody>
      </p:sp>
      <p:sp>
        <p:nvSpPr>
          <p:cNvPr id="242691" name="Rectangle 3"/>
          <p:cNvSpPr>
            <a:spLocks noGrp="1"/>
          </p:cNvSpPr>
          <p:nvPr>
            <p:ph idx="1"/>
          </p:nvPr>
        </p:nvSpPr>
        <p:spPr>
          <a:xfrm>
            <a:off x="684213" y="1557338"/>
            <a:ext cx="7543800" cy="4724400"/>
          </a:xfrm>
        </p:spPr>
        <p:txBody>
          <a:bodyPr vert="horz" wrap="square" lIns="91440" tIns="45720" rIns="91440" bIns="45720" anchor="t" anchorCtr="0"/>
          <a:p>
            <a:pPr eaLnBrk="1" hangingPunct="1">
              <a:spcBef>
                <a:spcPct val="0"/>
              </a:spcBef>
              <a:buNone/>
            </a:pPr>
            <a:r>
              <a:rPr lang="en-US" altLang="zh-CN" sz="1800" dirty="0"/>
              <a:t>		 </a:t>
            </a:r>
            <a:r>
              <a:rPr lang="en-US" altLang="zh-CN" sz="2400" b="1" dirty="0"/>
              <a:t>msg[num] ='\0';</a:t>
            </a:r>
            <a:endParaRPr lang="en-US" altLang="zh-CN" sz="2400" b="1" dirty="0"/>
          </a:p>
          <a:p>
            <a:pPr eaLnBrk="1" hangingPunct="1">
              <a:spcBef>
                <a:spcPct val="0"/>
              </a:spcBef>
              <a:buNone/>
            </a:pPr>
            <a:r>
              <a:rPr lang="en-US" altLang="zh-CN" sz="2400" b="1" dirty="0"/>
              <a:t>                printf("You got a message (%s) from %s\n", msg,inet_ntoa(client.sin_addr));</a:t>
            </a:r>
            <a:endParaRPr lang="en-US" altLang="zh-CN" sz="2400" b="1" dirty="0"/>
          </a:p>
          <a:p>
            <a:pPr eaLnBrk="1" hangingPunct="1">
              <a:spcBef>
                <a:spcPct val="0"/>
              </a:spcBef>
              <a:buNone/>
            </a:pPr>
            <a:r>
              <a:rPr lang="en-US" altLang="zh-CN" sz="2400" b="1" dirty="0"/>
              <a:t>                sendto(sockfd,"Welcome",strlen("welcome"), 0, (struct sockaddr *)&amp;client, sin_size);</a:t>
            </a:r>
            <a:endParaRPr lang="en-US" altLang="zh-CN" sz="2400" b="1" dirty="0"/>
          </a:p>
          <a:p>
            <a:pPr eaLnBrk="1" hangingPunct="1">
              <a:spcBef>
                <a:spcPct val="0"/>
              </a:spcBef>
              <a:buNone/>
            </a:pPr>
            <a:r>
              <a:rPr lang="en-US" altLang="zh-CN" sz="2400" b="1" dirty="0"/>
              <a:t>                if (!strcmp(msg,"quit"))  break;</a:t>
            </a:r>
            <a:endParaRPr lang="en-US" altLang="zh-CN" sz="2400" b="1" dirty="0"/>
          </a:p>
          <a:p>
            <a:pPr eaLnBrk="1" hangingPunct="1">
              <a:spcBef>
                <a:spcPct val="0"/>
              </a:spcBef>
              <a:buNone/>
            </a:pPr>
            <a:r>
              <a:rPr lang="en-US" altLang="zh-CN" sz="2400" b="1" dirty="0"/>
              <a:t>        }</a:t>
            </a:r>
            <a:endParaRPr lang="en-US" altLang="zh-CN" sz="2400" b="1" dirty="0"/>
          </a:p>
          <a:p>
            <a:pPr eaLnBrk="1" hangingPunct="1">
              <a:spcBef>
                <a:spcPct val="0"/>
              </a:spcBef>
              <a:buNone/>
            </a:pPr>
            <a:r>
              <a:rPr lang="en-US" altLang="zh-CN" sz="2400" b="1" dirty="0"/>
              <a:t>        close(sockfd);</a:t>
            </a:r>
            <a:endParaRPr lang="en-US" altLang="zh-CN" sz="2400" b="1" dirty="0"/>
          </a:p>
          <a:p>
            <a:pPr eaLnBrk="1" hangingPunct="1">
              <a:spcBef>
                <a:spcPct val="0"/>
              </a:spcBef>
              <a:buNone/>
            </a:pPr>
            <a:r>
              <a:rPr lang="en-US" altLang="zh-CN" sz="2400" b="1" dirty="0"/>
              <a:t>}</a:t>
            </a:r>
            <a:endParaRPr lang="en-US" altLang="zh-CN" sz="2400" b="1" dirty="0"/>
          </a:p>
        </p:txBody>
      </p:sp>
    </p:spTree>
  </p:cSld>
  <p:clrMapOvr>
    <a:masterClrMapping/>
  </p:clrMapOvr>
  <p:transition>
    <p:random/>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4738" name="Rectangle 2"/>
          <p:cNvSpPr>
            <a:spLocks noGrp="1"/>
          </p:cNvSpPr>
          <p:nvPr>
            <p:ph type="title"/>
          </p:nvPr>
        </p:nvSpPr>
        <p:spPr>
          <a:xfrm>
            <a:off x="468313" y="115888"/>
            <a:ext cx="7467600" cy="762000"/>
          </a:xfrm>
        </p:spPr>
        <p:txBody>
          <a:bodyPr vert="horz" wrap="square" lIns="91440" tIns="45720" rIns="91440" bIns="45720" anchor="b" anchorCtr="0"/>
          <a:p>
            <a:pPr eaLnBrk="1" hangingPunct="1"/>
            <a:r>
              <a:rPr lang="en-US" altLang="zh-CN" dirty="0"/>
              <a:t>UDP</a:t>
            </a:r>
            <a:r>
              <a:rPr lang="zh-CN" altLang="en-US" dirty="0"/>
              <a:t>客户</a:t>
            </a:r>
            <a:endParaRPr lang="zh-CN" altLang="en-US" dirty="0"/>
          </a:p>
        </p:txBody>
      </p:sp>
      <p:sp>
        <p:nvSpPr>
          <p:cNvPr id="244739" name="Rectangle 3"/>
          <p:cNvSpPr>
            <a:spLocks noGrp="1"/>
          </p:cNvSpPr>
          <p:nvPr>
            <p:ph idx="1"/>
          </p:nvPr>
        </p:nvSpPr>
        <p:spPr>
          <a:xfrm>
            <a:off x="890588" y="1106488"/>
            <a:ext cx="8145462" cy="5562600"/>
          </a:xfrm>
          <a:solidFill>
            <a:schemeClr val="bg1">
              <a:alpha val="100000"/>
            </a:schemeClr>
          </a:solidFill>
        </p:spPr>
        <p:txBody>
          <a:bodyPr vert="horz" wrap="square" lIns="91440" tIns="45720" rIns="91440" bIns="45720" anchor="t" anchorCtr="0"/>
          <a:p>
            <a:pPr eaLnBrk="1" hangingPunct="1">
              <a:lnSpc>
                <a:spcPct val="90000"/>
              </a:lnSpc>
              <a:spcBef>
                <a:spcPct val="0"/>
              </a:spcBef>
              <a:buNone/>
            </a:pPr>
            <a:r>
              <a:rPr lang="en-US" altLang="zh-CN" sz="2000" b="1" dirty="0"/>
              <a:t>#include &lt;unistd.h&gt;</a:t>
            </a:r>
            <a:endParaRPr lang="en-US" altLang="zh-CN" sz="2000" b="1" dirty="0"/>
          </a:p>
          <a:p>
            <a:pPr eaLnBrk="1" hangingPunct="1">
              <a:lnSpc>
                <a:spcPct val="90000"/>
              </a:lnSpc>
              <a:spcBef>
                <a:spcPct val="0"/>
              </a:spcBef>
              <a:buNone/>
            </a:pPr>
            <a:r>
              <a:rPr lang="en-US" altLang="zh-CN" sz="2000" b="1" dirty="0"/>
              <a:t>#include &lt;sys/socket.h&gt;</a:t>
            </a:r>
            <a:endParaRPr lang="en-US" altLang="zh-CN" sz="2000" b="1" dirty="0"/>
          </a:p>
          <a:p>
            <a:pPr eaLnBrk="1" hangingPunct="1">
              <a:lnSpc>
                <a:spcPct val="90000"/>
              </a:lnSpc>
              <a:spcBef>
                <a:spcPct val="0"/>
              </a:spcBef>
              <a:buNone/>
            </a:pPr>
            <a:r>
              <a:rPr lang="en-US" altLang="zh-CN" sz="2000" b="1" dirty="0"/>
              <a:t>#include &lt;netinet/in.h&gt;</a:t>
            </a:r>
            <a:endParaRPr lang="en-US" altLang="zh-CN" sz="2000" b="1" dirty="0"/>
          </a:p>
          <a:p>
            <a:pPr eaLnBrk="1" hangingPunct="1">
              <a:lnSpc>
                <a:spcPct val="90000"/>
              </a:lnSpc>
              <a:spcBef>
                <a:spcPct val="0"/>
              </a:spcBef>
              <a:buNone/>
            </a:pPr>
            <a:r>
              <a:rPr lang="en-US" altLang="zh-CN" sz="2000" b="1" dirty="0"/>
              <a:t>#include &lt;netdb.h&gt;</a:t>
            </a:r>
            <a:endParaRPr lang="en-US" altLang="zh-CN" sz="2000" b="1" dirty="0"/>
          </a:p>
          <a:p>
            <a:pPr eaLnBrk="1" hangingPunct="1">
              <a:lnSpc>
                <a:spcPct val="90000"/>
              </a:lnSpc>
              <a:spcBef>
                <a:spcPct val="0"/>
              </a:spcBef>
              <a:buNone/>
            </a:pPr>
            <a:r>
              <a:rPr lang="en-US" altLang="zh-CN" sz="2000" b="1" dirty="0"/>
              <a:t>#define PORT            1234</a:t>
            </a:r>
            <a:endParaRPr lang="en-US" altLang="zh-CN" sz="2000" b="1" dirty="0"/>
          </a:p>
          <a:p>
            <a:pPr eaLnBrk="1" hangingPunct="1">
              <a:lnSpc>
                <a:spcPct val="90000"/>
              </a:lnSpc>
              <a:spcBef>
                <a:spcPct val="0"/>
              </a:spcBef>
              <a:buNone/>
            </a:pPr>
            <a:r>
              <a:rPr lang="en-US" altLang="zh-CN" sz="2000" b="1" dirty="0"/>
              <a:t>#define MAXDATASIZE     100</a:t>
            </a:r>
            <a:endParaRPr lang="en-US" altLang="zh-CN" sz="2000" b="1" dirty="0"/>
          </a:p>
          <a:p>
            <a:pPr eaLnBrk="1" hangingPunct="1">
              <a:lnSpc>
                <a:spcPct val="90000"/>
              </a:lnSpc>
              <a:spcBef>
                <a:spcPct val="0"/>
              </a:spcBef>
              <a:buNone/>
            </a:pPr>
            <a:endParaRPr lang="en-US" altLang="zh-CN" sz="2000" b="1" dirty="0"/>
          </a:p>
          <a:p>
            <a:pPr eaLnBrk="1" hangingPunct="1">
              <a:lnSpc>
                <a:spcPct val="90000"/>
              </a:lnSpc>
              <a:spcBef>
                <a:spcPct val="0"/>
              </a:spcBef>
              <a:buNone/>
            </a:pPr>
            <a:r>
              <a:rPr lang="en-US" altLang="zh-CN" sz="2000" b="1" dirty="0"/>
              <a:t>int main(int argc, char *argv[])</a:t>
            </a:r>
            <a:endParaRPr lang="en-US" altLang="zh-CN" sz="2000" b="1" dirty="0"/>
          </a:p>
          <a:p>
            <a:pPr eaLnBrk="1" hangingPunct="1">
              <a:lnSpc>
                <a:spcPct val="90000"/>
              </a:lnSpc>
              <a:spcBef>
                <a:spcPct val="0"/>
              </a:spcBef>
              <a:buNone/>
            </a:pPr>
            <a:r>
              <a:rPr lang="en-US" altLang="zh-CN" sz="2000" b="1" dirty="0"/>
              <a:t>{</a:t>
            </a:r>
            <a:endParaRPr lang="en-US" altLang="zh-CN" sz="2000" b="1" dirty="0"/>
          </a:p>
          <a:p>
            <a:pPr eaLnBrk="1" hangingPunct="1">
              <a:lnSpc>
                <a:spcPct val="90000"/>
              </a:lnSpc>
              <a:spcBef>
                <a:spcPct val="0"/>
              </a:spcBef>
              <a:buNone/>
            </a:pPr>
            <a:r>
              <a:rPr lang="en-US" altLang="zh-CN" sz="2000" b="1" dirty="0"/>
              <a:t>        int fd, numbytes;</a:t>
            </a:r>
            <a:endParaRPr lang="en-US" altLang="zh-CN" sz="2000" b="1" dirty="0"/>
          </a:p>
          <a:p>
            <a:pPr eaLnBrk="1" hangingPunct="1">
              <a:lnSpc>
                <a:spcPct val="90000"/>
              </a:lnSpc>
              <a:spcBef>
                <a:spcPct val="0"/>
              </a:spcBef>
              <a:buNone/>
            </a:pPr>
            <a:r>
              <a:rPr lang="en-US" altLang="zh-CN" sz="2000" b="1" dirty="0"/>
              <a:t>        char    buf[MAXDATASIZE];</a:t>
            </a:r>
            <a:endParaRPr lang="en-US" altLang="zh-CN" sz="2000" b="1" dirty="0"/>
          </a:p>
          <a:p>
            <a:pPr eaLnBrk="1" hangingPunct="1">
              <a:lnSpc>
                <a:spcPct val="90000"/>
              </a:lnSpc>
              <a:spcBef>
                <a:spcPct val="0"/>
              </a:spcBef>
              <a:buNone/>
            </a:pPr>
            <a:r>
              <a:rPr lang="en-US" altLang="zh-CN" sz="2000" b="1" dirty="0"/>
              <a:t>        struct hostent *he;</a:t>
            </a:r>
            <a:endParaRPr lang="en-US" altLang="zh-CN" sz="2000" b="1" dirty="0"/>
          </a:p>
          <a:p>
            <a:pPr eaLnBrk="1" hangingPunct="1">
              <a:lnSpc>
                <a:spcPct val="90000"/>
              </a:lnSpc>
              <a:spcBef>
                <a:spcPct val="0"/>
              </a:spcBef>
              <a:buNone/>
            </a:pPr>
            <a:r>
              <a:rPr lang="en-US" altLang="zh-CN" sz="2000" b="1" dirty="0"/>
              <a:t>        struct sockaddr_in server, reply;</a:t>
            </a:r>
            <a:endParaRPr lang="en-US" altLang="zh-CN" sz="2000" b="1" dirty="0"/>
          </a:p>
          <a:p>
            <a:pPr eaLnBrk="1" hangingPunct="1">
              <a:lnSpc>
                <a:spcPct val="90000"/>
              </a:lnSpc>
              <a:spcBef>
                <a:spcPct val="0"/>
              </a:spcBef>
              <a:buNone/>
            </a:pPr>
            <a:r>
              <a:rPr lang="en-US" altLang="zh-CN" sz="2000" b="1" dirty="0"/>
              <a:t>        if (argc != 3)</a:t>
            </a:r>
            <a:endParaRPr lang="en-US" altLang="zh-CN" sz="2000" b="1" dirty="0"/>
          </a:p>
          <a:p>
            <a:pPr eaLnBrk="1" hangingPunct="1">
              <a:lnSpc>
                <a:spcPct val="90000"/>
              </a:lnSpc>
              <a:spcBef>
                <a:spcPct val="0"/>
              </a:spcBef>
              <a:buNone/>
            </a:pPr>
            <a:r>
              <a:rPr lang="en-US" altLang="zh-CN" sz="2000" b="1" dirty="0"/>
              <a:t>        {</a:t>
            </a:r>
            <a:endParaRPr lang="en-US" altLang="zh-CN" sz="2000" b="1" dirty="0"/>
          </a:p>
          <a:p>
            <a:pPr eaLnBrk="1" hangingPunct="1">
              <a:lnSpc>
                <a:spcPct val="90000"/>
              </a:lnSpc>
              <a:spcBef>
                <a:spcPct val="0"/>
              </a:spcBef>
              <a:buNone/>
            </a:pPr>
            <a:r>
              <a:rPr lang="en-US" altLang="zh-CN" sz="2000" b="1" dirty="0"/>
              <a:t>                printf("Usage: %s  &lt;IP address&gt;  &lt;Message&gt;\n", argv[0]);</a:t>
            </a:r>
            <a:endParaRPr lang="en-US" altLang="zh-CN" sz="2000" b="1" dirty="0"/>
          </a:p>
          <a:p>
            <a:pPr eaLnBrk="1" hangingPunct="1">
              <a:lnSpc>
                <a:spcPct val="90000"/>
              </a:lnSpc>
              <a:spcBef>
                <a:spcPct val="0"/>
              </a:spcBef>
              <a:buNone/>
            </a:pPr>
            <a:r>
              <a:rPr lang="en-US" altLang="zh-CN" sz="2000" b="1" dirty="0"/>
              <a:t>                exit(1);</a:t>
            </a:r>
            <a:endParaRPr lang="en-US" altLang="zh-CN" sz="2000" b="1" dirty="0"/>
          </a:p>
          <a:p>
            <a:pPr eaLnBrk="1" hangingPunct="1">
              <a:lnSpc>
                <a:spcPct val="90000"/>
              </a:lnSpc>
              <a:spcBef>
                <a:spcPct val="0"/>
              </a:spcBef>
              <a:buNone/>
            </a:pPr>
            <a:r>
              <a:rPr lang="en-US" altLang="zh-CN" sz="2000" b="1" dirty="0"/>
              <a:t>        }</a:t>
            </a:r>
            <a:endParaRPr lang="en-US" altLang="zh-CN" sz="2000" b="1" dirty="0"/>
          </a:p>
        </p:txBody>
      </p:sp>
    </p:spTree>
  </p:cSld>
  <p:clrMapOvr>
    <a:masterClrMapping/>
  </p:clrMapOvr>
  <p:transition>
    <p:random/>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6786" name="Rectangle 2"/>
          <p:cNvSpPr>
            <a:spLocks noGrp="1"/>
          </p:cNvSpPr>
          <p:nvPr>
            <p:ph type="title"/>
          </p:nvPr>
        </p:nvSpPr>
        <p:spPr>
          <a:xfrm>
            <a:off x="755650" y="115888"/>
            <a:ext cx="7467600" cy="762000"/>
          </a:xfrm>
        </p:spPr>
        <p:txBody>
          <a:bodyPr vert="horz" wrap="square" lIns="91440" tIns="45720" rIns="91440" bIns="45720" anchor="b" anchorCtr="0"/>
          <a:p>
            <a:pPr eaLnBrk="1" hangingPunct="1"/>
            <a:r>
              <a:rPr lang="en-US" altLang="zh-CN" dirty="0"/>
              <a:t>UDP</a:t>
            </a:r>
            <a:r>
              <a:rPr lang="zh-CN" altLang="en-US" dirty="0"/>
              <a:t>客户（</a:t>
            </a:r>
            <a:r>
              <a:rPr lang="en-US" altLang="zh-CN" dirty="0"/>
              <a:t>cont.)</a:t>
            </a:r>
            <a:endParaRPr lang="en-US" altLang="zh-CN" dirty="0"/>
          </a:p>
        </p:txBody>
      </p:sp>
      <p:sp>
        <p:nvSpPr>
          <p:cNvPr id="246787" name="Rectangle 3"/>
          <p:cNvSpPr>
            <a:spLocks noGrp="1"/>
          </p:cNvSpPr>
          <p:nvPr>
            <p:ph idx="1"/>
          </p:nvPr>
        </p:nvSpPr>
        <p:spPr>
          <a:xfrm>
            <a:off x="395288" y="1122363"/>
            <a:ext cx="8748712" cy="5691187"/>
          </a:xfrm>
          <a:solidFill>
            <a:schemeClr val="bg1">
              <a:alpha val="100000"/>
            </a:schemeClr>
          </a:solidFill>
        </p:spPr>
        <p:txBody>
          <a:bodyPr vert="horz" wrap="square" lIns="91440" tIns="45720" rIns="91440" bIns="45720" anchor="t" anchorCtr="0"/>
          <a:p>
            <a:pPr eaLnBrk="1" hangingPunct="1">
              <a:lnSpc>
                <a:spcPct val="90000"/>
              </a:lnSpc>
              <a:spcBef>
                <a:spcPct val="0"/>
              </a:spcBef>
              <a:buNone/>
            </a:pPr>
            <a:r>
              <a:rPr lang="en-US" altLang="zh-CN" sz="2000" dirty="0"/>
              <a:t>	 </a:t>
            </a:r>
            <a:r>
              <a:rPr lang="en-US" altLang="zh-CN" sz="2000" b="1" dirty="0"/>
              <a:t>}</a:t>
            </a:r>
            <a:endParaRPr lang="en-US" altLang="zh-CN" sz="2000" b="1" dirty="0"/>
          </a:p>
          <a:p>
            <a:pPr eaLnBrk="1" hangingPunct="1">
              <a:lnSpc>
                <a:spcPct val="90000"/>
              </a:lnSpc>
              <a:spcBef>
                <a:spcPct val="0"/>
              </a:spcBef>
              <a:buNone/>
            </a:pPr>
            <a:r>
              <a:rPr lang="en-US" altLang="zh-CN" sz="2000" b="1" dirty="0"/>
              <a:t>if ((he = gethostbyname(argv[1])) == NULL) {</a:t>
            </a:r>
            <a:endParaRPr lang="en-US" altLang="zh-CN" sz="2000" b="1" dirty="0"/>
          </a:p>
          <a:p>
            <a:pPr eaLnBrk="1" hangingPunct="1">
              <a:lnSpc>
                <a:spcPct val="90000"/>
              </a:lnSpc>
              <a:spcBef>
                <a:spcPct val="0"/>
              </a:spcBef>
              <a:buNone/>
            </a:pPr>
            <a:r>
              <a:rPr lang="en-US" altLang="zh-CN" sz="2000" b="1" dirty="0"/>
              <a:t>                perror("gethostbyname error\n");</a:t>
            </a:r>
            <a:endParaRPr lang="en-US" altLang="zh-CN" sz="2000" b="1" dirty="0"/>
          </a:p>
          <a:p>
            <a:pPr eaLnBrk="1" hangingPunct="1">
              <a:lnSpc>
                <a:spcPct val="90000"/>
              </a:lnSpc>
              <a:spcBef>
                <a:spcPct val="0"/>
              </a:spcBef>
              <a:buNone/>
            </a:pPr>
            <a:r>
              <a:rPr lang="en-US" altLang="zh-CN" sz="2000" b="1" dirty="0"/>
              <a:t>                exit(1);</a:t>
            </a:r>
            <a:endParaRPr lang="en-US" altLang="zh-CN" sz="2000" b="1" dirty="0"/>
          </a:p>
          <a:p>
            <a:pPr eaLnBrk="1" hangingPunct="1">
              <a:lnSpc>
                <a:spcPct val="90000"/>
              </a:lnSpc>
              <a:spcBef>
                <a:spcPct val="0"/>
              </a:spcBef>
              <a:buNone/>
            </a:pPr>
            <a:r>
              <a:rPr lang="en-US" altLang="zh-CN" sz="2000" b="1" dirty="0"/>
              <a:t>        }</a:t>
            </a:r>
            <a:endParaRPr lang="en-US" altLang="zh-CN" sz="2000" b="1" dirty="0"/>
          </a:p>
          <a:p>
            <a:pPr eaLnBrk="1" hangingPunct="1">
              <a:lnSpc>
                <a:spcPct val="90000"/>
              </a:lnSpc>
              <a:spcBef>
                <a:spcPct val="0"/>
              </a:spcBef>
              <a:buNone/>
            </a:pPr>
            <a:r>
              <a:rPr lang="en-US" altLang="zh-CN" sz="2000" b="1" dirty="0"/>
              <a:t>        if ((fd = socket(AF_INET, SOCK_DGRAM, 0)) == -1) {</a:t>
            </a:r>
            <a:endParaRPr lang="en-US" altLang="zh-CN" sz="2000" b="1" dirty="0"/>
          </a:p>
          <a:p>
            <a:pPr eaLnBrk="1" hangingPunct="1">
              <a:lnSpc>
                <a:spcPct val="90000"/>
              </a:lnSpc>
              <a:spcBef>
                <a:spcPct val="0"/>
              </a:spcBef>
              <a:buNone/>
            </a:pPr>
            <a:r>
              <a:rPr lang="en-US" altLang="zh-CN" sz="2000" b="1" dirty="0"/>
              <a:t>                perror("Create socket failed");</a:t>
            </a:r>
            <a:endParaRPr lang="en-US" altLang="zh-CN" sz="2000" b="1" dirty="0"/>
          </a:p>
          <a:p>
            <a:pPr eaLnBrk="1" hangingPunct="1">
              <a:lnSpc>
                <a:spcPct val="90000"/>
              </a:lnSpc>
              <a:spcBef>
                <a:spcPct val="0"/>
              </a:spcBef>
              <a:buNone/>
            </a:pPr>
            <a:r>
              <a:rPr lang="en-US" altLang="zh-CN" sz="2000" b="1" dirty="0"/>
              <a:t>                exit(1);</a:t>
            </a:r>
            <a:endParaRPr lang="en-US" altLang="zh-CN" sz="2000" b="1" dirty="0"/>
          </a:p>
          <a:p>
            <a:pPr eaLnBrk="1" hangingPunct="1">
              <a:lnSpc>
                <a:spcPct val="90000"/>
              </a:lnSpc>
              <a:spcBef>
                <a:spcPct val="0"/>
              </a:spcBef>
              <a:buNone/>
            </a:pPr>
            <a:r>
              <a:rPr lang="en-US" altLang="zh-CN" sz="2000" b="1" dirty="0"/>
              <a:t>        }</a:t>
            </a:r>
            <a:endParaRPr lang="en-US" altLang="zh-CN" sz="2000" b="1" dirty="0"/>
          </a:p>
          <a:p>
            <a:pPr eaLnBrk="1" hangingPunct="1">
              <a:lnSpc>
                <a:spcPct val="90000"/>
              </a:lnSpc>
              <a:spcBef>
                <a:spcPct val="0"/>
              </a:spcBef>
              <a:buNone/>
            </a:pPr>
            <a:r>
              <a:rPr lang="en-US" altLang="zh-CN" sz="2000" b="1" dirty="0"/>
              <a:t>        bzero(&amp;server, sizeof(server));</a:t>
            </a:r>
            <a:endParaRPr lang="en-US" altLang="zh-CN" sz="2000" b="1" dirty="0"/>
          </a:p>
          <a:p>
            <a:pPr eaLnBrk="1" hangingPunct="1">
              <a:lnSpc>
                <a:spcPct val="90000"/>
              </a:lnSpc>
              <a:spcBef>
                <a:spcPct val="0"/>
              </a:spcBef>
              <a:buNone/>
            </a:pPr>
            <a:r>
              <a:rPr lang="en-US" altLang="zh-CN" sz="2000" b="1" dirty="0"/>
              <a:t>        server.sin_family = AF_INET;</a:t>
            </a:r>
            <a:endParaRPr lang="en-US" altLang="zh-CN" sz="2000" b="1" dirty="0"/>
          </a:p>
          <a:p>
            <a:pPr eaLnBrk="1" hangingPunct="1">
              <a:lnSpc>
                <a:spcPct val="90000"/>
              </a:lnSpc>
              <a:spcBef>
                <a:spcPct val="0"/>
              </a:spcBef>
              <a:buNone/>
            </a:pPr>
            <a:r>
              <a:rPr lang="en-US" altLang="zh-CN" sz="2000" b="1" dirty="0"/>
              <a:t>        server.sin_port = htons(PORT);</a:t>
            </a:r>
            <a:endParaRPr lang="en-US" altLang="zh-CN" sz="2000" b="1" dirty="0"/>
          </a:p>
          <a:p>
            <a:pPr eaLnBrk="1" hangingPunct="1">
              <a:lnSpc>
                <a:spcPct val="90000"/>
              </a:lnSpc>
              <a:spcBef>
                <a:spcPct val="0"/>
              </a:spcBef>
              <a:buNone/>
            </a:pPr>
            <a:r>
              <a:rPr lang="en-US" altLang="zh-CN" sz="2000" b="1" dirty="0"/>
              <a:t>        server.sin_addr = *((struct in_addr *) he-&gt;h_addr);</a:t>
            </a:r>
            <a:endParaRPr lang="en-US" altLang="zh-CN" sz="2000" b="1" dirty="0"/>
          </a:p>
          <a:p>
            <a:pPr eaLnBrk="1" hangingPunct="1">
              <a:lnSpc>
                <a:spcPct val="90000"/>
              </a:lnSpc>
              <a:spcBef>
                <a:spcPct val="0"/>
              </a:spcBef>
              <a:buNone/>
            </a:pPr>
            <a:r>
              <a:rPr lang="en-US" altLang="zh-CN" sz="2000" b="1" dirty="0"/>
              <a:t>        sendto(fd, argv[2], strlen(argv[2]), 0, (struct sockaddr *)&amp;server, sizeof(struct sockaddr));</a:t>
            </a:r>
            <a:endParaRPr lang="en-US" altLang="zh-CN" sz="2000" b="1" dirty="0"/>
          </a:p>
          <a:p>
            <a:pPr eaLnBrk="1" hangingPunct="1">
              <a:lnSpc>
                <a:spcPct val="90000"/>
              </a:lnSpc>
              <a:spcBef>
                <a:spcPct val="0"/>
              </a:spcBef>
              <a:buNone/>
            </a:pPr>
            <a:r>
              <a:rPr lang="en-US" altLang="zh-CN" sz="2000" b="1" dirty="0"/>
              <a:t>       int len=sizeof(struct sockaddr_in);</a:t>
            </a:r>
            <a:endParaRPr lang="en-US" altLang="zh-CN" sz="2000" b="1" dirty="0"/>
          </a:p>
          <a:p>
            <a:pPr eaLnBrk="1" hangingPunct="1">
              <a:lnSpc>
                <a:spcPct val="90000"/>
              </a:lnSpc>
              <a:spcBef>
                <a:spcPct val="0"/>
              </a:spcBef>
              <a:buNone/>
            </a:pPr>
            <a:r>
              <a:rPr lang="en-US" altLang="zh-CN" sz="2000" b="1" dirty="0"/>
              <a:t>while(1)  {</a:t>
            </a:r>
            <a:endParaRPr lang="en-US" altLang="zh-CN" sz="2000" b="1" dirty="0"/>
          </a:p>
          <a:p>
            <a:pPr eaLnBrk="1" hangingPunct="1">
              <a:lnSpc>
                <a:spcPct val="90000"/>
              </a:lnSpc>
              <a:spcBef>
                <a:spcPct val="0"/>
              </a:spcBef>
              <a:buNone/>
            </a:pPr>
            <a:r>
              <a:rPr lang="en-US" altLang="zh-CN" sz="2000" b="1" dirty="0"/>
              <a:t>numbytes = recvfrom(fd,buf, MAXDATASIZE, 0, (struct sockaddr *)&amp;reply, &amp;len);</a:t>
            </a:r>
            <a:endParaRPr lang="en-US" altLang="zh-CN" sz="2000" b="1" dirty="0"/>
          </a:p>
          <a:p>
            <a:pPr eaLnBrk="1" hangingPunct="1">
              <a:lnSpc>
                <a:spcPct val="90000"/>
              </a:lnSpc>
              <a:spcBef>
                <a:spcPct val="0"/>
              </a:spcBef>
              <a:buNone/>
            </a:pPr>
            <a:r>
              <a:rPr lang="en-US" altLang="zh-CN" sz="2000" b="1" dirty="0"/>
              <a:t>                </a:t>
            </a:r>
            <a:endParaRPr lang="en-US" altLang="zh-CN" sz="2000" b="1" dirty="0"/>
          </a:p>
        </p:txBody>
      </p:sp>
    </p:spTree>
  </p:cSld>
  <p:clrMapOvr>
    <a:masterClrMapping/>
  </p:clrMapOvr>
  <p:transition>
    <p:random/>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8834" name="Rectangle 2"/>
          <p:cNvSpPr>
            <a:spLocks noGrp="1"/>
          </p:cNvSpPr>
          <p:nvPr>
            <p:ph type="title"/>
          </p:nvPr>
        </p:nvSpPr>
        <p:spPr>
          <a:xfrm>
            <a:off x="827088" y="404813"/>
            <a:ext cx="7467600" cy="762000"/>
          </a:xfrm>
        </p:spPr>
        <p:txBody>
          <a:bodyPr vert="horz" wrap="square" lIns="91440" tIns="45720" rIns="91440" bIns="45720" anchor="b" anchorCtr="0"/>
          <a:p>
            <a:pPr eaLnBrk="1" hangingPunct="1"/>
            <a:r>
              <a:rPr lang="en-US" altLang="zh-CN" dirty="0"/>
              <a:t>UDP</a:t>
            </a:r>
            <a:r>
              <a:rPr lang="zh-CN" altLang="en-US" dirty="0"/>
              <a:t>客户（</a:t>
            </a:r>
            <a:r>
              <a:rPr lang="en-US" altLang="zh-CN" dirty="0"/>
              <a:t>cont.)</a:t>
            </a:r>
            <a:endParaRPr lang="en-US" altLang="zh-CN" dirty="0"/>
          </a:p>
        </p:txBody>
      </p:sp>
      <p:sp>
        <p:nvSpPr>
          <p:cNvPr id="248835" name="Rectangle 3"/>
          <p:cNvSpPr>
            <a:spLocks noGrp="1"/>
          </p:cNvSpPr>
          <p:nvPr>
            <p:ph idx="1"/>
          </p:nvPr>
        </p:nvSpPr>
        <p:spPr>
          <a:xfrm>
            <a:off x="1042988" y="1412875"/>
            <a:ext cx="7543800" cy="4724400"/>
          </a:xfrm>
          <a:solidFill>
            <a:schemeClr val="bg1">
              <a:alpha val="100000"/>
            </a:schemeClr>
          </a:solidFill>
        </p:spPr>
        <p:txBody>
          <a:bodyPr vert="horz" wrap="square" lIns="91440" tIns="45720" rIns="91440" bIns="45720" anchor="t" anchorCtr="0"/>
          <a:p>
            <a:pPr eaLnBrk="1" hangingPunct="1">
              <a:lnSpc>
                <a:spcPct val="90000"/>
              </a:lnSpc>
              <a:spcBef>
                <a:spcPct val="0"/>
              </a:spcBef>
              <a:buNone/>
            </a:pPr>
            <a:r>
              <a:rPr lang="en-US" altLang="zh-CN" sz="2000" b="1" dirty="0"/>
              <a:t>if (numbytes ==-1)  {</a:t>
            </a:r>
            <a:endParaRPr lang="en-US" altLang="zh-CN" sz="2000" b="1" dirty="0"/>
          </a:p>
          <a:p>
            <a:pPr eaLnBrk="1" hangingPunct="1">
              <a:lnSpc>
                <a:spcPct val="90000"/>
              </a:lnSpc>
              <a:spcBef>
                <a:spcPct val="0"/>
              </a:spcBef>
              <a:buNone/>
            </a:pPr>
            <a:r>
              <a:rPr lang="en-US" altLang="zh-CN" sz="2000" b="1" dirty="0"/>
              <a:t>                        perror("recvfrom error.");</a:t>
            </a:r>
            <a:endParaRPr lang="en-US" altLang="zh-CN" sz="2000" b="1" dirty="0"/>
          </a:p>
          <a:p>
            <a:pPr eaLnBrk="1" hangingPunct="1">
              <a:lnSpc>
                <a:spcPct val="90000"/>
              </a:lnSpc>
              <a:spcBef>
                <a:spcPct val="0"/>
              </a:spcBef>
              <a:buNone/>
            </a:pPr>
            <a:r>
              <a:rPr lang="en-US" altLang="zh-CN" sz="2000" b="1" dirty="0"/>
              <a:t>        exit(1);</a:t>
            </a:r>
            <a:endParaRPr lang="en-US" altLang="zh-CN" sz="2000" b="1" dirty="0"/>
          </a:p>
          <a:p>
            <a:pPr eaLnBrk="1" hangingPunct="1">
              <a:lnSpc>
                <a:spcPct val="90000"/>
              </a:lnSpc>
              <a:spcBef>
                <a:spcPct val="0"/>
              </a:spcBef>
              <a:buNone/>
            </a:pPr>
            <a:r>
              <a:rPr lang="en-US" altLang="zh-CN" sz="2000" b="1" dirty="0"/>
              <a:t>                }</a:t>
            </a:r>
            <a:endParaRPr lang="en-US" altLang="zh-CN" sz="2000" b="1" dirty="0"/>
          </a:p>
          <a:p>
            <a:pPr eaLnBrk="1" hangingPunct="1">
              <a:lnSpc>
                <a:spcPct val="90000"/>
              </a:lnSpc>
              <a:spcBef>
                <a:spcPct val="0"/>
              </a:spcBef>
              <a:buNone/>
            </a:pPr>
            <a:r>
              <a:rPr lang="en-US" altLang="zh-CN" sz="2000" b="1" dirty="0"/>
              <a:t>		 </a:t>
            </a:r>
            <a:endParaRPr lang="en-US" altLang="zh-CN" sz="2000" b="1" dirty="0"/>
          </a:p>
          <a:p>
            <a:pPr eaLnBrk="1" hangingPunct="1">
              <a:lnSpc>
                <a:spcPct val="90000"/>
              </a:lnSpc>
              <a:spcBef>
                <a:spcPct val="0"/>
              </a:spcBef>
              <a:buNone/>
            </a:pPr>
            <a:r>
              <a:rPr lang="en-US" altLang="zh-CN" sz="2000" b="1" dirty="0"/>
              <a:t> if (len != sizeof(struct sockaddr_in) || memcmp((const void *)&amp;server,(const void *)&amp;reply, len)!= 0)      {</a:t>
            </a:r>
            <a:endParaRPr lang="en-US" altLang="zh-CN" sz="2000" b="1" dirty="0"/>
          </a:p>
          <a:p>
            <a:pPr eaLnBrk="1" hangingPunct="1">
              <a:lnSpc>
                <a:spcPct val="90000"/>
              </a:lnSpc>
              <a:spcBef>
                <a:spcPct val="0"/>
              </a:spcBef>
              <a:buNone/>
            </a:pPr>
            <a:r>
              <a:rPr lang="en-US" altLang="zh-CN" sz="2000" b="1" dirty="0"/>
              <a:t>                        printf("receive message from other server.\n");</a:t>
            </a:r>
            <a:endParaRPr lang="en-US" altLang="zh-CN" sz="2000" b="1" dirty="0"/>
          </a:p>
          <a:p>
            <a:pPr eaLnBrk="1" hangingPunct="1">
              <a:lnSpc>
                <a:spcPct val="90000"/>
              </a:lnSpc>
              <a:spcBef>
                <a:spcPct val="0"/>
              </a:spcBef>
              <a:buNone/>
            </a:pPr>
            <a:r>
              <a:rPr lang="en-US" altLang="zh-CN" sz="2000" b="1" dirty="0"/>
              <a:t>                        continue;</a:t>
            </a:r>
            <a:endParaRPr lang="en-US" altLang="zh-CN" sz="2000" b="1" dirty="0"/>
          </a:p>
          <a:p>
            <a:pPr eaLnBrk="1" hangingPunct="1">
              <a:lnSpc>
                <a:spcPct val="90000"/>
              </a:lnSpc>
              <a:spcBef>
                <a:spcPct val="0"/>
              </a:spcBef>
              <a:buNone/>
            </a:pPr>
            <a:r>
              <a:rPr lang="en-US" altLang="zh-CN" sz="2000" b="1" dirty="0"/>
              <a:t>                }</a:t>
            </a:r>
            <a:endParaRPr lang="en-US" altLang="zh-CN" sz="2000" b="1" dirty="0"/>
          </a:p>
          <a:p>
            <a:pPr eaLnBrk="1" hangingPunct="1">
              <a:lnSpc>
                <a:spcPct val="90000"/>
              </a:lnSpc>
              <a:spcBef>
                <a:spcPct val="0"/>
              </a:spcBef>
              <a:buNone/>
            </a:pPr>
            <a:r>
              <a:rPr lang="en-US" altLang="zh-CN" sz="2000" b="1" dirty="0"/>
              <a:t>                buf[numbytes] ='\0';</a:t>
            </a:r>
            <a:endParaRPr lang="en-US" altLang="zh-CN" sz="2000" b="1" dirty="0"/>
          </a:p>
          <a:p>
            <a:pPr eaLnBrk="1" hangingPunct="1">
              <a:lnSpc>
                <a:spcPct val="90000"/>
              </a:lnSpc>
              <a:spcBef>
                <a:spcPct val="0"/>
              </a:spcBef>
              <a:buNone/>
            </a:pPr>
            <a:r>
              <a:rPr lang="en-US" altLang="zh-CN" sz="2000" b="1" dirty="0"/>
              <a:t>                printf("Server Message: %s\n",buf);</a:t>
            </a:r>
            <a:endParaRPr lang="en-US" altLang="zh-CN" sz="2000" b="1" dirty="0"/>
          </a:p>
          <a:p>
            <a:pPr eaLnBrk="1" hangingPunct="1">
              <a:lnSpc>
                <a:spcPct val="90000"/>
              </a:lnSpc>
              <a:spcBef>
                <a:spcPct val="0"/>
              </a:spcBef>
              <a:buNone/>
            </a:pPr>
            <a:r>
              <a:rPr lang="en-US" altLang="zh-CN" sz="2000" b="1" dirty="0"/>
              <a:t>                break;</a:t>
            </a:r>
            <a:endParaRPr lang="en-US" altLang="zh-CN" sz="2000" b="1" dirty="0"/>
          </a:p>
          <a:p>
            <a:pPr eaLnBrk="1" hangingPunct="1">
              <a:lnSpc>
                <a:spcPct val="90000"/>
              </a:lnSpc>
              <a:spcBef>
                <a:spcPct val="0"/>
              </a:spcBef>
              <a:buNone/>
            </a:pPr>
            <a:r>
              <a:rPr lang="en-US" altLang="zh-CN" sz="2000" b="1" dirty="0"/>
              <a:t>        } /* while(1) */</a:t>
            </a:r>
            <a:endParaRPr lang="en-US" altLang="zh-CN" sz="2000" b="1" dirty="0"/>
          </a:p>
          <a:p>
            <a:pPr eaLnBrk="1" hangingPunct="1">
              <a:lnSpc>
                <a:spcPct val="90000"/>
              </a:lnSpc>
              <a:spcBef>
                <a:spcPct val="0"/>
              </a:spcBef>
              <a:buNone/>
            </a:pPr>
            <a:r>
              <a:rPr lang="en-US" altLang="zh-CN" sz="2000" b="1" dirty="0"/>
              <a:t>        close(fd);</a:t>
            </a:r>
            <a:endParaRPr lang="en-US" altLang="zh-CN" sz="2000" b="1" dirty="0"/>
          </a:p>
          <a:p>
            <a:pPr eaLnBrk="1" hangingPunct="1">
              <a:lnSpc>
                <a:spcPct val="90000"/>
              </a:lnSpc>
              <a:spcBef>
                <a:spcPct val="0"/>
              </a:spcBef>
              <a:buNone/>
            </a:pPr>
            <a:r>
              <a:rPr lang="en-US" altLang="zh-CN" sz="2000" b="1" dirty="0"/>
              <a:t>}     </a:t>
            </a:r>
            <a:endParaRPr lang="en-US" altLang="zh-CN" sz="2000" b="1" dirty="0"/>
          </a:p>
        </p:txBody>
      </p:sp>
      <p:sp>
        <p:nvSpPr>
          <p:cNvPr id="248836" name="椭圆形标注 3"/>
          <p:cNvSpPr/>
          <p:nvPr/>
        </p:nvSpPr>
        <p:spPr>
          <a:xfrm>
            <a:off x="6516688" y="-42862"/>
            <a:ext cx="2519362" cy="2419350"/>
          </a:xfrm>
          <a:prstGeom prst="wedgeEllipseCallout">
            <a:avLst>
              <a:gd name="adj1" fmla="val -17407"/>
              <a:gd name="adj2" fmla="val 65144"/>
            </a:avLst>
          </a:prstGeom>
          <a:solidFill>
            <a:schemeClr val="accent1"/>
          </a:solidFill>
          <a:ln w="9525" cap="flat" cmpd="sng">
            <a:solidFill>
              <a:schemeClr val="tx1"/>
            </a:solidFill>
            <a:prstDash val="solid"/>
            <a:round/>
            <a:headEnd type="none" w="med" len="med"/>
            <a:tailEnd type="none" w="med" len="med"/>
          </a:ln>
        </p:spPr>
        <p:txBody>
          <a:bodyPr/>
          <a:p>
            <a:pPr eaLnBrk="1" hangingPunct="1"/>
            <a:r>
              <a:rPr lang="zh-CN" altLang="en-US" dirty="0">
                <a:latin typeface="Tahoma" panose="020B0604030504040204" pitchFamily="34" charset="0"/>
              </a:rPr>
              <a:t>发往和回复必须同源，</a:t>
            </a:r>
            <a:r>
              <a:rPr lang="en-US" altLang="zh-CN" dirty="0">
                <a:latin typeface="Tahoma" panose="020B0604030504040204" pitchFamily="34" charset="0"/>
              </a:rPr>
              <a:t>server</a:t>
            </a:r>
            <a:r>
              <a:rPr lang="zh-CN" altLang="en-US" dirty="0">
                <a:latin typeface="Tahoma" panose="020B0604030504040204" pitchFamily="34" charset="0"/>
              </a:rPr>
              <a:t>和</a:t>
            </a:r>
            <a:r>
              <a:rPr lang="en-US" altLang="zh-CN" dirty="0">
                <a:latin typeface="Tahoma" panose="020B0604030504040204" pitchFamily="34" charset="0"/>
              </a:rPr>
              <a:t>reply</a:t>
            </a:r>
            <a:r>
              <a:rPr lang="zh-CN" altLang="en-US" dirty="0">
                <a:latin typeface="Tahoma" panose="020B0604030504040204" pitchFamily="34" charset="0"/>
              </a:rPr>
              <a:t>为同一协议地址</a:t>
            </a:r>
            <a:endParaRPr lang="zh-CN" altLang="en-US" dirty="0">
              <a:latin typeface="Tahoma" panose="020B0604030504040204" pitchFamily="34" charset="0"/>
            </a:endParaRPr>
          </a:p>
        </p:txBody>
      </p:sp>
    </p:spTree>
  </p:cSld>
  <p:clrMapOvr>
    <a:masterClrMapping/>
  </p:clrMapOvr>
  <p:transition>
    <p:random/>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50882" name="Object 2"/>
          <p:cNvGraphicFramePr>
            <a:graphicFrameLocks noChangeAspect="1"/>
          </p:cNvGraphicFramePr>
          <p:nvPr/>
        </p:nvGraphicFramePr>
        <p:xfrm>
          <a:off x="1143000" y="219075"/>
          <a:ext cx="6553200" cy="6134100"/>
        </p:xfrm>
        <a:graphic>
          <a:graphicData uri="http://schemas.openxmlformats.org/presentationml/2006/ole">
            <mc:AlternateContent xmlns:mc="http://schemas.openxmlformats.org/markup-compatibility/2006">
              <mc:Choice xmlns:v="urn:schemas-microsoft-com:vml" Requires="v">
                <p:oleObj spid="_x0000_s3077" name="" r:id="rId1" imgW="4457700" imgH="4171950" progId="Paint.Picture">
                  <p:embed/>
                </p:oleObj>
              </mc:Choice>
              <mc:Fallback>
                <p:oleObj name="" r:id="rId1" imgW="4457700" imgH="4171950" progId="Paint.Picture">
                  <p:embed/>
                  <p:pic>
                    <p:nvPicPr>
                      <p:cNvPr id="0" name="图片 3076"/>
                      <p:cNvPicPr/>
                      <p:nvPr/>
                    </p:nvPicPr>
                    <p:blipFill>
                      <a:blip r:embed="rId2"/>
                      <a:stretch>
                        <a:fillRect/>
                      </a:stretch>
                    </p:blipFill>
                    <p:spPr>
                      <a:xfrm>
                        <a:off x="1143000" y="219075"/>
                        <a:ext cx="6553200" cy="6134100"/>
                      </a:xfrm>
                      <a:prstGeom prst="rect">
                        <a:avLst/>
                      </a:prstGeom>
                      <a:noFill/>
                      <a:ln w="38100">
                        <a:noFill/>
                        <a:miter/>
                      </a:ln>
                    </p:spPr>
                  </p:pic>
                </p:oleObj>
              </mc:Fallback>
            </mc:AlternateContent>
          </a:graphicData>
        </a:graphic>
      </p:graphicFrame>
    </p:spTree>
  </p:cSld>
  <p:clrMapOvr>
    <a:masterClrMapping/>
  </p:clrMapOvr>
  <p:transition>
    <p:random/>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2930" name="Rectangle 2"/>
          <p:cNvSpPr>
            <a:spLocks noGrp="1"/>
          </p:cNvSpPr>
          <p:nvPr>
            <p:ph type="title"/>
          </p:nvPr>
        </p:nvSpPr>
        <p:spPr>
          <a:xfrm>
            <a:off x="827088" y="404813"/>
            <a:ext cx="7467600" cy="762000"/>
          </a:xfrm>
        </p:spPr>
        <p:txBody>
          <a:bodyPr vert="horz" wrap="square" lIns="91440" tIns="45720" rIns="91440" bIns="45720" anchor="b" anchorCtr="0"/>
          <a:p>
            <a:pPr eaLnBrk="1" hangingPunct="1"/>
            <a:r>
              <a:rPr lang="en-US" altLang="zh-CN" dirty="0"/>
              <a:t>UDP</a:t>
            </a:r>
            <a:r>
              <a:rPr lang="zh-CN" altLang="en-US" dirty="0"/>
              <a:t>中对数据报各项处理</a:t>
            </a:r>
            <a:endParaRPr lang="en-US" altLang="zh-CN" dirty="0"/>
          </a:p>
        </p:txBody>
      </p:sp>
      <p:sp>
        <p:nvSpPr>
          <p:cNvPr id="242691" name="Rectangle 3"/>
          <p:cNvSpPr>
            <a:spLocks noGrp="1" noChangeArrowheads="1"/>
          </p:cNvSpPr>
          <p:nvPr>
            <p:ph idx="1"/>
          </p:nvPr>
        </p:nvSpPr>
        <p:spPr>
          <a:xfrm>
            <a:off x="1042988" y="1412875"/>
            <a:ext cx="7543800" cy="4724400"/>
          </a:xfrm>
          <a:solidFill>
            <a:schemeClr val="bg1"/>
          </a:solidFill>
        </p:spPr>
        <p:txBody>
          <a:bodyPr vert="horz" wrap="square" lIns="91440" tIns="45720" rIns="91440" bIns="45720" numCol="1" anchor="t" anchorCtr="0" compatLnSpc="1"/>
          <a:lstStyle/>
          <a:p>
            <a:pPr marL="342900" marR="0" lvl="0" indent="-342900" algn="l" defTabSz="914400" rtl="0" eaLnBrk="1" fontAlgn="base" latinLnBrk="0" hangingPunct="1">
              <a:lnSpc>
                <a:spcPct val="90000"/>
              </a:lnSpc>
              <a:spcBef>
                <a:spcPct val="0"/>
              </a:spcBef>
              <a:spcAft>
                <a:spcPct val="0"/>
              </a:spcAft>
              <a:buClr>
                <a:schemeClr val="folHlink"/>
              </a:buClr>
              <a:buSzPct val="60000"/>
              <a:buFont typeface="Wingdings" panose="05000000000000000000" pitchFamily="2" charset="2"/>
              <a:buChar char="n"/>
              <a:defRPr/>
            </a:pPr>
            <a:r>
              <a:rPr kumimoji="0" lang="zh-CN" altLang="en-US" sz="2800" b="1" i="0" u="none" strike="noStrike" kern="0" cap="none" spc="0" normalizeH="0" baseline="0" noProof="0">
                <a:ln>
                  <a:noFill/>
                </a:ln>
                <a:solidFill>
                  <a:schemeClr val="tx1"/>
                </a:solidFill>
                <a:effectLst/>
                <a:uLnTx/>
                <a:uFillTx/>
                <a:latin typeface="+mn-lt"/>
                <a:ea typeface="+mn-ea"/>
                <a:cs typeface="+mn-cs"/>
              </a:rPr>
              <a:t>数据报丢失</a:t>
            </a:r>
            <a:endParaRPr kumimoji="0" lang="en-US" altLang="zh-CN" sz="2800" b="1" i="0" u="none" strike="noStrike" kern="0" cap="none" spc="0" normalizeH="0" baseline="0" noProof="0">
              <a:ln>
                <a:noFill/>
              </a:ln>
              <a:solidFill>
                <a:schemeClr val="tx1"/>
              </a:solidFill>
              <a:effectLst/>
              <a:uLnTx/>
              <a:uFillTx/>
              <a:latin typeface="+mn-lt"/>
              <a:ea typeface="+mn-ea"/>
              <a:cs typeface="+mn-cs"/>
            </a:endParaRPr>
          </a:p>
          <a:p>
            <a:pPr marL="0" marR="0" lvl="0" indent="0" algn="l" defTabSz="914400" rtl="0" eaLnBrk="1" fontAlgn="base" latinLnBrk="0" hangingPunct="1">
              <a:lnSpc>
                <a:spcPct val="90000"/>
              </a:lnSpc>
              <a:spcBef>
                <a:spcPct val="0"/>
              </a:spcBef>
              <a:spcAft>
                <a:spcPct val="0"/>
              </a:spcAft>
              <a:buClr>
                <a:schemeClr val="folHlink"/>
              </a:buClr>
              <a:buSzPct val="60000"/>
              <a:buFont typeface="Wingdings" panose="05000000000000000000" pitchFamily="2" charset="2"/>
              <a:buNone/>
              <a:defRPr/>
            </a:pPr>
            <a:r>
              <a:rPr kumimoji="0" lang="en-US" altLang="zh-CN" sz="2800" b="1" i="0" u="none" strike="noStrike" kern="0" cap="none" spc="0" normalizeH="0" baseline="0" noProof="0">
                <a:ln>
                  <a:noFill/>
                </a:ln>
                <a:solidFill>
                  <a:schemeClr val="tx1"/>
                </a:solidFill>
                <a:effectLst/>
                <a:uLnTx/>
                <a:uFillTx/>
                <a:latin typeface="+mn-lt"/>
                <a:ea typeface="+mn-ea"/>
                <a:cs typeface="+mn-cs"/>
              </a:rPr>
              <a:t>    recvfrom </a:t>
            </a:r>
            <a:r>
              <a:rPr kumimoji="0" lang="zh-CN" altLang="en-US" sz="2800" b="1" i="0" u="none" strike="noStrike" kern="0" cap="none" spc="0" normalizeH="0" baseline="0" noProof="0">
                <a:ln>
                  <a:noFill/>
                </a:ln>
                <a:solidFill>
                  <a:schemeClr val="tx1"/>
                </a:solidFill>
                <a:effectLst/>
                <a:uLnTx/>
                <a:uFillTx/>
                <a:latin typeface="+mn-lt"/>
                <a:ea typeface="+mn-ea"/>
                <a:cs typeface="+mn-cs"/>
              </a:rPr>
              <a:t>设置超时</a:t>
            </a:r>
            <a:endParaRPr kumimoji="0" lang="en-US" altLang="zh-CN" sz="2800" b="1" i="0" u="none" strike="noStrike" kern="0" cap="none" spc="0" normalizeH="0" baseline="0" noProof="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90000"/>
              </a:lnSpc>
              <a:spcBef>
                <a:spcPct val="0"/>
              </a:spcBef>
              <a:spcAft>
                <a:spcPct val="0"/>
              </a:spcAft>
              <a:buClr>
                <a:schemeClr val="folHlink"/>
              </a:buClr>
              <a:buSzPct val="60000"/>
              <a:buFont typeface="Wingdings" panose="05000000000000000000" pitchFamily="2" charset="2"/>
              <a:buNone/>
              <a:defRPr/>
            </a:pPr>
            <a:endParaRPr kumimoji="0" lang="en-US" altLang="zh-CN" sz="2800" b="1" i="0" u="none" strike="noStrike" kern="0" cap="none" spc="0" normalizeH="0" baseline="0" noProof="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90000"/>
              </a:lnSpc>
              <a:spcBef>
                <a:spcPct val="0"/>
              </a:spcBef>
              <a:spcAft>
                <a:spcPct val="0"/>
              </a:spcAft>
              <a:buClr>
                <a:schemeClr val="folHlink"/>
              </a:buClr>
              <a:buSzPct val="60000"/>
              <a:buFont typeface="Wingdings" panose="05000000000000000000" pitchFamily="2" charset="2"/>
              <a:buChar char="n"/>
              <a:defRPr/>
            </a:pPr>
            <a:r>
              <a:rPr kumimoji="0" lang="zh-CN" altLang="en-US" sz="2800" b="1" i="0" u="none" strike="noStrike" kern="0" cap="none" spc="0" normalizeH="0" baseline="0" noProof="0">
                <a:ln>
                  <a:noFill/>
                </a:ln>
                <a:solidFill>
                  <a:schemeClr val="tx1"/>
                </a:solidFill>
                <a:effectLst/>
                <a:uLnTx/>
                <a:uFillTx/>
                <a:latin typeface="+mn-lt"/>
                <a:ea typeface="+mn-ea"/>
                <a:cs typeface="+mn-cs"/>
              </a:rPr>
              <a:t>验证收到的响应</a:t>
            </a:r>
            <a:endParaRPr kumimoji="0" lang="en-US" altLang="zh-CN" sz="2800" b="1" i="0" u="none" strike="noStrike" kern="0" cap="none" spc="0" normalizeH="0" baseline="0" noProof="0">
              <a:ln>
                <a:noFill/>
              </a:ln>
              <a:solidFill>
                <a:schemeClr val="tx1"/>
              </a:solidFill>
              <a:effectLst/>
              <a:uLnTx/>
              <a:uFillTx/>
              <a:latin typeface="+mn-lt"/>
              <a:ea typeface="+mn-ea"/>
              <a:cs typeface="+mn-cs"/>
            </a:endParaRPr>
          </a:p>
          <a:p>
            <a:pPr marL="0" marR="0" lvl="0" indent="0" algn="l" defTabSz="914400" rtl="0" eaLnBrk="1" fontAlgn="base" latinLnBrk="0" hangingPunct="1">
              <a:lnSpc>
                <a:spcPct val="90000"/>
              </a:lnSpc>
              <a:spcBef>
                <a:spcPct val="0"/>
              </a:spcBef>
              <a:spcAft>
                <a:spcPct val="0"/>
              </a:spcAft>
              <a:buClr>
                <a:schemeClr val="folHlink"/>
              </a:buClr>
              <a:buSzPct val="60000"/>
              <a:buFont typeface="Wingdings" panose="05000000000000000000" pitchFamily="2" charset="2"/>
              <a:buNone/>
              <a:defRPr/>
            </a:pPr>
            <a:r>
              <a:rPr kumimoji="0" lang="zh-CN" altLang="en-US" sz="2800" b="1" i="0" u="none" strike="noStrike" kern="0" cap="none" spc="0" normalizeH="0" baseline="0" noProof="0">
                <a:ln>
                  <a:noFill/>
                </a:ln>
                <a:solidFill>
                  <a:schemeClr val="tx1"/>
                </a:solidFill>
                <a:effectLst/>
                <a:uLnTx/>
                <a:uFillTx/>
                <a:latin typeface="+mn-lt"/>
                <a:ea typeface="+mn-ea"/>
                <a:cs typeface="+mn-cs"/>
              </a:rPr>
              <a:t>   比较地址以及地址长度、</a:t>
            </a:r>
            <a:r>
              <a:rPr kumimoji="0" lang="en-US" altLang="zh-CN" sz="2800" b="1" i="0" u="none" strike="noStrike" kern="0" cap="none" spc="0" normalizeH="0" baseline="0" noProof="0">
                <a:ln>
                  <a:noFill/>
                </a:ln>
                <a:solidFill>
                  <a:schemeClr val="tx1"/>
                </a:solidFill>
                <a:effectLst/>
                <a:uLnTx/>
                <a:uFillTx/>
                <a:latin typeface="+mn-lt"/>
                <a:ea typeface="+mn-ea"/>
                <a:cs typeface="+mn-cs"/>
              </a:rPr>
              <a:t>DNS</a:t>
            </a:r>
            <a:r>
              <a:rPr kumimoji="0" lang="zh-CN" altLang="en-US" sz="2800" b="1" i="0" u="none" strike="noStrike" kern="0" cap="none" spc="0" normalizeH="0" baseline="0" noProof="0">
                <a:ln>
                  <a:noFill/>
                </a:ln>
                <a:solidFill>
                  <a:schemeClr val="tx1"/>
                </a:solidFill>
                <a:effectLst/>
                <a:uLnTx/>
                <a:uFillTx/>
                <a:latin typeface="+mn-lt"/>
                <a:ea typeface="+mn-ea"/>
                <a:cs typeface="+mn-cs"/>
              </a:rPr>
              <a:t>查找</a:t>
            </a:r>
            <a:endParaRPr kumimoji="0" lang="en-US" altLang="zh-CN" sz="2800" b="1" i="0" u="none" strike="noStrike" kern="0" cap="none" spc="0" normalizeH="0" baseline="0" noProof="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90000"/>
              </a:lnSpc>
              <a:spcBef>
                <a:spcPct val="0"/>
              </a:spcBef>
              <a:spcAft>
                <a:spcPct val="0"/>
              </a:spcAft>
              <a:buClr>
                <a:schemeClr val="folHlink"/>
              </a:buClr>
              <a:buSzPct val="60000"/>
              <a:buFont typeface="Wingdings" panose="05000000000000000000" pitchFamily="2" charset="2"/>
              <a:buNone/>
              <a:defRPr/>
            </a:pPr>
            <a:endParaRPr kumimoji="0" lang="en-US" altLang="zh-CN" sz="2800" b="1" i="0" u="none" strike="noStrike" kern="0" cap="none" spc="0" normalizeH="0" baseline="0" noProof="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90000"/>
              </a:lnSpc>
              <a:spcBef>
                <a:spcPct val="0"/>
              </a:spcBef>
              <a:spcAft>
                <a:spcPct val="0"/>
              </a:spcAft>
              <a:buClr>
                <a:schemeClr val="folHlink"/>
              </a:buClr>
              <a:buSzPct val="60000"/>
              <a:buFont typeface="Wingdings" panose="05000000000000000000" pitchFamily="2" charset="2"/>
              <a:buChar char="n"/>
              <a:defRPr/>
            </a:pPr>
            <a:r>
              <a:rPr kumimoji="0" lang="zh-CN" altLang="en-US" sz="2800" b="1" i="0" u="none" strike="noStrike" kern="0" cap="none" spc="0" normalizeH="0" baseline="0" noProof="0">
                <a:ln>
                  <a:noFill/>
                </a:ln>
                <a:solidFill>
                  <a:schemeClr val="tx1"/>
                </a:solidFill>
                <a:effectLst/>
                <a:uLnTx/>
                <a:uFillTx/>
                <a:latin typeface="+mn-lt"/>
                <a:ea typeface="+mn-ea"/>
                <a:cs typeface="+mn-cs"/>
              </a:rPr>
              <a:t>服务器未运行</a:t>
            </a:r>
            <a:endParaRPr kumimoji="0" lang="en-US" altLang="zh-CN" sz="2800" b="1" i="0" u="none" strike="noStrike" kern="0" cap="none" spc="0" normalizeH="0" baseline="0" noProof="0">
              <a:ln>
                <a:noFill/>
              </a:ln>
              <a:solidFill>
                <a:schemeClr val="tx1"/>
              </a:solidFill>
              <a:effectLst/>
              <a:uLnTx/>
              <a:uFillTx/>
              <a:latin typeface="+mn-lt"/>
              <a:ea typeface="+mn-ea"/>
              <a:cs typeface="+mn-cs"/>
            </a:endParaRPr>
          </a:p>
          <a:p>
            <a:pPr marL="0" marR="0" lvl="0" indent="0" algn="l" defTabSz="914400" rtl="0" eaLnBrk="1" fontAlgn="base" latinLnBrk="0" hangingPunct="1">
              <a:lnSpc>
                <a:spcPct val="90000"/>
              </a:lnSpc>
              <a:spcBef>
                <a:spcPct val="0"/>
              </a:spcBef>
              <a:spcAft>
                <a:spcPct val="0"/>
              </a:spcAft>
              <a:buClr>
                <a:schemeClr val="folHlink"/>
              </a:buClr>
              <a:buSzPct val="60000"/>
              <a:buFont typeface="Wingdings" panose="05000000000000000000" pitchFamily="2" charset="2"/>
              <a:buNone/>
              <a:defRPr/>
            </a:pPr>
            <a:r>
              <a:rPr kumimoji="0" lang="zh-CN" altLang="en-US" sz="2800" b="1" i="0" u="none" strike="noStrike" kern="0" cap="none" spc="0" normalizeH="0" baseline="0" noProof="0">
                <a:ln>
                  <a:noFill/>
                </a:ln>
                <a:solidFill>
                  <a:schemeClr val="tx1"/>
                </a:solidFill>
                <a:effectLst/>
                <a:uLnTx/>
                <a:uFillTx/>
                <a:latin typeface="+mn-lt"/>
                <a:ea typeface="+mn-ea"/>
                <a:cs typeface="+mn-cs"/>
              </a:rPr>
              <a:t> 引发“端口不可达”的</a:t>
            </a:r>
            <a:r>
              <a:rPr kumimoji="0" lang="en-US" altLang="zh-CN" sz="2800" b="1" i="0" u="none" strike="noStrike" kern="0" cap="none" spc="0" normalizeH="0" baseline="0" noProof="0">
                <a:ln>
                  <a:noFill/>
                </a:ln>
                <a:solidFill>
                  <a:schemeClr val="tx1"/>
                </a:solidFill>
                <a:effectLst/>
                <a:uLnTx/>
                <a:uFillTx/>
                <a:latin typeface="+mn-lt"/>
                <a:ea typeface="+mn-ea"/>
                <a:cs typeface="+mn-cs"/>
              </a:rPr>
              <a:t>ICMP</a:t>
            </a:r>
            <a:r>
              <a:rPr kumimoji="0" lang="zh-CN" altLang="en-US" sz="2800" b="1" i="0" u="none" strike="noStrike" kern="0" cap="none" spc="0" normalizeH="0" baseline="0" noProof="0">
                <a:ln>
                  <a:noFill/>
                </a:ln>
                <a:solidFill>
                  <a:schemeClr val="tx1"/>
                </a:solidFill>
                <a:effectLst/>
                <a:uLnTx/>
                <a:uFillTx/>
                <a:latin typeface="+mn-lt"/>
                <a:ea typeface="+mn-ea"/>
                <a:cs typeface="+mn-cs"/>
              </a:rPr>
              <a:t>消息响应。</a:t>
            </a:r>
            <a:endParaRPr kumimoji="0" lang="en-US" altLang="zh-CN" sz="2800" b="1" i="0" u="none" strike="noStrike" kern="0" cap="none" spc="0" normalizeH="0" baseline="0" noProof="0">
              <a:ln>
                <a:noFill/>
              </a:ln>
              <a:solidFill>
                <a:schemeClr val="tx1"/>
              </a:solidFill>
              <a:effectLst/>
              <a:uLnTx/>
              <a:uFillTx/>
              <a:latin typeface="+mn-lt"/>
              <a:ea typeface="+mn-ea"/>
              <a:cs typeface="+mn-cs"/>
            </a:endParaRPr>
          </a:p>
        </p:txBody>
      </p:sp>
    </p:spTree>
  </p:cSld>
  <p:clrMapOvr>
    <a:masterClrMapping/>
  </p:clrMapOvr>
  <p:transition>
    <p:random/>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4978" name="标题 1"/>
          <p:cNvSpPr>
            <a:spLocks noGrp="1"/>
          </p:cNvSpPr>
          <p:nvPr>
            <p:ph type="title"/>
          </p:nvPr>
        </p:nvSpPr>
        <p:spPr/>
        <p:txBody>
          <a:bodyPr vert="horz" wrap="square" lIns="91440" tIns="45720" rIns="91440" bIns="45720" anchor="b" anchorCtr="0"/>
          <a:p>
            <a:r>
              <a:rPr lang="en-US" altLang="zh-CN" dirty="0"/>
              <a:t>connect</a:t>
            </a:r>
            <a:r>
              <a:rPr lang="zh-CN" altLang="en-US" dirty="0"/>
              <a:t>函数用于</a:t>
            </a:r>
            <a:r>
              <a:rPr lang="en-US" altLang="zh-CN" dirty="0"/>
              <a:t>UDP</a:t>
            </a:r>
            <a:endParaRPr lang="zh-CN" altLang="en-US" dirty="0"/>
          </a:p>
        </p:txBody>
      </p:sp>
      <p:sp>
        <p:nvSpPr>
          <p:cNvPr id="254979" name="内容占位符 2"/>
          <p:cNvSpPr>
            <a:spLocks noGrp="1"/>
          </p:cNvSpPr>
          <p:nvPr>
            <p:ph idx="1"/>
          </p:nvPr>
        </p:nvSpPr>
        <p:spPr/>
        <p:txBody>
          <a:bodyPr vert="horz" wrap="square" lIns="91440" tIns="45720" rIns="91440" bIns="45720" anchor="t" anchorCtr="0"/>
          <a:p>
            <a:pPr>
              <a:lnSpc>
                <a:spcPct val="150000"/>
              </a:lnSpc>
            </a:pPr>
            <a:r>
              <a:rPr lang="zh-CN" altLang="en-US" sz="2800" dirty="0"/>
              <a:t>不能再指定目的</a:t>
            </a:r>
            <a:r>
              <a:rPr lang="en-US" altLang="zh-CN" sz="2800" dirty="0"/>
              <a:t>IP</a:t>
            </a:r>
            <a:r>
              <a:rPr lang="zh-CN" altLang="en-US" sz="2800" dirty="0"/>
              <a:t>和端口号。</a:t>
            </a:r>
            <a:endParaRPr lang="en-US" altLang="zh-CN" sz="2800" dirty="0"/>
          </a:p>
          <a:p>
            <a:pPr>
              <a:lnSpc>
                <a:spcPct val="150000"/>
              </a:lnSpc>
            </a:pPr>
            <a:r>
              <a:rPr lang="zh-CN" altLang="en-US" sz="2800" dirty="0"/>
              <a:t>发送数据时不能再使用</a:t>
            </a:r>
            <a:r>
              <a:rPr lang="en-US" altLang="zh-CN" sz="2800" dirty="0"/>
              <a:t>sendto</a:t>
            </a:r>
            <a:r>
              <a:rPr lang="zh-CN" altLang="en-US" sz="2800" dirty="0"/>
              <a:t>函数，而要使用</a:t>
            </a:r>
            <a:r>
              <a:rPr lang="en-US" altLang="zh-CN" sz="2800" dirty="0"/>
              <a:t>wirte</a:t>
            </a:r>
            <a:r>
              <a:rPr lang="zh-CN" altLang="en-US" sz="2800" dirty="0"/>
              <a:t>或</a:t>
            </a:r>
            <a:r>
              <a:rPr lang="en-US" altLang="zh-CN" sz="2800" dirty="0"/>
              <a:t>send</a:t>
            </a:r>
            <a:r>
              <a:rPr lang="zh-CN" altLang="en-US" sz="2800" dirty="0"/>
              <a:t>函数。</a:t>
            </a:r>
            <a:endParaRPr lang="en-US" altLang="zh-CN" sz="2800" dirty="0"/>
          </a:p>
          <a:p>
            <a:pPr>
              <a:lnSpc>
                <a:spcPct val="150000"/>
              </a:lnSpc>
            </a:pPr>
            <a:r>
              <a:rPr lang="zh-CN" altLang="en-US" sz="2800" dirty="0"/>
              <a:t>接收数据时不能使用</a:t>
            </a:r>
            <a:r>
              <a:rPr lang="en-US" altLang="zh-CN" sz="2800" dirty="0"/>
              <a:t>recvfrom</a:t>
            </a:r>
            <a:r>
              <a:rPr lang="zh-CN" altLang="en-US" sz="2800" dirty="0"/>
              <a:t>函数，而要使用</a:t>
            </a:r>
            <a:r>
              <a:rPr lang="en-US" altLang="zh-CN" sz="2800" dirty="0"/>
              <a:t>read</a:t>
            </a:r>
            <a:r>
              <a:rPr lang="zh-CN" altLang="en-US" sz="2800" dirty="0"/>
              <a:t>或</a:t>
            </a:r>
            <a:r>
              <a:rPr lang="en-US" altLang="zh-CN" sz="2800" dirty="0"/>
              <a:t>recv</a:t>
            </a:r>
            <a:r>
              <a:rPr lang="zh-CN" altLang="en-US" sz="2800" dirty="0"/>
              <a:t>函数。</a:t>
            </a:r>
            <a:endParaRPr lang="en-US" altLang="zh-CN" sz="2800" dirty="0"/>
          </a:p>
          <a:p>
            <a:pPr>
              <a:lnSpc>
                <a:spcPct val="150000"/>
              </a:lnSpc>
            </a:pPr>
            <a:r>
              <a:rPr lang="zh-CN" altLang="en-US" sz="2800" dirty="0"/>
              <a:t>异步错误由已连接</a:t>
            </a:r>
            <a:r>
              <a:rPr lang="en-US" altLang="zh-CN" sz="2800" dirty="0"/>
              <a:t>UDP</a:t>
            </a:r>
            <a:r>
              <a:rPr lang="zh-CN" altLang="en-US" sz="2800" dirty="0"/>
              <a:t>套接字返回给进程。</a:t>
            </a:r>
            <a:endParaRPr lang="zh-CN" altLang="en-US" sz="2800" dirty="0"/>
          </a:p>
        </p:txBody>
      </p:sp>
    </p:spTree>
  </p:cSld>
  <p:clrMapOvr>
    <a:masterClrMapping/>
  </p:clrMapOvr>
  <p:transition>
    <p:random/>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02" name="Rectangle 2"/>
          <p:cNvSpPr>
            <a:spLocks noGrp="1"/>
          </p:cNvSpPr>
          <p:nvPr>
            <p:ph type="title"/>
          </p:nvPr>
        </p:nvSpPr>
        <p:spPr>
          <a:xfrm>
            <a:off x="381000" y="2514600"/>
            <a:ext cx="7467600" cy="762000"/>
          </a:xfrm>
        </p:spPr>
        <p:txBody>
          <a:bodyPr vert="horz" wrap="square" lIns="91440" tIns="45720" rIns="91440" bIns="45720" anchor="b" anchorCtr="0"/>
          <a:p>
            <a:pPr eaLnBrk="1" hangingPunct="1"/>
            <a:r>
              <a:rPr lang="zh-CN" altLang="en-US" dirty="0"/>
              <a:t>第二部分完</a:t>
            </a:r>
            <a:endParaRPr lang="zh-CN" altLang="en-US" dirty="0"/>
          </a:p>
        </p:txBody>
      </p:sp>
    </p:spTree>
  </p:cSld>
  <p:clrMapOvr>
    <a:masterClrMapping/>
  </p:clrMapOvr>
  <p:transition>
    <p:random/>
  </p:transition>
</p:sld>
</file>

<file path=ppt/tags/tag1.xml><?xml version="1.0" encoding="utf-8"?>
<p:tagLst xmlns:p="http://schemas.openxmlformats.org/presentationml/2006/main">
  <p:tag name="KSO_WPP_MARK_KEY" val="570e637f-ace7-49a6-a6f1-b8c83fc4f975"/>
  <p:tag name="COMMONDATA" val="eyJoZGlkIjoiMzcyODMxYTE0ZTc0ZGU3Y2QwODc3MzYzN2Q1YmNiM2EifQ=="/>
</p:tagLst>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2400" b="1"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2400" b="1"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Blends</Template>
  <TotalTime>0</TotalTime>
  <Words>30980</Words>
  <Application>WPS 演示</Application>
  <PresentationFormat>全屏显示(4:3)</PresentationFormat>
  <Paragraphs>1692</Paragraphs>
  <Slides>133</Slides>
  <Notes>109</Notes>
  <HiddenSlides>0</HiddenSlides>
  <MMClips>0</MMClips>
  <ScaleCrop>false</ScaleCrop>
  <HeadingPairs>
    <vt:vector size="8" baseType="variant">
      <vt:variant>
        <vt:lpstr>已用的字体</vt:lpstr>
      </vt:variant>
      <vt:variant>
        <vt:i4>15</vt:i4>
      </vt:variant>
      <vt:variant>
        <vt:lpstr>主题</vt:lpstr>
      </vt:variant>
      <vt:variant>
        <vt:i4>4</vt:i4>
      </vt:variant>
      <vt:variant>
        <vt:lpstr>嵌入 OLE 服务器</vt:lpstr>
      </vt:variant>
      <vt:variant>
        <vt:i4>5</vt:i4>
      </vt:variant>
      <vt:variant>
        <vt:lpstr>幻灯片标题</vt:lpstr>
      </vt:variant>
      <vt:variant>
        <vt:i4>133</vt:i4>
      </vt:variant>
    </vt:vector>
  </HeadingPairs>
  <TitlesOfParts>
    <vt:vector size="157" baseType="lpstr">
      <vt:lpstr>Arial</vt:lpstr>
      <vt:lpstr>宋体</vt:lpstr>
      <vt:lpstr>Wingdings</vt:lpstr>
      <vt:lpstr>Tahoma</vt:lpstr>
      <vt:lpstr>Times New Roman</vt:lpstr>
      <vt:lpstr>Comic Sans MS</vt:lpstr>
      <vt:lpstr>微软雅黑</vt:lpstr>
      <vt:lpstr>Arial Unicode MS</vt:lpstr>
      <vt:lpstr>方正剪纸简体</vt:lpstr>
      <vt:lpstr>黑体</vt:lpstr>
      <vt:lpstr>Cambria</vt:lpstr>
      <vt:lpstr>仿宋</vt:lpstr>
      <vt:lpstr>华文新魏</vt:lpstr>
      <vt:lpstr>微软雅黑 Light</vt:lpstr>
      <vt:lpstr>Tahoma</vt:lpstr>
      <vt:lpstr>Blends</vt:lpstr>
      <vt:lpstr>1_Blends</vt:lpstr>
      <vt:lpstr>2_Blends</vt:lpstr>
      <vt:lpstr>3_Blends</vt:lpstr>
      <vt:lpstr>MS_ClipArt_Gallery.2</vt:lpstr>
      <vt:lpstr>MS_ClipArt_Gallery.2</vt:lpstr>
      <vt:lpstr>Visio.Drawing.11</vt:lpstr>
      <vt:lpstr>Paint.Picture</vt:lpstr>
      <vt:lpstr>Paint.Picture</vt:lpstr>
      <vt:lpstr>基本套接字编程  </vt:lpstr>
      <vt:lpstr>主要内容</vt:lpstr>
      <vt:lpstr> 套接字基础</vt:lpstr>
      <vt:lpstr> 套接字基础</vt:lpstr>
      <vt:lpstr>PowerPoint 演示文稿</vt:lpstr>
      <vt:lpstr>PowerPoint 演示文稿</vt:lpstr>
      <vt:lpstr>套接字(套接口)</vt:lpstr>
      <vt:lpstr>套接字(套接口)</vt:lpstr>
      <vt:lpstr>套接字类型</vt:lpstr>
      <vt:lpstr>PowerPoint 演示文稿</vt:lpstr>
      <vt:lpstr>套接字地址结构（IPv4)</vt:lpstr>
      <vt:lpstr>PowerPoint 演示文稿</vt:lpstr>
      <vt:lpstr>通用套接字地址结构</vt:lpstr>
      <vt:lpstr>PowerPoint 演示文稿</vt:lpstr>
      <vt:lpstr>PowerPoint 演示文稿</vt:lpstr>
      <vt:lpstr>字节排序函数</vt:lpstr>
      <vt:lpstr>字节排序函数</vt:lpstr>
      <vt:lpstr>字节排序函数（cont.）</vt:lpstr>
      <vt:lpstr>字节排序函数（cont.）</vt:lpstr>
      <vt:lpstr>字节排序函数（cont.）</vt:lpstr>
      <vt:lpstr>字节操纵函数</vt:lpstr>
      <vt:lpstr>PowerPoint 演示文稿</vt:lpstr>
      <vt:lpstr>Memset函数</vt:lpstr>
      <vt:lpstr>地址转换函数</vt:lpstr>
      <vt:lpstr>地址转换函数</vt:lpstr>
      <vt:lpstr>地址转换函数</vt:lpstr>
      <vt:lpstr>地址转换函数</vt:lpstr>
      <vt:lpstr>地址转换函数</vt:lpstr>
      <vt:lpstr>地址转换函数</vt:lpstr>
      <vt:lpstr>地址转换函数</vt:lpstr>
      <vt:lpstr>地址转换函数（cont.）</vt:lpstr>
      <vt:lpstr>inet_pton的实现（只支持IPv4）</vt:lpstr>
      <vt:lpstr>inet_pton的调用</vt:lpstr>
      <vt:lpstr>inet_ntop的实现（只支持IPv4）</vt:lpstr>
      <vt:lpstr>inet_ntop的调用</vt:lpstr>
      <vt:lpstr>PowerPoint 演示文稿</vt:lpstr>
      <vt:lpstr>TCP套接字编程（cont.）</vt:lpstr>
      <vt:lpstr>TCP套接字</vt:lpstr>
      <vt:lpstr>PowerPoint 演示文稿</vt:lpstr>
      <vt:lpstr>PowerPoint 演示文稿</vt:lpstr>
      <vt:lpstr>PowerPoint 演示文稿</vt:lpstr>
      <vt:lpstr>PowerPoint 演示文稿</vt:lpstr>
      <vt:lpstr>PowerPoint 演示文稿</vt:lpstr>
      <vt:lpstr>PowerPoint 演示文稿</vt:lpstr>
      <vt:lpstr>TCP套接字编程（cont.）</vt:lpstr>
      <vt:lpstr>PowerPoint 演示文稿</vt:lpstr>
      <vt:lpstr>基本套接字函数－bind</vt:lpstr>
      <vt:lpstr>PowerPoint 演示文稿</vt:lpstr>
      <vt:lpstr>PowerPoint 演示文稿</vt:lpstr>
      <vt:lpstr>bind函数（续）</vt:lpstr>
      <vt:lpstr>PowerPoint 演示文稿</vt:lpstr>
      <vt:lpstr>setsockopt函数</vt:lpstr>
      <vt:lpstr>PowerPoint 演示文稿</vt:lpstr>
      <vt:lpstr>bind函数的用法</vt:lpstr>
      <vt:lpstr>TCP套接字编程（cont.）</vt:lpstr>
      <vt:lpstr>基本套接字函数－listen</vt:lpstr>
      <vt:lpstr>基本套接字函数－listen</vt:lpstr>
      <vt:lpstr>PowerPoint 演示文稿</vt:lpstr>
      <vt:lpstr>listen函数（续）</vt:lpstr>
      <vt:lpstr>listen函数（续）</vt:lpstr>
      <vt:lpstr>TCP套接字编程（cont.）</vt:lpstr>
      <vt:lpstr>基本套接字函数－connect</vt:lpstr>
      <vt:lpstr>connect函数（续）</vt:lpstr>
      <vt:lpstr>PowerPoint 演示文稿</vt:lpstr>
      <vt:lpstr>TCP套接字编程（cont.）</vt:lpstr>
      <vt:lpstr>基本套接字函数－accept</vt:lpstr>
      <vt:lpstr>accept函数示例</vt:lpstr>
      <vt:lpstr>accept函数示例</vt:lpstr>
      <vt:lpstr>TCP套接字编程（cont.）</vt:lpstr>
      <vt:lpstr>基本套接字函数－close</vt:lpstr>
      <vt:lpstr>基本套接字函数-shutdown</vt:lpstr>
      <vt:lpstr>PowerPoint 演示文稿</vt:lpstr>
      <vt:lpstr>基本套接字函数－read</vt:lpstr>
      <vt:lpstr>基本套接字函数－write</vt:lpstr>
      <vt:lpstr>数据传输函数－send</vt:lpstr>
      <vt:lpstr>数据传输函数－recv</vt:lpstr>
      <vt:lpstr>TCP套接字编程（cont.）</vt:lpstr>
      <vt:lpstr>域名解析函数－gethostbyname</vt:lpstr>
      <vt:lpstr>结构hostent</vt:lpstr>
      <vt:lpstr>gethostbyname 返回的信息</vt:lpstr>
      <vt:lpstr>PowerPoint 演示文稿</vt:lpstr>
      <vt:lpstr>PowerPoint 演示文稿</vt:lpstr>
      <vt:lpstr>PowerPoint 演示文稿</vt:lpstr>
      <vt:lpstr>PowerPoint 演示文稿</vt:lpstr>
      <vt:lpstr>PowerPoint 演示文稿</vt:lpstr>
      <vt:lpstr>PowerPoint 演示文稿</vt:lpstr>
      <vt:lpstr>TCP套接字编程</vt:lpstr>
      <vt:lpstr>TCP套接字编程（cont.）</vt:lpstr>
      <vt:lpstr>TCP服务器模板</vt:lpstr>
      <vt:lpstr>TCP客户模板</vt:lpstr>
      <vt:lpstr>TCP套接字例程</vt:lpstr>
      <vt:lpstr>TCP服务器程序</vt:lpstr>
      <vt:lpstr>TCP服务器程序（cont.）</vt:lpstr>
      <vt:lpstr>TCP服务器程序（cont.）</vt:lpstr>
      <vt:lpstr>TCP客户程序</vt:lpstr>
      <vt:lpstr>TCP客户程序（cont.）</vt:lpstr>
      <vt:lpstr>TCP客户程序（cont.）</vt:lpstr>
      <vt:lpstr>PowerPoint 演示文稿</vt:lpstr>
      <vt:lpstr>上机1</vt:lpstr>
      <vt:lpstr>三种异常情况</vt:lpstr>
      <vt:lpstr>服务器主机崩溃</vt:lpstr>
      <vt:lpstr>服务器主机崩溃后重启</vt:lpstr>
      <vt:lpstr>服务器主机关机</vt:lpstr>
      <vt:lpstr>第四章 UDP套接字</vt:lpstr>
      <vt:lpstr>UDP套接字编程概述</vt:lpstr>
      <vt:lpstr>UDP套接字编程</vt:lpstr>
      <vt:lpstr>UDP套接字编程（Cont.）</vt:lpstr>
      <vt:lpstr>UDP套接字编程（Cont.）</vt:lpstr>
      <vt:lpstr>UDP数据传输函数－sendto</vt:lpstr>
      <vt:lpstr>UDP数据传输函数－sendto</vt:lpstr>
      <vt:lpstr>send与sendto函数的对比</vt:lpstr>
      <vt:lpstr>对比（Cont.）</vt:lpstr>
      <vt:lpstr>UDP数据传输函数－recvfrom</vt:lpstr>
      <vt:lpstr>UDP数据传输函数－recvfrom</vt:lpstr>
      <vt:lpstr>值—结果参数</vt:lpstr>
      <vt:lpstr>值—结果参数</vt:lpstr>
      <vt:lpstr>值—结果参数</vt:lpstr>
      <vt:lpstr>PowerPoint 演示文稿</vt:lpstr>
      <vt:lpstr>值—结果参数</vt:lpstr>
      <vt:lpstr>值—结果参数</vt:lpstr>
      <vt:lpstr>UDP服务器模板</vt:lpstr>
      <vt:lpstr>UDP客户模板</vt:lpstr>
      <vt:lpstr>UDP套接字例程</vt:lpstr>
      <vt:lpstr>UDP服务器</vt:lpstr>
      <vt:lpstr>UDP服务器（Cont.）</vt:lpstr>
      <vt:lpstr>UDP服务器（Cont.）</vt:lpstr>
      <vt:lpstr>UDP客户</vt:lpstr>
      <vt:lpstr>UDP客户（cont.)</vt:lpstr>
      <vt:lpstr>UDP客户（cont.)</vt:lpstr>
      <vt:lpstr>PowerPoint 演示文稿</vt:lpstr>
      <vt:lpstr>UDP中对数据报各项处理</vt:lpstr>
      <vt:lpstr>connect函数用于UDP</vt:lpstr>
      <vt:lpstr>第二部分完</vt:lpstr>
    </vt:vector>
  </TitlesOfParts>
  <Company>China Mobile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网络编程技术</dc:title>
  <dc:creator>TTL</dc:creator>
  <cp:lastModifiedBy>穆意</cp:lastModifiedBy>
  <cp:revision>578</cp:revision>
  <dcterms:created xsi:type="dcterms:W3CDTF">2007-02-24T02:58:00Z</dcterms:created>
  <dcterms:modified xsi:type="dcterms:W3CDTF">2025-04-14T01:41:45Z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FDAA44F26D5043A198E25EEC4E05B908_12</vt:lpwstr>
  </property>
  <property fmtid="{D5CDD505-2E9C-101B-9397-08002B2CF9AE}" pid="3" name="KSOProductBuildVer">
    <vt:lpwstr>2052-11.1.0.12165</vt:lpwstr>
  </property>
</Properties>
</file>