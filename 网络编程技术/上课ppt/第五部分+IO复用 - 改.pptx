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402" r:id="rId6"/>
    <p:sldId id="403" r:id="rId7"/>
    <p:sldId id="259" r:id="rId8"/>
    <p:sldId id="400"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408" r:id="rId23"/>
    <p:sldId id="273" r:id="rId24"/>
    <p:sldId id="409" r:id="rId25"/>
    <p:sldId id="410" r:id="rId26"/>
    <p:sldId id="411" r:id="rId27"/>
    <p:sldId id="274" r:id="rId28"/>
    <p:sldId id="275" r:id="rId29"/>
    <p:sldId id="412" r:id="rId30"/>
    <p:sldId id="393" r:id="rId31"/>
    <p:sldId id="276" r:id="rId32"/>
    <p:sldId id="277" r:id="rId33"/>
    <p:sldId id="278" r:id="rId34"/>
    <p:sldId id="413" r:id="rId35"/>
    <p:sldId id="414" r:id="rId36"/>
    <p:sldId id="415" r:id="rId37"/>
    <p:sldId id="279" r:id="rId38"/>
    <p:sldId id="401" r:id="rId39"/>
    <p:sldId id="280" r:id="rId40"/>
    <p:sldId id="281" r:id="rId41"/>
    <p:sldId id="282" r:id="rId42"/>
    <p:sldId id="364" r:id="rId43"/>
    <p:sldId id="370" r:id="rId44"/>
    <p:sldId id="366" r:id="rId45"/>
    <p:sldId id="416" r:id="rId46"/>
    <p:sldId id="417" r:id="rId47"/>
    <p:sldId id="418" r:id="rId48"/>
    <p:sldId id="419" r:id="rId49"/>
    <p:sldId id="420" r:id="rId50"/>
    <p:sldId id="421" r:id="rId51"/>
    <p:sldId id="422" r:id="rId52"/>
    <p:sldId id="423" r:id="rId53"/>
    <p:sldId id="424" r:id="rId54"/>
    <p:sldId id="425" r:id="rId55"/>
    <p:sldId id="426" r:id="rId56"/>
    <p:sldId id="427" r:id="rId57"/>
    <p:sldId id="428" r:id="rId58"/>
    <p:sldId id="429" r:id="rId59"/>
    <p:sldId id="376" r:id="rId60"/>
    <p:sldId id="377" r:id="rId61"/>
    <p:sldId id="378" r:id="rId62"/>
    <p:sldId id="399" r:id="rId63"/>
    <p:sldId id="379" r:id="rId64"/>
    <p:sldId id="381" r:id="rId65"/>
    <p:sldId id="382" r:id="rId66"/>
    <p:sldId id="383" r:id="rId67"/>
    <p:sldId id="384" r:id="rId68"/>
    <p:sldId id="396" r:id="rId69"/>
    <p:sldId id="394" r:id="rId70"/>
    <p:sldId id="385" r:id="rId71"/>
    <p:sldId id="386" r:id="rId72"/>
    <p:sldId id="406" r:id="rId73"/>
    <p:sldId id="387" r:id="rId74"/>
    <p:sldId id="389" r:id="rId75"/>
    <p:sldId id="391" r:id="rId76"/>
    <p:sldId id="398" r:id="rId77"/>
    <p:sldId id="392" r:id="rId78"/>
    <p:sldId id="390" r:id="rId79"/>
    <p:sldId id="397" r:id="rId80"/>
    <p:sldId id="291" r:id="rId81"/>
    <p:sldId id="292" r:id="rId82"/>
    <p:sldId id="374" r:id="rId83"/>
    <p:sldId id="293" r:id="rId84"/>
    <p:sldId id="294" r:id="rId85"/>
    <p:sldId id="295" r:id="rId86"/>
    <p:sldId id="296" r:id="rId87"/>
    <p:sldId id="297" r:id="rId88"/>
    <p:sldId id="298" r:id="rId89"/>
    <p:sldId id="299" r:id="rId90"/>
    <p:sldId id="300" r:id="rId91"/>
    <p:sldId id="301" r:id="rId92"/>
    <p:sldId id="302" r:id="rId93"/>
    <p:sldId id="303" r:id="rId94"/>
    <p:sldId id="304" r:id="rId95"/>
    <p:sldId id="375" r:id="rId96"/>
    <p:sldId id="305" r:id="rId97"/>
    <p:sldId id="306" r:id="rId98"/>
    <p:sldId id="307" r:id="rId99"/>
    <p:sldId id="405" r:id="rId100"/>
    <p:sldId id="309" r:id="rId101"/>
    <p:sldId id="311" r:id="rId102"/>
    <p:sldId id="312" r:id="rId103"/>
    <p:sldId id="313" r:id="rId104"/>
    <p:sldId id="314" r:id="rId105"/>
    <p:sldId id="315" r:id="rId106"/>
    <p:sldId id="316" r:id="rId107"/>
    <p:sldId id="317" r:id="rId108"/>
    <p:sldId id="319" r:id="rId109"/>
    <p:sldId id="320" r:id="rId110"/>
    <p:sldId id="321" r:id="rId111"/>
    <p:sldId id="322" r:id="rId112"/>
    <p:sldId id="323" r:id="rId113"/>
  </p:sldIdLst>
  <p:sldSz cx="9144000" cy="6858000" type="screen4x3"/>
  <p:notesSz cx="6858000" cy="9144000"/>
  <p:custDataLst>
    <p:tags r:id="rId117"/>
  </p:custDataLst>
  <p:defaultTextStyle>
    <a:defPPr>
      <a:defRPr lang="zh-CN"/>
    </a:defPPr>
    <a:lvl1pPr algn="l" rtl="0" fontAlgn="base">
      <a:spcBef>
        <a:spcPct val="0"/>
      </a:spcBef>
      <a:spcAft>
        <a:spcPct val="0"/>
      </a:spcAft>
      <a:defRPr sz="20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0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0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0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000" kern="120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4F2D"/>
    <a:srgbClr val="897237"/>
    <a:srgbClr val="000000"/>
    <a:srgbClr val="766E4A"/>
    <a:srgbClr val="FF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967" autoAdjust="0"/>
    <p:restoredTop sz="78200" autoAdjust="0"/>
  </p:normalViewPr>
  <p:slideViewPr>
    <p:cSldViewPr showGuides="1">
      <p:cViewPr varScale="1">
        <p:scale>
          <a:sx n="67" d="100"/>
          <a:sy n="67" d="100"/>
        </p:scale>
        <p:origin x="1478" y="67"/>
      </p:cViewPr>
      <p:guideLst>
        <p:guide orient="horz" pos="2197"/>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47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7" Type="http://schemas.openxmlformats.org/officeDocument/2006/relationships/tags" Target="tags/tag1.xml"/><Relationship Id="rId116" Type="http://schemas.openxmlformats.org/officeDocument/2006/relationships/tableStyles" Target="tableStyles.xml"/><Relationship Id="rId115" Type="http://schemas.openxmlformats.org/officeDocument/2006/relationships/viewProps" Target="viewProps.xml"/><Relationship Id="rId114" Type="http://schemas.openxmlformats.org/officeDocument/2006/relationships/presProps" Target="presProps.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kumimoji="1" sz="1200"/>
            </a:lvl1pPr>
          </a:lstStyle>
          <a:p>
            <a:pPr>
              <a:defRPr/>
            </a:pPr>
            <a:endParaRPr lang="en-US" altLang="zh-CN"/>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lvl1pPr>
          </a:lstStyle>
          <a:p>
            <a:pPr>
              <a:defRPr/>
            </a:pPr>
            <a:endParaRPr lang="en-US" altLang="zh-CN"/>
          </a:p>
        </p:txBody>
      </p:sp>
      <p:sp>
        <p:nvSpPr>
          <p:cNvPr id="2052"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1" sz="1200"/>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lvl1pPr>
          </a:lstStyle>
          <a:p>
            <a:pPr>
              <a:defRPr/>
            </a:pPr>
            <a:fld id="{22C5DEF1-45B6-4E64-9C73-70415B85A6D7}"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202381B-226B-4924-8183-5A947EAD7E91}" type="slidenum">
              <a:rPr kumimoji="0" lang="en-US" altLang="zh-CN" smtClean="0"/>
            </a:fld>
            <a:endParaRPr kumimoji="0" lang="en-US" altLang="zh-CN"/>
          </a:p>
        </p:txBody>
      </p:sp>
      <p:sp>
        <p:nvSpPr>
          <p:cNvPr id="4098" name="Rectangle 2"/>
          <p:cNvSpPr>
            <a:spLocks noGrp="1" noRot="1" noChangeAspect="1" noChangeArrowheads="1" noTextEdit="1"/>
          </p:cNvSpPr>
          <p:nvPr>
            <p:ph type="sldImg" idx="4294967295"/>
          </p:nvPr>
        </p:nvSpPr>
        <p:spPr>
          <a:xfrm>
            <a:off x="1143000" y="684213"/>
            <a:ext cx="4572000" cy="3429000"/>
          </a:xfrm>
          <a:solidFill>
            <a:srgbClr val="FFFFFF"/>
          </a:solidFill>
        </p:spPr>
      </p:sp>
      <p:sp>
        <p:nvSpPr>
          <p:cNvPr id="4099" name="Rectangle 3"/>
          <p:cNvSpPr>
            <a:spLocks noGrp="1" noChangeArrowheads="1"/>
          </p:cNvSpPr>
          <p:nvPr>
            <p:ph type="body" idx="4294967295"/>
          </p:nvPr>
        </p:nvSpPr>
        <p:spPr>
          <a:xfrm>
            <a:off x="685800" y="4343400"/>
            <a:ext cx="5486400" cy="4116388"/>
          </a:xfrm>
          <a:solidFill>
            <a:srgbClr val="FFFFFF"/>
          </a:solidFill>
          <a:ln>
            <a:solidFill>
              <a:srgbClr val="000000"/>
            </a:solidFill>
            <a:miter lim="800000"/>
          </a:ln>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4940253-E797-4E5C-80E0-5BA7CCEE8AE2}" type="slidenum">
              <a:rPr kumimoji="0" lang="en-US" altLang="zh-CN" smtClean="0"/>
            </a:fld>
            <a:endParaRPr kumimoji="0" lang="en-US" altLang="zh-CN"/>
          </a:p>
        </p:txBody>
      </p:sp>
      <p:sp>
        <p:nvSpPr>
          <p:cNvPr id="11266" name="Rectangle 2"/>
          <p:cNvSpPr>
            <a:spLocks noGrp="1" noRot="1" noChangeAspect="1" noChangeArrowheads="1" noTextEdit="1"/>
          </p:cNvSpPr>
          <p:nvPr>
            <p:ph type="sldImg" idx="4294967295"/>
          </p:nvPr>
        </p:nvSpPr>
        <p:spPr/>
      </p:sp>
      <p:sp>
        <p:nvSpPr>
          <p:cNvPr id="11267" name="Rectangle 3"/>
          <p:cNvSpPr>
            <a:spLocks noGrp="1" noChangeArrowheads="1"/>
          </p:cNvSpPr>
          <p:nvPr>
            <p:ph type="body" idx="4294967295"/>
          </p:nvPr>
        </p:nvSpPr>
        <p:spPr/>
        <p:txBody>
          <a:bodyPr/>
          <a:lstStyle/>
          <a:p>
            <a:pPr eaLnBrk="1" hangingPunct="1"/>
            <a:r>
              <a:rPr lang="zh-CN" altLang="en-US"/>
              <a:t>进程调用</a:t>
            </a:r>
            <a:r>
              <a:rPr lang="en-US" altLang="zh-CN"/>
              <a:t>recvfrom</a:t>
            </a:r>
            <a:r>
              <a:rPr lang="zh-CN" altLang="en-US"/>
              <a:t>，此调用直到数据报到达且拷贝到应用缓冲区或是出错才返回。最常见的错误是系统调用被信号中断，我们所说的进程阻塞的整段时间是指从调用</a:t>
            </a:r>
            <a:r>
              <a:rPr lang="en-US" altLang="zh-CN"/>
              <a:t>recvfrom</a:t>
            </a:r>
            <a:r>
              <a:rPr lang="zh-CN" altLang="en-US"/>
              <a:t>开始到它返回的这段时间，当进程返回成功指示时，应用进程开始处理数据报。</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A50DB1A-9BC2-4E25-9DDF-1ADDEFE8152F}" type="slidenum">
              <a:rPr kumimoji="0" lang="en-US" altLang="zh-CN" smtClean="0"/>
            </a:fld>
            <a:endParaRPr kumimoji="0" lang="en-US" altLang="zh-CN"/>
          </a:p>
        </p:txBody>
      </p:sp>
      <p:sp>
        <p:nvSpPr>
          <p:cNvPr id="13314" name="Rectangle 2"/>
          <p:cNvSpPr>
            <a:spLocks noGrp="1" noRot="1" noChangeAspect="1" noChangeArrowheads="1" noTextEdit="1"/>
          </p:cNvSpPr>
          <p:nvPr>
            <p:ph type="sldImg" idx="4294967295"/>
          </p:nvPr>
        </p:nvSpPr>
        <p:spPr/>
      </p:sp>
      <p:sp>
        <p:nvSpPr>
          <p:cNvPr id="13315" name="Rectangle 3"/>
          <p:cNvSpPr>
            <a:spLocks noGrp="1" noChangeArrowheads="1"/>
          </p:cNvSpPr>
          <p:nvPr>
            <p:ph type="body" idx="4294967295"/>
          </p:nvPr>
        </p:nvSpPr>
        <p:spPr/>
        <p:txBody>
          <a:bodyPr/>
          <a:lstStyle/>
          <a:p>
            <a:pPr eaLnBrk="1" hangingPunct="1"/>
            <a:r>
              <a:rPr lang="zh-CN" altLang="en-US"/>
              <a:t>当一个应用进程像这样对一个非阻塞</a:t>
            </a:r>
            <a:r>
              <a:rPr lang="en-US" altLang="zh-CN"/>
              <a:t>sockt</a:t>
            </a:r>
            <a:r>
              <a:rPr lang="zh-CN" altLang="en-US"/>
              <a:t>循环调用</a:t>
            </a:r>
            <a:r>
              <a:rPr lang="en-US" altLang="zh-CN"/>
              <a:t>recvfrom</a:t>
            </a:r>
            <a:r>
              <a:rPr lang="zh-CN" altLang="en-US"/>
              <a:t>时，我们称此过程为轮询（</a:t>
            </a:r>
            <a:r>
              <a:rPr lang="en-US" altLang="zh-CN"/>
              <a:t>polling</a:t>
            </a:r>
            <a:r>
              <a:rPr lang="zh-CN" altLang="en-US"/>
              <a:t>）</a:t>
            </a:r>
            <a:r>
              <a:rPr lang="en-US" altLang="zh-CN"/>
              <a:t>,</a:t>
            </a:r>
            <a:r>
              <a:rPr lang="zh-CN" altLang="en-US"/>
              <a:t>应用进程连续不断的查询内核，看看某操作是否准备好，这对</a:t>
            </a:r>
            <a:r>
              <a:rPr lang="en-US" altLang="zh-CN"/>
              <a:t>CPU</a:t>
            </a:r>
            <a:r>
              <a:rPr lang="zh-CN" altLang="en-US"/>
              <a:t>是极大的浪费，但这种模型只是偶尔才遇到。</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3F4FC14-0925-4474-94CC-764781755525}" type="slidenum">
              <a:rPr kumimoji="0" lang="en-US" altLang="zh-CN" smtClean="0"/>
            </a:fld>
            <a:endParaRPr kumimoji="0" lang="en-US" altLang="zh-CN"/>
          </a:p>
        </p:txBody>
      </p:sp>
      <p:sp>
        <p:nvSpPr>
          <p:cNvPr id="15362" name="Rectangle 2"/>
          <p:cNvSpPr>
            <a:spLocks noGrp="1" noRot="1" noChangeAspect="1" noChangeArrowheads="1" noTextEdit="1"/>
          </p:cNvSpPr>
          <p:nvPr>
            <p:ph type="sldImg" idx="4294967295"/>
          </p:nvPr>
        </p:nvSpPr>
        <p:spPr/>
      </p:sp>
      <p:sp>
        <p:nvSpPr>
          <p:cNvPr id="15363" name="Rectangle 3"/>
          <p:cNvSpPr>
            <a:spLocks noGrp="1" noChangeArrowheads="1"/>
          </p:cNvSpPr>
          <p:nvPr>
            <p:ph type="body" idx="4294967295"/>
          </p:nvPr>
        </p:nvSpPr>
        <p:spPr/>
        <p:txBody>
          <a:bodyPr/>
          <a:lstStyle/>
          <a:p>
            <a:pPr eaLnBrk="1" hangingPunct="1"/>
            <a:r>
              <a:rPr lang="zh-CN" altLang="en-US"/>
              <a:t>阻塞</a:t>
            </a:r>
            <a:r>
              <a:rPr lang="en-US" altLang="zh-CN"/>
              <a:t>select</a:t>
            </a:r>
            <a:r>
              <a:rPr lang="zh-CN" altLang="en-US"/>
              <a:t>调用，等待数据报</a:t>
            </a:r>
            <a:r>
              <a:rPr lang="en-US" altLang="zh-CN"/>
              <a:t>socket</a:t>
            </a:r>
            <a:r>
              <a:rPr lang="zh-CN" altLang="en-US"/>
              <a:t>可读，当</a:t>
            </a:r>
            <a:r>
              <a:rPr lang="en-US" altLang="zh-CN"/>
              <a:t>select</a:t>
            </a:r>
            <a:r>
              <a:rPr lang="zh-CN" altLang="en-US"/>
              <a:t>返回可读条件时，调用</a:t>
            </a:r>
            <a:r>
              <a:rPr lang="en-US" altLang="zh-CN"/>
              <a:t>recvfrom</a:t>
            </a:r>
            <a:r>
              <a:rPr lang="zh-CN" altLang="en-US"/>
              <a:t>将数据报拷贝到应用缓存中。</a:t>
            </a:r>
            <a:endParaRPr lang="zh-CN" altLang="en-US"/>
          </a:p>
          <a:p>
            <a:pPr eaLnBrk="1" hangingPunct="1"/>
            <a:r>
              <a:rPr lang="en-US" altLang="zh-CN"/>
              <a:t>I/O </a:t>
            </a:r>
            <a:r>
              <a:rPr lang="zh-CN" altLang="en-US"/>
              <a:t>复用并非限于网络编程，许多应用程序也需要使用这项技术。</a:t>
            </a:r>
            <a:r>
              <a:rPr lang="en-US" altLang="zh-CN"/>
              <a:t>--</a:t>
            </a:r>
            <a:r>
              <a:rPr lang="zh-CN" altLang="en-US"/>
              <a:t>对于套接字</a:t>
            </a:r>
            <a:r>
              <a:rPr lang="en-US" altLang="zh-CN"/>
              <a:t>IO</a:t>
            </a:r>
            <a:r>
              <a:rPr lang="zh-CN" altLang="en-US"/>
              <a:t>，考虑以下情况：标准输入和</a:t>
            </a:r>
            <a:r>
              <a:rPr lang="en-US" altLang="zh-CN"/>
              <a:t>TCP</a:t>
            </a:r>
            <a:r>
              <a:rPr lang="zh-CN" altLang="en-US"/>
              <a:t>套接字，我们遇到的问题是</a:t>
            </a:r>
            <a:r>
              <a:rPr lang="en-US" altLang="zh-CN"/>
              <a:t>TCP</a:t>
            </a:r>
            <a:r>
              <a:rPr lang="zh-CN" altLang="en-US"/>
              <a:t>客户端阻塞于标准输入（</a:t>
            </a:r>
            <a:r>
              <a:rPr lang="en-US" altLang="zh-CN"/>
              <a:t>stdin</a:t>
            </a:r>
            <a:r>
              <a:rPr lang="zh-CN" altLang="en-US"/>
              <a:t>）</a:t>
            </a:r>
            <a:r>
              <a:rPr lang="en-US" altLang="zh-CN"/>
              <a:t>-</a:t>
            </a:r>
            <a:r>
              <a:rPr lang="zh-CN" altLang="en-US"/>
              <a:t>即用</a:t>
            </a:r>
            <a:r>
              <a:rPr lang="en-US" altLang="zh-CN"/>
              <a:t>fgets</a:t>
            </a:r>
            <a:r>
              <a:rPr lang="zh-CN" altLang="en-US"/>
              <a:t>函数，而在此期间</a:t>
            </a:r>
            <a:endParaRPr lang="zh-CN" altLang="en-US"/>
          </a:p>
          <a:p>
            <a:pPr eaLnBrk="1" hangingPunct="1"/>
            <a:r>
              <a:rPr lang="zh-CN" altLang="en-US"/>
              <a:t>服务器崩溃。服务器的</a:t>
            </a:r>
            <a:r>
              <a:rPr lang="en-US" altLang="zh-CN"/>
              <a:t>TCP</a:t>
            </a:r>
            <a:r>
              <a:rPr lang="zh-CN" altLang="en-US"/>
              <a:t>会正确的给客户发一个</a:t>
            </a:r>
            <a:r>
              <a:rPr lang="en-US" altLang="zh-CN"/>
              <a:t>FIN</a:t>
            </a:r>
            <a:r>
              <a:rPr lang="zh-CN" altLang="en-US"/>
              <a:t>，但客户进程正阻塞于从标准输入读入的过程，它将看不到这个</a:t>
            </a:r>
            <a:r>
              <a:rPr lang="en-US" altLang="zh-CN"/>
              <a:t>EOF</a:t>
            </a:r>
            <a:r>
              <a:rPr lang="zh-CN" altLang="en-US"/>
              <a:t>，直到套接字读操作结束为止（但这个过程可能已经过了很长时间）。这样的进程需要</a:t>
            </a:r>
            <a:endParaRPr lang="zh-CN" altLang="en-US"/>
          </a:p>
          <a:p>
            <a:pPr eaLnBrk="1" hangingPunct="1"/>
            <a:r>
              <a:rPr lang="zh-CN" altLang="en-US"/>
              <a:t>一种预先告知内核的能力，使得内核一旦发现进程所指定的一个或多个</a:t>
            </a:r>
            <a:r>
              <a:rPr lang="en-US" altLang="zh-CN"/>
              <a:t>I/O</a:t>
            </a:r>
            <a:r>
              <a:rPr lang="zh-CN" altLang="en-US"/>
              <a:t>条件就绪，它就通知进程。这个能力称为</a:t>
            </a:r>
            <a:r>
              <a:rPr lang="en-US" altLang="zh-CN"/>
              <a:t>I/O</a:t>
            </a:r>
            <a:r>
              <a:rPr lang="zh-CN" altLang="en-US"/>
              <a:t>复用</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0312F53-EBBE-41B3-9B26-AC942D7249D8}" type="slidenum">
              <a:rPr kumimoji="0" lang="en-US" altLang="zh-CN" smtClean="0"/>
            </a:fld>
            <a:endParaRPr kumimoji="0" lang="en-US" altLang="zh-CN"/>
          </a:p>
        </p:txBody>
      </p:sp>
      <p:sp>
        <p:nvSpPr>
          <p:cNvPr id="17410" name="Rectangle 2"/>
          <p:cNvSpPr>
            <a:spLocks noGrp="1" noRot="1" noChangeAspect="1" noChangeArrowheads="1" noTextEdit="1"/>
          </p:cNvSpPr>
          <p:nvPr>
            <p:ph type="sldImg" idx="4294967295"/>
          </p:nvPr>
        </p:nvSpPr>
        <p:spPr/>
      </p:sp>
      <p:sp>
        <p:nvSpPr>
          <p:cNvPr id="17411" name="Rectangle 3"/>
          <p:cNvSpPr>
            <a:spLocks noGrp="1" noChangeArrowheads="1"/>
          </p:cNvSpPr>
          <p:nvPr>
            <p:ph type="body" idx="4294967295"/>
          </p:nvPr>
        </p:nvSpPr>
        <p:spPr/>
        <p:txBody>
          <a:bodyPr/>
          <a:lstStyle/>
          <a:p>
            <a:pPr eaLnBrk="1" hangingPunct="1"/>
            <a:r>
              <a:rPr lang="zh-CN" altLang="en-US"/>
              <a:t>首先我们允许</a:t>
            </a:r>
            <a:r>
              <a:rPr lang="en-US" altLang="zh-CN"/>
              <a:t>socket</a:t>
            </a:r>
            <a:r>
              <a:rPr lang="zh-CN" altLang="en-US"/>
              <a:t>进行信号驱动</a:t>
            </a:r>
            <a:r>
              <a:rPr lang="en-US" altLang="zh-CN"/>
              <a:t>I/O</a:t>
            </a:r>
            <a:r>
              <a:rPr lang="zh-CN" altLang="en-US"/>
              <a:t>，并通过系统调用</a:t>
            </a:r>
            <a:r>
              <a:rPr lang="en-US" altLang="zh-CN"/>
              <a:t>sigaction</a:t>
            </a:r>
            <a:r>
              <a:rPr lang="zh-CN" altLang="en-US"/>
              <a:t>安装一个信号处理程序。此系统调用立即返回，进程继续工作，它是非阻塞的。当数据报准备好被读时，就为该进程生成个</a:t>
            </a:r>
            <a:r>
              <a:rPr lang="en-US" altLang="zh-CN"/>
              <a:t>sigio</a:t>
            </a:r>
            <a:r>
              <a:rPr lang="zh-CN" altLang="en-US"/>
              <a:t>信号。我们随即可以在信号处理程序中调用</a:t>
            </a:r>
            <a:r>
              <a:rPr lang="en-US" altLang="zh-CN"/>
              <a:t>recvfrom</a:t>
            </a:r>
            <a:r>
              <a:rPr lang="zh-CN" altLang="en-US"/>
              <a:t>来读取数据报，并通知主循环数据报已准备号被处理，也可以通知主循环，让它来处理数据报。</a:t>
            </a:r>
            <a:endParaRPr lang="zh-CN" altLang="en-US"/>
          </a:p>
          <a:p>
            <a:pPr eaLnBrk="1" hangingPunct="1"/>
            <a:r>
              <a:rPr lang="zh-CN" altLang="en-US"/>
              <a:t>无论我们如何处理</a:t>
            </a:r>
            <a:r>
              <a:rPr lang="en-US" altLang="zh-CN"/>
              <a:t>sigio</a:t>
            </a:r>
            <a:r>
              <a:rPr lang="zh-CN" altLang="en-US"/>
              <a:t>信号，这种模型的好处是当等待数据报到达时，可以不阻塞。主循环可以继续执行，只是等待信号处理程序的通知：或者数据报已准备好被处理，或者数据报已准备好被读取。</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91C9F23-76A5-48E6-812F-45B2B30C75F7}" type="slidenum">
              <a:rPr kumimoji="0" lang="en-US" altLang="zh-CN" smtClean="0"/>
            </a:fld>
            <a:endParaRPr kumimoji="0" lang="en-US" altLang="zh-CN"/>
          </a:p>
        </p:txBody>
      </p:sp>
      <p:sp>
        <p:nvSpPr>
          <p:cNvPr id="19458" name="Rectangle 2"/>
          <p:cNvSpPr>
            <a:spLocks noGrp="1" noRot="1" noChangeAspect="1" noChangeArrowheads="1" noTextEdit="1"/>
          </p:cNvSpPr>
          <p:nvPr>
            <p:ph type="sldImg" idx="4294967295"/>
          </p:nvPr>
        </p:nvSpPr>
        <p:spPr/>
      </p:sp>
      <p:sp>
        <p:nvSpPr>
          <p:cNvPr id="19459" name="Rectangle 3"/>
          <p:cNvSpPr>
            <a:spLocks noGrp="1" noChangeArrowheads="1"/>
          </p:cNvSpPr>
          <p:nvPr>
            <p:ph type="body" idx="4294967295"/>
          </p:nvPr>
        </p:nvSpPr>
        <p:spPr/>
        <p:txBody>
          <a:bodyPr/>
          <a:lstStyle/>
          <a:p>
            <a:pPr eaLnBrk="1" hangingPunct="1"/>
            <a:r>
              <a:rPr lang="zh-CN" altLang="en-US"/>
              <a:t>我们调用</a:t>
            </a:r>
            <a:r>
              <a:rPr lang="en-US" altLang="zh-CN"/>
              <a:t>aio_red,</a:t>
            </a:r>
            <a:r>
              <a:rPr lang="zh-CN" altLang="en-US"/>
              <a:t>给内核传递描述字、缓冲区指针、缓冲区大小、文件偏移等，并告诉内核当整个操作完成时通知我们，此系统调用立即返回，我们的进程不阻塞于等待</a:t>
            </a:r>
            <a:r>
              <a:rPr lang="en-US" altLang="zh-CN"/>
              <a:t>I/O</a:t>
            </a:r>
            <a:r>
              <a:rPr lang="zh-CN" altLang="en-US"/>
              <a:t>操作的完成，我们假设要求内核在操作完成时产生一个信号，此信号直到数据已拷贝到应用程序缓冲区才产生，这一点是于信号驱动</a:t>
            </a:r>
            <a:r>
              <a:rPr lang="en-US" altLang="zh-CN"/>
              <a:t>I/O</a:t>
            </a:r>
            <a:r>
              <a:rPr lang="zh-CN" altLang="en-US"/>
              <a:t>模型不同的。</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22C5DEF1-45B6-4E64-9C73-70415B85A6D7}"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幻灯片图像占位符 1"/>
          <p:cNvSpPr>
            <a:spLocks noGrp="1" noRot="1" noChangeAspect="1" noChangeArrowheads="1" noTextEdit="1"/>
          </p:cNvSpPr>
          <p:nvPr>
            <p:ph type="sldImg" idx="4294967295"/>
          </p:nvPr>
        </p:nvSpPr>
        <p:spPr/>
      </p:sp>
      <p:sp>
        <p:nvSpPr>
          <p:cNvPr id="26626" name="备注占位符 2"/>
          <p:cNvSpPr>
            <a:spLocks noGrp="1" noChangeArrowheads="1"/>
          </p:cNvSpPr>
          <p:nvPr>
            <p:ph type="body" idx="4294967295"/>
          </p:nvPr>
        </p:nvSpPr>
        <p:spPr/>
        <p:txBody>
          <a:bodyPr/>
          <a:lstStyle/>
          <a:p>
            <a:endParaRPr lang="zh-CN" altLang="en-US"/>
          </a:p>
        </p:txBody>
      </p:sp>
      <p:sp>
        <p:nvSpPr>
          <p:cNvPr id="2662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15DD3C6-C2A7-4D9D-91D8-E6DB01EA2DB4}" type="slidenum">
              <a:rPr kumimoji="0" lang="en-US" altLang="zh-CN" smtClean="0"/>
            </a:fld>
            <a:endParaRPr kumimoji="0"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2C5DEF1-45B6-4E64-9C73-70415B85A6D7}"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幻灯片图像占位符 1"/>
          <p:cNvSpPr>
            <a:spLocks noGrp="1" noRot="1" noChangeAspect="1" noChangeArrowheads="1" noTextEdit="1"/>
          </p:cNvSpPr>
          <p:nvPr>
            <p:ph type="sldImg" idx="4294967295"/>
          </p:nvPr>
        </p:nvSpPr>
        <p:spPr/>
      </p:sp>
      <p:sp>
        <p:nvSpPr>
          <p:cNvPr id="49154" name="备注占位符 2"/>
          <p:cNvSpPr>
            <a:spLocks noGrp="1" noChangeArrowheads="1"/>
          </p:cNvSpPr>
          <p:nvPr>
            <p:ph type="body" idx="4294967295"/>
          </p:nvPr>
        </p:nvSpPr>
        <p:spPr/>
        <p:txBody>
          <a:bodyPr/>
          <a:lstStyle/>
          <a:p>
            <a:endParaRPr lang="zh-CN" altLang="en-US"/>
          </a:p>
        </p:txBody>
      </p:sp>
      <p:sp>
        <p:nvSpPr>
          <p:cNvPr id="4915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81267E7-5881-4E56-913C-0D0F5687FCFD}" type="slidenum">
              <a:rPr kumimoji="0" lang="en-US" altLang="zh-CN" smtClean="0"/>
            </a:fld>
            <a:endParaRPr kumimoji="0"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073331D-6CA4-4B40-994C-AB5773E01DF4}" type="slidenum">
              <a:rPr kumimoji="0" lang="en-US" altLang="zh-CN" smtClean="0"/>
            </a:fld>
            <a:endParaRPr kumimoji="0" lang="en-US" altLang="zh-CN"/>
          </a:p>
        </p:txBody>
      </p:sp>
      <p:sp>
        <p:nvSpPr>
          <p:cNvPr id="80898" name="Rectangle 2"/>
          <p:cNvSpPr>
            <a:spLocks noGrp="1" noRot="1" noChangeAspect="1" noChangeArrowheads="1" noTextEdit="1"/>
          </p:cNvSpPr>
          <p:nvPr>
            <p:ph type="sldImg" idx="4294967295"/>
          </p:nvPr>
        </p:nvSpPr>
        <p:spPr/>
      </p:sp>
      <p:sp>
        <p:nvSpPr>
          <p:cNvPr id="80899" name="Rectangle 3"/>
          <p:cNvSpPr>
            <a:spLocks noGrp="1" noChangeArrowheads="1"/>
          </p:cNvSpPr>
          <p:nvPr>
            <p:ph type="body" idx="4294967295"/>
          </p:nvPr>
        </p:nvSpPr>
        <p:spPr/>
        <p:txBody>
          <a:bodyPr/>
          <a:lstStyle/>
          <a:p>
            <a:pPr eaLnBrk="1" hangingPunct="1"/>
            <a:r>
              <a:rPr lang="en-US" altLang="zh-CN"/>
              <a:t>Fileno:</a:t>
            </a:r>
            <a:r>
              <a:rPr lang="zh-CN" altLang="en-US"/>
              <a:t>获取文件描述符。</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1D06241-B765-44B7-90CF-AA0CB7FAC6C5}" type="slidenum">
              <a:rPr kumimoji="0" lang="en-US" altLang="zh-CN" smtClean="0"/>
            </a:fld>
            <a:endParaRPr kumimoji="0" lang="en-US" altLang="zh-CN"/>
          </a:p>
        </p:txBody>
      </p:sp>
      <p:sp>
        <p:nvSpPr>
          <p:cNvPr id="111618" name="Rectangle 2"/>
          <p:cNvSpPr>
            <a:spLocks noGrp="1" noRot="1" noChangeAspect="1" noChangeArrowheads="1" noTextEdit="1"/>
          </p:cNvSpPr>
          <p:nvPr>
            <p:ph type="sldImg" idx="4294967295"/>
          </p:nvPr>
        </p:nvSpPr>
        <p:spPr/>
      </p:sp>
      <p:sp>
        <p:nvSpPr>
          <p:cNvPr id="111619" name="Rectangle 3"/>
          <p:cNvSpPr>
            <a:spLocks noGrp="1" noChangeArrowheads="1"/>
          </p:cNvSpPr>
          <p:nvPr>
            <p:ph type="body" idx="4294967295"/>
          </p:nvPr>
        </p:nvSpPr>
        <p:spPr/>
        <p:txBody>
          <a:bodyPr/>
          <a:lstStyle/>
          <a:p>
            <a:pPr eaLnBrk="1" hangingPunct="1"/>
            <a:r>
              <a:rPr lang="en-US" altLang="zh-CN"/>
              <a:t>hdrincl</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44B8333-C780-43E3-82B5-124D5CAC69A3}"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F883A9D-2667-4F11-B9C7-7F032F86BD3C}"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426F002-9D2F-42C9-84F5-A440ACA9CF58}"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79713BF4-B80A-4BC1-A939-54707F884E95}"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136E0741-C682-4CBB-87E2-4A991A7BC03C}"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201D3A3C-A0C6-4173-A67D-A60891E40942}"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3F4E7D52-F7B5-464B-84B7-9C01368F3C6B}"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E25BB4F-22CF-4519-AC50-DC5880CF32B3}"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343E30D-C177-4513-9F7D-CF6E70374941}"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09A3C44-8F04-427B-A8F5-D922A1AB629F}"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23D6224-DA0D-4500-A27A-5D40D52C7052}"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685800" y="1981200"/>
            <a:ext cx="7772400" cy="4114800"/>
          </a:xfrm>
        </p:spPr>
        <p:txBody>
          <a:bodyPr/>
          <a:lstStyle/>
          <a:p>
            <a:pPr lvl="0"/>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DDAB8EB-B64C-4DA9-B44D-1F56F9F2D4FE}"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85800" y="1981200"/>
            <a:ext cx="3810000" cy="41148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48200" y="1981200"/>
            <a:ext cx="3810000" cy="1981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648200" y="4114800"/>
            <a:ext cx="3810000" cy="1981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pPr>
              <a:defRPr/>
            </a:pPr>
            <a:fld id="{BCD08F9B-149B-45E9-9D30-2FE0FCEA96DE}"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AE3AA97A-A3FC-45C5-A9EF-45EF70FFD3A6}"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9"/>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kumimoji="1"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kumimoji="1"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400"/>
            </a:lvl1pPr>
          </a:lstStyle>
          <a:p>
            <a:pPr>
              <a:defRPr/>
            </a:pPr>
            <a:fld id="{11B13ADD-6D47-4206-9EF9-7D58F982B06A}"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oleObject" Target="../embeddings/oleObject1.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oleObject" Target="../embeddings/oleObject2.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oleObject" Target="../embeddings/oleObject3.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oleObject" Target="../embeddings/oleObject4.bin"/></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oleObject" Target="../embeddings/oleObject5.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2"/>
          <p:cNvSpPr>
            <a:spLocks noGrp="1" noChangeArrowheads="1"/>
          </p:cNvSpPr>
          <p:nvPr>
            <p:ph type="ctrTitle"/>
          </p:nvPr>
        </p:nvSpPr>
        <p:spPr>
          <a:xfrm>
            <a:off x="1619250" y="2205038"/>
            <a:ext cx="5910263" cy="1981200"/>
          </a:xfrm>
        </p:spPr>
        <p:txBody>
          <a:bodyPr/>
          <a:lstStyle/>
          <a:p>
            <a:pPr eaLnBrk="1" hangingPunct="1"/>
            <a:r>
              <a:rPr lang="zh-CN" altLang="en-US">
                <a:ea typeface="微软雅黑" panose="020B0503020204020204" pitchFamily="34" charset="-122"/>
              </a:rPr>
              <a:t>并发服务器</a:t>
            </a:r>
            <a:br>
              <a:rPr lang="zh-CN" altLang="en-US">
                <a:ea typeface="微软雅黑" panose="020B0503020204020204" pitchFamily="34" charset="-122"/>
              </a:rPr>
            </a:br>
            <a:r>
              <a:rPr lang="en-US" altLang="zh-CN">
                <a:ea typeface="微软雅黑" panose="020B0503020204020204" pitchFamily="34" charset="-122"/>
              </a:rPr>
              <a:t>I/O</a:t>
            </a:r>
            <a:r>
              <a:rPr lang="zh-CN" altLang="en-US">
                <a:ea typeface="微软雅黑" panose="020B0503020204020204" pitchFamily="34" charset="-122"/>
              </a:rPr>
              <a:t>复用与套接字选项</a:t>
            </a:r>
            <a:endParaRPr lang="zh-CN" altLang="en-US">
              <a:ea typeface="微软雅黑" panose="020B0503020204020204" pitchFamily="34" charset="-122"/>
            </a:endParaRPr>
          </a:p>
        </p:txBody>
      </p:sp>
    </p:spTree>
  </p:cSld>
  <p:clrMapOvr>
    <a:masterClrMapping/>
  </p:clrMapOvr>
  <p:transition spd="slow">
    <p:wipe dir="r"/>
    <p:sndAc>
      <p:end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title"/>
          </p:nvPr>
        </p:nvSpPr>
        <p:spPr/>
        <p:txBody>
          <a:bodyPr/>
          <a:lstStyle/>
          <a:p>
            <a:pPr eaLnBrk="1" hangingPunct="1"/>
            <a:r>
              <a:rPr lang="zh-CN" altLang="en-US">
                <a:ea typeface="微软雅黑" panose="020B0503020204020204" pitchFamily="34" charset="-122"/>
              </a:rPr>
              <a:t>目  录</a:t>
            </a:r>
            <a:endParaRPr lang="zh-CN" altLang="en-US">
              <a:ea typeface="微软雅黑" panose="020B0503020204020204" pitchFamily="34" charset="-122"/>
            </a:endParaRPr>
          </a:p>
        </p:txBody>
      </p:sp>
      <p:sp>
        <p:nvSpPr>
          <p:cNvPr id="5122" name="Rectangle 3"/>
          <p:cNvSpPr>
            <a:spLocks noGrp="1" noChangeArrowheads="1"/>
          </p:cNvSpPr>
          <p:nvPr>
            <p:ph idx="1"/>
          </p:nvPr>
        </p:nvSpPr>
        <p:spPr/>
        <p:txBody>
          <a:bodyPr/>
          <a:lstStyle/>
          <a:p>
            <a:pPr eaLnBrk="1" hangingPunct="1"/>
            <a:r>
              <a:rPr lang="en-US" altLang="zh-CN">
                <a:ea typeface="微软雅黑" panose="020B0503020204020204" pitchFamily="34" charset="-122"/>
              </a:rPr>
              <a:t>I/O</a:t>
            </a:r>
            <a:r>
              <a:rPr lang="zh-CN" altLang="en-US">
                <a:ea typeface="微软雅黑" panose="020B0503020204020204" pitchFamily="34" charset="-122"/>
              </a:rPr>
              <a:t>模型</a:t>
            </a:r>
            <a:endParaRPr lang="zh-CN" altLang="en-US">
              <a:ea typeface="微软雅黑" panose="020B0503020204020204" pitchFamily="34" charset="-122"/>
            </a:endParaRPr>
          </a:p>
          <a:p>
            <a:pPr eaLnBrk="1" hangingPunct="1"/>
            <a:r>
              <a:rPr lang="en-US" altLang="zh-CN">
                <a:ea typeface="微软雅黑" panose="020B0503020204020204" pitchFamily="34" charset="-122"/>
              </a:rPr>
              <a:t>I/O</a:t>
            </a:r>
            <a:r>
              <a:rPr lang="zh-CN" altLang="en-US">
                <a:ea typeface="微软雅黑" panose="020B0503020204020204" pitchFamily="34" charset="-122"/>
              </a:rPr>
              <a:t>复用概述</a:t>
            </a:r>
            <a:endParaRPr lang="zh-CN" altLang="en-US">
              <a:ea typeface="微软雅黑" panose="020B0503020204020204" pitchFamily="34" charset="-122"/>
            </a:endParaRPr>
          </a:p>
          <a:p>
            <a:pPr eaLnBrk="1" hangingPunct="1"/>
            <a:r>
              <a:rPr lang="en-US" altLang="zh-CN">
                <a:ea typeface="微软雅黑" panose="020B0503020204020204" pitchFamily="34" charset="-122"/>
              </a:rPr>
              <a:t>s</a:t>
            </a:r>
            <a:r>
              <a:rPr lang="en-US" altLang="zh-CN" smtClean="0">
                <a:ea typeface="微软雅黑" panose="020B0503020204020204" pitchFamily="34" charset="-122"/>
              </a:rPr>
              <a:t>elect</a:t>
            </a:r>
            <a:r>
              <a:rPr lang="zh-CN" altLang="en-US">
                <a:ea typeface="微软雅黑" panose="020B0503020204020204" pitchFamily="34" charset="-122"/>
              </a:rPr>
              <a:t>函数和</a:t>
            </a:r>
            <a:r>
              <a:rPr lang="en-US" altLang="zh-CN">
                <a:ea typeface="微软雅黑" panose="020B0503020204020204" pitchFamily="34" charset="-122"/>
              </a:rPr>
              <a:t>pselect</a:t>
            </a:r>
            <a:r>
              <a:rPr lang="zh-CN" altLang="en-US">
                <a:ea typeface="微软雅黑" panose="020B0503020204020204" pitchFamily="34" charset="-122"/>
              </a:rPr>
              <a:t>函数</a:t>
            </a:r>
            <a:endParaRPr lang="en-US" altLang="zh-CN">
              <a:ea typeface="微软雅黑" panose="020B0503020204020204" pitchFamily="34" charset="-122"/>
            </a:endParaRPr>
          </a:p>
          <a:p>
            <a:pPr eaLnBrk="1" hangingPunct="1"/>
            <a:r>
              <a:rPr lang="zh-CN" altLang="en-US">
                <a:ea typeface="微软雅黑" panose="020B0503020204020204" pitchFamily="34" charset="-122"/>
              </a:rPr>
              <a:t>非阻塞</a:t>
            </a:r>
            <a:r>
              <a:rPr lang="en-US" altLang="zh-CN">
                <a:ea typeface="微软雅黑" panose="020B0503020204020204" pitchFamily="34" charset="-122"/>
              </a:rPr>
              <a:t>I/O</a:t>
            </a:r>
            <a:endParaRPr lang="en-US" altLang="zh-CN">
              <a:ea typeface="微软雅黑" panose="020B0503020204020204" pitchFamily="34" charset="-122"/>
            </a:endParaRPr>
          </a:p>
          <a:p>
            <a:pPr eaLnBrk="1" hangingPunct="1"/>
            <a:r>
              <a:rPr lang="zh-CN" altLang="en-US">
                <a:ea typeface="微软雅黑" panose="020B0503020204020204" pitchFamily="34" charset="-122"/>
              </a:rPr>
              <a:t>信号驱动</a:t>
            </a:r>
            <a:r>
              <a:rPr lang="en-US" altLang="zh-CN">
                <a:ea typeface="微软雅黑" panose="020B0503020204020204" pitchFamily="34" charset="-122"/>
              </a:rPr>
              <a:t>I/O</a:t>
            </a:r>
            <a:r>
              <a:rPr lang="zh-CN" altLang="en-US">
                <a:ea typeface="微软雅黑" panose="020B0503020204020204" pitchFamily="34" charset="-122"/>
              </a:rPr>
              <a:t>模型</a:t>
            </a:r>
            <a:endParaRPr lang="zh-CN" altLang="en-US">
              <a:ea typeface="微软雅黑" panose="020B0503020204020204" pitchFamily="34" charset="-122"/>
            </a:endParaRPr>
          </a:p>
        </p:txBody>
      </p:sp>
    </p:spTree>
  </p:cSld>
  <p:clrMapOvr>
    <a:masterClrMapping/>
  </p:clrMapOvr>
  <p:transition spd="slow">
    <p:wipe dir="r"/>
    <p:sndAc>
      <p:end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p:nvPr>
        </p:nvSpPr>
        <p:spPr>
          <a:xfrm>
            <a:off x="692355" y="260648"/>
            <a:ext cx="7772400" cy="1143000"/>
          </a:xfrm>
        </p:spPr>
        <p:txBody>
          <a:bodyPr/>
          <a:lstStyle/>
          <a:p>
            <a:pPr eaLnBrk="1" hangingPunct="1"/>
            <a:r>
              <a:rPr lang="en-US" altLang="zh-CN"/>
              <a:t>I/O</a:t>
            </a:r>
            <a:endParaRPr lang="en-US" altLang="zh-CN"/>
          </a:p>
        </p:txBody>
      </p:sp>
      <p:sp>
        <p:nvSpPr>
          <p:cNvPr id="6146" name="Rectangle 3"/>
          <p:cNvSpPr>
            <a:spLocks noGrp="1" noChangeArrowheads="1"/>
          </p:cNvSpPr>
          <p:nvPr>
            <p:ph idx="1"/>
          </p:nvPr>
        </p:nvSpPr>
        <p:spPr>
          <a:xfrm>
            <a:off x="685800" y="1561531"/>
            <a:ext cx="7772400" cy="5011738"/>
          </a:xfrm>
        </p:spPr>
        <p:txBody>
          <a:bodyPr/>
          <a:lstStyle/>
          <a:p>
            <a:pPr eaLnBrk="1" hangingPunct="1">
              <a:lnSpc>
                <a:spcPct val="120000"/>
              </a:lnSpc>
              <a:buClr>
                <a:srgbClr val="0070C0"/>
              </a:buClr>
            </a:pPr>
            <a:r>
              <a:rPr lang="en-US" altLang="zh-CN" sz="2400">
                <a:latin typeface="Tahoma" panose="020B0604030504040204" pitchFamily="34" charset="0"/>
                <a:ea typeface="微软雅黑 Light" panose="020B0502040204020203" pitchFamily="34" charset="-122"/>
              </a:rPr>
              <a:t>Linux</a:t>
            </a:r>
            <a:r>
              <a:rPr lang="zh-CN" altLang="en-US" sz="2400">
                <a:latin typeface="Tahoma" panose="020B0604030504040204" pitchFamily="34" charset="0"/>
                <a:ea typeface="微软雅黑 Light" panose="020B0502040204020203" pitchFamily="34" charset="-122"/>
              </a:rPr>
              <a:t>中，广义上来讲一个文件就是一个字节序列，而非我们直觉上的一个文件或目录。这个字节序列也并没有确定的存储，可能在网络上、可能在磁盘上或缓冲区中。</a:t>
            </a:r>
            <a:r>
              <a:rPr lang="en-US" altLang="zh-CN" sz="2400">
                <a:latin typeface="Tahoma" panose="020B0604030504040204" pitchFamily="34" charset="0"/>
                <a:ea typeface="微软雅黑 Light" panose="020B0502040204020203" pitchFamily="34" charset="-122"/>
              </a:rPr>
              <a:t>I/O</a:t>
            </a:r>
            <a:r>
              <a:rPr lang="zh-CN" altLang="en-US" sz="2400">
                <a:latin typeface="Tahoma" panose="020B0604030504040204" pitchFamily="34" charset="0"/>
                <a:ea typeface="微软雅黑 Light" panose="020B0502040204020203" pitchFamily="34" charset="-122"/>
              </a:rPr>
              <a:t>操作都是针对这个字节序列进行，比如</a:t>
            </a:r>
            <a:r>
              <a:rPr lang="en-US" altLang="zh-CN" sz="2400">
                <a:latin typeface="Tahoma" panose="020B0604030504040204" pitchFamily="34" charset="0"/>
                <a:ea typeface="微软雅黑 Light" panose="020B0502040204020203" pitchFamily="34" charset="-122"/>
              </a:rPr>
              <a:t>read</a:t>
            </a:r>
            <a:r>
              <a:rPr lang="zh-CN" altLang="en-US" sz="2400">
                <a:latin typeface="Tahoma" panose="020B0604030504040204" pitchFamily="34" charset="0"/>
                <a:ea typeface="微软雅黑 Light" panose="020B0502040204020203" pitchFamily="34" charset="-122"/>
              </a:rPr>
              <a:t>调用就是从这个字节序列读到字节到内存缓冲区中，</a:t>
            </a:r>
            <a:r>
              <a:rPr lang="en-US" altLang="zh-CN" sz="2400">
                <a:latin typeface="Tahoma" panose="020B0604030504040204" pitchFamily="34" charset="0"/>
                <a:ea typeface="微软雅黑 Light" panose="020B0502040204020203" pitchFamily="34" charset="-122"/>
              </a:rPr>
              <a:t>write</a:t>
            </a:r>
            <a:r>
              <a:rPr lang="zh-CN" altLang="en-US" sz="2400">
                <a:latin typeface="Tahoma" panose="020B0604030504040204" pitchFamily="34" charset="0"/>
                <a:ea typeface="微软雅黑 Light" panose="020B0502040204020203" pitchFamily="34" charset="-122"/>
              </a:rPr>
              <a:t>调用就是把字节加到这个字节序列后面。</a:t>
            </a:r>
            <a:endParaRPr lang="zh-CN" altLang="en-US" sz="2400">
              <a:latin typeface="Tahoma" panose="020B0604030504040204" pitchFamily="34" charset="0"/>
              <a:ea typeface="微软雅黑 Light" panose="020B0502040204020203" pitchFamily="34" charset="-122"/>
            </a:endParaRPr>
          </a:p>
          <a:p>
            <a:pPr eaLnBrk="1" hangingPunct="1">
              <a:lnSpc>
                <a:spcPct val="120000"/>
              </a:lnSpc>
              <a:buClr>
                <a:srgbClr val="0070C0"/>
              </a:buClr>
            </a:pPr>
            <a:r>
              <a:rPr lang="zh-CN" altLang="en-US" sz="2400">
                <a:latin typeface="Tahoma" panose="020B0604030504040204" pitchFamily="34" charset="0"/>
                <a:ea typeface="微软雅黑 Light" panose="020B0502040204020203" pitchFamily="34" charset="-122"/>
              </a:rPr>
              <a:t>文件</a:t>
            </a:r>
            <a:r>
              <a:rPr lang="en-US" altLang="zh-CN" sz="2400">
                <a:latin typeface="Tahoma" panose="020B0604030504040204" pitchFamily="34" charset="0"/>
                <a:ea typeface="微软雅黑 Light" panose="020B0502040204020203" pitchFamily="34" charset="-122"/>
              </a:rPr>
              <a:t>I/O</a:t>
            </a:r>
            <a:r>
              <a:rPr lang="zh-CN" altLang="en-US" sz="2400">
                <a:latin typeface="Tahoma" panose="020B0604030504040204" pitchFamily="34" charset="0"/>
                <a:ea typeface="微软雅黑 Light" panose="020B0502040204020203" pitchFamily="34" charset="-122"/>
              </a:rPr>
              <a:t>（文件描述符</a:t>
            </a:r>
            <a:r>
              <a:rPr lang="en-US" altLang="zh-CN" sz="2400">
                <a:latin typeface="Tahoma" panose="020B0604030504040204" pitchFamily="34" charset="0"/>
                <a:ea typeface="微软雅黑 Light" panose="020B0502040204020203" pitchFamily="34" charset="-122"/>
              </a:rPr>
              <a:t>0 </a:t>
            </a:r>
            <a:r>
              <a:rPr lang="zh-CN" altLang="en-US" sz="2400">
                <a:latin typeface="Tahoma" panose="020B0604030504040204" pitchFamily="34" charset="0"/>
                <a:ea typeface="微软雅黑 Light" panose="020B0502040204020203" pitchFamily="34" charset="-122"/>
              </a:rPr>
              <a:t>对应标准输入，和</a:t>
            </a:r>
            <a:r>
              <a:rPr lang="en-US" altLang="zh-CN" sz="2400">
                <a:latin typeface="Tahoma" panose="020B0604030504040204" pitchFamily="34" charset="0"/>
                <a:ea typeface="微软雅黑 Light" panose="020B0502040204020203" pitchFamily="34" charset="-122"/>
              </a:rPr>
              <a:t>read, write </a:t>
            </a:r>
            <a:r>
              <a:rPr lang="zh-CN" altLang="en-US" sz="2400">
                <a:latin typeface="Tahoma" panose="020B0604030504040204" pitchFamily="34" charset="0"/>
                <a:ea typeface="微软雅黑 Light" panose="020B0502040204020203" pitchFamily="34" charset="-122"/>
              </a:rPr>
              <a:t>等配合使用 ）、网络数据包 </a:t>
            </a:r>
            <a:r>
              <a:rPr lang="en-US" altLang="zh-CN" sz="2400">
                <a:latin typeface="Tahoma" panose="020B0604030504040204" pitchFamily="34" charset="0"/>
                <a:ea typeface="微软雅黑 Light" panose="020B0502040204020203" pitchFamily="34" charset="-122"/>
              </a:rPr>
              <a:t>IO</a:t>
            </a:r>
            <a:r>
              <a:rPr lang="zh-CN" altLang="en-US" sz="2400">
                <a:latin typeface="Tahoma" panose="020B0604030504040204" pitchFamily="34" charset="0"/>
                <a:ea typeface="微软雅黑 Light" panose="020B0502040204020203" pitchFamily="34" charset="-122"/>
              </a:rPr>
              <a:t>（套接字）、标准</a:t>
            </a:r>
            <a:r>
              <a:rPr lang="en-US" altLang="zh-CN" sz="2400">
                <a:latin typeface="Tahoma" panose="020B0604030504040204" pitchFamily="34" charset="0"/>
                <a:ea typeface="微软雅黑 Light" panose="020B0502040204020203" pitchFamily="34" charset="-122"/>
              </a:rPr>
              <a:t>I/O</a:t>
            </a:r>
            <a:r>
              <a:rPr lang="zh-CN" altLang="en-US" sz="2400">
                <a:latin typeface="Tahoma" panose="020B0604030504040204" pitchFamily="34" charset="0"/>
                <a:ea typeface="微软雅黑 Light" panose="020B0502040204020203" pitchFamily="34" charset="-122"/>
              </a:rPr>
              <a:t>（对于标准</a:t>
            </a:r>
            <a:r>
              <a:rPr lang="en-US" altLang="zh-CN" sz="2400">
                <a:latin typeface="Tahoma" panose="020B0604030504040204" pitchFamily="34" charset="0"/>
                <a:ea typeface="微软雅黑 Light" panose="020B0502040204020203" pitchFamily="34" charset="-122"/>
              </a:rPr>
              <a:t>I/O</a:t>
            </a:r>
            <a:r>
              <a:rPr lang="zh-CN" altLang="en-US" sz="2400">
                <a:latin typeface="Tahoma" panose="020B0604030504040204" pitchFamily="34" charset="0"/>
                <a:ea typeface="微软雅黑 Light" panose="020B0502040204020203" pitchFamily="34" charset="-122"/>
              </a:rPr>
              <a:t>库，它们的操作则是围绕流进行的，预定义了三个标准</a:t>
            </a:r>
            <a:r>
              <a:rPr lang="en-US" altLang="zh-CN" sz="2400">
                <a:latin typeface="Tahoma" panose="020B0604030504040204" pitchFamily="34" charset="0"/>
                <a:ea typeface="微软雅黑 Light" panose="020B0502040204020203" pitchFamily="34" charset="-122"/>
              </a:rPr>
              <a:t>I/O</a:t>
            </a:r>
            <a:r>
              <a:rPr lang="zh-CN" altLang="en-US" sz="2400">
                <a:latin typeface="Tahoma" panose="020B0604030504040204" pitchFamily="34" charset="0"/>
                <a:ea typeface="微软雅黑 Light" panose="020B0502040204020203" pitchFamily="34" charset="-122"/>
              </a:rPr>
              <a:t>流，分别为三个文件指针</a:t>
            </a:r>
            <a:r>
              <a:rPr lang="en-US" altLang="zh-CN" sz="2400">
                <a:latin typeface="Tahoma" panose="020B0604030504040204" pitchFamily="34" charset="0"/>
                <a:ea typeface="微软雅黑 Light" panose="020B0502040204020203" pitchFamily="34" charset="-122"/>
              </a:rPr>
              <a:t>stdin</a:t>
            </a:r>
            <a:r>
              <a:rPr lang="zh-CN" altLang="en-US" sz="2400">
                <a:latin typeface="Tahoma" panose="020B0604030504040204" pitchFamily="34" charset="0"/>
                <a:ea typeface="微软雅黑 Light" panose="020B0502040204020203" pitchFamily="34" charset="-122"/>
              </a:rPr>
              <a:t>，</a:t>
            </a:r>
            <a:r>
              <a:rPr lang="en-US" altLang="zh-CN" sz="2400">
                <a:latin typeface="Tahoma" panose="020B0604030504040204" pitchFamily="34" charset="0"/>
                <a:ea typeface="微软雅黑 Light" panose="020B0502040204020203" pitchFamily="34" charset="-122"/>
              </a:rPr>
              <a:t>stdout</a:t>
            </a:r>
            <a:r>
              <a:rPr lang="zh-CN" altLang="en-US" sz="2400">
                <a:latin typeface="Tahoma" panose="020B0604030504040204" pitchFamily="34" charset="0"/>
                <a:ea typeface="微软雅黑 Light" panose="020B0502040204020203" pitchFamily="34" charset="-122"/>
              </a:rPr>
              <a:t>和</a:t>
            </a:r>
            <a:r>
              <a:rPr lang="en-US" altLang="zh-CN" sz="2400">
                <a:latin typeface="Tahoma" panose="020B0604030504040204" pitchFamily="34" charset="0"/>
                <a:ea typeface="微软雅黑 Light" panose="020B0502040204020203" pitchFamily="34" charset="-122"/>
              </a:rPr>
              <a:t>stderr </a:t>
            </a:r>
            <a:r>
              <a:rPr lang="zh-CN" altLang="en-US" sz="2400">
                <a:latin typeface="Tahoma" panose="020B0604030504040204" pitchFamily="34" charset="0"/>
                <a:ea typeface="微软雅黑 Light" panose="020B0502040204020203" pitchFamily="34" charset="-122"/>
              </a:rPr>
              <a:t>，函数</a:t>
            </a:r>
            <a:r>
              <a:rPr lang="en-US" altLang="zh-CN" sz="2400">
                <a:latin typeface="Tahoma" panose="020B0604030504040204" pitchFamily="34" charset="0"/>
                <a:ea typeface="微软雅黑 Light" panose="020B0502040204020203" pitchFamily="34" charset="-122"/>
              </a:rPr>
              <a:t>fread, fwrite </a:t>
            </a:r>
            <a:r>
              <a:rPr lang="zh-CN" altLang="en-US" sz="2400">
                <a:latin typeface="Tahoma" panose="020B0604030504040204" pitchFamily="34" charset="0"/>
                <a:ea typeface="微软雅黑 Light" panose="020B0502040204020203" pitchFamily="34" charset="-122"/>
              </a:rPr>
              <a:t>）</a:t>
            </a:r>
            <a:endParaRPr lang="zh-CN" altLang="en-US" sz="2400">
              <a:latin typeface="Tahoma" panose="020B0604030504040204" pitchFamily="34" charset="0"/>
              <a:ea typeface="微软雅黑 Light" panose="020B0502040204020203"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3"/>
          <p:cNvSpPr>
            <a:spLocks noGrp="1" noChangeArrowheads="1"/>
          </p:cNvSpPr>
          <p:nvPr>
            <p:ph idx="1"/>
          </p:nvPr>
        </p:nvSpPr>
        <p:spPr>
          <a:xfrm>
            <a:off x="539750" y="692497"/>
            <a:ext cx="7772400" cy="5184775"/>
          </a:xfrm>
        </p:spPr>
        <p:txBody>
          <a:bodyPr/>
          <a:lstStyle/>
          <a:p>
            <a:pPr eaLnBrk="1" hangingPunct="1">
              <a:lnSpc>
                <a:spcPct val="120000"/>
              </a:lnSpc>
            </a:pPr>
            <a:r>
              <a:rPr lang="zh-CN" altLang="en-US" sz="2400" b="1">
                <a:latin typeface="Tahoma" panose="020B0604030504040204" pitchFamily="34" charset="0"/>
                <a:ea typeface="微软雅黑" panose="020B0503020204020204" pitchFamily="34" charset="-122"/>
              </a:rPr>
              <a:t>系统调用是如何完成一个</a:t>
            </a:r>
            <a:r>
              <a:rPr lang="en-US" altLang="zh-CN" sz="2400" b="1">
                <a:latin typeface="Tahoma" panose="020B0604030504040204" pitchFamily="34" charset="0"/>
                <a:ea typeface="微软雅黑" panose="020B0503020204020204" pitchFamily="34" charset="-122"/>
              </a:rPr>
              <a:t>I/O</a:t>
            </a:r>
            <a:r>
              <a:rPr lang="zh-CN" altLang="en-US" sz="2400" b="1">
                <a:latin typeface="Tahoma" panose="020B0604030504040204" pitchFamily="34" charset="0"/>
                <a:ea typeface="微软雅黑" panose="020B0503020204020204" pitchFamily="34" charset="-122"/>
              </a:rPr>
              <a:t>操作的呢？</a:t>
            </a:r>
            <a:endParaRPr lang="zh-CN" altLang="en-US" sz="2400" b="1">
              <a:latin typeface="Tahoma" panose="020B0604030504040204" pitchFamily="34" charset="0"/>
              <a:ea typeface="微软雅黑" panose="020B0503020204020204" pitchFamily="34" charset="-122"/>
            </a:endParaRPr>
          </a:p>
          <a:p>
            <a:pPr eaLnBrk="1" hangingPunct="1">
              <a:lnSpc>
                <a:spcPct val="150000"/>
              </a:lnSpc>
              <a:buFontTx/>
              <a:buNone/>
            </a:pPr>
            <a:r>
              <a:rPr lang="zh-CN" altLang="en-US" sz="2400">
                <a:latin typeface="Tahoma" panose="020B0604030504040204" pitchFamily="34" charset="0"/>
                <a:ea typeface="微软雅黑 Light" panose="020B0502040204020203" pitchFamily="34" charset="-122"/>
              </a:rPr>
              <a:t>		</a:t>
            </a:r>
            <a:r>
              <a:rPr lang="en-US" altLang="zh-CN" sz="2400">
                <a:latin typeface="Tahoma" panose="020B0604030504040204" pitchFamily="34" charset="0"/>
                <a:ea typeface="微软雅黑 Light" panose="020B0502040204020203" pitchFamily="34" charset="-122"/>
              </a:rPr>
              <a:t>Linux</a:t>
            </a:r>
            <a:r>
              <a:rPr lang="zh-CN" altLang="en-US" sz="2400">
                <a:latin typeface="Tahoma" panose="020B0604030504040204" pitchFamily="34" charset="0"/>
                <a:ea typeface="微软雅黑 Light" panose="020B0502040204020203" pitchFamily="34" charset="-122"/>
              </a:rPr>
              <a:t>系统将内存分为内核区和用户区，</a:t>
            </a:r>
            <a:r>
              <a:rPr lang="en-US" altLang="zh-CN" sz="2400">
                <a:latin typeface="Tahoma" panose="020B0604030504040204" pitchFamily="34" charset="0"/>
                <a:ea typeface="微软雅黑 Light" panose="020B0502040204020203" pitchFamily="34" charset="-122"/>
              </a:rPr>
              <a:t>Linux</a:t>
            </a:r>
            <a:r>
              <a:rPr lang="zh-CN" altLang="en-US" sz="2400">
                <a:latin typeface="Tahoma" panose="020B0604030504040204" pitchFamily="34" charset="0"/>
                <a:ea typeface="微软雅黑 Light" panose="020B0502040204020203" pitchFamily="34" charset="-122"/>
              </a:rPr>
              <a:t>内核管理所有的硬件资源，应用程序通过系统调用与内核交互，达到使用硬件资源的目的。例如，应用程序通过系统调用</a:t>
            </a:r>
            <a:r>
              <a:rPr lang="en-US" altLang="zh-CN" sz="2400">
                <a:latin typeface="Tahoma" panose="020B0604030504040204" pitchFamily="34" charset="0"/>
                <a:ea typeface="微软雅黑 Light" panose="020B0502040204020203" pitchFamily="34" charset="-122"/>
              </a:rPr>
              <a:t>read</a:t>
            </a:r>
            <a:r>
              <a:rPr lang="zh-CN" altLang="en-US" sz="2400">
                <a:latin typeface="Tahoma" panose="020B0604030504040204" pitchFamily="34" charset="0"/>
                <a:ea typeface="微软雅黑 Light" panose="020B0502040204020203" pitchFamily="34" charset="-122"/>
              </a:rPr>
              <a:t>对文件描述符</a:t>
            </a:r>
            <a:r>
              <a:rPr lang="en-US" altLang="zh-CN" sz="2400">
                <a:latin typeface="Tahoma" panose="020B0604030504040204" pitchFamily="34" charset="0"/>
                <a:ea typeface="微软雅黑 Light" panose="020B0502040204020203" pitchFamily="34" charset="-122"/>
              </a:rPr>
              <a:t>fd</a:t>
            </a:r>
            <a:r>
              <a:rPr lang="zh-CN" altLang="en-US" sz="2400">
                <a:latin typeface="Tahoma" panose="020B0604030504040204" pitchFamily="34" charset="0"/>
                <a:ea typeface="微软雅黑 Light" panose="020B0502040204020203" pitchFamily="34" charset="-122"/>
              </a:rPr>
              <a:t>发起一个读操作，这时候</a:t>
            </a:r>
            <a:r>
              <a:rPr lang="zh-CN" altLang="en-US" sz="2400" b="1">
                <a:solidFill>
                  <a:srgbClr val="0070C0"/>
                </a:solidFill>
                <a:latin typeface="Tahoma" panose="020B0604030504040204" pitchFamily="34" charset="0"/>
                <a:ea typeface="微软雅黑 Light" panose="020B0502040204020203" pitchFamily="34" charset="-122"/>
              </a:rPr>
              <a:t>内核通过驱动程序向硬件发送读指令，并将读到的数据放在这个</a:t>
            </a:r>
            <a:r>
              <a:rPr lang="en-US" altLang="zh-CN" sz="2400" b="1">
                <a:solidFill>
                  <a:srgbClr val="0070C0"/>
                </a:solidFill>
                <a:latin typeface="Tahoma" panose="020B0604030504040204" pitchFamily="34" charset="0"/>
                <a:ea typeface="微软雅黑 Light" panose="020B0502040204020203" pitchFamily="34" charset="-122"/>
              </a:rPr>
              <a:t>fd</a:t>
            </a:r>
            <a:r>
              <a:rPr lang="zh-CN" altLang="en-US" sz="2400" b="1">
                <a:solidFill>
                  <a:srgbClr val="0070C0"/>
                </a:solidFill>
                <a:latin typeface="Tahoma" panose="020B0604030504040204" pitchFamily="34" charset="0"/>
                <a:ea typeface="微软雅黑 Light" panose="020B0502040204020203" pitchFamily="34" charset="-122"/>
              </a:rPr>
              <a:t>对应结构体的缓存区中</a:t>
            </a:r>
            <a:r>
              <a:rPr lang="zh-CN" altLang="en-US" sz="2400">
                <a:latin typeface="Tahoma" panose="020B0604030504040204" pitchFamily="34" charset="0"/>
                <a:ea typeface="微软雅黑 Light" panose="020B0502040204020203" pitchFamily="34" charset="-122"/>
              </a:rPr>
              <a:t>，但这个结构体是在内核内存区的，需要</a:t>
            </a:r>
            <a:r>
              <a:rPr lang="zh-CN" altLang="en-US" sz="2400" b="1">
                <a:solidFill>
                  <a:srgbClr val="0070C0"/>
                </a:solidFill>
                <a:latin typeface="Tahoma" panose="020B0604030504040204" pitchFamily="34" charset="0"/>
                <a:ea typeface="微软雅黑 Light" panose="020B0502040204020203" pitchFamily="34" charset="-122"/>
              </a:rPr>
              <a:t>将这个数据读到用户区，这样就完成了一次读操作</a:t>
            </a:r>
            <a:r>
              <a:rPr lang="zh-CN" altLang="en-US" sz="2400">
                <a:latin typeface="Tahoma" panose="020B0604030504040204" pitchFamily="34" charset="0"/>
                <a:ea typeface="微软雅黑 Light" panose="020B0502040204020203" pitchFamily="34" charset="-122"/>
              </a:rPr>
              <a:t>。</a:t>
            </a:r>
            <a:endParaRPr lang="zh-CN" altLang="en-US" sz="2400">
              <a:latin typeface="Tahoma" panose="020B0604030504040204" pitchFamily="34" charset="0"/>
              <a:ea typeface="微软雅黑 Light" panose="020B0502040204020203"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3"/>
          <p:cNvSpPr>
            <a:spLocks noGrp="1" noChangeArrowheads="1"/>
          </p:cNvSpPr>
          <p:nvPr>
            <p:ph idx="1"/>
          </p:nvPr>
        </p:nvSpPr>
        <p:spPr>
          <a:xfrm>
            <a:off x="685800" y="260648"/>
            <a:ext cx="7772400" cy="6048375"/>
          </a:xfrm>
        </p:spPr>
        <p:txBody>
          <a:bodyPr/>
          <a:lstStyle/>
          <a:p>
            <a:pPr lvl="1" eaLnBrk="1" hangingPunct="1">
              <a:lnSpc>
                <a:spcPct val="150000"/>
              </a:lnSpc>
            </a:pPr>
            <a:endParaRPr lang="en-US" altLang="zh-CN" sz="1000"/>
          </a:p>
          <a:p>
            <a:pPr eaLnBrk="1" hangingPunct="1">
              <a:lnSpc>
                <a:spcPct val="150000"/>
              </a:lnSpc>
            </a:pPr>
            <a:r>
              <a:rPr lang="en-US" altLang="zh-CN" sz="2800" b="1">
                <a:solidFill>
                  <a:srgbClr val="0070C0"/>
                </a:solidFill>
                <a:latin typeface="微软雅黑" panose="020B0503020204020204" pitchFamily="34" charset="-122"/>
                <a:ea typeface="微软雅黑" panose="020B0503020204020204" pitchFamily="34" charset="-122"/>
              </a:rPr>
              <a:t>一个输入操作一般有两个阶段</a:t>
            </a:r>
            <a:endParaRPr lang="zh-CN" altLang="en-US" sz="2800" b="1">
              <a:latin typeface="微软雅黑" panose="020B0503020204020204" pitchFamily="34" charset="-122"/>
              <a:ea typeface="微软雅黑" panose="020B0503020204020204" pitchFamily="34" charset="-122"/>
            </a:endParaRPr>
          </a:p>
          <a:p>
            <a:pPr lvl="1" eaLnBrk="1" hangingPunct="1">
              <a:lnSpc>
                <a:spcPct val="150000"/>
              </a:lnSpc>
            </a:pPr>
            <a:r>
              <a:rPr lang="zh-CN" altLang="en-US">
                <a:latin typeface="微软雅黑 Light" panose="020B0502040204020203" pitchFamily="34" charset="-122"/>
                <a:ea typeface="微软雅黑 Light" panose="020B0502040204020203" pitchFamily="34" charset="-122"/>
              </a:rPr>
              <a:t>等待数据准备好</a:t>
            </a:r>
            <a:endParaRPr lang="zh-CN" altLang="en-US">
              <a:latin typeface="微软雅黑 Light" panose="020B0502040204020203" pitchFamily="34" charset="-122"/>
              <a:ea typeface="微软雅黑 Light" panose="020B0502040204020203" pitchFamily="34" charset="-122"/>
            </a:endParaRPr>
          </a:p>
          <a:p>
            <a:pPr lvl="1" eaLnBrk="1" hangingPunct="1">
              <a:lnSpc>
                <a:spcPct val="150000"/>
              </a:lnSpc>
            </a:pPr>
            <a:r>
              <a:rPr lang="zh-CN" altLang="en-US">
                <a:latin typeface="微软雅黑 Light" panose="020B0502040204020203" pitchFamily="34" charset="-122"/>
                <a:ea typeface="微软雅黑 Light" panose="020B0502040204020203" pitchFamily="34" charset="-122"/>
              </a:rPr>
              <a:t>从内核到进程（应用程序）拷贝数据</a:t>
            </a:r>
            <a:endParaRPr lang="zh-CN" altLang="en-US">
              <a:latin typeface="微软雅黑 Light" panose="020B0502040204020203" pitchFamily="34" charset="-122"/>
              <a:ea typeface="微软雅黑 Light" panose="020B0502040204020203" pitchFamily="34" charset="-122"/>
            </a:endParaRPr>
          </a:p>
          <a:p>
            <a:pPr eaLnBrk="1" hangingPunct="1">
              <a:lnSpc>
                <a:spcPct val="150000"/>
              </a:lnSpc>
            </a:pPr>
            <a:r>
              <a:rPr lang="zh-CN" altLang="en-US" sz="2800" b="1">
                <a:solidFill>
                  <a:srgbClr val="0070C0"/>
                </a:solidFill>
                <a:latin typeface="微软雅黑" panose="020B0503020204020204" pitchFamily="34" charset="-122"/>
                <a:ea typeface="微软雅黑" panose="020B0503020204020204" pitchFamily="34" charset="-122"/>
              </a:rPr>
              <a:t>对于一个</a:t>
            </a:r>
            <a:r>
              <a:rPr lang="en-US" altLang="zh-CN" sz="2800" b="1">
                <a:solidFill>
                  <a:srgbClr val="0070C0"/>
                </a:solidFill>
                <a:latin typeface="微软雅黑" panose="020B0503020204020204" pitchFamily="34" charset="-122"/>
                <a:ea typeface="微软雅黑" panose="020B0503020204020204" pitchFamily="34" charset="-122"/>
              </a:rPr>
              <a:t>socket</a:t>
            </a:r>
            <a:r>
              <a:rPr lang="zh-CN" altLang="en-US" sz="2800" b="1">
                <a:solidFill>
                  <a:srgbClr val="0070C0"/>
                </a:solidFill>
                <a:latin typeface="微软雅黑" panose="020B0503020204020204" pitchFamily="34" charset="-122"/>
                <a:ea typeface="微软雅黑" panose="020B0503020204020204" pitchFamily="34" charset="-122"/>
              </a:rPr>
              <a:t>上的操作</a:t>
            </a:r>
            <a:endParaRPr lang="zh-CN" altLang="en-US" sz="2800" b="1">
              <a:solidFill>
                <a:srgbClr val="0070C0"/>
              </a:solidFill>
              <a:latin typeface="微软雅黑" panose="020B0503020204020204" pitchFamily="34" charset="-122"/>
              <a:ea typeface="微软雅黑" panose="020B0503020204020204" pitchFamily="34" charset="-122"/>
            </a:endParaRPr>
          </a:p>
          <a:p>
            <a:pPr lvl="1" eaLnBrk="1" hangingPunct="1">
              <a:lnSpc>
                <a:spcPct val="150000"/>
              </a:lnSpc>
            </a:pPr>
            <a:r>
              <a:rPr lang="zh-CN" altLang="en-US">
                <a:latin typeface="微软雅黑 Light" panose="020B0502040204020203" pitchFamily="34" charset="-122"/>
                <a:ea typeface="微软雅黑 Light" panose="020B0502040204020203" pitchFamily="34" charset="-122"/>
              </a:rPr>
              <a:t>第一步：一般是等待数据到达网络，当分组到达时，它被拷贝到内核中某个缓冲区。</a:t>
            </a:r>
            <a:endParaRPr lang="zh-CN" altLang="en-US">
              <a:latin typeface="微软雅黑 Light" panose="020B0502040204020203" pitchFamily="34" charset="-122"/>
              <a:ea typeface="微软雅黑 Light" panose="020B0502040204020203" pitchFamily="34" charset="-122"/>
            </a:endParaRPr>
          </a:p>
          <a:p>
            <a:pPr lvl="1" eaLnBrk="1" hangingPunct="1">
              <a:lnSpc>
                <a:spcPct val="150000"/>
              </a:lnSpc>
            </a:pPr>
            <a:r>
              <a:rPr lang="zh-CN" altLang="en-US">
                <a:latin typeface="微软雅黑 Light" panose="020B0502040204020203" pitchFamily="34" charset="-122"/>
                <a:ea typeface="微软雅黑 Light" panose="020B0502040204020203" pitchFamily="34" charset="-122"/>
              </a:rPr>
              <a:t>第二步：将数据从内核缓冲区拷贝到应用程序缓冲区。</a:t>
            </a:r>
            <a:endParaRPr lang="zh-CN" altLang="en-US">
              <a:latin typeface="微软雅黑 Light" panose="020B0502040204020203" pitchFamily="34" charset="-122"/>
              <a:ea typeface="微软雅黑 Light" panose="020B0502040204020203" pitchFamily="34" charset="-122"/>
            </a:endParaRPr>
          </a:p>
          <a:p>
            <a:pPr lvl="1" eaLnBrk="1" hangingPunct="1">
              <a:lnSpc>
                <a:spcPct val="150000"/>
              </a:lnSpc>
            </a:pPr>
            <a:endParaRPr lang="en-US" altLang="zh-CN"/>
          </a:p>
        </p:txBody>
      </p:sp>
    </p:spTree>
  </p:cSld>
  <p:clrMapOvr>
    <a:masterClrMapping/>
  </p:clrMapOvr>
  <p:transition spd="slow">
    <p:wipe dir="r"/>
    <p:sndAc>
      <p:end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ChangeArrowheads="1"/>
          </p:cNvSpPr>
          <p:nvPr>
            <p:ph type="title"/>
          </p:nvPr>
        </p:nvSpPr>
        <p:spPr/>
        <p:txBody>
          <a:bodyPr/>
          <a:lstStyle/>
          <a:p>
            <a:pPr eaLnBrk="1" hangingPunct="1"/>
            <a:r>
              <a:rPr lang="en-US" altLang="zh-CN">
                <a:latin typeface="Tahoma" panose="020B0604030504040204" pitchFamily="34" charset="0"/>
                <a:ea typeface="微软雅黑" panose="020B0503020204020204" pitchFamily="34" charset="-122"/>
              </a:rPr>
              <a:t>I/O</a:t>
            </a:r>
            <a:r>
              <a:rPr lang="zh-CN" altLang="en-US">
                <a:latin typeface="Tahoma" panose="020B0604030504040204" pitchFamily="34" charset="0"/>
                <a:ea typeface="微软雅黑" panose="020B0503020204020204" pitchFamily="34" charset="-122"/>
              </a:rPr>
              <a:t>模型</a:t>
            </a:r>
            <a:endParaRPr lang="zh-CN" altLang="en-US">
              <a:latin typeface="Tahoma" panose="020B0604030504040204" pitchFamily="34" charset="0"/>
              <a:ea typeface="微软雅黑" panose="020B0503020204020204" pitchFamily="34" charset="-122"/>
            </a:endParaRPr>
          </a:p>
        </p:txBody>
      </p:sp>
      <p:sp>
        <p:nvSpPr>
          <p:cNvPr id="9218" name="Rectangle 3"/>
          <p:cNvSpPr>
            <a:spLocks noGrp="1" noChangeArrowheads="1"/>
          </p:cNvSpPr>
          <p:nvPr>
            <p:ph idx="1"/>
          </p:nvPr>
        </p:nvSpPr>
        <p:spPr/>
        <p:txBody>
          <a:bodyPr/>
          <a:lstStyle/>
          <a:p>
            <a:pPr eaLnBrk="1" hangingPunct="1">
              <a:buClr>
                <a:srgbClr val="0070C0"/>
              </a:buClr>
            </a:pPr>
            <a:r>
              <a:rPr lang="en-US" altLang="zh-CN">
                <a:latin typeface="Tahoma" panose="020B0604030504040204" pitchFamily="34" charset="0"/>
                <a:ea typeface="微软雅黑" panose="020B0503020204020204" pitchFamily="34" charset="-122"/>
              </a:rPr>
              <a:t>Unix</a:t>
            </a:r>
            <a:r>
              <a:rPr lang="zh-CN" altLang="en-US">
                <a:latin typeface="Tahoma" panose="020B0604030504040204" pitchFamily="34" charset="0"/>
                <a:ea typeface="微软雅黑" panose="020B0503020204020204" pitchFamily="34" charset="-122"/>
              </a:rPr>
              <a:t>下可用的</a:t>
            </a:r>
            <a:r>
              <a:rPr lang="en-US" altLang="zh-CN">
                <a:latin typeface="Tahoma" panose="020B0604030504040204" pitchFamily="34" charset="0"/>
                <a:ea typeface="微软雅黑" panose="020B0503020204020204" pitchFamily="34" charset="-122"/>
              </a:rPr>
              <a:t>I/O</a:t>
            </a:r>
            <a:r>
              <a:rPr lang="zh-CN" altLang="en-US">
                <a:latin typeface="Tahoma" panose="020B0604030504040204" pitchFamily="34" charset="0"/>
                <a:ea typeface="微软雅黑" panose="020B0503020204020204" pitchFamily="34" charset="-122"/>
              </a:rPr>
              <a:t>模型</a:t>
            </a:r>
            <a:endParaRPr lang="zh-CN" altLang="en-US">
              <a:latin typeface="Tahoma" panose="020B0604030504040204" pitchFamily="34" charset="0"/>
              <a:ea typeface="微软雅黑" panose="020B0503020204020204" pitchFamily="34" charset="-122"/>
            </a:endParaRPr>
          </a:p>
          <a:p>
            <a:pPr lvl="1" eaLnBrk="1" hangingPunct="1"/>
            <a:r>
              <a:rPr lang="zh-CN" altLang="en-US">
                <a:latin typeface="Tahoma" panose="020B0604030504040204" pitchFamily="34" charset="0"/>
                <a:ea typeface="微软雅黑" panose="020B0503020204020204" pitchFamily="34" charset="-122"/>
              </a:rPr>
              <a:t>阻塞</a:t>
            </a:r>
            <a:r>
              <a:rPr lang="en-US" altLang="zh-CN">
                <a:latin typeface="Tahoma" panose="020B0604030504040204" pitchFamily="34" charset="0"/>
                <a:ea typeface="微软雅黑" panose="020B0503020204020204" pitchFamily="34" charset="-122"/>
              </a:rPr>
              <a:t>i/o</a:t>
            </a:r>
            <a:endParaRPr lang="en-US" altLang="zh-CN">
              <a:latin typeface="Tahoma" panose="020B0604030504040204" pitchFamily="34" charset="0"/>
              <a:ea typeface="微软雅黑" panose="020B0503020204020204" pitchFamily="34" charset="-122"/>
            </a:endParaRPr>
          </a:p>
          <a:p>
            <a:pPr lvl="1" eaLnBrk="1" hangingPunct="1"/>
            <a:r>
              <a:rPr lang="zh-CN" altLang="en-US">
                <a:latin typeface="Tahoma" panose="020B0604030504040204" pitchFamily="34" charset="0"/>
                <a:ea typeface="微软雅黑" panose="020B0503020204020204" pitchFamily="34" charset="-122"/>
              </a:rPr>
              <a:t>非阻塞</a:t>
            </a:r>
            <a:r>
              <a:rPr lang="en-US" altLang="zh-CN">
                <a:latin typeface="Tahoma" panose="020B0604030504040204" pitchFamily="34" charset="0"/>
                <a:ea typeface="微软雅黑" panose="020B0503020204020204" pitchFamily="34" charset="-122"/>
              </a:rPr>
              <a:t>i/o</a:t>
            </a:r>
            <a:endParaRPr lang="en-US" altLang="zh-CN">
              <a:latin typeface="Tahoma" panose="020B0604030504040204" pitchFamily="34" charset="0"/>
              <a:ea typeface="微软雅黑" panose="020B0503020204020204" pitchFamily="34" charset="-122"/>
            </a:endParaRPr>
          </a:p>
          <a:p>
            <a:pPr lvl="1" eaLnBrk="1" hangingPunct="1"/>
            <a:r>
              <a:rPr lang="en-US" altLang="zh-CN">
                <a:latin typeface="Tahoma" panose="020B0604030504040204" pitchFamily="34" charset="0"/>
                <a:ea typeface="微软雅黑" panose="020B0503020204020204" pitchFamily="34" charset="-122"/>
              </a:rPr>
              <a:t>i/o</a:t>
            </a:r>
            <a:r>
              <a:rPr lang="zh-CN" altLang="en-US">
                <a:latin typeface="Tahoma" panose="020B0604030504040204" pitchFamily="34" charset="0"/>
                <a:ea typeface="微软雅黑" panose="020B0503020204020204" pitchFamily="34" charset="-122"/>
              </a:rPr>
              <a:t>复用（</a:t>
            </a:r>
            <a:r>
              <a:rPr lang="en-US" altLang="zh-CN">
                <a:latin typeface="Tahoma" panose="020B0604030504040204" pitchFamily="34" charset="0"/>
                <a:ea typeface="微软雅黑" panose="020B0503020204020204" pitchFamily="34" charset="-122"/>
              </a:rPr>
              <a:t>select</a:t>
            </a:r>
            <a:r>
              <a:rPr lang="zh-CN" altLang="en-US">
                <a:latin typeface="Tahoma" panose="020B0604030504040204" pitchFamily="34" charset="0"/>
                <a:ea typeface="微软雅黑" panose="020B0503020204020204" pitchFamily="34" charset="-122"/>
              </a:rPr>
              <a:t>和</a:t>
            </a:r>
            <a:r>
              <a:rPr lang="en-US" altLang="zh-CN">
                <a:latin typeface="Tahoma" panose="020B0604030504040204" pitchFamily="34" charset="0"/>
                <a:ea typeface="微软雅黑" panose="020B0503020204020204" pitchFamily="34" charset="-122"/>
              </a:rPr>
              <a:t>poll</a:t>
            </a:r>
            <a:r>
              <a:rPr lang="zh-CN" altLang="en-US">
                <a:latin typeface="Tahoma" panose="020B0604030504040204" pitchFamily="34" charset="0"/>
                <a:ea typeface="微软雅黑" panose="020B0503020204020204" pitchFamily="34" charset="-122"/>
              </a:rPr>
              <a:t>）</a:t>
            </a:r>
            <a:endParaRPr lang="zh-CN" altLang="en-US">
              <a:latin typeface="Tahoma" panose="020B0604030504040204" pitchFamily="34" charset="0"/>
              <a:ea typeface="微软雅黑" panose="020B0503020204020204" pitchFamily="34" charset="-122"/>
            </a:endParaRPr>
          </a:p>
          <a:p>
            <a:pPr lvl="1" eaLnBrk="1" hangingPunct="1"/>
            <a:r>
              <a:rPr lang="zh-CN" altLang="en-US">
                <a:latin typeface="Tahoma" panose="020B0604030504040204" pitchFamily="34" charset="0"/>
                <a:ea typeface="微软雅黑" panose="020B0503020204020204" pitchFamily="34" charset="-122"/>
              </a:rPr>
              <a:t>信号驱动</a:t>
            </a:r>
            <a:r>
              <a:rPr lang="en-US" altLang="zh-CN">
                <a:latin typeface="Tahoma" panose="020B0604030504040204" pitchFamily="34" charset="0"/>
                <a:ea typeface="微软雅黑" panose="020B0503020204020204" pitchFamily="34" charset="-122"/>
              </a:rPr>
              <a:t>i/o</a:t>
            </a:r>
            <a:r>
              <a:rPr lang="zh-CN" altLang="en-US">
                <a:latin typeface="Tahoma" panose="020B0604030504040204" pitchFamily="34" charset="0"/>
                <a:ea typeface="微软雅黑" panose="020B0503020204020204" pitchFamily="34" charset="-122"/>
              </a:rPr>
              <a:t>（</a:t>
            </a:r>
            <a:r>
              <a:rPr lang="en-US" altLang="zh-CN">
                <a:latin typeface="Tahoma" panose="020B0604030504040204" pitchFamily="34" charset="0"/>
                <a:ea typeface="微软雅黑" panose="020B0503020204020204" pitchFamily="34" charset="-122"/>
              </a:rPr>
              <a:t>SIGIO</a:t>
            </a:r>
            <a:r>
              <a:rPr lang="zh-CN" altLang="en-US">
                <a:latin typeface="Tahoma" panose="020B0604030504040204" pitchFamily="34" charset="0"/>
                <a:ea typeface="微软雅黑" panose="020B0503020204020204" pitchFamily="34" charset="-122"/>
              </a:rPr>
              <a:t>）</a:t>
            </a:r>
            <a:endParaRPr lang="zh-CN" altLang="en-US">
              <a:latin typeface="Tahoma" panose="020B0604030504040204" pitchFamily="34" charset="0"/>
              <a:ea typeface="微软雅黑" panose="020B0503020204020204" pitchFamily="34" charset="-122"/>
            </a:endParaRPr>
          </a:p>
          <a:p>
            <a:pPr lvl="1" eaLnBrk="1" hangingPunct="1"/>
            <a:r>
              <a:rPr lang="zh-CN" altLang="en-US">
                <a:latin typeface="Tahoma" panose="020B0604030504040204" pitchFamily="34" charset="0"/>
                <a:ea typeface="微软雅黑" panose="020B0503020204020204" pitchFamily="34" charset="-122"/>
              </a:rPr>
              <a:t>异步</a:t>
            </a:r>
            <a:r>
              <a:rPr lang="en-US" altLang="zh-CN">
                <a:latin typeface="Tahoma" panose="020B0604030504040204" pitchFamily="34" charset="0"/>
                <a:ea typeface="微软雅黑" panose="020B0503020204020204" pitchFamily="34" charset="-122"/>
              </a:rPr>
              <a:t>i/o</a:t>
            </a:r>
            <a:r>
              <a:rPr lang="zh-CN" altLang="en-US">
                <a:latin typeface="Tahoma" panose="020B0604030504040204" pitchFamily="34" charset="0"/>
                <a:ea typeface="微软雅黑" panose="020B0503020204020204" pitchFamily="34" charset="-122"/>
              </a:rPr>
              <a:t>（</a:t>
            </a:r>
            <a:r>
              <a:rPr lang="en-US" altLang="zh-CN">
                <a:latin typeface="Tahoma" panose="020B0604030504040204" pitchFamily="34" charset="0"/>
                <a:ea typeface="微软雅黑" panose="020B0503020204020204" pitchFamily="34" charset="-122"/>
              </a:rPr>
              <a:t>posix.1</a:t>
            </a:r>
            <a:r>
              <a:rPr lang="zh-CN" altLang="en-US">
                <a:latin typeface="Tahoma" panose="020B0604030504040204" pitchFamily="34" charset="0"/>
                <a:ea typeface="微软雅黑" panose="020B0503020204020204" pitchFamily="34" charset="-122"/>
              </a:rPr>
              <a:t>的</a:t>
            </a:r>
            <a:r>
              <a:rPr lang="en-US" altLang="zh-CN">
                <a:latin typeface="Tahoma" panose="020B0604030504040204" pitchFamily="34" charset="0"/>
                <a:ea typeface="微软雅黑" panose="020B0503020204020204" pitchFamily="34" charset="-122"/>
              </a:rPr>
              <a:t>aio_</a:t>
            </a:r>
            <a:r>
              <a:rPr lang="zh-CN" altLang="en-US">
                <a:latin typeface="Tahoma" panose="020B0604030504040204" pitchFamily="34" charset="0"/>
                <a:ea typeface="微软雅黑" panose="020B0503020204020204" pitchFamily="34" charset="-122"/>
              </a:rPr>
              <a:t>系列函数</a:t>
            </a:r>
            <a:r>
              <a:rPr lang="en-US" altLang="zh-CN">
                <a:latin typeface="Tahoma" panose="020B0604030504040204" pitchFamily="34" charset="0"/>
                <a:ea typeface="微软雅黑" panose="020B0503020204020204" pitchFamily="34" charset="-122"/>
              </a:rPr>
              <a:t>)</a:t>
            </a:r>
            <a:endParaRPr lang="en-US" altLang="zh-CN">
              <a:latin typeface="Tahoma" panose="020B0604030504040204" pitchFamily="34" charset="0"/>
              <a:ea typeface="微软雅黑" panose="020B0503020204020204" pitchFamily="34" charset="-122"/>
            </a:endParaRPr>
          </a:p>
          <a:p>
            <a:pPr eaLnBrk="1" hangingPunct="1"/>
            <a:endParaRPr lang="en-US" altLang="zh-CN">
              <a:latin typeface="Tahoma" panose="020B0604030504040204" pitchFamily="34" charset="0"/>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a:xfrm>
            <a:off x="685800" y="42863"/>
            <a:ext cx="7772400" cy="1143000"/>
          </a:xfrm>
        </p:spPr>
        <p:txBody>
          <a:bodyPr/>
          <a:lstStyle/>
          <a:p>
            <a:pPr eaLnBrk="1" hangingPunct="1"/>
            <a:r>
              <a:rPr lang="zh-CN" altLang="en-US" sz="3600">
                <a:ea typeface="微软雅黑" panose="020B0503020204020204" pitchFamily="34" charset="-122"/>
              </a:rPr>
              <a:t>阻塞</a:t>
            </a:r>
            <a:r>
              <a:rPr lang="en-US" altLang="zh-CN" sz="3600">
                <a:ea typeface="微软雅黑" panose="020B0503020204020204" pitchFamily="34" charset="-122"/>
              </a:rPr>
              <a:t>I/O</a:t>
            </a:r>
            <a:r>
              <a:rPr lang="zh-CN" altLang="en-US" sz="3600">
                <a:ea typeface="微软雅黑" panose="020B0503020204020204" pitchFamily="34" charset="-122"/>
              </a:rPr>
              <a:t>模型</a:t>
            </a:r>
            <a:endParaRPr lang="zh-CN" altLang="en-US" sz="3600">
              <a:ea typeface="微软雅黑" panose="020B0503020204020204" pitchFamily="34" charset="-122"/>
            </a:endParaRPr>
          </a:p>
        </p:txBody>
      </p:sp>
      <p:sp>
        <p:nvSpPr>
          <p:cNvPr id="10242" name="Rectangle 3"/>
          <p:cNvSpPr>
            <a:spLocks noGrp="1" noChangeArrowheads="1"/>
          </p:cNvSpPr>
          <p:nvPr>
            <p:ph idx="1"/>
          </p:nvPr>
        </p:nvSpPr>
        <p:spPr>
          <a:xfrm>
            <a:off x="260634" y="1219994"/>
            <a:ext cx="8893175" cy="1714500"/>
          </a:xfrm>
        </p:spPr>
        <p:txBody>
          <a:bodyPr/>
          <a:lstStyle/>
          <a:p>
            <a:pPr eaLnBrk="1" hangingPunct="1"/>
            <a:r>
              <a:rPr lang="zh-CN" altLang="en-US" sz="2400">
                <a:ea typeface="微软雅黑 Light" panose="020B0502040204020203" pitchFamily="34" charset="-122"/>
              </a:rPr>
              <a:t>最流行的</a:t>
            </a:r>
            <a:r>
              <a:rPr lang="en-US" altLang="zh-CN" sz="2400">
                <a:ea typeface="微软雅黑 Light" panose="020B0502040204020203" pitchFamily="34" charset="-122"/>
              </a:rPr>
              <a:t>i/o</a:t>
            </a:r>
            <a:r>
              <a:rPr lang="zh-CN" altLang="en-US" sz="2400">
                <a:ea typeface="微软雅黑 Light" panose="020B0502040204020203" pitchFamily="34" charset="-122"/>
              </a:rPr>
              <a:t>模型。</a:t>
            </a:r>
            <a:r>
              <a:rPr lang="zh-CN" altLang="en-US" sz="2400">
                <a:solidFill>
                  <a:srgbClr val="0070C0"/>
                </a:solidFill>
                <a:ea typeface="微软雅黑 Light" panose="020B0502040204020203" pitchFamily="34" charset="-122"/>
              </a:rPr>
              <a:t>缺省时，所有套接字都是阻塞的</a:t>
            </a:r>
            <a:r>
              <a:rPr lang="zh-CN" altLang="en-US" sz="2400">
                <a:ea typeface="微软雅黑 Light" panose="020B0502040204020203" pitchFamily="34" charset="-122"/>
              </a:rPr>
              <a:t>。阻塞，使进程被挂起而等待</a:t>
            </a:r>
            <a:r>
              <a:rPr lang="en-US" altLang="zh-CN" sz="2400">
                <a:ea typeface="微软雅黑 Light" panose="020B0502040204020203" pitchFamily="34" charset="-122"/>
              </a:rPr>
              <a:t>I/O</a:t>
            </a:r>
            <a:r>
              <a:rPr lang="zh-CN" altLang="en-US" sz="2400">
                <a:ea typeface="微软雅黑 Light" panose="020B0502040204020203" pitchFamily="34" charset="-122"/>
              </a:rPr>
              <a:t>的读写就绪。</a:t>
            </a:r>
            <a:endParaRPr lang="zh-CN" altLang="en-US" sz="2400">
              <a:ea typeface="微软雅黑 Light" panose="020B0502040204020203" pitchFamily="34" charset="-122"/>
            </a:endParaRPr>
          </a:p>
          <a:p>
            <a:pPr eaLnBrk="1" hangingPunct="1"/>
            <a:r>
              <a:rPr lang="zh-CN" altLang="en-US" sz="2400">
                <a:ea typeface="微软雅黑 Light" panose="020B0502040204020203" pitchFamily="34" charset="-122"/>
              </a:rPr>
              <a:t>应用程序调用一个</a:t>
            </a:r>
            <a:r>
              <a:rPr lang="en-US" altLang="zh-CN" sz="2400">
                <a:ea typeface="微软雅黑 Light" panose="020B0502040204020203" pitchFamily="34" charset="-122"/>
              </a:rPr>
              <a:t>I/O</a:t>
            </a:r>
            <a:r>
              <a:rPr lang="zh-CN" altLang="en-US" sz="2400">
                <a:ea typeface="微软雅黑 Light" panose="020B0502040204020203" pitchFamily="34" charset="-122"/>
              </a:rPr>
              <a:t>函数，导致应用程序阻塞，等待数据准备好。如果数据没有准备好，一直等待</a:t>
            </a:r>
            <a:r>
              <a:rPr lang="en-US" altLang="zh-CN" sz="2400">
                <a:ea typeface="微软雅黑 Light" panose="020B0502040204020203" pitchFamily="34" charset="-122"/>
              </a:rPr>
              <a:t>…..</a:t>
            </a:r>
            <a:r>
              <a:rPr lang="zh-CN" altLang="en-US" sz="2400">
                <a:ea typeface="微软雅黑 Light" panose="020B0502040204020203" pitchFamily="34" charset="-122"/>
              </a:rPr>
              <a:t>数据准备好了，从内核拷贝到用户空间，</a:t>
            </a:r>
            <a:r>
              <a:rPr lang="en-US" altLang="zh-CN" sz="2400">
                <a:ea typeface="微软雅黑 Light" panose="020B0502040204020203" pitchFamily="34" charset="-122"/>
              </a:rPr>
              <a:t>IO</a:t>
            </a:r>
            <a:r>
              <a:rPr lang="zh-CN" altLang="en-US" sz="2400">
                <a:ea typeface="微软雅黑 Light" panose="020B0502040204020203" pitchFamily="34" charset="-122"/>
              </a:rPr>
              <a:t>函数成功指示。</a:t>
            </a:r>
            <a:endParaRPr lang="zh-CN" altLang="en-US" sz="2400">
              <a:ea typeface="微软雅黑 Light" panose="020B0502040204020203" pitchFamily="34" charset="-122"/>
            </a:endParaRPr>
          </a:p>
        </p:txBody>
      </p:sp>
      <p:sp>
        <p:nvSpPr>
          <p:cNvPr id="10243" name="AutoShape 4"/>
          <p:cNvSpPr/>
          <p:nvPr/>
        </p:nvSpPr>
        <p:spPr bwMode="auto">
          <a:xfrm>
            <a:off x="1979613" y="4141788"/>
            <a:ext cx="144462" cy="2376487"/>
          </a:xfrm>
          <a:prstGeom prst="leftBrace">
            <a:avLst>
              <a:gd name="adj1" fmla="val 136936"/>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44" name="Text Box 5"/>
          <p:cNvSpPr txBox="1">
            <a:spLocks noChangeArrowheads="1"/>
          </p:cNvSpPr>
          <p:nvPr/>
        </p:nvSpPr>
        <p:spPr bwMode="auto">
          <a:xfrm>
            <a:off x="179388" y="5078413"/>
            <a:ext cx="19796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进程阻塞于</a:t>
            </a:r>
            <a:r>
              <a:rPr lang="en-US" altLang="zh-CN" sz="1800">
                <a:solidFill>
                  <a:srgbClr val="080808"/>
                </a:solidFill>
                <a:latin typeface="Comic Sans MS" panose="030F0702030302020204" pitchFamily="66" charset="0"/>
                <a:ea typeface="华文新魏" panose="02010800040101010101" pitchFamily="2" charset="-122"/>
              </a:rPr>
              <a:t>recvfrom</a:t>
            </a:r>
            <a:r>
              <a:rPr lang="zh-CN" altLang="en-US" sz="1800">
                <a:solidFill>
                  <a:srgbClr val="080808"/>
                </a:solidFill>
                <a:latin typeface="Comic Sans MS" panose="030F0702030302020204" pitchFamily="66" charset="0"/>
                <a:ea typeface="华文新魏" panose="02010800040101010101" pitchFamily="2" charset="-122"/>
              </a:rPr>
              <a:t>的调用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0245" name="Text Box 6"/>
          <p:cNvSpPr txBox="1">
            <a:spLocks noChangeArrowheads="1"/>
          </p:cNvSpPr>
          <p:nvPr/>
        </p:nvSpPr>
        <p:spPr bwMode="auto">
          <a:xfrm>
            <a:off x="1979613" y="3925888"/>
            <a:ext cx="15128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omic Sans MS" panose="030F0702030302020204" pitchFamily="66" charset="0"/>
                <a:ea typeface="华文新魏" panose="02010800040101010101" pitchFamily="2" charset="-122"/>
              </a:rPr>
              <a:t>recvfrom</a:t>
            </a:r>
            <a:endParaRPr lang="en-US" altLang="zh-CN" sz="1800">
              <a:solidFill>
                <a:srgbClr val="080808"/>
              </a:solidFill>
              <a:latin typeface="Comic Sans MS" panose="030F0702030302020204" pitchFamily="66" charset="0"/>
              <a:ea typeface="华文新魏" panose="02010800040101010101" pitchFamily="2" charset="-122"/>
            </a:endParaRPr>
          </a:p>
        </p:txBody>
      </p:sp>
      <p:sp>
        <p:nvSpPr>
          <p:cNvPr id="10246" name="Text Box 7"/>
          <p:cNvSpPr txBox="1">
            <a:spLocks noChangeArrowheads="1"/>
          </p:cNvSpPr>
          <p:nvPr/>
        </p:nvSpPr>
        <p:spPr bwMode="auto">
          <a:xfrm>
            <a:off x="1979613" y="3422650"/>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latin typeface="Comic Sans MS" panose="030F0702030302020204" pitchFamily="66" charset="0"/>
                <a:ea typeface="华文新魏" panose="02010800040101010101" pitchFamily="2" charset="-122"/>
              </a:rPr>
              <a:t>应用进程</a:t>
            </a:r>
            <a:endParaRPr lang="zh-CN" altLang="en-US" sz="1800" b="1">
              <a:latin typeface="Comic Sans MS" panose="030F0702030302020204" pitchFamily="66" charset="0"/>
              <a:ea typeface="华文新魏" panose="02010800040101010101" pitchFamily="2" charset="-122"/>
            </a:endParaRPr>
          </a:p>
        </p:txBody>
      </p:sp>
      <p:sp>
        <p:nvSpPr>
          <p:cNvPr id="10247" name="Line 8"/>
          <p:cNvSpPr>
            <a:spLocks noChangeShapeType="1"/>
          </p:cNvSpPr>
          <p:nvPr/>
        </p:nvSpPr>
        <p:spPr bwMode="auto">
          <a:xfrm>
            <a:off x="3348038" y="4143375"/>
            <a:ext cx="172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8" name="Text Box 9"/>
          <p:cNvSpPr txBox="1">
            <a:spLocks noChangeArrowheads="1"/>
          </p:cNvSpPr>
          <p:nvPr/>
        </p:nvSpPr>
        <p:spPr bwMode="auto">
          <a:xfrm>
            <a:off x="5076825" y="3349625"/>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latin typeface="Comic Sans MS" panose="030F0702030302020204" pitchFamily="66" charset="0"/>
                <a:ea typeface="华文新魏" panose="02010800040101010101" pitchFamily="2" charset="-122"/>
              </a:rPr>
              <a:t>内核</a:t>
            </a:r>
            <a:endParaRPr lang="zh-CN" altLang="en-US" sz="1800" b="1">
              <a:latin typeface="Comic Sans MS" panose="030F0702030302020204" pitchFamily="66" charset="0"/>
              <a:ea typeface="华文新魏" panose="02010800040101010101" pitchFamily="2" charset="-122"/>
            </a:endParaRPr>
          </a:p>
        </p:txBody>
      </p:sp>
      <p:sp>
        <p:nvSpPr>
          <p:cNvPr id="10249" name="Text Box 10"/>
          <p:cNvSpPr txBox="1">
            <a:spLocks noChangeArrowheads="1"/>
          </p:cNvSpPr>
          <p:nvPr/>
        </p:nvSpPr>
        <p:spPr bwMode="auto">
          <a:xfrm>
            <a:off x="5003800" y="3925888"/>
            <a:ext cx="180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无数据报准备好</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0250" name="Text Box 11"/>
          <p:cNvSpPr txBox="1">
            <a:spLocks noChangeArrowheads="1"/>
          </p:cNvSpPr>
          <p:nvPr/>
        </p:nvSpPr>
        <p:spPr bwMode="auto">
          <a:xfrm>
            <a:off x="3419475" y="3783013"/>
            <a:ext cx="15128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0251" name="Text Box 12"/>
          <p:cNvSpPr txBox="1">
            <a:spLocks noChangeArrowheads="1"/>
          </p:cNvSpPr>
          <p:nvPr/>
        </p:nvSpPr>
        <p:spPr bwMode="auto">
          <a:xfrm>
            <a:off x="1979613" y="6302375"/>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处理数据报</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0252" name="Text Box 13"/>
          <p:cNvSpPr txBox="1">
            <a:spLocks noChangeArrowheads="1"/>
          </p:cNvSpPr>
          <p:nvPr/>
        </p:nvSpPr>
        <p:spPr bwMode="auto">
          <a:xfrm>
            <a:off x="5075238" y="6302375"/>
            <a:ext cx="1800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拷贝完成</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0253" name="Text Box 14"/>
          <p:cNvSpPr txBox="1">
            <a:spLocks noChangeArrowheads="1"/>
          </p:cNvSpPr>
          <p:nvPr/>
        </p:nvSpPr>
        <p:spPr bwMode="auto">
          <a:xfrm>
            <a:off x="3635375" y="6159500"/>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0254" name="Line 15"/>
          <p:cNvSpPr>
            <a:spLocks noChangeShapeType="1"/>
          </p:cNvSpPr>
          <p:nvPr/>
        </p:nvSpPr>
        <p:spPr bwMode="auto">
          <a:xfrm flipH="1">
            <a:off x="3348038" y="6518275"/>
            <a:ext cx="18716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5" name="Text Box 16"/>
          <p:cNvSpPr txBox="1">
            <a:spLocks noChangeArrowheads="1"/>
          </p:cNvSpPr>
          <p:nvPr/>
        </p:nvSpPr>
        <p:spPr bwMode="auto">
          <a:xfrm>
            <a:off x="5075238" y="5078413"/>
            <a:ext cx="1800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数据报准备好</a:t>
            </a:r>
            <a:endParaRPr lang="zh-CN" altLang="en-US" sz="1800">
              <a:solidFill>
                <a:srgbClr val="080808"/>
              </a:solidFill>
              <a:latin typeface="Comic Sans MS" panose="030F0702030302020204" pitchFamily="66" charset="0"/>
              <a:ea typeface="华文新魏" panose="02010800040101010101" pitchFamily="2" charset="-122"/>
            </a:endParaRPr>
          </a:p>
          <a:p>
            <a:pPr algn="ctr"/>
            <a:r>
              <a:rPr lang="zh-CN" altLang="en-US" sz="1800">
                <a:solidFill>
                  <a:srgbClr val="080808"/>
                </a:solidFill>
                <a:latin typeface="Comic Sans MS" panose="030F0702030302020204" pitchFamily="66" charset="0"/>
                <a:ea typeface="华文新魏" panose="02010800040101010101" pitchFamily="2" charset="-122"/>
              </a:rPr>
              <a:t>拷贝数据报</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0256" name="Line 17"/>
          <p:cNvSpPr>
            <a:spLocks noChangeShapeType="1"/>
          </p:cNvSpPr>
          <p:nvPr/>
        </p:nvSpPr>
        <p:spPr bwMode="auto">
          <a:xfrm>
            <a:off x="5940425" y="4286250"/>
            <a:ext cx="0" cy="8651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7" name="Line 18"/>
          <p:cNvSpPr>
            <a:spLocks noChangeShapeType="1"/>
          </p:cNvSpPr>
          <p:nvPr/>
        </p:nvSpPr>
        <p:spPr bwMode="auto">
          <a:xfrm>
            <a:off x="5940425" y="5654675"/>
            <a:ext cx="0" cy="7207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8" name="AutoShape 19"/>
          <p:cNvSpPr/>
          <p:nvPr/>
        </p:nvSpPr>
        <p:spPr bwMode="auto">
          <a:xfrm>
            <a:off x="6732588" y="4143375"/>
            <a:ext cx="71437" cy="1150938"/>
          </a:xfrm>
          <a:prstGeom prst="rightBrace">
            <a:avLst>
              <a:gd name="adj1" fmla="val 134111"/>
              <a:gd name="adj2" fmla="val 511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59" name="AutoShape 20"/>
          <p:cNvSpPr/>
          <p:nvPr/>
        </p:nvSpPr>
        <p:spPr bwMode="auto">
          <a:xfrm>
            <a:off x="6732588" y="5583238"/>
            <a:ext cx="71437" cy="935037"/>
          </a:xfrm>
          <a:prstGeom prst="rightBrace">
            <a:avLst>
              <a:gd name="adj1" fmla="val 108954"/>
              <a:gd name="adj2" fmla="val 511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260" name="Text Box 21"/>
          <p:cNvSpPr txBox="1">
            <a:spLocks noChangeArrowheads="1"/>
          </p:cNvSpPr>
          <p:nvPr/>
        </p:nvSpPr>
        <p:spPr bwMode="auto">
          <a:xfrm>
            <a:off x="6856413" y="4508500"/>
            <a:ext cx="1098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等待数据</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0261" name="Text Box 22"/>
          <p:cNvSpPr txBox="1">
            <a:spLocks noChangeArrowheads="1"/>
          </p:cNvSpPr>
          <p:nvPr/>
        </p:nvSpPr>
        <p:spPr bwMode="auto">
          <a:xfrm>
            <a:off x="6877050" y="5726113"/>
            <a:ext cx="1800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将数据从内核拷贝到用户空间</a:t>
            </a:r>
            <a:endParaRPr lang="zh-CN" altLang="en-US" sz="1800">
              <a:solidFill>
                <a:srgbClr val="080808"/>
              </a:solidFill>
              <a:latin typeface="Comic Sans MS" panose="030F0702030302020204" pitchFamily="66" charset="0"/>
              <a:ea typeface="华文新魏" panose="02010800040101010101" pitchFamily="2" charset="-122"/>
            </a:endParaRPr>
          </a:p>
        </p:txBody>
      </p:sp>
    </p:spTree>
  </p:cSld>
  <p:clrMapOvr>
    <a:masterClrMapping/>
  </p:clrMapOvr>
  <p:transition spd="slow">
    <p:wipe dir="r"/>
    <p:sndAc>
      <p:end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ChangeArrowheads="1"/>
          </p:cNvSpPr>
          <p:nvPr>
            <p:ph type="title"/>
          </p:nvPr>
        </p:nvSpPr>
        <p:spPr>
          <a:xfrm>
            <a:off x="505619" y="37186"/>
            <a:ext cx="7772400" cy="1143000"/>
          </a:xfrm>
        </p:spPr>
        <p:txBody>
          <a:bodyPr/>
          <a:lstStyle/>
          <a:p>
            <a:pPr eaLnBrk="1" hangingPunct="1"/>
            <a:r>
              <a:rPr lang="zh-CN" altLang="en-US" sz="3600">
                <a:latin typeface="Tahoma" panose="020B0604030504040204" pitchFamily="34" charset="0"/>
                <a:ea typeface="微软雅黑" panose="020B0503020204020204" pitchFamily="34" charset="-122"/>
              </a:rPr>
              <a:t>非阻塞</a:t>
            </a:r>
            <a:r>
              <a:rPr lang="en-US" altLang="zh-CN" sz="3600">
                <a:latin typeface="Tahoma" panose="020B0604030504040204" pitchFamily="34" charset="0"/>
                <a:ea typeface="微软雅黑" panose="020B0503020204020204" pitchFamily="34" charset="-122"/>
              </a:rPr>
              <a:t>I/O</a:t>
            </a:r>
            <a:r>
              <a:rPr lang="zh-CN" altLang="en-US" sz="3600">
                <a:latin typeface="Tahoma" panose="020B0604030504040204" pitchFamily="34" charset="0"/>
                <a:ea typeface="微软雅黑" panose="020B0503020204020204" pitchFamily="34" charset="-122"/>
              </a:rPr>
              <a:t>模型</a:t>
            </a:r>
            <a:endParaRPr lang="zh-CN" altLang="en-US" sz="3600">
              <a:latin typeface="Tahoma" panose="020B0604030504040204" pitchFamily="34" charset="0"/>
              <a:ea typeface="微软雅黑" panose="020B0503020204020204" pitchFamily="34" charset="-122"/>
            </a:endParaRPr>
          </a:p>
        </p:txBody>
      </p:sp>
      <p:sp>
        <p:nvSpPr>
          <p:cNvPr id="9219" name="Rectangle 3"/>
          <p:cNvSpPr>
            <a:spLocks noGrp="1" noChangeArrowheads="1"/>
          </p:cNvSpPr>
          <p:nvPr>
            <p:ph idx="1"/>
          </p:nvPr>
        </p:nvSpPr>
        <p:spPr>
          <a:xfrm>
            <a:off x="301625" y="1125538"/>
            <a:ext cx="8540750" cy="5681662"/>
          </a:xfrm>
        </p:spPr>
        <p:txBody>
          <a:bodyPr/>
          <a:lstStyle/>
          <a:p>
            <a:pPr eaLnBrk="1" hangingPunct="1">
              <a:lnSpc>
                <a:spcPct val="120000"/>
              </a:lnSpc>
              <a:defRPr/>
            </a:pPr>
            <a:r>
              <a:rPr kumimoji="1" lang="zh-CN" altLang="en-US" sz="2200">
                <a:ea typeface="微软雅黑 Light" panose="020B0502040204020203" pitchFamily="34" charset="-122"/>
              </a:rPr>
              <a:t>当把一个套接字设置成非阻塞方式时，即通知内核：</a:t>
            </a:r>
            <a:r>
              <a:rPr kumimoji="1" lang="zh-CN" altLang="en-US" sz="2200" b="1">
                <a:solidFill>
                  <a:srgbClr val="0070C0"/>
                </a:solidFill>
                <a:ea typeface="微软雅黑 Light" panose="020B0502040204020203" pitchFamily="34" charset="-122"/>
              </a:rPr>
              <a:t>当请求的</a:t>
            </a:r>
            <a:r>
              <a:rPr kumimoji="1" lang="en-US" altLang="zh-CN" sz="2200" b="1">
                <a:solidFill>
                  <a:srgbClr val="0070C0"/>
                </a:solidFill>
                <a:ea typeface="微软雅黑 Light" panose="020B0502040204020203" pitchFamily="34" charset="-122"/>
              </a:rPr>
              <a:t>I/O</a:t>
            </a:r>
            <a:r>
              <a:rPr kumimoji="1" lang="zh-CN" altLang="en-US" sz="2200" b="1">
                <a:solidFill>
                  <a:srgbClr val="0070C0"/>
                </a:solidFill>
                <a:ea typeface="微软雅黑 Light" panose="020B0502040204020203" pitchFamily="34" charset="-122"/>
              </a:rPr>
              <a:t>操作不能完成时，不要进程睡眠，而应返回一个错误。</a:t>
            </a:r>
            <a:r>
              <a:rPr kumimoji="1" lang="zh-CN" altLang="en-US" sz="2200">
                <a:ea typeface="微软雅黑 Light" panose="020B0502040204020203" pitchFamily="34" charset="-122"/>
              </a:rPr>
              <a:t>这样我们的</a:t>
            </a:r>
            <a:r>
              <a:rPr kumimoji="1" lang="en-US" altLang="zh-CN" sz="2200">
                <a:ea typeface="微软雅黑 Light" panose="020B0502040204020203" pitchFamily="34" charset="-122"/>
              </a:rPr>
              <a:t>I/O</a:t>
            </a:r>
            <a:r>
              <a:rPr kumimoji="1" lang="zh-CN" altLang="en-US" sz="2200">
                <a:ea typeface="微软雅黑 Light" panose="020B0502040204020203" pitchFamily="34" charset="-122"/>
              </a:rPr>
              <a:t>操作函数将不断的测试数据是否已经准备好，如果没有准备好继续测试。</a:t>
            </a:r>
            <a:r>
              <a:rPr kumimoji="1" lang="en-US" altLang="zh-CN" sz="2200">
                <a:ea typeface="微软雅黑 Light" panose="020B0502040204020203" pitchFamily="34" charset="-122"/>
              </a:rPr>
              <a:t>(</a:t>
            </a:r>
            <a:r>
              <a:rPr kumimoji="1" lang="zh-CN" altLang="en-US" sz="2200">
                <a:ea typeface="微软雅黑 Light" panose="020B0502040204020203" pitchFamily="34" charset="-122"/>
              </a:rPr>
              <a:t>返回不成功指示</a:t>
            </a:r>
            <a:r>
              <a:rPr kumimoji="1" lang="en-US" altLang="zh-CN" sz="2200">
                <a:ea typeface="微软雅黑 Light" panose="020B0502040204020203" pitchFamily="34" charset="-122"/>
              </a:rPr>
              <a:t>)</a:t>
            </a:r>
            <a:endParaRPr kumimoji="1" lang="en-US" altLang="zh-CN" sz="2200">
              <a:ea typeface="微软雅黑 Light" panose="020B0502040204020203" pitchFamily="34" charset="-122"/>
            </a:endParaRPr>
          </a:p>
          <a:p>
            <a:pPr eaLnBrk="1" hangingPunct="1">
              <a:lnSpc>
                <a:spcPct val="70000"/>
              </a:lnSpc>
              <a:defRPr/>
            </a:pPr>
            <a:endParaRPr kumimoji="1" lang="en-US" altLang="zh-CN" sz="24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400"/>
          </a:p>
          <a:p>
            <a:pPr marL="0" indent="0" eaLnBrk="1" hangingPunct="1">
              <a:lnSpc>
                <a:spcPct val="70000"/>
              </a:lnSpc>
              <a:buFontTx/>
              <a:buNone/>
              <a:defRPr/>
            </a:pPr>
            <a:r>
              <a:rPr kumimoji="1" lang="en-US" altLang="zh-CN" sz="2400">
                <a:ea typeface="微软雅黑 Light" panose="020B0502040204020203" pitchFamily="34" charset="-122"/>
              </a:rPr>
              <a:t>    </a:t>
            </a:r>
            <a:r>
              <a:rPr kumimoji="1" lang="zh-CN" altLang="en-US" sz="2400">
                <a:ea typeface="微软雅黑 Light" panose="020B0502040204020203" pitchFamily="34" charset="-122"/>
              </a:rPr>
              <a:t>上述方式循环调用</a:t>
            </a:r>
            <a:r>
              <a:rPr kumimoji="1" lang="en-US" altLang="zh-CN" sz="2400">
                <a:ea typeface="微软雅黑 Light" panose="020B0502040204020203" pitchFamily="34" charset="-122"/>
              </a:rPr>
              <a:t>recvfrom</a:t>
            </a:r>
            <a:r>
              <a:rPr kumimoji="1" lang="zh-CN" altLang="en-US" sz="2400">
                <a:ea typeface="微软雅黑 Light" panose="020B0502040204020203" pitchFamily="34" charset="-122"/>
              </a:rPr>
              <a:t>，称为</a:t>
            </a:r>
            <a:r>
              <a:rPr kumimoji="1" lang="zh-CN" altLang="en-US" sz="2400" b="1">
                <a:solidFill>
                  <a:srgbClr val="C00000"/>
                </a:solidFill>
                <a:ea typeface="微软雅黑 Light" panose="020B0502040204020203" pitchFamily="34" charset="-122"/>
              </a:rPr>
              <a:t>轮询</a:t>
            </a:r>
            <a:r>
              <a:rPr kumimoji="1" lang="zh-CN" altLang="en-US" sz="2400">
                <a:ea typeface="微软雅黑 Light" panose="020B0502040204020203" pitchFamily="34" charset="-122"/>
              </a:rPr>
              <a:t>，极为浪费</a:t>
            </a:r>
            <a:r>
              <a:rPr kumimoji="1" lang="en-US" altLang="zh-CN" sz="2400">
                <a:ea typeface="微软雅黑 Light" panose="020B0502040204020203" pitchFamily="34" charset="-122"/>
              </a:rPr>
              <a:t>cpu</a:t>
            </a:r>
            <a:r>
              <a:rPr kumimoji="1" lang="zh-CN" altLang="en-US" sz="2400">
                <a:ea typeface="微软雅黑 Light" panose="020B0502040204020203" pitchFamily="34" charset="-122"/>
              </a:rPr>
              <a:t>资源</a:t>
            </a:r>
            <a:endParaRPr kumimoji="1" lang="zh-CN" altLang="en-US" sz="2400">
              <a:ea typeface="微软雅黑 Light" panose="020B0502040204020203" pitchFamily="34" charset="-122"/>
            </a:endParaRPr>
          </a:p>
        </p:txBody>
      </p:sp>
      <p:sp>
        <p:nvSpPr>
          <p:cNvPr id="12291" name="AutoShape 4"/>
          <p:cNvSpPr/>
          <p:nvPr/>
        </p:nvSpPr>
        <p:spPr bwMode="auto">
          <a:xfrm>
            <a:off x="1979613" y="3494088"/>
            <a:ext cx="144462" cy="2376487"/>
          </a:xfrm>
          <a:prstGeom prst="leftBrace">
            <a:avLst>
              <a:gd name="adj1" fmla="val 136936"/>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292" name="Text Box 5"/>
          <p:cNvSpPr txBox="1">
            <a:spLocks noChangeArrowheads="1"/>
          </p:cNvSpPr>
          <p:nvPr/>
        </p:nvSpPr>
        <p:spPr bwMode="auto">
          <a:xfrm>
            <a:off x="179388" y="4430713"/>
            <a:ext cx="1979612"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进程反复调用</a:t>
            </a:r>
            <a:r>
              <a:rPr lang="en-US" altLang="zh-CN" sz="1800">
                <a:solidFill>
                  <a:srgbClr val="080808"/>
                </a:solidFill>
                <a:latin typeface="Comic Sans MS" panose="030F0702030302020204" pitchFamily="66" charset="0"/>
                <a:ea typeface="华文新魏" panose="02010800040101010101" pitchFamily="2" charset="-122"/>
              </a:rPr>
              <a:t>recvfrom</a:t>
            </a:r>
            <a:r>
              <a:rPr lang="zh-CN" altLang="en-US" sz="1800">
                <a:solidFill>
                  <a:srgbClr val="080808"/>
                </a:solidFill>
                <a:latin typeface="Comic Sans MS" panose="030F0702030302020204" pitchFamily="66" charset="0"/>
                <a:ea typeface="华文新魏" panose="02010800040101010101" pitchFamily="2" charset="-122"/>
              </a:rPr>
              <a:t>等待返回成功指示</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2293" name="Text Box 6"/>
          <p:cNvSpPr txBox="1">
            <a:spLocks noChangeArrowheads="1"/>
          </p:cNvSpPr>
          <p:nvPr/>
        </p:nvSpPr>
        <p:spPr bwMode="auto">
          <a:xfrm>
            <a:off x="1979613" y="3278188"/>
            <a:ext cx="15128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omic Sans MS" panose="030F0702030302020204" pitchFamily="66" charset="0"/>
                <a:ea typeface="华文新魏" panose="02010800040101010101" pitchFamily="2" charset="-122"/>
              </a:rPr>
              <a:t>recvfrom</a:t>
            </a:r>
            <a:endParaRPr lang="en-US" altLang="zh-CN" sz="1800">
              <a:solidFill>
                <a:srgbClr val="080808"/>
              </a:solidFill>
              <a:latin typeface="Comic Sans MS" panose="030F0702030302020204" pitchFamily="66" charset="0"/>
              <a:ea typeface="华文新魏" panose="02010800040101010101" pitchFamily="2" charset="-122"/>
            </a:endParaRPr>
          </a:p>
        </p:txBody>
      </p:sp>
      <p:sp>
        <p:nvSpPr>
          <p:cNvPr id="12294" name="Text Box 7"/>
          <p:cNvSpPr txBox="1">
            <a:spLocks noChangeArrowheads="1"/>
          </p:cNvSpPr>
          <p:nvPr/>
        </p:nvSpPr>
        <p:spPr bwMode="auto">
          <a:xfrm>
            <a:off x="1979613" y="2919413"/>
            <a:ext cx="15128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latin typeface="Comic Sans MS" panose="030F0702030302020204" pitchFamily="66" charset="0"/>
                <a:ea typeface="华文新魏" panose="02010800040101010101" pitchFamily="2" charset="-122"/>
              </a:rPr>
              <a:t>应用进程</a:t>
            </a:r>
            <a:endParaRPr lang="zh-CN" altLang="en-US" sz="1800" b="1">
              <a:latin typeface="Comic Sans MS" panose="030F0702030302020204" pitchFamily="66" charset="0"/>
              <a:ea typeface="华文新魏" panose="02010800040101010101" pitchFamily="2" charset="-122"/>
            </a:endParaRPr>
          </a:p>
        </p:txBody>
      </p:sp>
      <p:sp>
        <p:nvSpPr>
          <p:cNvPr id="12295" name="Line 8"/>
          <p:cNvSpPr>
            <a:spLocks noChangeShapeType="1"/>
          </p:cNvSpPr>
          <p:nvPr/>
        </p:nvSpPr>
        <p:spPr bwMode="auto">
          <a:xfrm>
            <a:off x="3348038" y="3351213"/>
            <a:ext cx="172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6" name="Text Box 9"/>
          <p:cNvSpPr txBox="1">
            <a:spLocks noChangeArrowheads="1"/>
          </p:cNvSpPr>
          <p:nvPr/>
        </p:nvSpPr>
        <p:spPr bwMode="auto">
          <a:xfrm>
            <a:off x="5075238" y="2919413"/>
            <a:ext cx="15128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latin typeface="Comic Sans MS" panose="030F0702030302020204" pitchFamily="66" charset="0"/>
                <a:ea typeface="华文新魏" panose="02010800040101010101" pitchFamily="2" charset="-122"/>
              </a:rPr>
              <a:t>内核</a:t>
            </a:r>
            <a:endParaRPr lang="zh-CN" altLang="en-US" sz="1800" b="1">
              <a:latin typeface="Comic Sans MS" panose="030F0702030302020204" pitchFamily="66" charset="0"/>
              <a:ea typeface="华文新魏" panose="02010800040101010101" pitchFamily="2" charset="-122"/>
            </a:endParaRPr>
          </a:p>
        </p:txBody>
      </p:sp>
      <p:sp>
        <p:nvSpPr>
          <p:cNvPr id="12297" name="Text Box 10"/>
          <p:cNvSpPr txBox="1">
            <a:spLocks noChangeArrowheads="1"/>
          </p:cNvSpPr>
          <p:nvPr/>
        </p:nvSpPr>
        <p:spPr bwMode="auto">
          <a:xfrm>
            <a:off x="5003800" y="3278188"/>
            <a:ext cx="180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无数据报准备好</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2298" name="Text Box 11"/>
          <p:cNvSpPr txBox="1">
            <a:spLocks noChangeArrowheads="1"/>
          </p:cNvSpPr>
          <p:nvPr/>
        </p:nvSpPr>
        <p:spPr bwMode="auto">
          <a:xfrm>
            <a:off x="3419475" y="2990850"/>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2299" name="Text Box 12"/>
          <p:cNvSpPr txBox="1">
            <a:spLocks noChangeArrowheads="1"/>
          </p:cNvSpPr>
          <p:nvPr/>
        </p:nvSpPr>
        <p:spPr bwMode="auto">
          <a:xfrm>
            <a:off x="1979613" y="5654675"/>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处理数据报</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2300" name="Text Box 13"/>
          <p:cNvSpPr txBox="1">
            <a:spLocks noChangeArrowheads="1"/>
          </p:cNvSpPr>
          <p:nvPr/>
        </p:nvSpPr>
        <p:spPr bwMode="auto">
          <a:xfrm>
            <a:off x="5075238" y="5654675"/>
            <a:ext cx="1800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拷贝完成</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2301" name="Text Box 14"/>
          <p:cNvSpPr txBox="1">
            <a:spLocks noChangeArrowheads="1"/>
          </p:cNvSpPr>
          <p:nvPr/>
        </p:nvSpPr>
        <p:spPr bwMode="auto">
          <a:xfrm>
            <a:off x="3635375" y="5511800"/>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2302" name="Line 15"/>
          <p:cNvSpPr>
            <a:spLocks noChangeShapeType="1"/>
          </p:cNvSpPr>
          <p:nvPr/>
        </p:nvSpPr>
        <p:spPr bwMode="auto">
          <a:xfrm flipH="1">
            <a:off x="3348038" y="5870575"/>
            <a:ext cx="18716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3" name="Text Box 16"/>
          <p:cNvSpPr txBox="1">
            <a:spLocks noChangeArrowheads="1"/>
          </p:cNvSpPr>
          <p:nvPr/>
        </p:nvSpPr>
        <p:spPr bwMode="auto">
          <a:xfrm>
            <a:off x="5075238" y="4581525"/>
            <a:ext cx="1800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数据报准备好</a:t>
            </a:r>
            <a:endParaRPr lang="zh-CN" altLang="en-US" sz="1800">
              <a:solidFill>
                <a:srgbClr val="080808"/>
              </a:solidFill>
              <a:latin typeface="Comic Sans MS" panose="030F0702030302020204" pitchFamily="66" charset="0"/>
              <a:ea typeface="华文新魏" panose="02010800040101010101" pitchFamily="2" charset="-122"/>
            </a:endParaRPr>
          </a:p>
          <a:p>
            <a:pPr algn="ctr"/>
            <a:r>
              <a:rPr lang="zh-CN" altLang="en-US" sz="1800">
                <a:solidFill>
                  <a:srgbClr val="080808"/>
                </a:solidFill>
                <a:latin typeface="Comic Sans MS" panose="030F0702030302020204" pitchFamily="66" charset="0"/>
                <a:ea typeface="华文新魏" panose="02010800040101010101" pitchFamily="2" charset="-122"/>
              </a:rPr>
              <a:t>拷贝数据报</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2304" name="Line 17"/>
          <p:cNvSpPr>
            <a:spLocks noChangeShapeType="1"/>
          </p:cNvSpPr>
          <p:nvPr/>
        </p:nvSpPr>
        <p:spPr bwMode="auto">
          <a:xfrm>
            <a:off x="5940425" y="5222875"/>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5" name="AutoShape 18"/>
          <p:cNvSpPr/>
          <p:nvPr/>
        </p:nvSpPr>
        <p:spPr bwMode="auto">
          <a:xfrm>
            <a:off x="6732588" y="3495675"/>
            <a:ext cx="71437" cy="1295400"/>
          </a:xfrm>
          <a:prstGeom prst="rightBrace">
            <a:avLst>
              <a:gd name="adj1" fmla="val 150944"/>
              <a:gd name="adj2" fmla="val 511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06" name="AutoShape 19"/>
          <p:cNvSpPr/>
          <p:nvPr/>
        </p:nvSpPr>
        <p:spPr bwMode="auto">
          <a:xfrm>
            <a:off x="6732588" y="5078413"/>
            <a:ext cx="71437" cy="792162"/>
          </a:xfrm>
          <a:prstGeom prst="rightBrace">
            <a:avLst>
              <a:gd name="adj1" fmla="val 92305"/>
              <a:gd name="adj2" fmla="val 511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07" name="Text Box 20"/>
          <p:cNvSpPr txBox="1">
            <a:spLocks noChangeArrowheads="1"/>
          </p:cNvSpPr>
          <p:nvPr/>
        </p:nvSpPr>
        <p:spPr bwMode="auto">
          <a:xfrm>
            <a:off x="6856413" y="3860800"/>
            <a:ext cx="1098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等待数据</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2308" name="Text Box 21"/>
          <p:cNvSpPr txBox="1">
            <a:spLocks noChangeArrowheads="1"/>
          </p:cNvSpPr>
          <p:nvPr/>
        </p:nvSpPr>
        <p:spPr bwMode="auto">
          <a:xfrm>
            <a:off x="6875463" y="5078413"/>
            <a:ext cx="1800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将数据从内核拷贝到用户空间</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2309" name="Line 22"/>
          <p:cNvSpPr>
            <a:spLocks noChangeShapeType="1"/>
          </p:cNvSpPr>
          <p:nvPr/>
        </p:nvSpPr>
        <p:spPr bwMode="auto">
          <a:xfrm flipH="1">
            <a:off x="3276600" y="3495675"/>
            <a:ext cx="17287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0" name="Text Box 23"/>
          <p:cNvSpPr txBox="1">
            <a:spLocks noChangeArrowheads="1"/>
          </p:cNvSpPr>
          <p:nvPr/>
        </p:nvSpPr>
        <p:spPr bwMode="auto">
          <a:xfrm>
            <a:off x="3203575" y="3487738"/>
            <a:ext cx="2016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alibri Light" panose="020F0302020204030204" pitchFamily="34" charset="0"/>
                <a:ea typeface="华文新魏" panose="02010800040101010101" pitchFamily="2" charset="-122"/>
              </a:rPr>
              <a:t>EWOULDBLOCK</a:t>
            </a:r>
            <a:endParaRPr lang="en-US" altLang="zh-CN" sz="1800">
              <a:solidFill>
                <a:srgbClr val="080808"/>
              </a:solidFill>
              <a:latin typeface="Calibri Light" panose="020F0302020204030204" pitchFamily="34" charset="0"/>
              <a:ea typeface="华文新魏" panose="02010800040101010101" pitchFamily="2" charset="-122"/>
            </a:endParaRPr>
          </a:p>
        </p:txBody>
      </p:sp>
      <p:sp>
        <p:nvSpPr>
          <p:cNvPr id="12311" name="Text Box 24"/>
          <p:cNvSpPr txBox="1">
            <a:spLocks noChangeArrowheads="1"/>
          </p:cNvSpPr>
          <p:nvPr/>
        </p:nvSpPr>
        <p:spPr bwMode="auto">
          <a:xfrm>
            <a:off x="1979613" y="4070350"/>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omic Sans MS" panose="030F0702030302020204" pitchFamily="66" charset="0"/>
                <a:ea typeface="华文新魏" panose="02010800040101010101" pitchFamily="2" charset="-122"/>
              </a:rPr>
              <a:t>recvfrom</a:t>
            </a:r>
            <a:endParaRPr lang="en-US" altLang="zh-CN" sz="1800">
              <a:solidFill>
                <a:srgbClr val="080808"/>
              </a:solidFill>
              <a:latin typeface="Comic Sans MS" panose="030F0702030302020204" pitchFamily="66" charset="0"/>
              <a:ea typeface="华文新魏" panose="02010800040101010101" pitchFamily="2" charset="-122"/>
            </a:endParaRPr>
          </a:p>
        </p:txBody>
      </p:sp>
      <p:sp>
        <p:nvSpPr>
          <p:cNvPr id="12312" name="Line 25"/>
          <p:cNvSpPr>
            <a:spLocks noChangeShapeType="1"/>
          </p:cNvSpPr>
          <p:nvPr/>
        </p:nvSpPr>
        <p:spPr bwMode="auto">
          <a:xfrm>
            <a:off x="3348038" y="4143375"/>
            <a:ext cx="172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3" name="Text Box 26"/>
          <p:cNvSpPr txBox="1">
            <a:spLocks noChangeArrowheads="1"/>
          </p:cNvSpPr>
          <p:nvPr/>
        </p:nvSpPr>
        <p:spPr bwMode="auto">
          <a:xfrm>
            <a:off x="5003800" y="3998913"/>
            <a:ext cx="180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无数据报准备好</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2314" name="Text Box 27"/>
          <p:cNvSpPr txBox="1">
            <a:spLocks noChangeArrowheads="1"/>
          </p:cNvSpPr>
          <p:nvPr/>
        </p:nvSpPr>
        <p:spPr bwMode="auto">
          <a:xfrm>
            <a:off x="3419475" y="3783013"/>
            <a:ext cx="15128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2315" name="Line 28"/>
          <p:cNvSpPr>
            <a:spLocks noChangeShapeType="1"/>
          </p:cNvSpPr>
          <p:nvPr/>
        </p:nvSpPr>
        <p:spPr bwMode="auto">
          <a:xfrm flipH="1">
            <a:off x="3276600" y="4287838"/>
            <a:ext cx="17287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6" name="Text Box 29"/>
          <p:cNvSpPr txBox="1">
            <a:spLocks noChangeArrowheads="1"/>
          </p:cNvSpPr>
          <p:nvPr/>
        </p:nvSpPr>
        <p:spPr bwMode="auto">
          <a:xfrm>
            <a:off x="3203575" y="4279900"/>
            <a:ext cx="2016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alibri Light" panose="020F0302020204030204" pitchFamily="34" charset="0"/>
                <a:ea typeface="华文新魏" panose="02010800040101010101" pitchFamily="2" charset="-122"/>
              </a:rPr>
              <a:t>EWOULDBLOCK</a:t>
            </a:r>
            <a:endParaRPr lang="en-US" altLang="zh-CN" sz="1800">
              <a:solidFill>
                <a:srgbClr val="080808"/>
              </a:solidFill>
              <a:latin typeface="Calibri Light" panose="020F0302020204030204" pitchFamily="34" charset="0"/>
              <a:ea typeface="华文新魏" panose="02010800040101010101" pitchFamily="2" charset="-122"/>
            </a:endParaRPr>
          </a:p>
        </p:txBody>
      </p:sp>
      <p:sp>
        <p:nvSpPr>
          <p:cNvPr id="12317" name="Text Box 30"/>
          <p:cNvSpPr txBox="1">
            <a:spLocks noChangeArrowheads="1"/>
          </p:cNvSpPr>
          <p:nvPr/>
        </p:nvSpPr>
        <p:spPr bwMode="auto">
          <a:xfrm>
            <a:off x="1979613" y="4575175"/>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omic Sans MS" panose="030F0702030302020204" pitchFamily="66" charset="0"/>
                <a:ea typeface="华文新魏" panose="02010800040101010101" pitchFamily="2" charset="-122"/>
              </a:rPr>
              <a:t>recvfrom</a:t>
            </a:r>
            <a:endParaRPr lang="en-US" altLang="zh-CN" sz="1800">
              <a:solidFill>
                <a:srgbClr val="080808"/>
              </a:solidFill>
              <a:latin typeface="Comic Sans MS" panose="030F0702030302020204" pitchFamily="66" charset="0"/>
              <a:ea typeface="华文新魏" panose="02010800040101010101" pitchFamily="2" charset="-122"/>
            </a:endParaRPr>
          </a:p>
        </p:txBody>
      </p:sp>
      <p:sp>
        <p:nvSpPr>
          <p:cNvPr id="12318" name="Line 31"/>
          <p:cNvSpPr>
            <a:spLocks noChangeShapeType="1"/>
          </p:cNvSpPr>
          <p:nvPr/>
        </p:nvSpPr>
        <p:spPr bwMode="auto">
          <a:xfrm>
            <a:off x="3348038" y="4791075"/>
            <a:ext cx="16557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9" name="Text Box 32"/>
          <p:cNvSpPr txBox="1">
            <a:spLocks noChangeArrowheads="1"/>
          </p:cNvSpPr>
          <p:nvPr/>
        </p:nvSpPr>
        <p:spPr bwMode="auto">
          <a:xfrm>
            <a:off x="3419475" y="4495800"/>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Tree>
  </p:cSld>
  <p:clrMapOvr>
    <a:masterClrMapping/>
  </p:clrMapOvr>
  <p:transition spd="slow">
    <p:wipe dir="r"/>
    <p:sndAc>
      <p:end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p:nvPr>
        </p:nvSpPr>
        <p:spPr>
          <a:xfrm>
            <a:off x="722313" y="-134937"/>
            <a:ext cx="7772400" cy="1143000"/>
          </a:xfrm>
        </p:spPr>
        <p:txBody>
          <a:bodyPr/>
          <a:lstStyle/>
          <a:p>
            <a:pPr eaLnBrk="1" hangingPunct="1"/>
            <a:r>
              <a:rPr lang="en-US" altLang="zh-CN" sz="3600">
                <a:latin typeface="Tahoma" panose="020B0604030504040204" pitchFamily="34" charset="0"/>
                <a:ea typeface="微软雅黑" panose="020B0503020204020204" pitchFamily="34" charset="-122"/>
              </a:rPr>
              <a:t>I/O</a:t>
            </a:r>
            <a:r>
              <a:rPr lang="zh-CN" altLang="en-US" sz="3600">
                <a:latin typeface="Tahoma" panose="020B0604030504040204" pitchFamily="34" charset="0"/>
                <a:ea typeface="微软雅黑" panose="020B0503020204020204" pitchFamily="34" charset="-122"/>
              </a:rPr>
              <a:t>复用模型</a:t>
            </a:r>
            <a:endParaRPr lang="zh-CN" altLang="en-US" sz="3600">
              <a:latin typeface="Tahoma" panose="020B0604030504040204" pitchFamily="34" charset="0"/>
              <a:ea typeface="微软雅黑" panose="020B0503020204020204" pitchFamily="34" charset="-122"/>
            </a:endParaRPr>
          </a:p>
        </p:txBody>
      </p:sp>
      <p:sp>
        <p:nvSpPr>
          <p:cNvPr id="14338" name="Rectangle 3"/>
          <p:cNvSpPr>
            <a:spLocks noGrp="1" noChangeArrowheads="1"/>
          </p:cNvSpPr>
          <p:nvPr>
            <p:ph idx="1"/>
          </p:nvPr>
        </p:nvSpPr>
        <p:spPr>
          <a:xfrm>
            <a:off x="338138" y="980281"/>
            <a:ext cx="8540750" cy="719137"/>
          </a:xfrm>
        </p:spPr>
        <p:txBody>
          <a:bodyPr/>
          <a:lstStyle/>
          <a:p>
            <a:pPr eaLnBrk="1" hangingPunct="1"/>
            <a:r>
              <a:rPr lang="en-US" altLang="zh-CN" sz="2400">
                <a:ea typeface="微软雅黑 Light" panose="020B0502040204020203" pitchFamily="34" charset="-122"/>
              </a:rPr>
              <a:t>I/O</a:t>
            </a:r>
            <a:r>
              <a:rPr lang="zh-CN" altLang="en-US" sz="2400">
                <a:ea typeface="微软雅黑 Light" panose="020B0502040204020203" pitchFamily="34" charset="-122"/>
              </a:rPr>
              <a:t>复用模型调用</a:t>
            </a:r>
            <a:r>
              <a:rPr lang="en-US" altLang="zh-CN" sz="2400">
                <a:ea typeface="微软雅黑 Light" panose="020B0502040204020203" pitchFamily="34" charset="-122"/>
              </a:rPr>
              <a:t>select</a:t>
            </a:r>
            <a:r>
              <a:rPr lang="zh-CN" altLang="en-US" sz="2400">
                <a:ea typeface="微软雅黑 Light" panose="020B0502040204020203" pitchFamily="34" charset="-122"/>
              </a:rPr>
              <a:t>或</a:t>
            </a:r>
            <a:r>
              <a:rPr lang="en-US" altLang="zh-CN" sz="2400">
                <a:ea typeface="微软雅黑 Light" panose="020B0502040204020203" pitchFamily="34" charset="-122"/>
              </a:rPr>
              <a:t>poll</a:t>
            </a:r>
            <a:r>
              <a:rPr lang="zh-CN" altLang="en-US" sz="2400">
                <a:ea typeface="微软雅黑 Light" panose="020B0502040204020203" pitchFamily="34" charset="-122"/>
              </a:rPr>
              <a:t>，</a:t>
            </a:r>
            <a:r>
              <a:rPr lang="zh-CN" altLang="en-US" sz="2400" b="1">
                <a:solidFill>
                  <a:srgbClr val="0070C0"/>
                </a:solidFill>
                <a:ea typeface="微软雅黑 Light" panose="020B0502040204020203" pitchFamily="34" charset="-122"/>
              </a:rPr>
              <a:t>进程阻塞于这两个系统调用上，而不是阻塞于真正的</a:t>
            </a:r>
            <a:r>
              <a:rPr lang="en-US" altLang="zh-CN" sz="2400">
                <a:solidFill>
                  <a:srgbClr val="0070C0"/>
                </a:solidFill>
                <a:ea typeface="微软雅黑 Light" panose="020B0502040204020203" pitchFamily="34" charset="-122"/>
              </a:rPr>
              <a:t>I/O</a:t>
            </a:r>
            <a:r>
              <a:rPr lang="zh-CN" altLang="en-US" sz="2400" b="1">
                <a:solidFill>
                  <a:srgbClr val="0070C0"/>
                </a:solidFill>
                <a:ea typeface="微软雅黑 Light" panose="020B0502040204020203" pitchFamily="34" charset="-122"/>
              </a:rPr>
              <a:t>系统调用上</a:t>
            </a:r>
            <a:r>
              <a:rPr lang="zh-CN" altLang="en-US" sz="2400">
                <a:ea typeface="微软雅黑 Light" panose="020B0502040204020203" pitchFamily="34" charset="-122"/>
              </a:rPr>
              <a:t>。</a:t>
            </a:r>
            <a:endParaRPr lang="zh-CN" altLang="en-US" sz="2400">
              <a:ea typeface="微软雅黑 Light" panose="020B0502040204020203" pitchFamily="34" charset="-122"/>
            </a:endParaRPr>
          </a:p>
          <a:p>
            <a:pPr eaLnBrk="1" hangingPunct="1"/>
            <a:r>
              <a:rPr lang="zh-CN" altLang="en-US" sz="2400">
                <a:ea typeface="微软雅黑 Light" panose="020B0502040204020203" pitchFamily="34" charset="-122"/>
              </a:rPr>
              <a:t>这两个函数可以同时阻塞多个</a:t>
            </a:r>
            <a:r>
              <a:rPr lang="en-US" altLang="zh-CN" sz="2400">
                <a:ea typeface="微软雅黑 Light" panose="020B0502040204020203" pitchFamily="34" charset="-122"/>
              </a:rPr>
              <a:t>I/O</a:t>
            </a:r>
            <a:r>
              <a:rPr lang="zh-CN" altLang="en-US" sz="2400">
                <a:ea typeface="微软雅黑 Light" panose="020B0502040204020203" pitchFamily="34" charset="-122"/>
              </a:rPr>
              <a:t>操作，对多个</a:t>
            </a:r>
            <a:r>
              <a:rPr lang="en-US" altLang="zh-CN" sz="2400">
                <a:ea typeface="微软雅黑 Light" panose="020B0502040204020203" pitchFamily="34" charset="-122"/>
              </a:rPr>
              <a:t>I/O</a:t>
            </a:r>
            <a:r>
              <a:rPr lang="zh-CN" altLang="en-US" sz="2400">
                <a:ea typeface="微软雅黑 Light" panose="020B0502040204020203" pitchFamily="34" charset="-122"/>
              </a:rPr>
              <a:t>操作进行检测，直到有数据可读或可写时，才真正调用</a:t>
            </a:r>
            <a:r>
              <a:rPr lang="en-US" altLang="zh-CN" sz="2400">
                <a:ea typeface="微软雅黑 Light" panose="020B0502040204020203" pitchFamily="34" charset="-122"/>
              </a:rPr>
              <a:t>I/O</a:t>
            </a:r>
            <a:r>
              <a:rPr lang="zh-CN" altLang="en-US" sz="2400">
                <a:ea typeface="微软雅黑 Light" panose="020B0502040204020203" pitchFamily="34" charset="-122"/>
              </a:rPr>
              <a:t>操作函数。</a:t>
            </a:r>
            <a:endParaRPr lang="zh-CN" altLang="en-US" sz="2400">
              <a:ea typeface="微软雅黑 Light" panose="020B0502040204020203" pitchFamily="34" charset="-122"/>
            </a:endParaRPr>
          </a:p>
        </p:txBody>
      </p:sp>
      <p:sp>
        <p:nvSpPr>
          <p:cNvPr id="14339" name="AutoShape 4"/>
          <p:cNvSpPr/>
          <p:nvPr/>
        </p:nvSpPr>
        <p:spPr bwMode="auto">
          <a:xfrm>
            <a:off x="2339975" y="3133725"/>
            <a:ext cx="71438" cy="1441450"/>
          </a:xfrm>
          <a:prstGeom prst="leftBrace">
            <a:avLst>
              <a:gd name="adj1" fmla="val 16796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40" name="Text Box 5"/>
          <p:cNvSpPr txBox="1">
            <a:spLocks noChangeArrowheads="1"/>
          </p:cNvSpPr>
          <p:nvPr/>
        </p:nvSpPr>
        <p:spPr bwMode="auto">
          <a:xfrm>
            <a:off x="142875" y="4791075"/>
            <a:ext cx="23415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solidFill>
                  <a:srgbClr val="080808"/>
                </a:solidFill>
                <a:latin typeface="Comic Sans MS" panose="030F0702030302020204" pitchFamily="66" charset="0"/>
                <a:ea typeface="华文新魏" panose="02010800040101010101" pitchFamily="2" charset="-122"/>
              </a:rPr>
              <a:t>数据拷贝到应用缓冲区期间，进程阻塞</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4341" name="Text Box 6"/>
          <p:cNvSpPr txBox="1">
            <a:spLocks noChangeArrowheads="1"/>
          </p:cNvSpPr>
          <p:nvPr/>
        </p:nvSpPr>
        <p:spPr bwMode="auto">
          <a:xfrm>
            <a:off x="2339975" y="2917825"/>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omic Sans MS" panose="030F0702030302020204" pitchFamily="66" charset="0"/>
                <a:ea typeface="华文新魏" panose="02010800040101010101" pitchFamily="2" charset="-122"/>
              </a:rPr>
              <a:t>select</a:t>
            </a:r>
            <a:endParaRPr lang="en-US" altLang="zh-CN" sz="1800">
              <a:solidFill>
                <a:srgbClr val="080808"/>
              </a:solidFill>
              <a:latin typeface="Comic Sans MS" panose="030F0702030302020204" pitchFamily="66" charset="0"/>
              <a:ea typeface="华文新魏" panose="02010800040101010101" pitchFamily="2" charset="-122"/>
            </a:endParaRPr>
          </a:p>
        </p:txBody>
      </p:sp>
      <p:sp>
        <p:nvSpPr>
          <p:cNvPr id="14342" name="Text Box 7"/>
          <p:cNvSpPr txBox="1">
            <a:spLocks noChangeArrowheads="1"/>
          </p:cNvSpPr>
          <p:nvPr/>
        </p:nvSpPr>
        <p:spPr bwMode="auto">
          <a:xfrm>
            <a:off x="2339975" y="2559050"/>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latin typeface="Comic Sans MS" panose="030F0702030302020204" pitchFamily="66" charset="0"/>
                <a:ea typeface="华文新魏" panose="02010800040101010101" pitchFamily="2" charset="-122"/>
              </a:rPr>
              <a:t>应用进程</a:t>
            </a:r>
            <a:endParaRPr lang="zh-CN" altLang="en-US" sz="1800" b="1">
              <a:latin typeface="Comic Sans MS" panose="030F0702030302020204" pitchFamily="66" charset="0"/>
              <a:ea typeface="华文新魏" panose="02010800040101010101" pitchFamily="2" charset="-122"/>
            </a:endParaRPr>
          </a:p>
        </p:txBody>
      </p:sp>
      <p:sp>
        <p:nvSpPr>
          <p:cNvPr id="14343" name="Line 8"/>
          <p:cNvSpPr>
            <a:spLocks noChangeShapeType="1"/>
          </p:cNvSpPr>
          <p:nvPr/>
        </p:nvSpPr>
        <p:spPr bwMode="auto">
          <a:xfrm>
            <a:off x="3708400" y="3135313"/>
            <a:ext cx="172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4" name="Text Box 9"/>
          <p:cNvSpPr txBox="1">
            <a:spLocks noChangeArrowheads="1"/>
          </p:cNvSpPr>
          <p:nvPr/>
        </p:nvSpPr>
        <p:spPr bwMode="auto">
          <a:xfrm>
            <a:off x="5435600" y="2559050"/>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latin typeface="Comic Sans MS" panose="030F0702030302020204" pitchFamily="66" charset="0"/>
                <a:ea typeface="华文新魏" panose="02010800040101010101" pitchFamily="2" charset="-122"/>
              </a:rPr>
              <a:t>内核</a:t>
            </a:r>
            <a:endParaRPr lang="zh-CN" altLang="en-US" sz="1800" b="1">
              <a:latin typeface="Comic Sans MS" panose="030F0702030302020204" pitchFamily="66" charset="0"/>
              <a:ea typeface="华文新魏" panose="02010800040101010101" pitchFamily="2" charset="-122"/>
            </a:endParaRPr>
          </a:p>
        </p:txBody>
      </p:sp>
      <p:sp>
        <p:nvSpPr>
          <p:cNvPr id="14345" name="Text Box 10"/>
          <p:cNvSpPr txBox="1">
            <a:spLocks noChangeArrowheads="1"/>
          </p:cNvSpPr>
          <p:nvPr/>
        </p:nvSpPr>
        <p:spPr bwMode="auto">
          <a:xfrm>
            <a:off x="5364163" y="2917825"/>
            <a:ext cx="1800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无数据报准备好</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4346" name="Text Box 11"/>
          <p:cNvSpPr txBox="1">
            <a:spLocks noChangeArrowheads="1"/>
          </p:cNvSpPr>
          <p:nvPr/>
        </p:nvSpPr>
        <p:spPr bwMode="auto">
          <a:xfrm>
            <a:off x="3779838" y="2774950"/>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4347" name="Text Box 12"/>
          <p:cNvSpPr txBox="1">
            <a:spLocks noChangeArrowheads="1"/>
          </p:cNvSpPr>
          <p:nvPr/>
        </p:nvSpPr>
        <p:spPr bwMode="auto">
          <a:xfrm>
            <a:off x="2339975" y="5294313"/>
            <a:ext cx="15128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处理数据报</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4348" name="Text Box 13"/>
          <p:cNvSpPr txBox="1">
            <a:spLocks noChangeArrowheads="1"/>
          </p:cNvSpPr>
          <p:nvPr/>
        </p:nvSpPr>
        <p:spPr bwMode="auto">
          <a:xfrm>
            <a:off x="5435600" y="5294313"/>
            <a:ext cx="180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拷贝完成</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4349" name="Text Box 14"/>
          <p:cNvSpPr txBox="1">
            <a:spLocks noChangeArrowheads="1"/>
          </p:cNvSpPr>
          <p:nvPr/>
        </p:nvSpPr>
        <p:spPr bwMode="auto">
          <a:xfrm>
            <a:off x="3995738" y="5151438"/>
            <a:ext cx="15128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4350" name="Line 15"/>
          <p:cNvSpPr>
            <a:spLocks noChangeShapeType="1"/>
          </p:cNvSpPr>
          <p:nvPr/>
        </p:nvSpPr>
        <p:spPr bwMode="auto">
          <a:xfrm flipH="1">
            <a:off x="3708400" y="5510213"/>
            <a:ext cx="18716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1" name="Text Box 16"/>
          <p:cNvSpPr txBox="1">
            <a:spLocks noChangeArrowheads="1"/>
          </p:cNvSpPr>
          <p:nvPr/>
        </p:nvSpPr>
        <p:spPr bwMode="auto">
          <a:xfrm>
            <a:off x="5435600" y="4070350"/>
            <a:ext cx="180022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数据报准备好</a:t>
            </a:r>
            <a:endParaRPr lang="zh-CN" altLang="en-US" sz="1800">
              <a:solidFill>
                <a:srgbClr val="080808"/>
              </a:solidFill>
              <a:latin typeface="Comic Sans MS" panose="030F0702030302020204" pitchFamily="66" charset="0"/>
              <a:ea typeface="华文新魏" panose="02010800040101010101" pitchFamily="2" charset="-122"/>
            </a:endParaRPr>
          </a:p>
          <a:p>
            <a:pPr algn="ctr">
              <a:lnSpc>
                <a:spcPct val="130000"/>
              </a:lnSpc>
            </a:pPr>
            <a:r>
              <a:rPr lang="zh-CN" altLang="en-US" sz="1800">
                <a:solidFill>
                  <a:srgbClr val="080808"/>
                </a:solidFill>
                <a:latin typeface="Comic Sans MS" panose="030F0702030302020204" pitchFamily="66" charset="0"/>
                <a:ea typeface="华文新魏" panose="02010800040101010101" pitchFamily="2" charset="-122"/>
              </a:rPr>
              <a:t>拷贝数据报</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4352" name="Line 17"/>
          <p:cNvSpPr>
            <a:spLocks noChangeShapeType="1"/>
          </p:cNvSpPr>
          <p:nvPr/>
        </p:nvSpPr>
        <p:spPr bwMode="auto">
          <a:xfrm>
            <a:off x="6300788" y="3278188"/>
            <a:ext cx="0" cy="8651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3" name="Line 18"/>
          <p:cNvSpPr>
            <a:spLocks noChangeShapeType="1"/>
          </p:cNvSpPr>
          <p:nvPr/>
        </p:nvSpPr>
        <p:spPr bwMode="auto">
          <a:xfrm>
            <a:off x="6300788" y="4718050"/>
            <a:ext cx="0" cy="6492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4" name="AutoShape 19"/>
          <p:cNvSpPr/>
          <p:nvPr/>
        </p:nvSpPr>
        <p:spPr bwMode="auto">
          <a:xfrm>
            <a:off x="7092950" y="3135313"/>
            <a:ext cx="71438" cy="1150937"/>
          </a:xfrm>
          <a:prstGeom prst="rightBrace">
            <a:avLst>
              <a:gd name="adj1" fmla="val 134109"/>
              <a:gd name="adj2" fmla="val 511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55" name="AutoShape 20"/>
          <p:cNvSpPr/>
          <p:nvPr/>
        </p:nvSpPr>
        <p:spPr bwMode="auto">
          <a:xfrm>
            <a:off x="7092950" y="4575175"/>
            <a:ext cx="71438" cy="935038"/>
          </a:xfrm>
          <a:prstGeom prst="rightBrace">
            <a:avLst>
              <a:gd name="adj1" fmla="val 108952"/>
              <a:gd name="adj2" fmla="val 511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56" name="Text Box 21"/>
          <p:cNvSpPr txBox="1">
            <a:spLocks noChangeArrowheads="1"/>
          </p:cNvSpPr>
          <p:nvPr/>
        </p:nvSpPr>
        <p:spPr bwMode="auto">
          <a:xfrm>
            <a:off x="7216775" y="3500438"/>
            <a:ext cx="1098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等待数据</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0262" name="Text Box 22"/>
          <p:cNvSpPr txBox="1">
            <a:spLocks noChangeArrowheads="1"/>
          </p:cNvSpPr>
          <p:nvPr/>
        </p:nvSpPr>
        <p:spPr bwMode="auto">
          <a:xfrm>
            <a:off x="360363" y="3135313"/>
            <a:ext cx="20510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solidFill>
                  <a:srgbClr val="080808"/>
                </a:solidFill>
                <a:latin typeface="Comic Sans MS" panose="030F0702030302020204" pitchFamily="66" charset="0"/>
                <a:ea typeface="华文新魏" panose="02010800040101010101" pitchFamily="2" charset="-122"/>
              </a:rPr>
              <a:t>进程阻塞于</a:t>
            </a:r>
            <a:r>
              <a:rPr lang="en-US" altLang="zh-CN" sz="1800">
                <a:solidFill>
                  <a:srgbClr val="080808"/>
                </a:solidFill>
                <a:latin typeface="Comic Sans MS" panose="030F0702030302020204" pitchFamily="66" charset="0"/>
                <a:ea typeface="华文新魏" panose="02010800040101010101" pitchFamily="2" charset="-122"/>
              </a:rPr>
              <a:t>select</a:t>
            </a:r>
            <a:r>
              <a:rPr lang="zh-CN" altLang="en-US" sz="1800">
                <a:solidFill>
                  <a:srgbClr val="080808"/>
                </a:solidFill>
                <a:latin typeface="Comic Sans MS" panose="030F0702030302020204" pitchFamily="66" charset="0"/>
                <a:ea typeface="华文新魏" panose="02010800040101010101" pitchFamily="2" charset="-122"/>
              </a:rPr>
              <a:t>系统调用，等待可能多个套接字中的任一个变为可读或可写</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4358" name="Line 23"/>
          <p:cNvSpPr>
            <a:spLocks noChangeShapeType="1"/>
          </p:cNvSpPr>
          <p:nvPr/>
        </p:nvSpPr>
        <p:spPr bwMode="auto">
          <a:xfrm flipH="1">
            <a:off x="3708400" y="4286250"/>
            <a:ext cx="17287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59" name="Text Box 24"/>
          <p:cNvSpPr txBox="1">
            <a:spLocks noChangeArrowheads="1"/>
          </p:cNvSpPr>
          <p:nvPr/>
        </p:nvSpPr>
        <p:spPr bwMode="auto">
          <a:xfrm>
            <a:off x="3779838" y="3927475"/>
            <a:ext cx="165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返回可读条件</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4360" name="Text Box 25"/>
          <p:cNvSpPr txBox="1">
            <a:spLocks noChangeArrowheads="1"/>
          </p:cNvSpPr>
          <p:nvPr/>
        </p:nvSpPr>
        <p:spPr bwMode="auto">
          <a:xfrm>
            <a:off x="2339975" y="4429125"/>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omic Sans MS" panose="030F0702030302020204" pitchFamily="66" charset="0"/>
                <a:ea typeface="华文新魏" panose="02010800040101010101" pitchFamily="2" charset="-122"/>
              </a:rPr>
              <a:t>recvfrom</a:t>
            </a:r>
            <a:endParaRPr lang="en-US" altLang="zh-CN" sz="1800">
              <a:solidFill>
                <a:srgbClr val="080808"/>
              </a:solidFill>
              <a:latin typeface="Comic Sans MS" panose="030F0702030302020204" pitchFamily="66" charset="0"/>
              <a:ea typeface="华文新魏" panose="02010800040101010101" pitchFamily="2" charset="-122"/>
            </a:endParaRPr>
          </a:p>
        </p:txBody>
      </p:sp>
      <p:sp>
        <p:nvSpPr>
          <p:cNvPr id="14361" name="Line 26"/>
          <p:cNvSpPr>
            <a:spLocks noChangeShapeType="1"/>
          </p:cNvSpPr>
          <p:nvPr/>
        </p:nvSpPr>
        <p:spPr bwMode="auto">
          <a:xfrm>
            <a:off x="3708400" y="4646613"/>
            <a:ext cx="17287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62" name="Text Box 27"/>
          <p:cNvSpPr txBox="1">
            <a:spLocks noChangeArrowheads="1"/>
          </p:cNvSpPr>
          <p:nvPr/>
        </p:nvSpPr>
        <p:spPr bwMode="auto">
          <a:xfrm>
            <a:off x="3779838" y="4286250"/>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4363" name="AutoShape 28"/>
          <p:cNvSpPr/>
          <p:nvPr/>
        </p:nvSpPr>
        <p:spPr bwMode="auto">
          <a:xfrm>
            <a:off x="2339975" y="4718050"/>
            <a:ext cx="71438" cy="793750"/>
          </a:xfrm>
          <a:prstGeom prst="leftBrace">
            <a:avLst>
              <a:gd name="adj1" fmla="val 92489"/>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364" name="Text Box 29"/>
          <p:cNvSpPr txBox="1">
            <a:spLocks noChangeArrowheads="1"/>
          </p:cNvSpPr>
          <p:nvPr/>
        </p:nvSpPr>
        <p:spPr bwMode="auto">
          <a:xfrm>
            <a:off x="7237413" y="4718050"/>
            <a:ext cx="17986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solidFill>
                  <a:srgbClr val="080808"/>
                </a:solidFill>
                <a:latin typeface="Comic Sans MS" panose="030F0702030302020204" pitchFamily="66" charset="0"/>
                <a:ea typeface="华文新魏" panose="02010800040101010101" pitchFamily="2" charset="-122"/>
              </a:rPr>
              <a:t>将数据从内核拷贝到用户空间</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0270" name="Rectangle 30"/>
          <p:cNvSpPr>
            <a:spLocks noRot="1" noChangeArrowheads="1"/>
          </p:cNvSpPr>
          <p:nvPr/>
        </p:nvSpPr>
        <p:spPr bwMode="auto">
          <a:xfrm>
            <a:off x="142875" y="5797550"/>
            <a:ext cx="900112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Times New Roman" panose="02020603050405020304" pitchFamily="18" charset="0"/>
                <a:ea typeface="宋体" panose="02010600030101010101" pitchFamily="2" charset="-122"/>
              </a:defRPr>
            </a:lvl1pPr>
            <a:lvl2pPr>
              <a:defRPr sz="20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sz="2000">
                <a:solidFill>
                  <a:schemeClr val="tx1"/>
                </a:solidFill>
                <a:latin typeface="Times New Roman" panose="02020603050405020304" pitchFamily="18" charset="0"/>
                <a:ea typeface="宋体" panose="02010600030101010101" pitchFamily="2" charset="-122"/>
              </a:defRPr>
            </a:lvl4pPr>
            <a:lvl5pPr>
              <a:defRPr sz="2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spcBef>
                <a:spcPct val="20000"/>
              </a:spcBef>
              <a:buFontTx/>
              <a:buChar char="•"/>
            </a:pPr>
            <a:r>
              <a:rPr lang="zh-CN" altLang="en-US" sz="2400">
                <a:ea typeface="微软雅黑 Light" panose="020B0502040204020203" pitchFamily="34" charset="-122"/>
              </a:rPr>
              <a:t>注意：与阻塞</a:t>
            </a:r>
            <a:r>
              <a:rPr lang="en-US" altLang="zh-CN" sz="2400">
                <a:ea typeface="微软雅黑 Light" panose="020B0502040204020203" pitchFamily="34" charset="-122"/>
              </a:rPr>
              <a:t>I/O</a:t>
            </a:r>
            <a:r>
              <a:rPr lang="zh-CN" altLang="en-US" sz="2400">
                <a:ea typeface="微软雅黑 Light" panose="020B0502040204020203" pitchFamily="34" charset="-122"/>
              </a:rPr>
              <a:t>模型相比，由于使用了系统调用</a:t>
            </a:r>
            <a:r>
              <a:rPr lang="en-US" altLang="zh-CN" sz="2400">
                <a:ea typeface="微软雅黑 Light" panose="020B0502040204020203" pitchFamily="34" charset="-122"/>
              </a:rPr>
              <a:t>select</a:t>
            </a:r>
            <a:r>
              <a:rPr lang="zh-CN" altLang="en-US" sz="2400">
                <a:ea typeface="微软雅黑 Light" panose="020B0502040204020203" pitchFamily="34" charset="-122"/>
              </a:rPr>
              <a:t>，</a:t>
            </a:r>
            <a:r>
              <a:rPr lang="zh-CN" altLang="en-US" sz="2400" b="1">
                <a:solidFill>
                  <a:srgbClr val="C00000"/>
                </a:solidFill>
                <a:ea typeface="微软雅黑 Light" panose="020B0502040204020203" pitchFamily="34" charset="-122"/>
              </a:rPr>
              <a:t>似乎比阻塞</a:t>
            </a:r>
            <a:r>
              <a:rPr lang="en-US" altLang="zh-CN" sz="2400">
                <a:solidFill>
                  <a:srgbClr val="C00000"/>
                </a:solidFill>
                <a:ea typeface="微软雅黑 Light" panose="020B0502040204020203" pitchFamily="34" charset="-122"/>
              </a:rPr>
              <a:t>I/O</a:t>
            </a:r>
            <a:r>
              <a:rPr lang="zh-CN" altLang="en-US" sz="2400" b="1">
                <a:solidFill>
                  <a:srgbClr val="C00000"/>
                </a:solidFill>
                <a:ea typeface="微软雅黑 Light" panose="020B0502040204020203" pitchFamily="34" charset="-122"/>
              </a:rPr>
              <a:t>还差。但</a:t>
            </a:r>
            <a:r>
              <a:rPr lang="en-US" altLang="zh-CN" sz="2400" b="1">
                <a:solidFill>
                  <a:srgbClr val="C00000"/>
                </a:solidFill>
                <a:ea typeface="微软雅黑 Light" panose="020B0502040204020203" pitchFamily="34" charset="-122"/>
              </a:rPr>
              <a:t>select</a:t>
            </a:r>
            <a:r>
              <a:rPr lang="zh-CN" altLang="en-US" sz="2400" b="1">
                <a:solidFill>
                  <a:srgbClr val="C00000"/>
                </a:solidFill>
                <a:ea typeface="微软雅黑 Light" panose="020B0502040204020203" pitchFamily="34" charset="-122"/>
              </a:rPr>
              <a:t>的好处在于可以等待多个描述字准备好</a:t>
            </a:r>
            <a:endParaRPr lang="zh-CN" altLang="en-US" sz="2400" b="1">
              <a:ea typeface="微软雅黑 Light" panose="020B0502040204020203" pitchFamily="34" charset="-122"/>
            </a:endParaRPr>
          </a:p>
        </p:txBody>
      </p:sp>
    </p:spTree>
  </p:cSld>
  <p:clrMapOvr>
    <a:masterClrMapping/>
  </p:clrMapOvr>
  <p:transition spd="slow">
    <p:wipe dir="r"/>
    <p:sndAc>
      <p:end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70"/>
                                        </p:tgtEl>
                                        <p:attrNameLst>
                                          <p:attrName>style.visibility</p:attrName>
                                        </p:attrNameLst>
                                      </p:cBhvr>
                                      <p:to>
                                        <p:strVal val="visible"/>
                                      </p:to>
                                    </p:set>
                                    <p:animEffect transition="in" filter="blinds(horizontal)">
                                      <p:cBhvr>
                                        <p:cTn id="7" dur="500"/>
                                        <p:tgtEl>
                                          <p:spTgt spid="10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a:xfrm>
            <a:off x="795338" y="255588"/>
            <a:ext cx="7772400" cy="6096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zh-CN" altLang="en-US" sz="3600">
                <a:latin typeface="Tahoma" panose="020B0604030504040204" pitchFamily="34" charset="0"/>
                <a:ea typeface="微软雅黑" panose="020B0503020204020204" pitchFamily="34" charset="-122"/>
              </a:rPr>
              <a:t>信号驱动</a:t>
            </a:r>
            <a:r>
              <a:rPr lang="en-US" altLang="zh-CN" sz="3600">
                <a:latin typeface="Tahoma" panose="020B0604030504040204" pitchFamily="34" charset="0"/>
                <a:ea typeface="微软雅黑" panose="020B0503020204020204" pitchFamily="34" charset="-122"/>
              </a:rPr>
              <a:t>I/O</a:t>
            </a:r>
            <a:r>
              <a:rPr lang="zh-CN" altLang="en-US" sz="3600">
                <a:latin typeface="Tahoma" panose="020B0604030504040204" pitchFamily="34" charset="0"/>
                <a:ea typeface="微软雅黑" panose="020B0503020204020204" pitchFamily="34" charset="-122"/>
              </a:rPr>
              <a:t>模型</a:t>
            </a:r>
            <a:endParaRPr lang="zh-CN" altLang="en-US" sz="3600">
              <a:latin typeface="Tahoma" panose="020B0604030504040204" pitchFamily="34" charset="0"/>
              <a:ea typeface="微软雅黑" panose="020B0503020204020204" pitchFamily="34" charset="-122"/>
            </a:endParaRPr>
          </a:p>
        </p:txBody>
      </p:sp>
      <p:sp>
        <p:nvSpPr>
          <p:cNvPr id="16386" name="Rectangle 3"/>
          <p:cNvSpPr>
            <a:spLocks noGrp="1" noChangeArrowheads="1"/>
          </p:cNvSpPr>
          <p:nvPr>
            <p:ph idx="1"/>
          </p:nvPr>
        </p:nvSpPr>
        <p:spPr>
          <a:xfrm>
            <a:off x="107950" y="1052513"/>
            <a:ext cx="8737600" cy="5545137"/>
          </a:xfrm>
        </p:spPr>
        <p:txBody>
          <a:bodyPr/>
          <a:lstStyle/>
          <a:p>
            <a:pPr eaLnBrk="1" hangingPunct="1">
              <a:lnSpc>
                <a:spcPct val="110000"/>
              </a:lnSpc>
            </a:pPr>
            <a:r>
              <a:rPr lang="zh-CN" altLang="en-US" sz="2400">
                <a:ea typeface="微软雅黑 Light" panose="020B0502040204020203" pitchFamily="34" charset="-122"/>
              </a:rPr>
              <a:t>让内核在描述字准备好时用信号</a:t>
            </a:r>
            <a:r>
              <a:rPr lang="en-US" altLang="zh-CN" sz="2400">
                <a:ea typeface="微软雅黑 Light" panose="020B0502040204020203" pitchFamily="34" charset="-122"/>
              </a:rPr>
              <a:t>SIGIO</a:t>
            </a:r>
            <a:r>
              <a:rPr lang="zh-CN" altLang="en-US" sz="2400">
                <a:ea typeface="微软雅黑 Light" panose="020B0502040204020203" pitchFamily="34" charset="-122"/>
              </a:rPr>
              <a:t>通知进程。</a:t>
            </a:r>
            <a:r>
              <a:rPr lang="zh-CN" altLang="en-US" sz="2400" b="1">
                <a:solidFill>
                  <a:srgbClr val="0070C0"/>
                </a:solidFill>
                <a:ea typeface="微软雅黑 Light" panose="020B0502040204020203" pitchFamily="34" charset="-122"/>
              </a:rPr>
              <a:t>这种模型的好处是当等待数据报到达时，可以不阻塞</a:t>
            </a:r>
            <a:r>
              <a:rPr lang="zh-CN" altLang="en-US" sz="2400">
                <a:ea typeface="微软雅黑 Light" panose="020B0502040204020203" pitchFamily="34" charset="-122"/>
              </a:rPr>
              <a:t>。前提是允许套接口进行信号驱动</a:t>
            </a:r>
            <a:r>
              <a:rPr lang="en-US" altLang="zh-CN" sz="2400">
                <a:ea typeface="微软雅黑 Light" panose="020B0502040204020203" pitchFamily="34" charset="-122"/>
              </a:rPr>
              <a:t>i/o </a:t>
            </a:r>
            <a:r>
              <a:rPr lang="zh-CN" altLang="en-US" sz="2400">
                <a:ea typeface="微软雅黑 Light" panose="020B0502040204020203" pitchFamily="34" charset="-122"/>
              </a:rPr>
              <a:t>。</a:t>
            </a:r>
            <a:endParaRPr lang="zh-CN" altLang="en-US" sz="2400">
              <a:ea typeface="微软雅黑 Light" panose="020B0502040204020203" pitchFamily="34" charset="-122"/>
            </a:endParaRPr>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000"/>
          </a:p>
          <a:p>
            <a:pPr eaLnBrk="1" hangingPunct="1">
              <a:lnSpc>
                <a:spcPct val="90000"/>
              </a:lnSpc>
            </a:pPr>
            <a:endParaRPr lang="en-US" altLang="zh-CN" sz="2400"/>
          </a:p>
          <a:p>
            <a:pPr eaLnBrk="1" hangingPunct="1">
              <a:lnSpc>
                <a:spcPct val="90000"/>
              </a:lnSpc>
            </a:pPr>
            <a:r>
              <a:rPr lang="zh-CN" altLang="en-US" sz="2400">
                <a:ea typeface="微软雅黑 Light" panose="020B0502040204020203" pitchFamily="34" charset="-122"/>
              </a:rPr>
              <a:t>可以由信号处理程序来读取数据，或通知主循环来读取数据</a:t>
            </a:r>
            <a:r>
              <a:rPr lang="en-US" altLang="zh-CN" sz="2400">
                <a:ea typeface="微软雅黑 Light" panose="020B0502040204020203" pitchFamily="34" charset="-122"/>
              </a:rPr>
              <a:t>.</a:t>
            </a:r>
            <a:endParaRPr lang="en-US" altLang="zh-CN" sz="2400">
              <a:ea typeface="微软雅黑 Light" panose="020B0502040204020203" pitchFamily="34" charset="-122"/>
            </a:endParaRPr>
          </a:p>
        </p:txBody>
      </p:sp>
      <p:sp>
        <p:nvSpPr>
          <p:cNvPr id="16387" name="AutoShape 4"/>
          <p:cNvSpPr/>
          <p:nvPr/>
        </p:nvSpPr>
        <p:spPr bwMode="auto">
          <a:xfrm>
            <a:off x="2197100" y="2851150"/>
            <a:ext cx="71438" cy="1441450"/>
          </a:xfrm>
          <a:prstGeom prst="leftBrace">
            <a:avLst>
              <a:gd name="adj1" fmla="val 167960"/>
              <a:gd name="adj2" fmla="val 50000"/>
            </a:avLst>
          </a:prstGeom>
          <a:noFill/>
          <a:ln w="9525">
            <a:solidFill>
              <a:srgbClr val="080808"/>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69" name="Text Box 5"/>
          <p:cNvSpPr txBox="1">
            <a:spLocks noChangeArrowheads="1"/>
          </p:cNvSpPr>
          <p:nvPr/>
        </p:nvSpPr>
        <p:spPr bwMode="auto">
          <a:xfrm>
            <a:off x="0" y="4732338"/>
            <a:ext cx="2374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数据拷贝到应用缓冲区期间，进程阻塞</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1270" name="Text Box 6"/>
          <p:cNvSpPr txBox="1">
            <a:spLocks noChangeArrowheads="1"/>
          </p:cNvSpPr>
          <p:nvPr/>
        </p:nvSpPr>
        <p:spPr bwMode="auto">
          <a:xfrm>
            <a:off x="2197100" y="2635250"/>
            <a:ext cx="1512888"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建立</a:t>
            </a:r>
            <a:r>
              <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SIGIO</a:t>
            </a: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的信号处理程序</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6390" name="Text Box 7"/>
          <p:cNvSpPr txBox="1">
            <a:spLocks noChangeArrowheads="1"/>
          </p:cNvSpPr>
          <p:nvPr/>
        </p:nvSpPr>
        <p:spPr bwMode="auto">
          <a:xfrm>
            <a:off x="2197100" y="2276475"/>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solidFill>
                  <a:srgbClr val="080808"/>
                </a:solidFill>
                <a:latin typeface="Comic Sans MS" panose="030F0702030302020204" pitchFamily="66" charset="0"/>
                <a:ea typeface="华文新魏" panose="02010800040101010101" pitchFamily="2" charset="-122"/>
              </a:rPr>
              <a:t>应用进程</a:t>
            </a:r>
            <a:endParaRPr lang="zh-CN" altLang="en-US" sz="1800" b="1">
              <a:solidFill>
                <a:srgbClr val="080808"/>
              </a:solidFill>
              <a:latin typeface="Comic Sans MS" panose="030F0702030302020204" pitchFamily="66" charset="0"/>
              <a:ea typeface="华文新魏" panose="02010800040101010101" pitchFamily="2" charset="-122"/>
            </a:endParaRPr>
          </a:p>
        </p:txBody>
      </p:sp>
      <p:sp>
        <p:nvSpPr>
          <p:cNvPr id="16391" name="Line 8"/>
          <p:cNvSpPr>
            <a:spLocks noChangeShapeType="1"/>
          </p:cNvSpPr>
          <p:nvPr/>
        </p:nvSpPr>
        <p:spPr bwMode="auto">
          <a:xfrm>
            <a:off x="3708400" y="2852738"/>
            <a:ext cx="1584325" cy="0"/>
          </a:xfrm>
          <a:prstGeom prst="line">
            <a:avLst/>
          </a:prstGeom>
          <a:noFill/>
          <a:ln w="9525">
            <a:solidFill>
              <a:srgbClr val="080808"/>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2" name="Text Box 9"/>
          <p:cNvSpPr txBox="1">
            <a:spLocks noChangeArrowheads="1"/>
          </p:cNvSpPr>
          <p:nvPr/>
        </p:nvSpPr>
        <p:spPr bwMode="auto">
          <a:xfrm>
            <a:off x="5292725" y="2276475"/>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solidFill>
                  <a:srgbClr val="080808"/>
                </a:solidFill>
                <a:latin typeface="Comic Sans MS" panose="030F0702030302020204" pitchFamily="66" charset="0"/>
                <a:ea typeface="华文新魏" panose="02010800040101010101" pitchFamily="2" charset="-122"/>
              </a:rPr>
              <a:t>内核</a:t>
            </a:r>
            <a:endParaRPr lang="zh-CN" altLang="en-US" sz="1800" b="1">
              <a:solidFill>
                <a:srgbClr val="080808"/>
              </a:solidFill>
              <a:latin typeface="Comic Sans MS" panose="030F0702030302020204" pitchFamily="66" charset="0"/>
              <a:ea typeface="华文新魏" panose="02010800040101010101" pitchFamily="2" charset="-122"/>
            </a:endParaRPr>
          </a:p>
        </p:txBody>
      </p:sp>
      <p:sp>
        <p:nvSpPr>
          <p:cNvPr id="11274" name="Text Box 10"/>
          <p:cNvSpPr txBox="1">
            <a:spLocks noChangeArrowheads="1"/>
          </p:cNvSpPr>
          <p:nvPr/>
        </p:nvSpPr>
        <p:spPr bwMode="auto">
          <a:xfrm>
            <a:off x="3636963" y="2492375"/>
            <a:ext cx="2159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系统调用</a:t>
            </a:r>
            <a:r>
              <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sigaction</a:t>
            </a:r>
            <a:endPar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1275" name="Text Box 11"/>
          <p:cNvSpPr txBox="1">
            <a:spLocks noChangeArrowheads="1"/>
          </p:cNvSpPr>
          <p:nvPr/>
        </p:nvSpPr>
        <p:spPr bwMode="auto">
          <a:xfrm>
            <a:off x="2195513" y="5229225"/>
            <a:ext cx="15128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处理数据报</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1276" name="Text Box 12"/>
          <p:cNvSpPr txBox="1">
            <a:spLocks noChangeArrowheads="1"/>
          </p:cNvSpPr>
          <p:nvPr/>
        </p:nvSpPr>
        <p:spPr bwMode="auto">
          <a:xfrm>
            <a:off x="5292725" y="5011738"/>
            <a:ext cx="1800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拷贝完成</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1277" name="Text Box 13"/>
          <p:cNvSpPr txBox="1">
            <a:spLocks noChangeArrowheads="1"/>
          </p:cNvSpPr>
          <p:nvPr/>
        </p:nvSpPr>
        <p:spPr bwMode="auto">
          <a:xfrm>
            <a:off x="3852863" y="4868863"/>
            <a:ext cx="16557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返回成功指示</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6397" name="Line 14"/>
          <p:cNvSpPr>
            <a:spLocks noChangeShapeType="1"/>
          </p:cNvSpPr>
          <p:nvPr/>
        </p:nvSpPr>
        <p:spPr bwMode="auto">
          <a:xfrm flipH="1">
            <a:off x="3565525" y="5227638"/>
            <a:ext cx="1871663" cy="0"/>
          </a:xfrm>
          <a:prstGeom prst="line">
            <a:avLst/>
          </a:prstGeom>
          <a:noFill/>
          <a:ln w="9525">
            <a:solidFill>
              <a:srgbClr val="080808"/>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79" name="Text Box 15"/>
          <p:cNvSpPr txBox="1">
            <a:spLocks noChangeArrowheads="1"/>
          </p:cNvSpPr>
          <p:nvPr/>
        </p:nvSpPr>
        <p:spPr bwMode="auto">
          <a:xfrm>
            <a:off x="5292725" y="3787775"/>
            <a:ext cx="1800225"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数据报准备好</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a:p>
            <a:pPr algn="ctr">
              <a:lnSpc>
                <a:spcPct val="130000"/>
              </a:lnSpc>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拷贝数据报</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6399" name="Line 16"/>
          <p:cNvSpPr>
            <a:spLocks noChangeShapeType="1"/>
          </p:cNvSpPr>
          <p:nvPr/>
        </p:nvSpPr>
        <p:spPr bwMode="auto">
          <a:xfrm>
            <a:off x="6157913" y="4435475"/>
            <a:ext cx="0" cy="649288"/>
          </a:xfrm>
          <a:prstGeom prst="line">
            <a:avLst/>
          </a:prstGeom>
          <a:noFill/>
          <a:ln w="9525">
            <a:solidFill>
              <a:srgbClr val="080808"/>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0" name="AutoShape 17"/>
          <p:cNvSpPr/>
          <p:nvPr/>
        </p:nvSpPr>
        <p:spPr bwMode="auto">
          <a:xfrm>
            <a:off x="6950075" y="2852738"/>
            <a:ext cx="71438" cy="1150937"/>
          </a:xfrm>
          <a:prstGeom prst="rightBrace">
            <a:avLst>
              <a:gd name="adj1" fmla="val 134109"/>
              <a:gd name="adj2" fmla="val 51167"/>
            </a:avLst>
          </a:prstGeom>
          <a:noFill/>
          <a:ln w="9525">
            <a:solidFill>
              <a:srgbClr val="080808"/>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01" name="AutoShape 18"/>
          <p:cNvSpPr/>
          <p:nvPr/>
        </p:nvSpPr>
        <p:spPr bwMode="auto">
          <a:xfrm>
            <a:off x="6950075" y="4292600"/>
            <a:ext cx="71438" cy="935038"/>
          </a:xfrm>
          <a:prstGeom prst="rightBrace">
            <a:avLst>
              <a:gd name="adj1" fmla="val 108952"/>
              <a:gd name="adj2" fmla="val 51167"/>
            </a:avLst>
          </a:prstGeom>
          <a:noFill/>
          <a:ln w="9525">
            <a:solidFill>
              <a:srgbClr val="080808"/>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83" name="Text Box 19"/>
          <p:cNvSpPr txBox="1">
            <a:spLocks noChangeArrowheads="1"/>
          </p:cNvSpPr>
          <p:nvPr/>
        </p:nvSpPr>
        <p:spPr bwMode="auto">
          <a:xfrm>
            <a:off x="7073900" y="3217863"/>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等待数据</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1284" name="Text Box 20"/>
          <p:cNvSpPr txBox="1">
            <a:spLocks noChangeArrowheads="1"/>
          </p:cNvSpPr>
          <p:nvPr/>
        </p:nvSpPr>
        <p:spPr bwMode="auto">
          <a:xfrm>
            <a:off x="217488" y="3349625"/>
            <a:ext cx="2051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进程继续执行</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6404" name="Line 21"/>
          <p:cNvSpPr>
            <a:spLocks noChangeShapeType="1"/>
          </p:cNvSpPr>
          <p:nvPr/>
        </p:nvSpPr>
        <p:spPr bwMode="auto">
          <a:xfrm flipH="1">
            <a:off x="3565525" y="4003675"/>
            <a:ext cx="1728788" cy="0"/>
          </a:xfrm>
          <a:prstGeom prst="line">
            <a:avLst/>
          </a:prstGeom>
          <a:noFill/>
          <a:ln w="9525">
            <a:solidFill>
              <a:srgbClr val="080808"/>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6" name="Text Box 22"/>
          <p:cNvSpPr txBox="1">
            <a:spLocks noChangeArrowheads="1"/>
          </p:cNvSpPr>
          <p:nvPr/>
        </p:nvSpPr>
        <p:spPr bwMode="auto">
          <a:xfrm>
            <a:off x="3636963" y="3644900"/>
            <a:ext cx="1657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递交</a:t>
            </a:r>
            <a:r>
              <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SIGIO</a:t>
            </a:r>
            <a:endPar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1287" name="Text Box 23"/>
          <p:cNvSpPr txBox="1">
            <a:spLocks noChangeArrowheads="1"/>
          </p:cNvSpPr>
          <p:nvPr/>
        </p:nvSpPr>
        <p:spPr bwMode="auto">
          <a:xfrm>
            <a:off x="2197100" y="4146550"/>
            <a:ext cx="15128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recvfrom</a:t>
            </a:r>
            <a:endPar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6407" name="Line 24"/>
          <p:cNvSpPr>
            <a:spLocks noChangeShapeType="1"/>
          </p:cNvSpPr>
          <p:nvPr/>
        </p:nvSpPr>
        <p:spPr bwMode="auto">
          <a:xfrm>
            <a:off x="3565525" y="4364038"/>
            <a:ext cx="1728788" cy="0"/>
          </a:xfrm>
          <a:prstGeom prst="line">
            <a:avLst/>
          </a:prstGeom>
          <a:noFill/>
          <a:ln w="9525">
            <a:solidFill>
              <a:srgbClr val="080808"/>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9" name="Text Box 25"/>
          <p:cNvSpPr txBox="1">
            <a:spLocks noChangeArrowheads="1"/>
          </p:cNvSpPr>
          <p:nvPr/>
        </p:nvSpPr>
        <p:spPr bwMode="auto">
          <a:xfrm>
            <a:off x="3636963" y="4003675"/>
            <a:ext cx="15128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系统调用</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6409" name="AutoShape 26"/>
          <p:cNvSpPr/>
          <p:nvPr/>
        </p:nvSpPr>
        <p:spPr bwMode="auto">
          <a:xfrm>
            <a:off x="2197100" y="4435475"/>
            <a:ext cx="71438" cy="1298575"/>
          </a:xfrm>
          <a:prstGeom prst="leftBrace">
            <a:avLst>
              <a:gd name="adj1" fmla="val 151312"/>
              <a:gd name="adj2" fmla="val 50000"/>
            </a:avLst>
          </a:prstGeom>
          <a:noFill/>
          <a:ln w="9525">
            <a:solidFill>
              <a:srgbClr val="080808"/>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10" name="Text Box 27"/>
          <p:cNvSpPr txBox="1">
            <a:spLocks noChangeArrowheads="1"/>
          </p:cNvSpPr>
          <p:nvPr/>
        </p:nvSpPr>
        <p:spPr bwMode="auto">
          <a:xfrm>
            <a:off x="7094538" y="4435475"/>
            <a:ext cx="17986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将数据从内核拷贝到用户空间</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6411" name="Line 28"/>
          <p:cNvSpPr>
            <a:spLocks noChangeShapeType="1"/>
          </p:cNvSpPr>
          <p:nvPr/>
        </p:nvSpPr>
        <p:spPr bwMode="auto">
          <a:xfrm flipH="1">
            <a:off x="3635375" y="2997200"/>
            <a:ext cx="1584325" cy="0"/>
          </a:xfrm>
          <a:prstGeom prst="line">
            <a:avLst/>
          </a:prstGeom>
          <a:noFill/>
          <a:ln w="9525">
            <a:solidFill>
              <a:srgbClr val="080808"/>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93" name="Text Box 29"/>
          <p:cNvSpPr txBox="1">
            <a:spLocks noChangeArrowheads="1"/>
          </p:cNvSpPr>
          <p:nvPr/>
        </p:nvSpPr>
        <p:spPr bwMode="auto">
          <a:xfrm>
            <a:off x="3635375" y="2924175"/>
            <a:ext cx="2159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返回</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1294" name="Text Box 30"/>
          <p:cNvSpPr txBox="1">
            <a:spLocks noChangeArrowheads="1"/>
          </p:cNvSpPr>
          <p:nvPr/>
        </p:nvSpPr>
        <p:spPr bwMode="auto">
          <a:xfrm>
            <a:off x="2124075" y="3789363"/>
            <a:ext cx="1657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信号处理程序</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49196" name="AutoShape 1068"/>
          <p:cNvSpPr>
            <a:spLocks noChangeArrowheads="1"/>
          </p:cNvSpPr>
          <p:nvPr/>
        </p:nvSpPr>
        <p:spPr bwMode="auto">
          <a:xfrm>
            <a:off x="3241675" y="756001"/>
            <a:ext cx="5832475" cy="2160588"/>
          </a:xfrm>
          <a:prstGeom prst="wedgeRoundRectCallout">
            <a:avLst>
              <a:gd name="adj1" fmla="val -42977"/>
              <a:gd name="adj2" fmla="val 64032"/>
              <a:gd name="adj3" fmla="val 16667"/>
            </a:avLst>
          </a:prstGeom>
          <a:solidFill>
            <a:schemeClr val="accent1"/>
          </a:solidFill>
          <a:ln w="9525">
            <a:solidFill>
              <a:schemeClr val="tx1"/>
            </a:solidFill>
            <a:miter lim="800000"/>
          </a:ln>
        </p:spPr>
        <p:txBody>
          <a:bodyPr/>
          <a:lstStyle/>
          <a:p>
            <a:pPr>
              <a:spcBef>
                <a:spcPct val="30000"/>
              </a:spcBef>
            </a:pPr>
            <a:r>
              <a:rPr lang="zh-CN" altLang="en-US" sz="1800"/>
              <a:t>首先我们允许</a:t>
            </a:r>
            <a:r>
              <a:rPr lang="en-US" altLang="zh-CN" sz="1800"/>
              <a:t>socket</a:t>
            </a:r>
            <a:r>
              <a:rPr lang="zh-CN" altLang="en-US" sz="1800"/>
              <a:t>进行信号驱动</a:t>
            </a:r>
            <a:r>
              <a:rPr lang="en-US" altLang="zh-CN" sz="1800"/>
              <a:t>I/O</a:t>
            </a:r>
            <a:r>
              <a:rPr lang="zh-CN" altLang="en-US" sz="1800"/>
              <a:t>，并通过系统调用</a:t>
            </a:r>
            <a:r>
              <a:rPr lang="en-US" altLang="zh-CN" sz="1800"/>
              <a:t>sigaction</a:t>
            </a:r>
            <a:r>
              <a:rPr lang="zh-CN" altLang="en-US" sz="1800"/>
              <a:t>安装一个信号处理程序。此系统调用立即返回，进程继续工作，它是非阻塞的。当数据报准备好被读时，就为该进程生成个</a:t>
            </a:r>
            <a:r>
              <a:rPr lang="en-US" altLang="zh-CN" sz="1800"/>
              <a:t>sigio</a:t>
            </a:r>
            <a:r>
              <a:rPr lang="zh-CN" altLang="en-US" sz="1800"/>
              <a:t>信号。我们随即可以在信号处理程序中调用</a:t>
            </a:r>
            <a:r>
              <a:rPr lang="en-US" altLang="zh-CN" sz="1800"/>
              <a:t>recvfrom</a:t>
            </a:r>
            <a:r>
              <a:rPr lang="zh-CN" altLang="en-US" sz="1800"/>
              <a:t>来读取数据报，并通知主循环数据报已准备好被处理，也可以通知主循环，让它来处理数据报。</a:t>
            </a:r>
            <a:endParaRPr lang="zh-CN" altLang="en-US" sz="1800"/>
          </a:p>
          <a:p>
            <a:pPr algn="ctr"/>
            <a:endParaRPr lang="en-US" altLang="zh-CN" sz="1800"/>
          </a:p>
        </p:txBody>
      </p:sp>
    </p:spTree>
  </p:cSld>
  <p:clrMapOvr>
    <a:masterClrMapping/>
  </p:clrMapOvr>
  <p:transition spd="slow">
    <p:wipe dir="r"/>
    <p:sndAc>
      <p:end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196"/>
                                        </p:tgtEl>
                                        <p:attrNameLst>
                                          <p:attrName>style.visibility</p:attrName>
                                        </p:attrNameLst>
                                      </p:cBhvr>
                                      <p:to>
                                        <p:strVal val="visible"/>
                                      </p:to>
                                    </p:set>
                                    <p:animEffect transition="in" filter="blinds(horizontal)">
                                      <p:cBhvr>
                                        <p:cTn id="7" dur="500"/>
                                        <p:tgtEl>
                                          <p:spTgt spid="4919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49196"/>
                                        </p:tgtEl>
                                      </p:cBhvr>
                                    </p:animEffect>
                                    <p:set>
                                      <p:cBhvr>
                                        <p:cTn id="12" dur="1" fill="hold">
                                          <p:stCondLst>
                                            <p:cond delay="499"/>
                                          </p:stCondLst>
                                        </p:cTn>
                                        <p:tgtEl>
                                          <p:spTgt spid="491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96" grpId="0" animBg="1"/>
      <p:bldP spid="49196"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a:xfrm>
            <a:off x="762000" y="304800"/>
            <a:ext cx="7772400" cy="6096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zh-CN" altLang="en-US" sz="3600">
                <a:latin typeface="Tahoma" panose="020B0604030504040204" pitchFamily="34" charset="0"/>
                <a:ea typeface="微软雅黑" panose="020B0503020204020204" pitchFamily="34" charset="-122"/>
              </a:rPr>
              <a:t>异步</a:t>
            </a:r>
            <a:r>
              <a:rPr lang="en-US" altLang="zh-CN" sz="3600">
                <a:latin typeface="Tahoma" panose="020B0604030504040204" pitchFamily="34" charset="0"/>
                <a:ea typeface="微软雅黑" panose="020B0503020204020204" pitchFamily="34" charset="-122"/>
              </a:rPr>
              <a:t>I/O</a:t>
            </a:r>
            <a:r>
              <a:rPr lang="zh-CN" altLang="en-US" sz="3600">
                <a:latin typeface="Tahoma" panose="020B0604030504040204" pitchFamily="34" charset="0"/>
                <a:ea typeface="微软雅黑" panose="020B0503020204020204" pitchFamily="34" charset="-122"/>
              </a:rPr>
              <a:t>模型</a:t>
            </a:r>
            <a:endParaRPr lang="zh-CN" altLang="en-US" sz="3600">
              <a:latin typeface="Tahoma" panose="020B0604030504040204" pitchFamily="34" charset="0"/>
              <a:ea typeface="微软雅黑" panose="020B0503020204020204" pitchFamily="34" charset="-122"/>
            </a:endParaRPr>
          </a:p>
        </p:txBody>
      </p:sp>
      <p:sp>
        <p:nvSpPr>
          <p:cNvPr id="18434" name="Rectangle 3"/>
          <p:cNvSpPr>
            <a:spLocks noGrp="1" noChangeArrowheads="1"/>
          </p:cNvSpPr>
          <p:nvPr>
            <p:ph idx="1"/>
          </p:nvPr>
        </p:nvSpPr>
        <p:spPr>
          <a:xfrm>
            <a:off x="323850" y="1125538"/>
            <a:ext cx="8540750" cy="719137"/>
          </a:xfrm>
        </p:spPr>
        <p:txBody>
          <a:bodyPr/>
          <a:lstStyle/>
          <a:p>
            <a:pPr eaLnBrk="1" hangingPunct="1">
              <a:lnSpc>
                <a:spcPct val="110000"/>
              </a:lnSpc>
            </a:pPr>
            <a:r>
              <a:rPr lang="zh-CN" altLang="en-US" sz="2600">
                <a:ea typeface="微软雅黑 Light" panose="020B0502040204020203" pitchFamily="34" charset="-122"/>
              </a:rPr>
              <a:t>异步</a:t>
            </a:r>
            <a:r>
              <a:rPr lang="en-US" altLang="zh-CN" sz="2800">
                <a:ea typeface="微软雅黑 Light" panose="020B0502040204020203" pitchFamily="34" charset="-122"/>
              </a:rPr>
              <a:t>I/O</a:t>
            </a:r>
            <a:r>
              <a:rPr lang="zh-CN" altLang="en-US" sz="2600">
                <a:ea typeface="微软雅黑 Light" panose="020B0502040204020203" pitchFamily="34" charset="-122"/>
              </a:rPr>
              <a:t>让内核启动操作，并在</a:t>
            </a:r>
            <a:r>
              <a:rPr lang="zh-CN" altLang="en-US" sz="2600" b="1">
                <a:solidFill>
                  <a:srgbClr val="FF0066"/>
                </a:solidFill>
                <a:ea typeface="微软雅黑 Light" panose="020B0502040204020203" pitchFamily="34" charset="-122"/>
              </a:rPr>
              <a:t>整个操作完成后</a:t>
            </a:r>
            <a:r>
              <a:rPr lang="zh-CN" altLang="en-US" sz="2600">
                <a:ea typeface="微软雅黑 Light" panose="020B0502040204020203" pitchFamily="34" charset="-122"/>
              </a:rPr>
              <a:t>（包括将数据从内核拷贝到应用进程的缓冲区）通知我们</a:t>
            </a:r>
            <a:r>
              <a:rPr lang="zh-CN" altLang="en-US" sz="2600"/>
              <a:t>。</a:t>
            </a:r>
            <a:endParaRPr lang="zh-CN" altLang="en-US" sz="2600"/>
          </a:p>
        </p:txBody>
      </p:sp>
      <p:sp>
        <p:nvSpPr>
          <p:cNvPr id="18435" name="AutoShape 4"/>
          <p:cNvSpPr/>
          <p:nvPr/>
        </p:nvSpPr>
        <p:spPr bwMode="auto">
          <a:xfrm>
            <a:off x="1979613" y="2857500"/>
            <a:ext cx="144462" cy="2376488"/>
          </a:xfrm>
          <a:prstGeom prst="leftBrace">
            <a:avLst>
              <a:gd name="adj1" fmla="val 136936"/>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36" name="Text Box 5"/>
          <p:cNvSpPr txBox="1">
            <a:spLocks noChangeArrowheads="1"/>
          </p:cNvSpPr>
          <p:nvPr/>
        </p:nvSpPr>
        <p:spPr bwMode="auto">
          <a:xfrm>
            <a:off x="34925" y="3867150"/>
            <a:ext cx="1979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进程继续执行</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8437" name="Text Box 6"/>
          <p:cNvSpPr txBox="1">
            <a:spLocks noChangeArrowheads="1"/>
          </p:cNvSpPr>
          <p:nvPr/>
        </p:nvSpPr>
        <p:spPr bwMode="auto">
          <a:xfrm>
            <a:off x="1979613" y="2641600"/>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omic Sans MS" panose="030F0702030302020204" pitchFamily="66" charset="0"/>
                <a:ea typeface="华文新魏" panose="02010800040101010101" pitchFamily="2" charset="-122"/>
              </a:rPr>
              <a:t>aio_read</a:t>
            </a:r>
            <a:endParaRPr lang="en-US" altLang="zh-CN" sz="1800">
              <a:solidFill>
                <a:srgbClr val="080808"/>
              </a:solidFill>
              <a:latin typeface="Comic Sans MS" panose="030F0702030302020204" pitchFamily="66" charset="0"/>
              <a:ea typeface="华文新魏" panose="02010800040101010101" pitchFamily="2" charset="-122"/>
            </a:endParaRPr>
          </a:p>
        </p:txBody>
      </p:sp>
      <p:sp>
        <p:nvSpPr>
          <p:cNvPr id="18438" name="Text Box 7"/>
          <p:cNvSpPr txBox="1">
            <a:spLocks noChangeArrowheads="1"/>
          </p:cNvSpPr>
          <p:nvPr/>
        </p:nvSpPr>
        <p:spPr bwMode="auto">
          <a:xfrm>
            <a:off x="1979613" y="2282825"/>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latin typeface="Comic Sans MS" panose="030F0702030302020204" pitchFamily="66" charset="0"/>
                <a:ea typeface="华文新魏" panose="02010800040101010101" pitchFamily="2" charset="-122"/>
              </a:rPr>
              <a:t>应用进程</a:t>
            </a:r>
            <a:endParaRPr lang="zh-CN" altLang="en-US" sz="1800" b="1">
              <a:latin typeface="Comic Sans MS" panose="030F0702030302020204" pitchFamily="66" charset="0"/>
              <a:ea typeface="华文新魏" panose="02010800040101010101" pitchFamily="2" charset="-122"/>
            </a:endParaRPr>
          </a:p>
        </p:txBody>
      </p:sp>
      <p:sp>
        <p:nvSpPr>
          <p:cNvPr id="18439" name="Line 8"/>
          <p:cNvSpPr>
            <a:spLocks noChangeShapeType="1"/>
          </p:cNvSpPr>
          <p:nvPr/>
        </p:nvSpPr>
        <p:spPr bwMode="auto">
          <a:xfrm>
            <a:off x="3348038" y="2859088"/>
            <a:ext cx="172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0" name="Text Box 9"/>
          <p:cNvSpPr txBox="1">
            <a:spLocks noChangeArrowheads="1"/>
          </p:cNvSpPr>
          <p:nvPr/>
        </p:nvSpPr>
        <p:spPr bwMode="auto">
          <a:xfrm>
            <a:off x="5075238" y="2282825"/>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latin typeface="Comic Sans MS" panose="030F0702030302020204" pitchFamily="66" charset="0"/>
                <a:ea typeface="华文新魏" panose="02010800040101010101" pitchFamily="2" charset="-122"/>
              </a:rPr>
              <a:t>内核</a:t>
            </a:r>
            <a:endParaRPr lang="zh-CN" altLang="en-US" sz="1800" b="1">
              <a:latin typeface="Comic Sans MS" panose="030F0702030302020204" pitchFamily="66" charset="0"/>
              <a:ea typeface="华文新魏" panose="02010800040101010101" pitchFamily="2" charset="-122"/>
            </a:endParaRPr>
          </a:p>
        </p:txBody>
      </p:sp>
      <p:sp>
        <p:nvSpPr>
          <p:cNvPr id="18441" name="Text Box 10"/>
          <p:cNvSpPr txBox="1">
            <a:spLocks noChangeArrowheads="1"/>
          </p:cNvSpPr>
          <p:nvPr/>
        </p:nvSpPr>
        <p:spPr bwMode="auto">
          <a:xfrm>
            <a:off x="5003800" y="2641600"/>
            <a:ext cx="1800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无数据报准备好</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8442" name="Text Box 11"/>
          <p:cNvSpPr txBox="1">
            <a:spLocks noChangeArrowheads="1"/>
          </p:cNvSpPr>
          <p:nvPr/>
        </p:nvSpPr>
        <p:spPr bwMode="auto">
          <a:xfrm>
            <a:off x="3419475" y="2498725"/>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8443" name="Text Box 12"/>
          <p:cNvSpPr txBox="1">
            <a:spLocks noChangeArrowheads="1"/>
          </p:cNvSpPr>
          <p:nvPr/>
        </p:nvSpPr>
        <p:spPr bwMode="auto">
          <a:xfrm>
            <a:off x="2051050" y="4875213"/>
            <a:ext cx="15843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信号处理程序处理数据报</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8444" name="Text Box 13"/>
          <p:cNvSpPr txBox="1">
            <a:spLocks noChangeArrowheads="1"/>
          </p:cNvSpPr>
          <p:nvPr/>
        </p:nvSpPr>
        <p:spPr bwMode="auto">
          <a:xfrm>
            <a:off x="5075238" y="5018088"/>
            <a:ext cx="180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拷贝完成</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8445" name="Text Box 14"/>
          <p:cNvSpPr txBox="1">
            <a:spLocks noChangeArrowheads="1"/>
          </p:cNvSpPr>
          <p:nvPr/>
        </p:nvSpPr>
        <p:spPr bwMode="auto">
          <a:xfrm>
            <a:off x="3492500" y="4875213"/>
            <a:ext cx="1873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递交在</a:t>
            </a:r>
            <a:r>
              <a:rPr lang="en-US" altLang="zh-CN" sz="1800">
                <a:solidFill>
                  <a:srgbClr val="080808"/>
                </a:solidFill>
                <a:latin typeface="Comic Sans MS" panose="030F0702030302020204" pitchFamily="66" charset="0"/>
                <a:ea typeface="华文新魏" panose="02010800040101010101" pitchFamily="2" charset="-122"/>
              </a:rPr>
              <a:t>aio_read</a:t>
            </a:r>
            <a:r>
              <a:rPr lang="zh-CN" altLang="en-US" sz="1800">
                <a:solidFill>
                  <a:srgbClr val="080808"/>
                </a:solidFill>
                <a:latin typeface="Comic Sans MS" panose="030F0702030302020204" pitchFamily="66" charset="0"/>
                <a:ea typeface="华文新魏" panose="02010800040101010101" pitchFamily="2" charset="-122"/>
              </a:rPr>
              <a:t>中指定的信号</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8446" name="Line 15"/>
          <p:cNvSpPr>
            <a:spLocks noChangeShapeType="1"/>
          </p:cNvSpPr>
          <p:nvPr/>
        </p:nvSpPr>
        <p:spPr bwMode="auto">
          <a:xfrm flipH="1">
            <a:off x="3492500" y="5233988"/>
            <a:ext cx="1727200" cy="15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7" name="Text Box 16"/>
          <p:cNvSpPr txBox="1">
            <a:spLocks noChangeArrowheads="1"/>
          </p:cNvSpPr>
          <p:nvPr/>
        </p:nvSpPr>
        <p:spPr bwMode="auto">
          <a:xfrm>
            <a:off x="5075238" y="3794125"/>
            <a:ext cx="1800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数据报准备好</a:t>
            </a:r>
            <a:endParaRPr lang="zh-CN" altLang="en-US" sz="1800">
              <a:solidFill>
                <a:srgbClr val="080808"/>
              </a:solidFill>
              <a:latin typeface="Comic Sans MS" panose="030F0702030302020204" pitchFamily="66" charset="0"/>
              <a:ea typeface="华文新魏" panose="02010800040101010101" pitchFamily="2" charset="-122"/>
            </a:endParaRPr>
          </a:p>
          <a:p>
            <a:pPr algn="ctr"/>
            <a:r>
              <a:rPr lang="zh-CN" altLang="en-US" sz="1800">
                <a:solidFill>
                  <a:srgbClr val="080808"/>
                </a:solidFill>
                <a:latin typeface="Comic Sans MS" panose="030F0702030302020204" pitchFamily="66" charset="0"/>
                <a:ea typeface="华文新魏" panose="02010800040101010101" pitchFamily="2" charset="-122"/>
              </a:rPr>
              <a:t>拷贝数据报</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8448" name="Line 17"/>
          <p:cNvSpPr>
            <a:spLocks noChangeShapeType="1"/>
          </p:cNvSpPr>
          <p:nvPr/>
        </p:nvSpPr>
        <p:spPr bwMode="auto">
          <a:xfrm>
            <a:off x="5940425" y="3001963"/>
            <a:ext cx="0" cy="8651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9" name="Line 18"/>
          <p:cNvSpPr>
            <a:spLocks noChangeShapeType="1"/>
          </p:cNvSpPr>
          <p:nvPr/>
        </p:nvSpPr>
        <p:spPr bwMode="auto">
          <a:xfrm>
            <a:off x="5940425" y="4370388"/>
            <a:ext cx="0" cy="7207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0" name="AutoShape 19"/>
          <p:cNvSpPr/>
          <p:nvPr/>
        </p:nvSpPr>
        <p:spPr bwMode="auto">
          <a:xfrm>
            <a:off x="6732588" y="2859088"/>
            <a:ext cx="71437" cy="1150937"/>
          </a:xfrm>
          <a:prstGeom prst="rightBrace">
            <a:avLst>
              <a:gd name="adj1" fmla="val 134111"/>
              <a:gd name="adj2" fmla="val 511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1" name="AutoShape 20"/>
          <p:cNvSpPr/>
          <p:nvPr/>
        </p:nvSpPr>
        <p:spPr bwMode="auto">
          <a:xfrm>
            <a:off x="6732588" y="4298950"/>
            <a:ext cx="71437" cy="935038"/>
          </a:xfrm>
          <a:prstGeom prst="rightBrace">
            <a:avLst>
              <a:gd name="adj1" fmla="val 108954"/>
              <a:gd name="adj2" fmla="val 511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2" name="Text Box 21"/>
          <p:cNvSpPr txBox="1">
            <a:spLocks noChangeArrowheads="1"/>
          </p:cNvSpPr>
          <p:nvPr/>
        </p:nvSpPr>
        <p:spPr bwMode="auto">
          <a:xfrm>
            <a:off x="6856413" y="3224213"/>
            <a:ext cx="1098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等待数据</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8453" name="Text Box 22"/>
          <p:cNvSpPr txBox="1">
            <a:spLocks noChangeArrowheads="1"/>
          </p:cNvSpPr>
          <p:nvPr/>
        </p:nvSpPr>
        <p:spPr bwMode="auto">
          <a:xfrm>
            <a:off x="6875463" y="4441825"/>
            <a:ext cx="1800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将数据从内核拷贝到用户空间</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8454" name="Line 23"/>
          <p:cNvSpPr>
            <a:spLocks noChangeShapeType="1"/>
          </p:cNvSpPr>
          <p:nvPr/>
        </p:nvSpPr>
        <p:spPr bwMode="auto">
          <a:xfrm flipH="1">
            <a:off x="3348038" y="3003550"/>
            <a:ext cx="16557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5" name="Text Box 24"/>
          <p:cNvSpPr txBox="1">
            <a:spLocks noChangeArrowheads="1"/>
          </p:cNvSpPr>
          <p:nvPr/>
        </p:nvSpPr>
        <p:spPr bwMode="auto">
          <a:xfrm>
            <a:off x="3419475" y="2930525"/>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返回</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12313" name="Rectangle 25"/>
          <p:cNvSpPr>
            <a:spLocks noRot="1" noChangeArrowheads="1"/>
          </p:cNvSpPr>
          <p:nvPr/>
        </p:nvSpPr>
        <p:spPr bwMode="auto">
          <a:xfrm>
            <a:off x="395288" y="5445125"/>
            <a:ext cx="854075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a:solidFill>
                  <a:schemeClr val="tx1"/>
                </a:solidFill>
                <a:latin typeface="Times New Roman" panose="02020603050405020304" pitchFamily="18" charset="0"/>
                <a:ea typeface="宋体" panose="02010600030101010101" pitchFamily="2" charset="-122"/>
              </a:defRPr>
            </a:lvl1pPr>
            <a:lvl2pPr>
              <a:defRPr sz="2000">
                <a:solidFill>
                  <a:schemeClr val="tx1"/>
                </a:solidFill>
                <a:latin typeface="Times New Roman" panose="02020603050405020304" pitchFamily="18" charset="0"/>
                <a:ea typeface="宋体" panose="02010600030101010101" pitchFamily="2" charset="-122"/>
              </a:defRPr>
            </a:lvl2pPr>
            <a:lvl3pPr>
              <a:defRPr sz="2000">
                <a:solidFill>
                  <a:schemeClr val="tx1"/>
                </a:solidFill>
                <a:latin typeface="Times New Roman" panose="02020603050405020304" pitchFamily="18" charset="0"/>
                <a:ea typeface="宋体" panose="02010600030101010101" pitchFamily="2" charset="-122"/>
              </a:defRPr>
            </a:lvl3pPr>
            <a:lvl4pPr>
              <a:defRPr sz="2000">
                <a:solidFill>
                  <a:schemeClr val="tx1"/>
                </a:solidFill>
                <a:latin typeface="Times New Roman" panose="02020603050405020304" pitchFamily="18" charset="0"/>
                <a:ea typeface="宋体" panose="02010600030101010101" pitchFamily="2" charset="-122"/>
              </a:defRPr>
            </a:lvl4pPr>
            <a:lvl5pPr>
              <a:defRPr sz="2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20000"/>
              </a:spcBef>
              <a:buFontTx/>
              <a:buChar char="•"/>
            </a:pPr>
            <a:r>
              <a:rPr lang="zh-CN" altLang="en-US" sz="2600">
                <a:ea typeface="微软雅黑 Light" panose="020B0502040204020203" pitchFamily="34" charset="-122"/>
              </a:rPr>
              <a:t>异步</a:t>
            </a:r>
            <a:r>
              <a:rPr lang="en-US" altLang="zh-CN" sz="2600">
                <a:ea typeface="微软雅黑 Light" panose="020B0502040204020203" pitchFamily="34" charset="-122"/>
              </a:rPr>
              <a:t>i/o</a:t>
            </a:r>
            <a:r>
              <a:rPr lang="zh-CN" altLang="en-US" sz="2600">
                <a:ea typeface="微软雅黑 Light" panose="020B0502040204020203" pitchFamily="34" charset="-122"/>
              </a:rPr>
              <a:t>让与信号驱动</a:t>
            </a:r>
            <a:r>
              <a:rPr lang="en-US" altLang="zh-CN" sz="2600">
                <a:ea typeface="微软雅黑 Light" panose="020B0502040204020203" pitchFamily="34" charset="-122"/>
              </a:rPr>
              <a:t>i/o</a:t>
            </a:r>
            <a:r>
              <a:rPr lang="zh-CN" altLang="en-US" sz="2600">
                <a:ea typeface="微软雅黑 Light" panose="020B0502040204020203" pitchFamily="34" charset="-122"/>
              </a:rPr>
              <a:t>的</a:t>
            </a:r>
            <a:r>
              <a:rPr lang="zh-CN" altLang="en-US" sz="2600" b="1">
                <a:solidFill>
                  <a:srgbClr val="FF0066"/>
                </a:solidFill>
                <a:ea typeface="微软雅黑 Light" panose="020B0502040204020203" pitchFamily="34" charset="-122"/>
              </a:rPr>
              <a:t>区别</a:t>
            </a:r>
            <a:r>
              <a:rPr lang="zh-CN" altLang="en-US" sz="2600">
                <a:ea typeface="微软雅黑 Light" panose="020B0502040204020203" pitchFamily="34" charset="-122"/>
              </a:rPr>
              <a:t>是：</a:t>
            </a:r>
            <a:endParaRPr lang="zh-CN" altLang="en-US" sz="2600">
              <a:ea typeface="微软雅黑 Light" panose="020B0502040204020203" pitchFamily="34" charset="-122"/>
            </a:endParaRPr>
          </a:p>
          <a:p>
            <a:pPr>
              <a:lnSpc>
                <a:spcPct val="110000"/>
              </a:lnSpc>
              <a:spcBef>
                <a:spcPct val="20000"/>
              </a:spcBef>
            </a:pPr>
            <a:r>
              <a:rPr lang="zh-CN" altLang="en-US" sz="2600">
                <a:ea typeface="微软雅黑 Light" panose="020B0502040204020203" pitchFamily="34" charset="-122"/>
              </a:rPr>
              <a:t>          后者是由内核通知我们何时可以启动一个</a:t>
            </a:r>
            <a:r>
              <a:rPr lang="en-US" altLang="zh-CN" sz="2600">
                <a:ea typeface="微软雅黑 Light" panose="020B0502040204020203" pitchFamily="34" charset="-122"/>
              </a:rPr>
              <a:t>i/o</a:t>
            </a:r>
            <a:r>
              <a:rPr lang="zh-CN" altLang="en-US" sz="2600">
                <a:ea typeface="微软雅黑 Light" panose="020B0502040204020203" pitchFamily="34" charset="-122"/>
              </a:rPr>
              <a:t>操作，而前者是由内核通知我们</a:t>
            </a:r>
            <a:r>
              <a:rPr lang="en-US" altLang="zh-CN" sz="2600">
                <a:ea typeface="微软雅黑 Light" panose="020B0502040204020203" pitchFamily="34" charset="-122"/>
              </a:rPr>
              <a:t>i/o</a:t>
            </a:r>
            <a:r>
              <a:rPr lang="zh-CN" altLang="en-US" sz="2600">
                <a:ea typeface="微软雅黑 Light" panose="020B0502040204020203" pitchFamily="34" charset="-122"/>
              </a:rPr>
              <a:t>操作何时完成。</a:t>
            </a:r>
            <a:endParaRPr lang="zh-CN" altLang="en-US" sz="2600">
              <a:ea typeface="微软雅黑 Light" panose="020B0502040204020203" pitchFamily="34" charset="-122"/>
            </a:endParaRPr>
          </a:p>
        </p:txBody>
      </p:sp>
      <p:sp>
        <p:nvSpPr>
          <p:cNvPr id="50225" name="AutoShape 1073"/>
          <p:cNvSpPr>
            <a:spLocks noChangeArrowheads="1"/>
          </p:cNvSpPr>
          <p:nvPr/>
        </p:nvSpPr>
        <p:spPr bwMode="auto">
          <a:xfrm>
            <a:off x="2915443" y="839788"/>
            <a:ext cx="5832475" cy="2159000"/>
          </a:xfrm>
          <a:prstGeom prst="wedgeRoundRectCallout">
            <a:avLst>
              <a:gd name="adj1" fmla="val -22810"/>
              <a:gd name="adj2" fmla="val 64032"/>
              <a:gd name="adj3" fmla="val 16667"/>
            </a:avLst>
          </a:prstGeom>
          <a:solidFill>
            <a:schemeClr val="accent1"/>
          </a:solidFill>
          <a:ln w="9525">
            <a:solidFill>
              <a:schemeClr val="tx1"/>
            </a:solidFill>
            <a:miter lim="800000"/>
          </a:ln>
        </p:spPr>
        <p:txBody>
          <a:bodyPr/>
          <a:lstStyle/>
          <a:p>
            <a:pPr>
              <a:spcBef>
                <a:spcPct val="30000"/>
              </a:spcBef>
            </a:pPr>
            <a:r>
              <a:rPr lang="zh-CN" altLang="en-US" sz="1800"/>
              <a:t>我们调用</a:t>
            </a:r>
            <a:r>
              <a:rPr lang="en-US" altLang="zh-CN" sz="1800"/>
              <a:t>aio_read,</a:t>
            </a:r>
            <a:r>
              <a:rPr lang="zh-CN" altLang="en-US" sz="1800"/>
              <a:t>给内核传递描述字、缓冲区指针、缓冲区大小、文件偏移等，并告诉内核当整个操作完成时通知我们，此系统调用立即返回，我们的进程不阻塞于等待</a:t>
            </a:r>
            <a:r>
              <a:rPr lang="en-US" altLang="zh-CN" sz="1800"/>
              <a:t>I/O</a:t>
            </a:r>
            <a:r>
              <a:rPr lang="zh-CN" altLang="en-US" sz="1800"/>
              <a:t>操作的完成，我们假设要求内核在操作完成时产生一个信号，此信号直到数据已拷贝到应用程序缓冲区才产生，这一点是于信号驱动</a:t>
            </a:r>
            <a:r>
              <a:rPr lang="en-US" altLang="zh-CN" sz="1800"/>
              <a:t>I/O</a:t>
            </a:r>
            <a:r>
              <a:rPr lang="zh-CN" altLang="en-US" sz="1800"/>
              <a:t>模型不同的。</a:t>
            </a:r>
            <a:endParaRPr lang="zh-CN" altLang="en-US" sz="1800"/>
          </a:p>
          <a:p>
            <a:pPr>
              <a:spcBef>
                <a:spcPct val="30000"/>
              </a:spcBef>
            </a:pPr>
            <a:endParaRPr lang="zh-CN" altLang="en-US" sz="1800"/>
          </a:p>
          <a:p>
            <a:pPr algn="ctr"/>
            <a:endParaRPr lang="en-US" altLang="zh-CN" sz="1800"/>
          </a:p>
        </p:txBody>
      </p:sp>
    </p:spTree>
  </p:cSld>
  <p:clrMapOvr>
    <a:masterClrMapping/>
  </p:clrMapOvr>
  <p:transition spd="slow">
    <p:wipe dir="r"/>
    <p:sndAc>
      <p:end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313">
                                            <p:txEl>
                                              <p:pRg st="1" end="1"/>
                                            </p:txEl>
                                          </p:spTgt>
                                        </p:tgtEl>
                                        <p:attrNameLst>
                                          <p:attrName>style.visibility</p:attrName>
                                        </p:attrNameLst>
                                      </p:cBhvr>
                                      <p:to>
                                        <p:strVal val="visible"/>
                                      </p:to>
                                    </p:set>
                                    <p:animEffect transition="in" filter="blinds(horizontal)">
                                      <p:cBhvr>
                                        <p:cTn id="7" dur="500"/>
                                        <p:tgtEl>
                                          <p:spTgt spid="1231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225"/>
                                        </p:tgtEl>
                                        <p:attrNameLst>
                                          <p:attrName>style.visibility</p:attrName>
                                        </p:attrNameLst>
                                      </p:cBhvr>
                                      <p:to>
                                        <p:strVal val="visible"/>
                                      </p:to>
                                    </p:set>
                                    <p:animEffect transition="in" filter="blinds(horizontal)">
                                      <p:cBhvr>
                                        <p:cTn id="12" dur="500"/>
                                        <p:tgtEl>
                                          <p:spTgt spid="5022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1" nodeType="clickEffect">
                                  <p:stCondLst>
                                    <p:cond delay="0"/>
                                  </p:stCondLst>
                                  <p:childTnLst>
                                    <p:animEffect transition="out" filter="blinds(horizontal)">
                                      <p:cBhvr>
                                        <p:cTn id="16" dur="500"/>
                                        <p:tgtEl>
                                          <p:spTgt spid="50225"/>
                                        </p:tgtEl>
                                      </p:cBhvr>
                                    </p:animEffect>
                                    <p:set>
                                      <p:cBhvr>
                                        <p:cTn id="17" dur="1" fill="hold">
                                          <p:stCondLst>
                                            <p:cond delay="499"/>
                                          </p:stCondLst>
                                        </p:cTn>
                                        <p:tgtEl>
                                          <p:spTgt spid="502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25" grpId="0" animBg="1"/>
      <p:bldP spid="50225"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a:xfrm>
            <a:off x="762000" y="304800"/>
            <a:ext cx="7772400" cy="7620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zh-CN" altLang="en-US" sz="3600">
                <a:latin typeface="Tahoma" panose="020B0604030504040204" pitchFamily="34" charset="0"/>
                <a:ea typeface="微软雅黑" panose="020B0503020204020204" pitchFamily="34" charset="-122"/>
              </a:rPr>
              <a:t>五个</a:t>
            </a:r>
            <a:r>
              <a:rPr lang="en-US" altLang="zh-CN" sz="3600">
                <a:latin typeface="Tahoma" panose="020B0604030504040204" pitchFamily="34" charset="0"/>
                <a:ea typeface="微软雅黑" panose="020B0503020204020204" pitchFamily="34" charset="-122"/>
              </a:rPr>
              <a:t>I/O</a:t>
            </a:r>
            <a:r>
              <a:rPr lang="zh-CN" altLang="en-US" sz="3600">
                <a:latin typeface="Tahoma" panose="020B0604030504040204" pitchFamily="34" charset="0"/>
                <a:ea typeface="微软雅黑" panose="020B0503020204020204" pitchFamily="34" charset="-122"/>
              </a:rPr>
              <a:t>模型的比较</a:t>
            </a:r>
            <a:endParaRPr lang="zh-CN" altLang="en-US" sz="3600">
              <a:latin typeface="Tahoma" panose="020B0604030504040204" pitchFamily="34" charset="0"/>
              <a:ea typeface="微软雅黑" panose="020B0503020204020204" pitchFamily="34" charset="-122"/>
            </a:endParaRPr>
          </a:p>
        </p:txBody>
      </p:sp>
      <p:graphicFrame>
        <p:nvGraphicFramePr>
          <p:cNvPr id="13346" name="Group 34"/>
          <p:cNvGraphicFramePr>
            <a:graphicFrameLocks noGrp="1"/>
          </p:cNvGraphicFramePr>
          <p:nvPr>
            <p:ph idx="4294967295"/>
          </p:nvPr>
        </p:nvGraphicFramePr>
        <p:xfrm>
          <a:off x="762000" y="1143000"/>
          <a:ext cx="5849938" cy="5230813"/>
        </p:xfrm>
        <a:graphic>
          <a:graphicData uri="http://schemas.openxmlformats.org/drawingml/2006/table">
            <a:tbl>
              <a:tblPr/>
              <a:tblGrid>
                <a:gridCol w="1169988"/>
                <a:gridCol w="1169987"/>
                <a:gridCol w="1169988"/>
                <a:gridCol w="1169987"/>
                <a:gridCol w="1169988"/>
              </a:tblGrid>
              <a:tr h="82303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阻塞</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i/o</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4" marB="4572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非阻塞</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i/o</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i/o</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复用</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信号驱动</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i/o</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异步</a:t>
                      </a: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i/o</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4" marB="4572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40778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发起</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阻</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塞</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完成</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4" marB="4572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检查</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检查</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检查</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检查</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检查</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检查</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阻</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塞</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完成</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检查</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阻</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塞</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就绪发起</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阻</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塞</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完成</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endPar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通知发起</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阻</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塞</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8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完成</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发起</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完成</a:t>
                      </a:r>
                      <a:endPar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4" marB="4572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0502" name="Line 23"/>
          <p:cNvSpPr>
            <a:spLocks noChangeShapeType="1"/>
          </p:cNvSpPr>
          <p:nvPr/>
        </p:nvSpPr>
        <p:spPr bwMode="auto">
          <a:xfrm>
            <a:off x="900113" y="2708275"/>
            <a:ext cx="0" cy="295275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3" name="Line 24"/>
          <p:cNvSpPr>
            <a:spLocks noChangeShapeType="1"/>
          </p:cNvSpPr>
          <p:nvPr/>
        </p:nvSpPr>
        <p:spPr bwMode="auto">
          <a:xfrm>
            <a:off x="2195513" y="4581525"/>
            <a:ext cx="0" cy="122396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4" name="Line 25"/>
          <p:cNvSpPr>
            <a:spLocks noChangeShapeType="1"/>
          </p:cNvSpPr>
          <p:nvPr/>
        </p:nvSpPr>
        <p:spPr bwMode="auto">
          <a:xfrm>
            <a:off x="3492500" y="2636838"/>
            <a:ext cx="0" cy="1368425"/>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5" name="Line 26"/>
          <p:cNvSpPr>
            <a:spLocks noChangeShapeType="1"/>
          </p:cNvSpPr>
          <p:nvPr/>
        </p:nvSpPr>
        <p:spPr bwMode="auto">
          <a:xfrm>
            <a:off x="3492500" y="4365625"/>
            <a:ext cx="0" cy="1368425"/>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6" name="Line 27"/>
          <p:cNvSpPr>
            <a:spLocks noChangeShapeType="1"/>
          </p:cNvSpPr>
          <p:nvPr/>
        </p:nvSpPr>
        <p:spPr bwMode="auto">
          <a:xfrm>
            <a:off x="4787900" y="4365625"/>
            <a:ext cx="0" cy="143986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7" name="AutoShape 28"/>
          <p:cNvSpPr/>
          <p:nvPr/>
        </p:nvSpPr>
        <p:spPr bwMode="auto">
          <a:xfrm>
            <a:off x="6877050" y="2276475"/>
            <a:ext cx="73025" cy="2089150"/>
          </a:xfrm>
          <a:prstGeom prst="rightBrace">
            <a:avLst>
              <a:gd name="adj1" fmla="val 238141"/>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508" name="AutoShape 29"/>
          <p:cNvSpPr/>
          <p:nvPr/>
        </p:nvSpPr>
        <p:spPr bwMode="auto">
          <a:xfrm>
            <a:off x="6877050" y="4437063"/>
            <a:ext cx="142875" cy="1800225"/>
          </a:xfrm>
          <a:prstGeom prst="rightBrace">
            <a:avLst>
              <a:gd name="adj1" fmla="val 105000"/>
              <a:gd name="adj2" fmla="val 51676"/>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509" name="Text Box 30"/>
          <p:cNvSpPr txBox="1">
            <a:spLocks noChangeArrowheads="1"/>
          </p:cNvSpPr>
          <p:nvPr/>
        </p:nvSpPr>
        <p:spPr bwMode="auto">
          <a:xfrm>
            <a:off x="7072313" y="3030538"/>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latin typeface="Arial" panose="020B0604020202020204" pitchFamily="34" charset="0"/>
                <a:ea typeface="华文新魏" panose="02010800040101010101" pitchFamily="2" charset="-122"/>
              </a:rPr>
              <a:t>等待数据</a:t>
            </a:r>
            <a:endParaRPr lang="zh-CN" altLang="en-US" sz="2400">
              <a:latin typeface="Arial" panose="020B0604020202020204" pitchFamily="34" charset="0"/>
              <a:ea typeface="华文新魏" panose="02010800040101010101" pitchFamily="2" charset="-122"/>
            </a:endParaRPr>
          </a:p>
        </p:txBody>
      </p:sp>
      <p:sp>
        <p:nvSpPr>
          <p:cNvPr id="20510" name="Text Box 31"/>
          <p:cNvSpPr txBox="1">
            <a:spLocks noChangeArrowheads="1"/>
          </p:cNvSpPr>
          <p:nvPr/>
        </p:nvSpPr>
        <p:spPr bwMode="auto">
          <a:xfrm>
            <a:off x="7164388" y="4797425"/>
            <a:ext cx="1979612"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a:latin typeface="Arial" panose="020B0604020202020204" pitchFamily="34" charset="0"/>
                <a:ea typeface="华文新魏" panose="02010800040101010101" pitchFamily="2" charset="-122"/>
              </a:rPr>
              <a:t>将数据从内核拷贝到用户空间</a:t>
            </a:r>
            <a:endParaRPr lang="zh-CN" altLang="en-US" sz="2400">
              <a:latin typeface="Arial" panose="020B0604020202020204" pitchFamily="34" charset="0"/>
              <a:ea typeface="华文新魏" panose="02010800040101010101" pitchFamily="2" charset="-122"/>
            </a:endParaRPr>
          </a:p>
        </p:txBody>
      </p:sp>
    </p:spTree>
  </p:cSld>
  <p:clrMapOvr>
    <a:masterClrMapping/>
  </p:clrMapOvr>
  <p:transition spd="slow">
    <p:wipe dir="r"/>
    <p:sndAc>
      <p:end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685800" y="146266"/>
            <a:ext cx="7772400" cy="11430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zh-CN" altLang="en-US" sz="3600">
                <a:latin typeface="Tahoma" panose="020B0604030504040204" pitchFamily="34" charset="0"/>
                <a:ea typeface="微软雅黑" panose="020B0503020204020204" pitchFamily="34" charset="-122"/>
              </a:rPr>
              <a:t>同步</a:t>
            </a:r>
            <a:r>
              <a:rPr lang="en-US" altLang="zh-CN" sz="3600">
                <a:latin typeface="Tahoma" panose="020B0604030504040204" pitchFamily="34" charset="0"/>
                <a:ea typeface="微软雅黑" panose="020B0503020204020204" pitchFamily="34" charset="-122"/>
              </a:rPr>
              <a:t>i/o</a:t>
            </a:r>
            <a:r>
              <a:rPr lang="zh-CN" altLang="en-US" sz="3600">
                <a:latin typeface="Tahoma" panose="020B0604030504040204" pitchFamily="34" charset="0"/>
                <a:ea typeface="微软雅黑" panose="020B0503020204020204" pitchFamily="34" charset="-122"/>
              </a:rPr>
              <a:t>与异步</a:t>
            </a:r>
            <a:r>
              <a:rPr lang="en-US" altLang="zh-CN" sz="3600">
                <a:latin typeface="Tahoma" panose="020B0604030504040204" pitchFamily="34" charset="0"/>
                <a:ea typeface="微软雅黑" panose="020B0503020204020204" pitchFamily="34" charset="-122"/>
              </a:rPr>
              <a:t>i/o</a:t>
            </a:r>
            <a:endParaRPr lang="en-US" altLang="zh-CN" sz="3600">
              <a:latin typeface="Tahoma" panose="020B0604030504040204" pitchFamily="34" charset="0"/>
              <a:ea typeface="微软雅黑" panose="020B0503020204020204" pitchFamily="34" charset="-122"/>
            </a:endParaRPr>
          </a:p>
        </p:txBody>
      </p:sp>
      <p:sp>
        <p:nvSpPr>
          <p:cNvPr id="21506" name="Rectangle 3"/>
          <p:cNvSpPr>
            <a:spLocks noGrp="1" noChangeArrowheads="1"/>
          </p:cNvSpPr>
          <p:nvPr>
            <p:ph idx="1"/>
          </p:nvPr>
        </p:nvSpPr>
        <p:spPr>
          <a:xfrm>
            <a:off x="695146" y="1289266"/>
            <a:ext cx="7772400" cy="4760913"/>
          </a:xfrm>
        </p:spPr>
        <p:txBody>
          <a:bodyPr/>
          <a:lstStyle/>
          <a:p>
            <a:pPr eaLnBrk="1" hangingPunct="1">
              <a:lnSpc>
                <a:spcPct val="120000"/>
              </a:lnSpc>
            </a:pPr>
            <a:r>
              <a:rPr lang="en-US" altLang="zh-CN" sz="2800">
                <a:latin typeface="Tahoma" panose="020B0604030504040204" pitchFamily="34" charset="0"/>
                <a:ea typeface="微软雅黑" panose="020B0503020204020204" pitchFamily="34" charset="-122"/>
              </a:rPr>
              <a:t>Posix</a:t>
            </a:r>
            <a:r>
              <a:rPr lang="zh-CN" altLang="en-US" sz="2800">
                <a:latin typeface="Tahoma" panose="020B0604030504040204" pitchFamily="34" charset="0"/>
                <a:ea typeface="微软雅黑" panose="020B0503020204020204" pitchFamily="34" charset="-122"/>
              </a:rPr>
              <a:t>定义这两个术语如下：</a:t>
            </a:r>
            <a:endParaRPr lang="zh-CN" altLang="en-US" sz="2800">
              <a:latin typeface="Tahoma" panose="020B0604030504040204" pitchFamily="34" charset="0"/>
              <a:ea typeface="微软雅黑" panose="020B0503020204020204" pitchFamily="34" charset="-122"/>
            </a:endParaRPr>
          </a:p>
          <a:p>
            <a:pPr lvl="1" eaLnBrk="1" hangingPunct="1">
              <a:lnSpc>
                <a:spcPct val="120000"/>
              </a:lnSpc>
            </a:pPr>
            <a:r>
              <a:rPr lang="zh-CN" altLang="en-US" sz="2400">
                <a:latin typeface="Tahoma" panose="020B0604030504040204" pitchFamily="34" charset="0"/>
                <a:ea typeface="微软雅黑" panose="020B0503020204020204" pitchFamily="34" charset="-122"/>
              </a:rPr>
              <a:t>同步</a:t>
            </a:r>
            <a:r>
              <a:rPr lang="en-US" altLang="zh-CN" sz="2400">
                <a:latin typeface="Tahoma" panose="020B0604030504040204" pitchFamily="34" charset="0"/>
                <a:ea typeface="微软雅黑" panose="020B0503020204020204" pitchFamily="34" charset="-122"/>
              </a:rPr>
              <a:t>i/o</a:t>
            </a:r>
            <a:r>
              <a:rPr lang="zh-CN" altLang="en-US" sz="2400">
                <a:latin typeface="Tahoma" panose="020B0604030504040204" pitchFamily="34" charset="0"/>
                <a:ea typeface="微软雅黑" panose="020B0503020204020204" pitchFamily="34" charset="-122"/>
              </a:rPr>
              <a:t>操作引起请求进程阻塞，直到</a:t>
            </a:r>
            <a:r>
              <a:rPr lang="en-US" altLang="zh-CN" sz="2400">
                <a:latin typeface="Tahoma" panose="020B0604030504040204" pitchFamily="34" charset="0"/>
                <a:ea typeface="微软雅黑" panose="020B0503020204020204" pitchFamily="34" charset="-122"/>
              </a:rPr>
              <a:t>i/o</a:t>
            </a:r>
            <a:r>
              <a:rPr lang="zh-CN" altLang="en-US" sz="2400">
                <a:latin typeface="Tahoma" panose="020B0604030504040204" pitchFamily="34" charset="0"/>
                <a:ea typeface="微软雅黑" panose="020B0503020204020204" pitchFamily="34" charset="-122"/>
              </a:rPr>
              <a:t>操作完成；</a:t>
            </a:r>
            <a:endParaRPr lang="zh-CN" altLang="en-US" sz="2400">
              <a:latin typeface="Tahoma" panose="020B0604030504040204" pitchFamily="34" charset="0"/>
              <a:ea typeface="微软雅黑" panose="020B0503020204020204" pitchFamily="34" charset="-122"/>
            </a:endParaRPr>
          </a:p>
          <a:p>
            <a:pPr lvl="1" eaLnBrk="1" hangingPunct="1">
              <a:lnSpc>
                <a:spcPct val="120000"/>
              </a:lnSpc>
            </a:pPr>
            <a:r>
              <a:rPr lang="zh-CN" altLang="en-US" sz="2400">
                <a:latin typeface="Tahoma" panose="020B0604030504040204" pitchFamily="34" charset="0"/>
                <a:ea typeface="微软雅黑" panose="020B0503020204020204" pitchFamily="34" charset="-122"/>
              </a:rPr>
              <a:t>异步</a:t>
            </a:r>
            <a:r>
              <a:rPr lang="en-US" altLang="zh-CN" sz="2400">
                <a:latin typeface="Tahoma" panose="020B0604030504040204" pitchFamily="34" charset="0"/>
                <a:ea typeface="微软雅黑" panose="020B0503020204020204" pitchFamily="34" charset="-122"/>
              </a:rPr>
              <a:t>i/o</a:t>
            </a:r>
            <a:r>
              <a:rPr lang="zh-CN" altLang="en-US" sz="2400">
                <a:latin typeface="Tahoma" panose="020B0604030504040204" pitchFamily="34" charset="0"/>
                <a:ea typeface="微软雅黑" panose="020B0503020204020204" pitchFamily="34" charset="-122"/>
              </a:rPr>
              <a:t>操作不引起请求进程阻塞；</a:t>
            </a:r>
            <a:endParaRPr lang="zh-CN" altLang="en-US" sz="2400">
              <a:latin typeface="Tahoma" panose="020B0604030504040204" pitchFamily="34" charset="0"/>
              <a:ea typeface="微软雅黑" panose="020B0503020204020204" pitchFamily="34" charset="-122"/>
            </a:endParaRPr>
          </a:p>
          <a:p>
            <a:pPr lvl="1" eaLnBrk="1" hangingPunct="1">
              <a:lnSpc>
                <a:spcPct val="120000"/>
              </a:lnSpc>
            </a:pPr>
            <a:endParaRPr lang="zh-CN" altLang="en-US" sz="2400">
              <a:latin typeface="Tahoma" panose="020B0604030504040204" pitchFamily="34" charset="0"/>
              <a:ea typeface="微软雅黑" panose="020B0503020204020204" pitchFamily="34" charset="-122"/>
            </a:endParaRPr>
          </a:p>
          <a:p>
            <a:pPr eaLnBrk="1" hangingPunct="1">
              <a:lnSpc>
                <a:spcPct val="120000"/>
              </a:lnSpc>
            </a:pPr>
            <a:r>
              <a:rPr lang="zh-CN" altLang="en-US" sz="2800">
                <a:latin typeface="Tahoma" panose="020B0604030504040204" pitchFamily="34" charset="0"/>
                <a:ea typeface="微软雅黑" panose="020B0503020204020204" pitchFamily="34" charset="-122"/>
              </a:rPr>
              <a:t>上述</a:t>
            </a:r>
            <a:r>
              <a:rPr lang="en-US" altLang="zh-CN" sz="2800">
                <a:latin typeface="Tahoma" panose="020B0604030504040204" pitchFamily="34" charset="0"/>
                <a:ea typeface="微软雅黑" panose="020B0503020204020204" pitchFamily="34" charset="-122"/>
              </a:rPr>
              <a:t>i/o</a:t>
            </a:r>
            <a:r>
              <a:rPr lang="zh-CN" altLang="en-US" sz="2800">
                <a:latin typeface="Tahoma" panose="020B0604030504040204" pitchFamily="34" charset="0"/>
                <a:ea typeface="微软雅黑" panose="020B0503020204020204" pitchFamily="34" charset="-122"/>
              </a:rPr>
              <a:t>模型中，前四个模型：阻塞</a:t>
            </a:r>
            <a:r>
              <a:rPr lang="en-US" altLang="zh-CN" sz="2800">
                <a:latin typeface="Tahoma" panose="020B0604030504040204" pitchFamily="34" charset="0"/>
                <a:ea typeface="微软雅黑" panose="020B0503020204020204" pitchFamily="34" charset="-122"/>
              </a:rPr>
              <a:t>i/o</a:t>
            </a:r>
            <a:r>
              <a:rPr lang="zh-CN" altLang="en-US" sz="2800">
                <a:latin typeface="Tahoma" panose="020B0604030504040204" pitchFamily="34" charset="0"/>
                <a:ea typeface="微软雅黑" panose="020B0503020204020204" pitchFamily="34" charset="-122"/>
              </a:rPr>
              <a:t>模型、非阻塞</a:t>
            </a:r>
            <a:r>
              <a:rPr lang="en-US" altLang="zh-CN" sz="2800">
                <a:latin typeface="Tahoma" panose="020B0604030504040204" pitchFamily="34" charset="0"/>
                <a:ea typeface="微软雅黑" panose="020B0503020204020204" pitchFamily="34" charset="-122"/>
              </a:rPr>
              <a:t>i/o</a:t>
            </a:r>
            <a:r>
              <a:rPr lang="zh-CN" altLang="en-US" sz="2800">
                <a:latin typeface="Tahoma" panose="020B0604030504040204" pitchFamily="34" charset="0"/>
                <a:ea typeface="微软雅黑" panose="020B0503020204020204" pitchFamily="34" charset="-122"/>
              </a:rPr>
              <a:t>模型、</a:t>
            </a:r>
            <a:r>
              <a:rPr lang="en-US" altLang="zh-CN" sz="2800">
                <a:latin typeface="Tahoma" panose="020B0604030504040204" pitchFamily="34" charset="0"/>
                <a:ea typeface="微软雅黑" panose="020B0503020204020204" pitchFamily="34" charset="-122"/>
              </a:rPr>
              <a:t>i/o</a:t>
            </a:r>
            <a:r>
              <a:rPr lang="zh-CN" altLang="en-US" sz="2800">
                <a:latin typeface="Tahoma" panose="020B0604030504040204" pitchFamily="34" charset="0"/>
                <a:ea typeface="微软雅黑" panose="020B0503020204020204" pitchFamily="34" charset="-122"/>
              </a:rPr>
              <a:t>复用模型和信号驱动模型都是同步</a:t>
            </a:r>
            <a:r>
              <a:rPr lang="en-US" altLang="zh-CN" sz="2800">
                <a:latin typeface="Tahoma" panose="020B0604030504040204" pitchFamily="34" charset="0"/>
                <a:ea typeface="微软雅黑" panose="020B0503020204020204" pitchFamily="34" charset="-122"/>
              </a:rPr>
              <a:t>i/o</a:t>
            </a:r>
            <a:r>
              <a:rPr lang="zh-CN" altLang="en-US" sz="2800">
                <a:latin typeface="Tahoma" panose="020B0604030504040204" pitchFamily="34" charset="0"/>
                <a:ea typeface="微软雅黑" panose="020B0503020204020204" pitchFamily="34" charset="-122"/>
              </a:rPr>
              <a:t>模型，因为真正的</a:t>
            </a:r>
            <a:r>
              <a:rPr lang="en-US" altLang="zh-CN" sz="2800">
                <a:latin typeface="Tahoma" panose="020B0604030504040204" pitchFamily="34" charset="0"/>
                <a:ea typeface="微软雅黑" panose="020B0503020204020204" pitchFamily="34" charset="-122"/>
              </a:rPr>
              <a:t>i/o</a:t>
            </a:r>
            <a:r>
              <a:rPr lang="zh-CN" altLang="en-US" sz="2800">
                <a:latin typeface="Tahoma" panose="020B0604030504040204" pitchFamily="34" charset="0"/>
                <a:ea typeface="微软雅黑" panose="020B0503020204020204" pitchFamily="34" charset="-122"/>
              </a:rPr>
              <a:t>操作（</a:t>
            </a:r>
            <a:r>
              <a:rPr lang="en-US" altLang="zh-CN" sz="2800">
                <a:latin typeface="Tahoma" panose="020B0604030504040204" pitchFamily="34" charset="0"/>
                <a:ea typeface="微软雅黑" panose="020B0503020204020204" pitchFamily="34" charset="-122"/>
              </a:rPr>
              <a:t>recvfrom</a:t>
            </a:r>
            <a:r>
              <a:rPr lang="zh-CN" altLang="en-US" sz="2800">
                <a:latin typeface="Tahoma" panose="020B0604030504040204" pitchFamily="34" charset="0"/>
                <a:ea typeface="微软雅黑" panose="020B0503020204020204" pitchFamily="34" charset="-122"/>
              </a:rPr>
              <a:t>）阻塞进程，</a:t>
            </a:r>
            <a:r>
              <a:rPr lang="zh-CN" altLang="en-US" sz="2800" b="1">
                <a:solidFill>
                  <a:srgbClr val="0070C0"/>
                </a:solidFill>
                <a:latin typeface="Tahoma" panose="020B0604030504040204" pitchFamily="34" charset="0"/>
                <a:ea typeface="微软雅黑" panose="020B0503020204020204" pitchFamily="34" charset="-122"/>
              </a:rPr>
              <a:t>只有异步</a:t>
            </a:r>
            <a:r>
              <a:rPr lang="en-US" altLang="zh-CN" sz="2800" b="1">
                <a:solidFill>
                  <a:srgbClr val="0070C0"/>
                </a:solidFill>
                <a:latin typeface="Tahoma" panose="020B0604030504040204" pitchFamily="34" charset="0"/>
                <a:ea typeface="微软雅黑" panose="020B0503020204020204" pitchFamily="34" charset="-122"/>
              </a:rPr>
              <a:t>i/o</a:t>
            </a:r>
            <a:r>
              <a:rPr lang="zh-CN" altLang="en-US" sz="2800" b="1">
                <a:solidFill>
                  <a:srgbClr val="0070C0"/>
                </a:solidFill>
                <a:latin typeface="Tahoma" panose="020B0604030504040204" pitchFamily="34" charset="0"/>
                <a:ea typeface="微软雅黑" panose="020B0503020204020204" pitchFamily="34" charset="-122"/>
              </a:rPr>
              <a:t>模型与此异步</a:t>
            </a:r>
            <a:r>
              <a:rPr lang="en-US" altLang="zh-CN" sz="2800" b="1">
                <a:solidFill>
                  <a:srgbClr val="0070C0"/>
                </a:solidFill>
                <a:latin typeface="Tahoma" panose="020B0604030504040204" pitchFamily="34" charset="0"/>
                <a:ea typeface="微软雅黑" panose="020B0503020204020204" pitchFamily="34" charset="-122"/>
              </a:rPr>
              <a:t>i/o</a:t>
            </a:r>
            <a:r>
              <a:rPr lang="zh-CN" altLang="en-US" sz="2800" b="1">
                <a:solidFill>
                  <a:srgbClr val="0070C0"/>
                </a:solidFill>
                <a:latin typeface="Tahoma" panose="020B0604030504040204" pitchFamily="34" charset="0"/>
                <a:ea typeface="微软雅黑" panose="020B0503020204020204" pitchFamily="34" charset="-122"/>
              </a:rPr>
              <a:t>定义相匹配</a:t>
            </a:r>
            <a:r>
              <a:rPr lang="zh-CN" altLang="en-US" sz="2800">
                <a:latin typeface="Tahoma" panose="020B0604030504040204" pitchFamily="34" charset="0"/>
                <a:ea typeface="微软雅黑" panose="020B0503020204020204" pitchFamily="34" charset="-122"/>
              </a:rPr>
              <a:t>。</a:t>
            </a:r>
            <a:endParaRPr lang="zh-CN" altLang="en-US" sz="2800">
              <a:latin typeface="Tahoma" panose="020B0604030504040204" pitchFamily="34" charset="0"/>
              <a:ea typeface="微软雅黑" panose="020B0503020204020204" pitchFamily="34" charset="-122"/>
            </a:endParaRPr>
          </a:p>
        </p:txBody>
      </p:sp>
    </p:spTree>
  </p:cSld>
  <p:clrMapOvr>
    <a:masterClrMapping/>
  </p:clrMapOvr>
  <p:transition spd="slow">
    <p:wipe dir="r"/>
    <p:sndAc>
      <p:end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en-US" altLang="zh-CN" sz="3600">
                <a:latin typeface="Tahoma" panose="020B0604030504040204" pitchFamily="34" charset="0"/>
                <a:ea typeface="微软雅黑" panose="020B0503020204020204" pitchFamily="34" charset="-122"/>
              </a:rPr>
              <a:t>I/O</a:t>
            </a:r>
            <a:r>
              <a:rPr lang="zh-CN" altLang="en-US" sz="3600">
                <a:latin typeface="Tahoma" panose="020B0604030504040204" pitchFamily="34" charset="0"/>
                <a:ea typeface="微软雅黑" panose="020B0503020204020204" pitchFamily="34" charset="-122"/>
              </a:rPr>
              <a:t>复用概述</a:t>
            </a:r>
            <a:endParaRPr lang="zh-CN" altLang="en-US" sz="3600">
              <a:latin typeface="Tahoma" panose="020B0604030504040204" pitchFamily="34" charset="0"/>
              <a:ea typeface="微软雅黑" panose="020B0503020204020204" pitchFamily="34" charset="-122"/>
            </a:endParaRPr>
          </a:p>
        </p:txBody>
      </p:sp>
      <p:sp>
        <p:nvSpPr>
          <p:cNvPr id="22530" name="Rectangle 3"/>
          <p:cNvSpPr>
            <a:spLocks noGrp="1" noChangeArrowheads="1"/>
          </p:cNvSpPr>
          <p:nvPr>
            <p:ph idx="1"/>
          </p:nvPr>
        </p:nvSpPr>
        <p:spPr>
          <a:xfrm>
            <a:off x="668212" y="1752600"/>
            <a:ext cx="7772400" cy="4471988"/>
          </a:xfrm>
        </p:spPr>
        <p:txBody>
          <a:bodyPr/>
          <a:lstStyle/>
          <a:p>
            <a:pPr eaLnBrk="1" hangingPunct="1">
              <a:lnSpc>
                <a:spcPct val="130000"/>
              </a:lnSpc>
            </a:pPr>
            <a:r>
              <a:rPr lang="zh-CN" altLang="en-US" sz="2400" b="1">
                <a:ea typeface="微软雅黑 Light" panose="020B0502040204020203" pitchFamily="34" charset="-122"/>
              </a:rPr>
              <a:t>问题</a:t>
            </a:r>
            <a:r>
              <a:rPr lang="zh-CN" altLang="en-US" sz="2400">
                <a:ea typeface="微软雅黑 Light" panose="020B0502040204020203" pitchFamily="34" charset="-122"/>
              </a:rPr>
              <a:t>：当客户应用程序处理</a:t>
            </a:r>
            <a:r>
              <a:rPr lang="zh-CN" altLang="en-US" sz="2400" b="1">
                <a:solidFill>
                  <a:srgbClr val="FF0000"/>
                </a:solidFill>
                <a:ea typeface="微软雅黑 Light" panose="020B0502040204020203" pitchFamily="34" charset="-122"/>
              </a:rPr>
              <a:t>两个或以上</a:t>
            </a:r>
            <a:r>
              <a:rPr lang="zh-CN" altLang="en-US" sz="2400">
                <a:ea typeface="微软雅黑 Light" panose="020B0502040204020203" pitchFamily="34" charset="-122"/>
              </a:rPr>
              <a:t>的描述字，如标准输入和</a:t>
            </a:r>
            <a:r>
              <a:rPr lang="en-US" altLang="zh-CN" sz="2400">
                <a:ea typeface="微软雅黑 Light" panose="020B0502040204020203" pitchFamily="34" charset="-122"/>
              </a:rPr>
              <a:t>tcp</a:t>
            </a:r>
            <a:r>
              <a:rPr lang="zh-CN" altLang="en-US" sz="2400">
                <a:ea typeface="微软雅黑 Light" panose="020B0502040204020203" pitchFamily="34" charset="-122"/>
              </a:rPr>
              <a:t>套接字，当客户程序被标准输入阻塞，而服务器又被杀死，尽管</a:t>
            </a:r>
            <a:r>
              <a:rPr lang="en-US" altLang="zh-CN" sz="2400">
                <a:ea typeface="微软雅黑 Light" panose="020B0502040204020203" pitchFamily="34" charset="-122"/>
              </a:rPr>
              <a:t>tcp</a:t>
            </a:r>
            <a:r>
              <a:rPr lang="zh-CN" altLang="en-US" sz="2400">
                <a:ea typeface="微软雅黑 Light" panose="020B0502040204020203" pitchFamily="34" charset="-122"/>
              </a:rPr>
              <a:t>服务器已给客户发送了</a:t>
            </a:r>
            <a:r>
              <a:rPr lang="en-US" altLang="zh-CN" sz="2400">
                <a:ea typeface="微软雅黑 Light" panose="020B0502040204020203" pitchFamily="34" charset="-122"/>
              </a:rPr>
              <a:t>FIN</a:t>
            </a:r>
            <a:r>
              <a:rPr lang="zh-CN" altLang="en-US" sz="2400">
                <a:ea typeface="微软雅黑 Light" panose="020B0502040204020203" pitchFamily="34" charset="-122"/>
              </a:rPr>
              <a:t>，但客户程序却不能读取（演示，包括迭代服务器的阻塞问题）。解决方法之一是用并发技术，但这种方法在有些情况下却显得极为昂贵。</a:t>
            </a:r>
            <a:endParaRPr lang="zh-CN" altLang="en-US" sz="2400">
              <a:ea typeface="微软雅黑 Light" panose="020B0502040204020203" pitchFamily="34" charset="-122"/>
            </a:endParaRPr>
          </a:p>
          <a:p>
            <a:pPr eaLnBrk="1" hangingPunct="1">
              <a:lnSpc>
                <a:spcPct val="130000"/>
              </a:lnSpc>
            </a:pPr>
            <a:r>
              <a:rPr lang="zh-CN" altLang="en-US" sz="2400">
                <a:ea typeface="微软雅黑 Light" panose="020B0502040204020203" pitchFamily="34" charset="-122"/>
              </a:rPr>
              <a:t>我们需要程序具有这样的能力：如果一个或多个</a:t>
            </a:r>
            <a:r>
              <a:rPr lang="en-US" altLang="zh-CN" sz="2400">
                <a:ea typeface="微软雅黑 Light" panose="020B0502040204020203" pitchFamily="34" charset="-122"/>
              </a:rPr>
              <a:t>i/o</a:t>
            </a:r>
            <a:r>
              <a:rPr lang="zh-CN" altLang="en-US" sz="2400">
                <a:ea typeface="微软雅黑 Light" panose="020B0502040204020203" pitchFamily="34" charset="-122"/>
              </a:rPr>
              <a:t>条件满足（如输入已准备好，或者描述字可以承接更多的输出）时，我们就被通知。这个能力就称为</a:t>
            </a:r>
            <a:r>
              <a:rPr lang="en-US" altLang="zh-CN" sz="2400">
                <a:ea typeface="微软雅黑 Light" panose="020B0502040204020203" pitchFamily="34" charset="-122"/>
              </a:rPr>
              <a:t>i/o</a:t>
            </a:r>
            <a:r>
              <a:rPr lang="zh-CN" altLang="en-US" sz="2400">
                <a:ea typeface="微软雅黑 Light" panose="020B0502040204020203" pitchFamily="34" charset="-122"/>
              </a:rPr>
              <a:t>复用。</a:t>
            </a:r>
            <a:endParaRPr lang="zh-CN" altLang="en-US" sz="2400">
              <a:ea typeface="微软雅黑 Light" panose="020B0502040204020203" pitchFamily="34" charset="-122"/>
            </a:endParaRPr>
          </a:p>
        </p:txBody>
      </p:sp>
    </p:spTree>
  </p:cSld>
  <p:clrMapOvr>
    <a:masterClrMapping/>
  </p:clrMapOvr>
  <p:transition spd="slow">
    <p:wipe dir="r"/>
    <p:sndAc>
      <p:end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685800" y="304800"/>
            <a:ext cx="7772400" cy="8382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en-US" altLang="zh-CN" sz="3600">
                <a:latin typeface="Tahoma" panose="020B0604030504040204" pitchFamily="34" charset="0"/>
                <a:ea typeface="微软雅黑" panose="020B0503020204020204" pitchFamily="34" charset="-122"/>
              </a:rPr>
              <a:t>I/O</a:t>
            </a:r>
            <a:r>
              <a:rPr lang="zh-CN" altLang="en-US" sz="3600">
                <a:latin typeface="Tahoma" panose="020B0604030504040204" pitchFamily="34" charset="0"/>
                <a:ea typeface="微软雅黑" panose="020B0503020204020204" pitchFamily="34" charset="-122"/>
              </a:rPr>
              <a:t>复用的应用场合</a:t>
            </a:r>
            <a:endParaRPr lang="zh-CN" altLang="en-US" sz="3600">
              <a:latin typeface="Tahoma" panose="020B0604030504040204" pitchFamily="34" charset="0"/>
              <a:ea typeface="微软雅黑" panose="020B0503020204020204" pitchFamily="34" charset="-122"/>
            </a:endParaRPr>
          </a:p>
        </p:txBody>
      </p:sp>
      <p:sp>
        <p:nvSpPr>
          <p:cNvPr id="23554" name="Rectangle 3"/>
          <p:cNvSpPr>
            <a:spLocks noGrp="1" noChangeArrowheads="1"/>
          </p:cNvSpPr>
          <p:nvPr>
            <p:ph idx="1"/>
          </p:nvPr>
        </p:nvSpPr>
        <p:spPr>
          <a:xfrm>
            <a:off x="304800" y="1341438"/>
            <a:ext cx="8540750" cy="5516562"/>
          </a:xfrm>
        </p:spPr>
        <p:txBody>
          <a:bodyPr/>
          <a:lstStyle/>
          <a:p>
            <a:pPr eaLnBrk="1" hangingPunct="1">
              <a:lnSpc>
                <a:spcPct val="110000"/>
              </a:lnSpc>
            </a:pPr>
            <a:r>
              <a:rPr lang="zh-CN" altLang="en-US" sz="2400">
                <a:ea typeface="微软雅黑 Light" panose="020B0502040204020203" pitchFamily="34" charset="-122"/>
              </a:rPr>
              <a:t>当客户处理多个描述字（一般是交互式输入和网络套接字），必须使用</a:t>
            </a:r>
            <a:r>
              <a:rPr lang="en-US" altLang="zh-CN" sz="2400">
                <a:ea typeface="微软雅黑 Light" panose="020B0502040204020203" pitchFamily="34" charset="-122"/>
              </a:rPr>
              <a:t>i/o</a:t>
            </a:r>
            <a:r>
              <a:rPr lang="zh-CN" altLang="en-US" sz="2400">
                <a:ea typeface="微软雅黑 Light" panose="020B0502040204020203" pitchFamily="34" charset="-122"/>
              </a:rPr>
              <a:t>复用；</a:t>
            </a:r>
            <a:endParaRPr lang="zh-CN" altLang="en-US" sz="2400">
              <a:ea typeface="微软雅黑 Light" panose="020B0502040204020203" pitchFamily="34" charset="-122"/>
            </a:endParaRPr>
          </a:p>
          <a:p>
            <a:pPr eaLnBrk="1" hangingPunct="1">
              <a:lnSpc>
                <a:spcPct val="110000"/>
              </a:lnSpc>
            </a:pPr>
            <a:r>
              <a:rPr lang="zh-CN" altLang="en-US" sz="2400">
                <a:ea typeface="微软雅黑 Light" panose="020B0502040204020203" pitchFamily="34" charset="-122"/>
              </a:rPr>
              <a:t>一个客户同时处理多个套接字是可能的</a:t>
            </a:r>
            <a:r>
              <a:rPr lang="en-US" altLang="zh-CN" sz="2400">
                <a:ea typeface="微软雅黑 Light" panose="020B0502040204020203" pitchFamily="34" charset="-122"/>
              </a:rPr>
              <a:t>(</a:t>
            </a:r>
            <a:r>
              <a:rPr lang="zh-CN" altLang="en-US" sz="2400">
                <a:ea typeface="微软雅黑 Light" panose="020B0502040204020203" pitchFamily="34" charset="-122"/>
              </a:rPr>
              <a:t>例如</a:t>
            </a:r>
            <a:r>
              <a:rPr lang="en-US" altLang="zh-CN" sz="2400">
                <a:ea typeface="微软雅黑 Light" panose="020B0502040204020203" pitchFamily="34" charset="-122"/>
              </a:rPr>
              <a:t>FTP</a:t>
            </a:r>
            <a:r>
              <a:rPr lang="zh-CN" altLang="en-US" sz="2400">
                <a:ea typeface="微软雅黑 Light" panose="020B0502040204020203" pitchFamily="34" charset="-122"/>
              </a:rPr>
              <a:t>客户程序），但很少出现；</a:t>
            </a:r>
            <a:endParaRPr lang="zh-CN" altLang="en-US" sz="2400">
              <a:ea typeface="微软雅黑 Light" panose="020B0502040204020203" pitchFamily="34" charset="-122"/>
            </a:endParaRPr>
          </a:p>
          <a:p>
            <a:pPr eaLnBrk="1" hangingPunct="1">
              <a:lnSpc>
                <a:spcPct val="110000"/>
              </a:lnSpc>
            </a:pPr>
            <a:r>
              <a:rPr lang="zh-CN" altLang="en-US" sz="2400">
                <a:ea typeface="微软雅黑 Light" panose="020B0502040204020203" pitchFamily="34" charset="-122"/>
              </a:rPr>
              <a:t>如果一个</a:t>
            </a:r>
            <a:r>
              <a:rPr lang="en-US" altLang="zh-CN" sz="2400">
                <a:ea typeface="微软雅黑 Light" panose="020B0502040204020203" pitchFamily="34" charset="-122"/>
              </a:rPr>
              <a:t>tcp</a:t>
            </a:r>
            <a:r>
              <a:rPr lang="zh-CN" altLang="en-US" sz="2400">
                <a:ea typeface="微软雅黑 Light" panose="020B0502040204020203" pitchFamily="34" charset="-122"/>
              </a:rPr>
              <a:t>服务器既要处理监听套接字，又要处理连接套接字，一般也可以用</a:t>
            </a:r>
            <a:r>
              <a:rPr lang="en-US" altLang="zh-CN" sz="2400">
                <a:ea typeface="微软雅黑 Light" panose="020B0502040204020203" pitchFamily="34" charset="-122"/>
              </a:rPr>
              <a:t>i/o</a:t>
            </a:r>
            <a:r>
              <a:rPr lang="zh-CN" altLang="en-US" sz="2400">
                <a:ea typeface="微软雅黑 Light" panose="020B0502040204020203" pitchFamily="34" charset="-122"/>
              </a:rPr>
              <a:t>复用；（当然可以使用并发技术）</a:t>
            </a:r>
            <a:endParaRPr lang="zh-CN" altLang="en-US" sz="2400">
              <a:ea typeface="微软雅黑 Light" panose="020B0502040204020203" pitchFamily="34" charset="-122"/>
            </a:endParaRPr>
          </a:p>
          <a:p>
            <a:pPr eaLnBrk="1" hangingPunct="1">
              <a:lnSpc>
                <a:spcPct val="110000"/>
              </a:lnSpc>
            </a:pPr>
            <a:r>
              <a:rPr lang="zh-CN" altLang="en-US" sz="2400">
                <a:ea typeface="微软雅黑 Light" panose="020B0502040204020203" pitchFamily="34" charset="-122"/>
              </a:rPr>
              <a:t>如果一个服务器既要处理</a:t>
            </a:r>
            <a:r>
              <a:rPr lang="en-US" altLang="zh-CN" sz="2400">
                <a:ea typeface="微软雅黑 Light" panose="020B0502040204020203" pitchFamily="34" charset="-122"/>
              </a:rPr>
              <a:t>tcp</a:t>
            </a:r>
            <a:r>
              <a:rPr lang="zh-CN" altLang="en-US" sz="2400">
                <a:ea typeface="微软雅黑 Light" panose="020B0502040204020203" pitchFamily="34" charset="-122"/>
              </a:rPr>
              <a:t>，又要处理</a:t>
            </a:r>
            <a:r>
              <a:rPr lang="en-US" altLang="zh-CN" sz="2400">
                <a:ea typeface="微软雅黑 Light" panose="020B0502040204020203" pitchFamily="34" charset="-122"/>
              </a:rPr>
              <a:t>udp</a:t>
            </a:r>
            <a:r>
              <a:rPr lang="zh-CN" altLang="en-US" sz="2400">
                <a:ea typeface="微软雅黑 Light" panose="020B0502040204020203" pitchFamily="34" charset="-122"/>
              </a:rPr>
              <a:t>，一般也要使用</a:t>
            </a:r>
            <a:r>
              <a:rPr lang="en-US" altLang="zh-CN" sz="2400">
                <a:ea typeface="微软雅黑 Light" panose="020B0502040204020203" pitchFamily="34" charset="-122"/>
              </a:rPr>
              <a:t>i/o</a:t>
            </a:r>
            <a:r>
              <a:rPr lang="zh-CN" altLang="en-US" sz="2400">
                <a:ea typeface="微软雅黑 Light" panose="020B0502040204020203" pitchFamily="34" charset="-122"/>
              </a:rPr>
              <a:t>复用；</a:t>
            </a:r>
            <a:endParaRPr lang="zh-CN" altLang="en-US" sz="2400">
              <a:ea typeface="微软雅黑 Light" panose="020B0502040204020203" pitchFamily="34" charset="-122"/>
            </a:endParaRPr>
          </a:p>
          <a:p>
            <a:pPr eaLnBrk="1" hangingPunct="1">
              <a:lnSpc>
                <a:spcPct val="110000"/>
              </a:lnSpc>
            </a:pPr>
            <a:r>
              <a:rPr lang="zh-CN" altLang="en-US" sz="2400">
                <a:ea typeface="微软雅黑 Light" panose="020B0502040204020203" pitchFamily="34" charset="-122"/>
              </a:rPr>
              <a:t>如果一个服务器要处理多个服务或者多个协议，一般要使用</a:t>
            </a:r>
            <a:r>
              <a:rPr lang="en-US" altLang="zh-CN" sz="2400">
                <a:ea typeface="微软雅黑 Light" panose="020B0502040204020203" pitchFamily="34" charset="-122"/>
              </a:rPr>
              <a:t>i/o</a:t>
            </a:r>
            <a:r>
              <a:rPr lang="zh-CN" altLang="en-US" sz="2400">
                <a:ea typeface="微软雅黑 Light" panose="020B0502040204020203" pitchFamily="34" charset="-122"/>
              </a:rPr>
              <a:t>复用；</a:t>
            </a:r>
            <a:endParaRPr lang="zh-CN" altLang="en-US" sz="2400">
              <a:ea typeface="微软雅黑 Light" panose="020B0502040204020203" pitchFamily="34" charset="-122"/>
            </a:endParaRPr>
          </a:p>
          <a:p>
            <a:pPr eaLnBrk="1" hangingPunct="1">
              <a:lnSpc>
                <a:spcPct val="110000"/>
              </a:lnSpc>
            </a:pPr>
            <a:r>
              <a:rPr lang="en-US" altLang="zh-CN" sz="2400">
                <a:ea typeface="微软雅黑 Light" panose="020B0502040204020203" pitchFamily="34" charset="-122"/>
              </a:rPr>
              <a:t>i/o</a:t>
            </a:r>
            <a:r>
              <a:rPr lang="zh-CN" altLang="en-US" sz="2400">
                <a:ea typeface="微软雅黑 Light" panose="020B0502040204020203" pitchFamily="34" charset="-122"/>
              </a:rPr>
              <a:t>复用并非只限于网络编程，许多正式应用程序也需要使用这项技术。</a:t>
            </a:r>
            <a:endParaRPr lang="zh-CN" altLang="en-US" sz="2400">
              <a:ea typeface="微软雅黑 Light" panose="020B0502040204020203" pitchFamily="34" charset="-122"/>
            </a:endParaRPr>
          </a:p>
        </p:txBody>
      </p:sp>
    </p:spTree>
  </p:cSld>
  <p:clrMapOvr>
    <a:masterClrMapping/>
  </p:clrMapOvr>
  <p:transition spd="slow">
    <p:wipe dir="r"/>
    <p:sndAc>
      <p:end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en-US" altLang="zh-CN" sz="3600">
                <a:latin typeface="Tahoma" panose="020B0604030504040204" pitchFamily="34" charset="0"/>
                <a:ea typeface="微软雅黑" panose="020B0503020204020204" pitchFamily="34" charset="-122"/>
              </a:rPr>
              <a:t>I/O</a:t>
            </a:r>
            <a:r>
              <a:rPr lang="zh-CN" altLang="en-US" sz="3600">
                <a:latin typeface="Tahoma" panose="020B0604030504040204" pitchFamily="34" charset="0"/>
                <a:ea typeface="微软雅黑" panose="020B0503020204020204" pitchFamily="34" charset="-122"/>
              </a:rPr>
              <a:t>复用的基本思想</a:t>
            </a:r>
            <a:endParaRPr lang="zh-CN" altLang="en-US" sz="3600">
              <a:latin typeface="Tahoma" panose="020B0604030504040204" pitchFamily="34" charset="0"/>
              <a:ea typeface="微软雅黑" panose="020B0503020204020204" pitchFamily="34" charset="-122"/>
            </a:endParaRPr>
          </a:p>
        </p:txBody>
      </p:sp>
      <p:sp>
        <p:nvSpPr>
          <p:cNvPr id="24578" name="Rectangle 3"/>
          <p:cNvSpPr>
            <a:spLocks noGrp="1" noChangeArrowheads="1"/>
          </p:cNvSpPr>
          <p:nvPr>
            <p:ph idx="1"/>
          </p:nvPr>
        </p:nvSpPr>
        <p:spPr/>
        <p:txBody>
          <a:bodyPr/>
          <a:lstStyle/>
          <a:p>
            <a:pPr eaLnBrk="1" hangingPunct="1">
              <a:lnSpc>
                <a:spcPct val="120000"/>
              </a:lnSpc>
            </a:pPr>
            <a:r>
              <a:rPr lang="zh-CN" altLang="en-US" sz="2800">
                <a:ea typeface="微软雅黑 Light" panose="020B0502040204020203" pitchFamily="34" charset="-122"/>
              </a:rPr>
              <a:t>先构造一张或多张包含所有需要等待的描述符的表，然后调用一个函数，它要到这些描述符中的一个或多个已准备好进行</a:t>
            </a:r>
            <a:r>
              <a:rPr lang="en-US" altLang="zh-CN" sz="2800">
                <a:ea typeface="微软雅黑 Light" panose="020B0502040204020203" pitchFamily="34" charset="-122"/>
              </a:rPr>
              <a:t>I/O</a:t>
            </a:r>
            <a:r>
              <a:rPr lang="zh-CN" altLang="en-US" sz="2800">
                <a:ea typeface="微软雅黑 Light" panose="020B0502040204020203" pitchFamily="34" charset="-122"/>
              </a:rPr>
              <a:t>时才返回。在返回时，它告诉进程哪一个描述符已准备好可以进行</a:t>
            </a:r>
            <a:r>
              <a:rPr lang="en-US" altLang="zh-CN" sz="2800">
                <a:ea typeface="微软雅黑 Light" panose="020B0502040204020203" pitchFamily="34" charset="-122"/>
              </a:rPr>
              <a:t>I/O</a:t>
            </a:r>
            <a:r>
              <a:rPr lang="zh-CN" altLang="en-US" sz="2800">
                <a:ea typeface="微软雅黑 Light" panose="020B0502040204020203" pitchFamily="34" charset="-122"/>
              </a:rPr>
              <a:t>。</a:t>
            </a:r>
            <a:endParaRPr lang="zh-CN" altLang="en-US" sz="2800">
              <a:ea typeface="微软雅黑 Light" panose="020B0502040204020203" pitchFamily="34" charset="-122"/>
            </a:endParaRPr>
          </a:p>
        </p:txBody>
      </p:sp>
    </p:spTree>
  </p:cSld>
  <p:clrMapOvr>
    <a:masterClrMapping/>
  </p:clrMapOvr>
  <p:transition spd="slow">
    <p:wipe dir="r"/>
    <p:sndAc>
      <p:end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684213" y="620713"/>
            <a:ext cx="7772400" cy="1143000"/>
          </a:xfrm>
        </p:spPr>
        <p:txBody>
          <a:bodyPr/>
          <a:lstStyle/>
          <a:p>
            <a:pPr eaLnBrk="1" hangingPunct="1"/>
            <a:r>
              <a:rPr lang="en-US" altLang="zh-CN"/>
              <a:t>select</a:t>
            </a:r>
            <a:r>
              <a:rPr lang="zh-CN" altLang="en-US"/>
              <a:t>函数（</a:t>
            </a:r>
            <a:r>
              <a:rPr lang="en-US" altLang="zh-CN"/>
              <a:t>1</a:t>
            </a:r>
            <a:r>
              <a:rPr lang="zh-CN" altLang="en-US"/>
              <a:t>）</a:t>
            </a:r>
            <a:endParaRPr lang="zh-CN" altLang="en-US"/>
          </a:p>
        </p:txBody>
      </p:sp>
      <p:sp>
        <p:nvSpPr>
          <p:cNvPr id="25602" name="Rectangle 3"/>
          <p:cNvSpPr>
            <a:spLocks noGrp="1" noChangeArrowheads="1"/>
          </p:cNvSpPr>
          <p:nvPr>
            <p:ph idx="1"/>
          </p:nvPr>
        </p:nvSpPr>
        <p:spPr>
          <a:xfrm>
            <a:off x="304800" y="1557338"/>
            <a:ext cx="8540750" cy="4895850"/>
          </a:xfrm>
        </p:spPr>
        <p:txBody>
          <a:bodyPr/>
          <a:lstStyle/>
          <a:p>
            <a:pPr eaLnBrk="1" hangingPunct="1">
              <a:lnSpc>
                <a:spcPct val="120000"/>
              </a:lnSpc>
              <a:buFontTx/>
              <a:buNone/>
            </a:pPr>
            <a:r>
              <a:rPr lang="en-US" altLang="zh-CN" sz="2400">
                <a:latin typeface="Tahoma" panose="020B0604030504040204" pitchFamily="34" charset="0"/>
              </a:rPr>
              <a:t>#include &lt;sys/select.h&gt;</a:t>
            </a:r>
            <a:endParaRPr lang="en-US" altLang="zh-CN" sz="2400">
              <a:latin typeface="Tahoma" panose="020B0604030504040204" pitchFamily="34" charset="0"/>
            </a:endParaRPr>
          </a:p>
          <a:p>
            <a:pPr eaLnBrk="1" hangingPunct="1">
              <a:buFontTx/>
              <a:buNone/>
            </a:pPr>
            <a:r>
              <a:rPr lang="en-US" altLang="zh-CN" sz="2400">
                <a:latin typeface="Tahoma" panose="020B0604030504040204" pitchFamily="34" charset="0"/>
              </a:rPr>
              <a:t>#include &lt;sys/time.h&gt;</a:t>
            </a:r>
            <a:endParaRPr lang="en-US" altLang="zh-CN" sz="2400">
              <a:latin typeface="Tahoma" panose="020B0604030504040204" pitchFamily="34" charset="0"/>
            </a:endParaRPr>
          </a:p>
          <a:p>
            <a:pPr eaLnBrk="1" hangingPunct="1">
              <a:buFontTx/>
              <a:buNone/>
            </a:pPr>
            <a:r>
              <a:rPr lang="en-US" altLang="zh-CN" sz="2400" b="1">
                <a:latin typeface="Tahoma" panose="020B0604030504040204" pitchFamily="34" charset="0"/>
              </a:rPr>
              <a:t>int select(int maxfd, fd_set *readset, fd_set *writeset, fd_set *exceptset, const struct timeval *timeout);</a:t>
            </a:r>
            <a:endParaRPr lang="en-US" altLang="zh-CN" sz="2400" b="1">
              <a:latin typeface="Tahoma" panose="020B0604030504040204" pitchFamily="34" charset="0"/>
            </a:endParaRPr>
          </a:p>
          <a:p>
            <a:pPr eaLnBrk="1" hangingPunct="1">
              <a:lnSpc>
                <a:spcPct val="120000"/>
              </a:lnSpc>
              <a:buFontTx/>
              <a:buNone/>
            </a:pPr>
            <a:r>
              <a:rPr lang="en-US" altLang="zh-CN" sz="2000"/>
              <a:t>       </a:t>
            </a:r>
            <a:r>
              <a:rPr lang="zh-CN" altLang="en-US" sz="2400">
                <a:ea typeface="微软雅黑" panose="020B0503020204020204" pitchFamily="34" charset="-122"/>
              </a:rPr>
              <a:t>返回：准备好描述字的总数量，</a:t>
            </a:r>
            <a:r>
              <a:rPr lang="en-US" altLang="zh-CN" sz="2400">
                <a:ea typeface="微软雅黑" panose="020B0503020204020204" pitchFamily="34" charset="-122"/>
              </a:rPr>
              <a:t>0</a:t>
            </a:r>
            <a:r>
              <a:rPr lang="zh-CN" altLang="en-US" sz="2400">
                <a:ea typeface="微软雅黑" panose="020B0503020204020204" pitchFamily="34" charset="-122"/>
              </a:rPr>
              <a:t>－超时，</a:t>
            </a:r>
            <a:r>
              <a:rPr lang="en-US" altLang="zh-CN" sz="2400">
                <a:ea typeface="微软雅黑" panose="020B0503020204020204" pitchFamily="34" charset="-122"/>
              </a:rPr>
              <a:t>-1</a:t>
            </a:r>
            <a:r>
              <a:rPr lang="zh-CN" altLang="en-US" sz="2400">
                <a:ea typeface="微软雅黑" panose="020B0503020204020204" pitchFamily="34" charset="-122"/>
              </a:rPr>
              <a:t>－出错，</a:t>
            </a:r>
            <a:r>
              <a:rPr lang="zh-CN" altLang="en-US" sz="2400">
                <a:ea typeface="微软雅黑 Light" panose="020B0502040204020203" pitchFamily="34" charset="-122"/>
              </a:rPr>
              <a:t>参数</a:t>
            </a:r>
            <a:r>
              <a:rPr lang="en-US" altLang="zh-CN" sz="2400" b="1">
                <a:latin typeface="Tahoma" panose="020B0604030504040204" pitchFamily="34" charset="0"/>
              </a:rPr>
              <a:t>timeout</a:t>
            </a:r>
            <a:r>
              <a:rPr lang="zh-CN" altLang="en-US" sz="2400">
                <a:ea typeface="微软雅黑 Light" panose="020B0502040204020203" pitchFamily="34" charset="-122"/>
              </a:rPr>
              <a:t>指定内核等待的时间，其结构如下：</a:t>
            </a:r>
            <a:endParaRPr lang="zh-CN" altLang="en-US" sz="2400">
              <a:ea typeface="微软雅黑 Light" panose="020B0502040204020203" pitchFamily="34" charset="-122"/>
            </a:endParaRPr>
          </a:p>
          <a:p>
            <a:pPr eaLnBrk="1" hangingPunct="1">
              <a:buFontTx/>
              <a:buNone/>
            </a:pPr>
            <a:r>
              <a:rPr lang="en-US" altLang="zh-CN" sz="2400">
                <a:latin typeface="Tahoma" panose="020B0604030504040204" pitchFamily="34" charset="0"/>
              </a:rPr>
              <a:t>struct timeval {</a:t>
            </a:r>
            <a:endParaRPr lang="en-US" altLang="zh-CN" sz="2400">
              <a:latin typeface="Tahoma" panose="020B0604030504040204" pitchFamily="34" charset="0"/>
            </a:endParaRPr>
          </a:p>
          <a:p>
            <a:pPr eaLnBrk="1" hangingPunct="1">
              <a:buFontTx/>
              <a:buNone/>
            </a:pPr>
            <a:r>
              <a:rPr lang="en-US" altLang="zh-CN" sz="2400">
                <a:latin typeface="Tahoma" panose="020B0604030504040204" pitchFamily="34" charset="0"/>
              </a:rPr>
              <a:t>	long 	tv_sec;		</a:t>
            </a:r>
            <a:r>
              <a:rPr lang="en-US" altLang="zh-CN" sz="2400">
                <a:solidFill>
                  <a:srgbClr val="00B050"/>
                </a:solidFill>
                <a:latin typeface="Tahoma" panose="020B0604030504040204" pitchFamily="34" charset="0"/>
              </a:rPr>
              <a:t>/* seconds */</a:t>
            </a:r>
            <a:endParaRPr lang="en-US" altLang="zh-CN" sz="2400">
              <a:solidFill>
                <a:srgbClr val="00B050"/>
              </a:solidFill>
              <a:latin typeface="Tahoma" panose="020B0604030504040204" pitchFamily="34" charset="0"/>
            </a:endParaRPr>
          </a:p>
          <a:p>
            <a:pPr eaLnBrk="1" hangingPunct="1">
              <a:buFontTx/>
              <a:buNone/>
            </a:pPr>
            <a:r>
              <a:rPr lang="en-US" altLang="zh-CN" sz="2400">
                <a:latin typeface="Tahoma" panose="020B0604030504040204" pitchFamily="34" charset="0"/>
              </a:rPr>
              <a:t>	long	tv_usec;	</a:t>
            </a:r>
            <a:r>
              <a:rPr lang="en-US" altLang="zh-CN" sz="2400">
                <a:solidFill>
                  <a:srgbClr val="00B050"/>
                </a:solidFill>
                <a:latin typeface="Tahoma" panose="020B0604030504040204" pitchFamily="34" charset="0"/>
              </a:rPr>
              <a:t>/* microseconds */</a:t>
            </a:r>
            <a:endParaRPr lang="en-US" altLang="zh-CN" sz="2400">
              <a:solidFill>
                <a:srgbClr val="00B050"/>
              </a:solidFill>
              <a:latin typeface="Tahoma" panose="020B0604030504040204" pitchFamily="34" charset="0"/>
            </a:endParaRPr>
          </a:p>
          <a:p>
            <a:pPr eaLnBrk="1" hangingPunct="1">
              <a:buFontTx/>
              <a:buNone/>
            </a:pPr>
            <a:r>
              <a:rPr lang="en-US" altLang="zh-CN" sz="2400">
                <a:latin typeface="Tahoma" panose="020B0604030504040204" pitchFamily="34" charset="0"/>
              </a:rPr>
              <a:t>}</a:t>
            </a:r>
            <a:endParaRPr lang="en-US" altLang="zh-CN" sz="2400">
              <a:latin typeface="Tahoma" panose="020B0604030504040204" pitchFamily="34" charset="0"/>
              <a:cs typeface="Tahoma" panose="020B0604030504040204" pitchFamily="34" charset="0"/>
            </a:endParaRPr>
          </a:p>
        </p:txBody>
      </p:sp>
      <p:sp>
        <p:nvSpPr>
          <p:cNvPr id="18436" name="AutoShape 4"/>
          <p:cNvSpPr>
            <a:spLocks noChangeArrowheads="1"/>
          </p:cNvSpPr>
          <p:nvPr/>
        </p:nvSpPr>
        <p:spPr bwMode="auto">
          <a:xfrm>
            <a:off x="2268538" y="404813"/>
            <a:ext cx="4967287" cy="1798637"/>
          </a:xfrm>
          <a:prstGeom prst="wedgeEllipseCallout">
            <a:avLst>
              <a:gd name="adj1" fmla="val -40523"/>
              <a:gd name="adj2" fmla="val 68384"/>
            </a:avLst>
          </a:prstGeom>
          <a:solidFill>
            <a:schemeClr val="accent1"/>
          </a:solidFill>
          <a:ln w="9525">
            <a:solidFill>
              <a:schemeClr val="tx1"/>
            </a:solidFill>
            <a:miter lim="800000"/>
          </a:ln>
        </p:spPr>
        <p:txBody>
          <a:bodyPr/>
          <a:lstStyle/>
          <a:p>
            <a:pPr algn="ctr"/>
            <a:r>
              <a:rPr lang="zh-CN" altLang="en-US"/>
              <a:t>是一个整数值，是指集合中所有文件描述符的范围，即所有文件描述符的最大值加</a:t>
            </a:r>
            <a:r>
              <a:rPr lang="en-US" altLang="zh-CN"/>
              <a:t>1 </a:t>
            </a:r>
            <a:endParaRPr lang="en-US" altLang="zh-CN"/>
          </a:p>
        </p:txBody>
      </p:sp>
      <p:sp>
        <p:nvSpPr>
          <p:cNvPr id="18437" name="AutoShape 5"/>
          <p:cNvSpPr>
            <a:spLocks noChangeArrowheads="1"/>
          </p:cNvSpPr>
          <p:nvPr/>
        </p:nvSpPr>
        <p:spPr bwMode="auto">
          <a:xfrm>
            <a:off x="3059113" y="692150"/>
            <a:ext cx="3457575" cy="1295400"/>
          </a:xfrm>
          <a:prstGeom prst="wedgeEllipseCallout">
            <a:avLst>
              <a:gd name="adj1" fmla="val -27852"/>
              <a:gd name="adj2" fmla="val 85296"/>
            </a:avLst>
          </a:prstGeom>
          <a:solidFill>
            <a:schemeClr val="accent1"/>
          </a:solidFill>
          <a:ln w="9525">
            <a:solidFill>
              <a:schemeClr val="tx1"/>
            </a:solidFill>
            <a:miter lim="800000"/>
          </a:ln>
        </p:spPr>
        <p:txBody>
          <a:bodyPr/>
          <a:lstStyle/>
          <a:p>
            <a:pPr algn="ctr"/>
            <a:r>
              <a:rPr lang="en-US" altLang="zh-CN"/>
              <a:t>fd_set:</a:t>
            </a:r>
            <a:r>
              <a:rPr lang="zh-CN" altLang="en-US"/>
              <a:t>集合，存放文件描述符</a:t>
            </a:r>
            <a:endParaRPr lang="zh-CN" altLang="en-US"/>
          </a:p>
        </p:txBody>
      </p:sp>
      <p:sp>
        <p:nvSpPr>
          <p:cNvPr id="18438" name="AutoShape 6"/>
          <p:cNvSpPr>
            <a:spLocks noChangeArrowheads="1"/>
          </p:cNvSpPr>
          <p:nvPr/>
        </p:nvSpPr>
        <p:spPr bwMode="auto">
          <a:xfrm>
            <a:off x="4076689" y="890652"/>
            <a:ext cx="3457575" cy="1295400"/>
          </a:xfrm>
          <a:prstGeom prst="wedgeEllipseCallout">
            <a:avLst>
              <a:gd name="adj1" fmla="val -29015"/>
              <a:gd name="adj2" fmla="val 83739"/>
            </a:avLst>
          </a:prstGeom>
          <a:solidFill>
            <a:schemeClr val="accent1"/>
          </a:solidFill>
          <a:ln w="9525">
            <a:solidFill>
              <a:schemeClr val="tx1"/>
            </a:solidFill>
            <a:miter lim="800000"/>
          </a:ln>
        </p:spPr>
        <p:txBody>
          <a:bodyPr/>
          <a:lstStyle/>
          <a:p>
            <a:pPr algn="ctr"/>
            <a:r>
              <a:rPr lang="zh-CN" altLang="en-US"/>
              <a:t>监视的读文件描述符集合</a:t>
            </a:r>
            <a:endParaRPr lang="zh-CN" altLang="en-US"/>
          </a:p>
        </p:txBody>
      </p:sp>
      <p:sp>
        <p:nvSpPr>
          <p:cNvPr id="18439" name="AutoShape 7"/>
          <p:cNvSpPr>
            <a:spLocks noChangeArrowheads="1"/>
          </p:cNvSpPr>
          <p:nvPr/>
        </p:nvSpPr>
        <p:spPr bwMode="auto">
          <a:xfrm>
            <a:off x="5435600" y="688975"/>
            <a:ext cx="3457575" cy="1295400"/>
          </a:xfrm>
          <a:prstGeom prst="wedgeEllipseCallout">
            <a:avLst>
              <a:gd name="adj1" fmla="val 6441"/>
              <a:gd name="adj2" fmla="val 96154"/>
            </a:avLst>
          </a:prstGeom>
          <a:solidFill>
            <a:schemeClr val="accent1"/>
          </a:solidFill>
          <a:ln w="9525">
            <a:solidFill>
              <a:schemeClr val="tx1"/>
            </a:solidFill>
            <a:miter lim="800000"/>
          </a:ln>
        </p:spPr>
        <p:txBody>
          <a:bodyPr/>
          <a:lstStyle/>
          <a:p>
            <a:pPr algn="ctr"/>
            <a:r>
              <a:rPr lang="zh-CN" altLang="en-US"/>
              <a:t>监视的写文件描述符集合</a:t>
            </a:r>
            <a:endParaRPr lang="zh-CN" altLang="en-US"/>
          </a:p>
        </p:txBody>
      </p:sp>
    </p:spTree>
  </p:cSld>
  <p:clrMapOvr>
    <a:masterClrMapping/>
  </p:clrMapOvr>
  <p:transition spd="slow">
    <p:wipe dir="r"/>
    <p:sndAc>
      <p:end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blinds(horizontal)">
                                      <p:cBhvr>
                                        <p:cTn id="7" dur="500"/>
                                        <p:tgtEl>
                                          <p:spTgt spid="1843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18436"/>
                                        </p:tgtEl>
                                      </p:cBhvr>
                                    </p:animEffect>
                                    <p:set>
                                      <p:cBhvr>
                                        <p:cTn id="12" dur="1" fill="hold">
                                          <p:stCondLst>
                                            <p:cond delay="499"/>
                                          </p:stCondLst>
                                        </p:cTn>
                                        <p:tgtEl>
                                          <p:spTgt spid="1843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437"/>
                                        </p:tgtEl>
                                        <p:attrNameLst>
                                          <p:attrName>style.visibility</p:attrName>
                                        </p:attrNameLst>
                                      </p:cBhvr>
                                      <p:to>
                                        <p:strVal val="visible"/>
                                      </p:to>
                                    </p:set>
                                    <p:animEffect transition="in" filter="blinds(horizontal)">
                                      <p:cBhvr>
                                        <p:cTn id="17" dur="500"/>
                                        <p:tgtEl>
                                          <p:spTgt spid="1843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1" nodeType="clickEffect">
                                  <p:stCondLst>
                                    <p:cond delay="0"/>
                                  </p:stCondLst>
                                  <p:childTnLst>
                                    <p:animEffect transition="out" filter="blinds(horizontal)">
                                      <p:cBhvr>
                                        <p:cTn id="21" dur="500"/>
                                        <p:tgtEl>
                                          <p:spTgt spid="18437"/>
                                        </p:tgtEl>
                                      </p:cBhvr>
                                    </p:animEffect>
                                    <p:set>
                                      <p:cBhvr>
                                        <p:cTn id="22" dur="1" fill="hold">
                                          <p:stCondLst>
                                            <p:cond delay="499"/>
                                          </p:stCondLst>
                                        </p:cTn>
                                        <p:tgtEl>
                                          <p:spTgt spid="1843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438"/>
                                        </p:tgtEl>
                                        <p:attrNameLst>
                                          <p:attrName>style.visibility</p:attrName>
                                        </p:attrNameLst>
                                      </p:cBhvr>
                                      <p:to>
                                        <p:strVal val="visible"/>
                                      </p:to>
                                    </p:set>
                                    <p:animEffect transition="in" filter="blinds(horizontal)">
                                      <p:cBhvr>
                                        <p:cTn id="27" dur="500"/>
                                        <p:tgtEl>
                                          <p:spTgt spid="1843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1" nodeType="clickEffect">
                                  <p:stCondLst>
                                    <p:cond delay="0"/>
                                  </p:stCondLst>
                                  <p:childTnLst>
                                    <p:animEffect transition="out" filter="blinds(horizontal)">
                                      <p:cBhvr>
                                        <p:cTn id="31" dur="500"/>
                                        <p:tgtEl>
                                          <p:spTgt spid="18438"/>
                                        </p:tgtEl>
                                      </p:cBhvr>
                                    </p:animEffect>
                                    <p:set>
                                      <p:cBhvr>
                                        <p:cTn id="32" dur="1" fill="hold">
                                          <p:stCondLst>
                                            <p:cond delay="499"/>
                                          </p:stCondLst>
                                        </p:cTn>
                                        <p:tgtEl>
                                          <p:spTgt spid="1843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439"/>
                                        </p:tgtEl>
                                        <p:attrNameLst>
                                          <p:attrName>style.visibility</p:attrName>
                                        </p:attrNameLst>
                                      </p:cBhvr>
                                      <p:to>
                                        <p:strVal val="visible"/>
                                      </p:to>
                                    </p:set>
                                    <p:animEffect transition="in" filter="blinds(horizontal)">
                                      <p:cBhvr>
                                        <p:cTn id="37" dur="500"/>
                                        <p:tgtEl>
                                          <p:spTgt spid="1843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1" nodeType="clickEffect">
                                  <p:stCondLst>
                                    <p:cond delay="0"/>
                                  </p:stCondLst>
                                  <p:childTnLst>
                                    <p:animEffect transition="out" filter="blinds(horizontal)">
                                      <p:cBhvr>
                                        <p:cTn id="41" dur="500"/>
                                        <p:tgtEl>
                                          <p:spTgt spid="18439"/>
                                        </p:tgtEl>
                                      </p:cBhvr>
                                    </p:animEffect>
                                    <p:set>
                                      <p:cBhvr>
                                        <p:cTn id="42" dur="1" fill="hold">
                                          <p:stCondLst>
                                            <p:cond delay="499"/>
                                          </p:stCondLst>
                                        </p:cTn>
                                        <p:tgtEl>
                                          <p:spTgt spid="184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p:bldP spid="18436" grpId="1" animBg="1"/>
      <p:bldP spid="18437" grpId="0" animBg="1"/>
      <p:bldP spid="18437" grpId="1" animBg="1"/>
      <p:bldP spid="18438" grpId="0" animBg="1"/>
      <p:bldP spid="18438" grpId="1" animBg="1"/>
      <p:bldP spid="18439" grpId="0" animBg="1"/>
      <p:bldP spid="18439"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pPr eaLnBrk="1" hangingPunct="1"/>
            <a:r>
              <a:rPr lang="en-US" altLang="zh-CN"/>
              <a:t>select</a:t>
            </a:r>
            <a:r>
              <a:rPr lang="zh-CN" altLang="en-US"/>
              <a:t>函数（</a:t>
            </a:r>
            <a:r>
              <a:rPr lang="en-US" altLang="zh-CN"/>
              <a:t>2</a:t>
            </a:r>
            <a:r>
              <a:rPr lang="zh-CN" altLang="en-US"/>
              <a:t>）</a:t>
            </a:r>
            <a:endParaRPr lang="zh-CN" altLang="en-US"/>
          </a:p>
        </p:txBody>
      </p:sp>
      <p:sp>
        <p:nvSpPr>
          <p:cNvPr id="27650" name="Rectangle 3"/>
          <p:cNvSpPr>
            <a:spLocks noGrp="1" noChangeArrowheads="1"/>
          </p:cNvSpPr>
          <p:nvPr>
            <p:ph idx="1"/>
          </p:nvPr>
        </p:nvSpPr>
        <p:spPr>
          <a:xfrm>
            <a:off x="685800" y="1752600"/>
            <a:ext cx="7772400" cy="4114800"/>
          </a:xfrm>
        </p:spPr>
        <p:txBody>
          <a:bodyPr/>
          <a:lstStyle/>
          <a:p>
            <a:pPr eaLnBrk="1" hangingPunct="1">
              <a:lnSpc>
                <a:spcPct val="120000"/>
              </a:lnSpc>
            </a:pPr>
            <a:r>
              <a:rPr lang="zh-CN" altLang="en-US" sz="2400">
                <a:latin typeface="微软雅黑" panose="020B0503020204020204" pitchFamily="34" charset="-122"/>
                <a:ea typeface="微软雅黑" panose="020B0503020204020204" pitchFamily="34" charset="-122"/>
              </a:rPr>
              <a:t>该函数有三种执行结果</a:t>
            </a:r>
            <a:r>
              <a:rPr lang="zh-CN" altLang="en-US" sz="2800">
                <a:ea typeface="微软雅黑 Light" panose="020B0502040204020203" pitchFamily="34" charset="-122"/>
              </a:rPr>
              <a:t>：</a:t>
            </a:r>
            <a:endParaRPr lang="zh-CN" altLang="en-US" sz="2800">
              <a:ea typeface="微软雅黑 Light" panose="020B0502040204020203" pitchFamily="34" charset="-122"/>
            </a:endParaRPr>
          </a:p>
          <a:p>
            <a:pPr lvl="1" eaLnBrk="1" hangingPunct="1">
              <a:lnSpc>
                <a:spcPct val="120000"/>
              </a:lnSpc>
            </a:pPr>
            <a:r>
              <a:rPr lang="zh-CN" altLang="en-US" sz="2400" b="1">
                <a:solidFill>
                  <a:srgbClr val="0070C0"/>
                </a:solidFill>
                <a:latin typeface="微软雅黑" panose="020B0503020204020204" pitchFamily="34" charset="-122"/>
                <a:ea typeface="微软雅黑" panose="020B0503020204020204" pitchFamily="34" charset="-122"/>
              </a:rPr>
              <a:t>永远等待下去</a:t>
            </a:r>
            <a:r>
              <a:rPr lang="zh-CN" altLang="en-US" sz="2400">
                <a:ea typeface="微软雅黑 Light" panose="020B0502040204020203" pitchFamily="34" charset="-122"/>
              </a:rPr>
              <a:t>：仅在有一个或以上描述字准备好</a:t>
            </a:r>
            <a:r>
              <a:rPr lang="en-US" altLang="zh-CN" sz="2400">
                <a:ea typeface="微软雅黑 Light" panose="020B0502040204020203" pitchFamily="34" charset="-122"/>
              </a:rPr>
              <a:t>i/o</a:t>
            </a:r>
            <a:r>
              <a:rPr lang="zh-CN" altLang="en-US" sz="2400">
                <a:ea typeface="微软雅黑 Light" panose="020B0502040204020203" pitchFamily="34" charset="-122"/>
              </a:rPr>
              <a:t>才返回，为此，我们将</a:t>
            </a:r>
            <a:r>
              <a:rPr lang="en-US" altLang="zh-CN" sz="2400">
                <a:ea typeface="微软雅黑 Light" panose="020B0502040204020203" pitchFamily="34" charset="-122"/>
              </a:rPr>
              <a:t>timeout</a:t>
            </a:r>
            <a:r>
              <a:rPr lang="zh-CN" altLang="en-US" sz="2400">
                <a:ea typeface="微软雅黑 Light" panose="020B0502040204020203" pitchFamily="34" charset="-122"/>
              </a:rPr>
              <a:t>设置为空指针。</a:t>
            </a:r>
            <a:endParaRPr lang="zh-CN" altLang="en-US" sz="2400">
              <a:ea typeface="微软雅黑 Light" panose="020B0502040204020203" pitchFamily="34" charset="-122"/>
            </a:endParaRPr>
          </a:p>
          <a:p>
            <a:pPr lvl="1" eaLnBrk="1" hangingPunct="1">
              <a:lnSpc>
                <a:spcPct val="120000"/>
              </a:lnSpc>
            </a:pPr>
            <a:r>
              <a:rPr lang="zh-CN" altLang="en-US" sz="2400" b="1">
                <a:solidFill>
                  <a:srgbClr val="0070C0"/>
                </a:solidFill>
                <a:latin typeface="微软雅黑" panose="020B0503020204020204" pitchFamily="34" charset="-122"/>
                <a:ea typeface="微软雅黑" panose="020B0503020204020204" pitchFamily="34" charset="-122"/>
              </a:rPr>
              <a:t>等待固定时间</a:t>
            </a:r>
            <a:r>
              <a:rPr lang="zh-CN" altLang="en-US" sz="2400">
                <a:ea typeface="微软雅黑 Light" panose="020B0502040204020203" pitchFamily="34" charset="-122"/>
              </a:rPr>
              <a:t>：在有一个描述字准备好时返回，但不超过由</a:t>
            </a:r>
            <a:r>
              <a:rPr lang="en-US" altLang="zh-CN" sz="2400">
                <a:ea typeface="微软雅黑 Light" panose="020B0502040204020203" pitchFamily="34" charset="-122"/>
              </a:rPr>
              <a:t>timeout</a:t>
            </a:r>
            <a:r>
              <a:rPr lang="zh-CN" altLang="en-US" sz="2400">
                <a:ea typeface="微软雅黑 Light" panose="020B0502040204020203" pitchFamily="34" charset="-122"/>
              </a:rPr>
              <a:t>参数指定的秒数和微秒数。</a:t>
            </a:r>
            <a:endParaRPr lang="zh-CN" altLang="en-US" sz="2400">
              <a:ea typeface="微软雅黑 Light" panose="020B0502040204020203" pitchFamily="34" charset="-122"/>
            </a:endParaRPr>
          </a:p>
          <a:p>
            <a:pPr lvl="1" eaLnBrk="1" hangingPunct="1">
              <a:lnSpc>
                <a:spcPct val="120000"/>
              </a:lnSpc>
            </a:pPr>
            <a:r>
              <a:rPr lang="zh-CN" altLang="en-US" sz="2400" b="1">
                <a:solidFill>
                  <a:srgbClr val="0070C0"/>
                </a:solidFill>
                <a:latin typeface="微软雅黑" panose="020B0503020204020204" pitchFamily="34" charset="-122"/>
                <a:ea typeface="微软雅黑" panose="020B0503020204020204" pitchFamily="34" charset="-122"/>
              </a:rPr>
              <a:t>根本不等待</a:t>
            </a:r>
            <a:r>
              <a:rPr lang="zh-CN" altLang="en-US" sz="2400">
                <a:ea typeface="微软雅黑 Light" panose="020B0502040204020203" pitchFamily="34" charset="-122"/>
              </a:rPr>
              <a:t>，检查描述字后立即返回，这称为轮询。这种情况下，</a:t>
            </a:r>
            <a:r>
              <a:rPr lang="en-US" altLang="zh-CN" sz="2400">
                <a:ea typeface="微软雅黑 Light" panose="020B0502040204020203" pitchFamily="34" charset="-122"/>
              </a:rPr>
              <a:t>timeout</a:t>
            </a:r>
            <a:r>
              <a:rPr lang="zh-CN" altLang="en-US" sz="2400">
                <a:ea typeface="微软雅黑 Light" panose="020B0502040204020203" pitchFamily="34" charset="-122"/>
              </a:rPr>
              <a:t>必须指向结构</a:t>
            </a:r>
            <a:r>
              <a:rPr lang="en-US" altLang="zh-CN" sz="2400">
                <a:ea typeface="微软雅黑 Light" panose="020B0502040204020203" pitchFamily="34" charset="-122"/>
              </a:rPr>
              <a:t>timeval</a:t>
            </a:r>
            <a:r>
              <a:rPr lang="zh-CN" altLang="en-US" sz="2400">
                <a:ea typeface="微软雅黑 Light" panose="020B0502040204020203" pitchFamily="34" charset="-122"/>
              </a:rPr>
              <a:t>，且定时器的值必须为</a:t>
            </a:r>
            <a:r>
              <a:rPr lang="en-US" altLang="zh-CN" sz="2400">
                <a:ea typeface="微软雅黑 Light" panose="020B0502040204020203" pitchFamily="34" charset="-122"/>
              </a:rPr>
              <a:t>0</a:t>
            </a:r>
            <a:r>
              <a:rPr lang="zh-CN" altLang="en-US" sz="2400">
                <a:ea typeface="微软雅黑 Light" panose="020B0502040204020203" pitchFamily="34" charset="-122"/>
              </a:rPr>
              <a:t>。</a:t>
            </a:r>
            <a:endParaRPr lang="zh-CN" altLang="en-US" sz="2400">
              <a:ea typeface="微软雅黑 Light" panose="020B0502040204020203" pitchFamily="34" charset="-122"/>
            </a:endParaRPr>
          </a:p>
          <a:p>
            <a:pPr eaLnBrk="1" hangingPunct="1">
              <a:lnSpc>
                <a:spcPct val="120000"/>
              </a:lnSpc>
            </a:pPr>
            <a:r>
              <a:rPr lang="zh-CN" altLang="en-US" sz="2400">
                <a:ea typeface="微软雅黑 Light" panose="020B0502040204020203" pitchFamily="34" charset="-122"/>
              </a:rPr>
              <a:t>在前两种情况的等待中，如果进程捕获了一个信号并从信号处理程序返回，那么等待一般被中断。</a:t>
            </a:r>
            <a:endParaRPr lang="zh-CN" altLang="en-US" sz="2400">
              <a:ea typeface="微软雅黑 Light" panose="020B0502040204020203" pitchFamily="34" charset="-122"/>
            </a:endParaRPr>
          </a:p>
          <a:p>
            <a:pPr eaLnBrk="1" hangingPunct="1"/>
            <a:endParaRPr lang="en-US" altLang="zh-CN" sz="2400"/>
          </a:p>
        </p:txBody>
      </p:sp>
    </p:spTree>
  </p:cSld>
  <p:clrMapOvr>
    <a:masterClrMapping/>
  </p:clrMapOvr>
  <p:transition spd="slow">
    <p:wipe dir="r"/>
    <p:sndAc>
      <p:end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pPr eaLnBrk="1" hangingPunct="1"/>
            <a:r>
              <a:rPr lang="en-US" altLang="zh-CN"/>
              <a:t>select</a:t>
            </a:r>
            <a:r>
              <a:rPr lang="zh-CN" altLang="en-US"/>
              <a:t>函数（</a:t>
            </a:r>
            <a:r>
              <a:rPr lang="en-US" altLang="zh-CN"/>
              <a:t>3</a:t>
            </a:r>
            <a:r>
              <a:rPr lang="zh-CN" altLang="en-US"/>
              <a:t>）</a:t>
            </a:r>
            <a:endParaRPr lang="zh-CN" altLang="en-US"/>
          </a:p>
        </p:txBody>
      </p:sp>
      <p:sp>
        <p:nvSpPr>
          <p:cNvPr id="28674" name="Rectangle 3"/>
          <p:cNvSpPr>
            <a:spLocks noGrp="1" noChangeArrowheads="1"/>
          </p:cNvSpPr>
          <p:nvPr>
            <p:ph idx="1"/>
          </p:nvPr>
        </p:nvSpPr>
        <p:spPr>
          <a:xfrm>
            <a:off x="301625" y="1741488"/>
            <a:ext cx="8540750" cy="4824412"/>
          </a:xfrm>
        </p:spPr>
        <p:txBody>
          <a:bodyPr/>
          <a:lstStyle/>
          <a:p>
            <a:pPr eaLnBrk="1" hangingPunct="1">
              <a:lnSpc>
                <a:spcPct val="150000"/>
              </a:lnSpc>
            </a:pPr>
            <a:r>
              <a:rPr lang="zh-CN" altLang="en-US" sz="2400">
                <a:latin typeface="Tahoma" panose="020B0604030504040204" pitchFamily="34" charset="0"/>
                <a:ea typeface="微软雅黑 Light" panose="020B0502040204020203" pitchFamily="34" charset="-122"/>
              </a:rPr>
              <a:t>结构</a:t>
            </a:r>
            <a:r>
              <a:rPr lang="en-US" altLang="zh-CN" sz="2400">
                <a:latin typeface="Tahoma" panose="020B0604030504040204" pitchFamily="34" charset="0"/>
                <a:ea typeface="微软雅黑 Light" panose="020B0502040204020203" pitchFamily="34" charset="-122"/>
              </a:rPr>
              <a:t>timeval</a:t>
            </a:r>
            <a:r>
              <a:rPr lang="zh-CN" altLang="en-US" sz="2400">
                <a:latin typeface="Tahoma" panose="020B0604030504040204" pitchFamily="34" charset="0"/>
                <a:ea typeface="微软雅黑 Light" panose="020B0502040204020203" pitchFamily="34" charset="-122"/>
              </a:rPr>
              <a:t>指定了秒数和微秒数。但内核支持的分辨率却要粗糙得多（</a:t>
            </a:r>
            <a:r>
              <a:rPr lang="en-US" altLang="zh-CN" sz="2400">
                <a:latin typeface="Tahoma" panose="020B0604030504040204" pitchFamily="34" charset="0"/>
                <a:ea typeface="微软雅黑 Light" panose="020B0502040204020203" pitchFamily="34" charset="-122"/>
              </a:rPr>
              <a:t>10ms</a:t>
            </a:r>
            <a:r>
              <a:rPr lang="zh-CN" altLang="en-US" sz="2400">
                <a:latin typeface="Tahoma" panose="020B0604030504040204" pitchFamily="34" charset="0"/>
                <a:ea typeface="微软雅黑 Light" panose="020B0502040204020203" pitchFamily="34" charset="-122"/>
              </a:rPr>
              <a:t>），因此，定时并不精确。另外，如果</a:t>
            </a:r>
            <a:r>
              <a:rPr lang="en-US" altLang="zh-CN" sz="2400">
                <a:latin typeface="Tahoma" panose="020B0604030504040204" pitchFamily="34" charset="0"/>
                <a:ea typeface="微软雅黑 Light" panose="020B0502040204020203" pitchFamily="34" charset="-122"/>
              </a:rPr>
              <a:t>select</a:t>
            </a:r>
            <a:r>
              <a:rPr lang="zh-CN" altLang="en-US" sz="2400">
                <a:latin typeface="Tahoma" panose="020B0604030504040204" pitchFamily="34" charset="0"/>
                <a:ea typeface="微软雅黑 Light" panose="020B0502040204020203" pitchFamily="34" charset="-122"/>
              </a:rPr>
              <a:t>的三个测试指针为空，将提供一个比函数</a:t>
            </a:r>
            <a:r>
              <a:rPr lang="en-US" altLang="zh-CN" sz="2400">
                <a:latin typeface="Tahoma" panose="020B0604030504040204" pitchFamily="34" charset="0"/>
                <a:ea typeface="微软雅黑 Light" panose="020B0502040204020203" pitchFamily="34" charset="-122"/>
              </a:rPr>
              <a:t>sleep</a:t>
            </a:r>
            <a:r>
              <a:rPr lang="zh-CN" altLang="en-US" sz="2400">
                <a:latin typeface="Tahoma" panose="020B0604030504040204" pitchFamily="34" charset="0"/>
                <a:ea typeface="微软雅黑 Light" panose="020B0502040204020203" pitchFamily="34" charset="-122"/>
              </a:rPr>
              <a:t>更为精确的定时器（</a:t>
            </a:r>
            <a:r>
              <a:rPr lang="en-US" altLang="zh-CN" sz="2400">
                <a:latin typeface="Tahoma" panose="020B0604030504040204" pitchFamily="34" charset="0"/>
                <a:ea typeface="微软雅黑 Light" panose="020B0502040204020203" pitchFamily="34" charset="-122"/>
              </a:rPr>
              <a:t>sleep</a:t>
            </a:r>
            <a:r>
              <a:rPr lang="zh-CN" altLang="en-US" sz="2400">
                <a:latin typeface="Tahoma" panose="020B0604030504040204" pitchFamily="34" charset="0"/>
                <a:ea typeface="微软雅黑 Light" panose="020B0502040204020203" pitchFamily="34" charset="-122"/>
              </a:rPr>
              <a:t>睡眠以秒为最小单位）。</a:t>
            </a:r>
            <a:endParaRPr lang="zh-CN" altLang="en-US" sz="2400">
              <a:latin typeface="Tahoma" panose="020B0604030504040204" pitchFamily="34" charset="0"/>
              <a:ea typeface="微软雅黑 Light" panose="020B0502040204020203" pitchFamily="34" charset="-122"/>
            </a:endParaRPr>
          </a:p>
          <a:p>
            <a:pPr eaLnBrk="1" hangingPunct="1">
              <a:lnSpc>
                <a:spcPct val="150000"/>
              </a:lnSpc>
            </a:pPr>
            <a:r>
              <a:rPr lang="en-US" altLang="zh-CN" sz="2400">
                <a:latin typeface="Tahoma" panose="020B0604030504040204" pitchFamily="34" charset="0"/>
                <a:ea typeface="微软雅黑 Light" panose="020B0502040204020203" pitchFamily="34" charset="-122"/>
              </a:rPr>
              <a:t>select</a:t>
            </a:r>
            <a:r>
              <a:rPr lang="zh-CN" altLang="en-US" sz="2400">
                <a:latin typeface="Tahoma" panose="020B0604030504040204" pitchFamily="34" charset="0"/>
                <a:ea typeface="微软雅黑 Light" panose="020B0502040204020203" pitchFamily="34" charset="-122"/>
              </a:rPr>
              <a:t>的三个描述字集合分别指示不同测试类型的描述字集合（读、写、异常描述字），其中异常描述字支持：套接字上带外数据的到达和控制状态信息的存在。</a:t>
            </a:r>
            <a:endParaRPr lang="zh-CN" altLang="en-US" sz="2400">
              <a:latin typeface="Tahoma" panose="020B0604030504040204" pitchFamily="34" charset="0"/>
              <a:ea typeface="微软雅黑 Light" panose="020B0502040204020203" pitchFamily="34" charset="-122"/>
            </a:endParaRPr>
          </a:p>
        </p:txBody>
      </p:sp>
    </p:spTree>
  </p:cSld>
  <p:clrMapOvr>
    <a:masterClrMapping/>
  </p:clrMapOvr>
  <p:transition spd="slow">
    <p:wipe dir="r"/>
    <p:sndAc>
      <p:end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685800" y="304800"/>
            <a:ext cx="7772400" cy="762000"/>
          </a:xfrm>
        </p:spPr>
        <p:txBody>
          <a:bodyPr/>
          <a:lstStyle/>
          <a:p>
            <a:pPr eaLnBrk="1" hangingPunct="1"/>
            <a:r>
              <a:rPr lang="en-US" altLang="zh-CN"/>
              <a:t>select</a:t>
            </a:r>
            <a:r>
              <a:rPr lang="zh-CN" altLang="en-US"/>
              <a:t>函数（</a:t>
            </a:r>
            <a:r>
              <a:rPr lang="en-US" altLang="zh-CN"/>
              <a:t>4</a:t>
            </a:r>
            <a:r>
              <a:rPr lang="zh-CN" altLang="en-US"/>
              <a:t>）</a:t>
            </a:r>
            <a:endParaRPr lang="zh-CN" altLang="en-US"/>
          </a:p>
        </p:txBody>
      </p:sp>
      <p:sp>
        <p:nvSpPr>
          <p:cNvPr id="29698" name="Rectangle 3"/>
          <p:cNvSpPr>
            <a:spLocks noGrp="1" noChangeArrowheads="1"/>
          </p:cNvSpPr>
          <p:nvPr>
            <p:ph idx="1"/>
          </p:nvPr>
        </p:nvSpPr>
        <p:spPr>
          <a:xfrm>
            <a:off x="304800" y="1341438"/>
            <a:ext cx="8540750" cy="5183187"/>
          </a:xfrm>
        </p:spPr>
        <p:txBody>
          <a:bodyPr/>
          <a:lstStyle/>
          <a:p>
            <a:pPr eaLnBrk="1" hangingPunct="1">
              <a:lnSpc>
                <a:spcPct val="150000"/>
              </a:lnSpc>
            </a:pPr>
            <a:r>
              <a:rPr lang="zh-CN" altLang="en-US" sz="2400" b="1">
                <a:latin typeface="Tahoma" panose="020B0604030504040204" pitchFamily="34" charset="0"/>
                <a:ea typeface="微软雅黑" panose="020B0503020204020204" pitchFamily="34" charset="-122"/>
              </a:rPr>
              <a:t>对描述字集合（</a:t>
            </a:r>
            <a:r>
              <a:rPr lang="en-US" altLang="zh-CN" sz="2400" b="1">
                <a:latin typeface="Tahoma" panose="020B0604030504040204" pitchFamily="34" charset="0"/>
                <a:ea typeface="微软雅黑" panose="020B0503020204020204" pitchFamily="34" charset="-122"/>
              </a:rPr>
              <a:t>32</a:t>
            </a:r>
            <a:r>
              <a:rPr lang="zh-CN" altLang="en-US" sz="2400" b="1">
                <a:latin typeface="Tahoma" panose="020B0604030504040204" pitchFamily="34" charset="0"/>
                <a:ea typeface="微软雅黑" panose="020B0503020204020204" pitchFamily="34" charset="-122"/>
              </a:rPr>
              <a:t>位整数）的操作主要有以下四个：</a:t>
            </a:r>
            <a:endParaRPr lang="zh-CN" altLang="en-US" sz="2400" b="1">
              <a:latin typeface="Tahoma" panose="020B0604030504040204" pitchFamily="34" charset="0"/>
              <a:ea typeface="微软雅黑" panose="020B0503020204020204" pitchFamily="34" charset="-122"/>
            </a:endParaRPr>
          </a:p>
          <a:p>
            <a:pPr lvl="1" eaLnBrk="1" hangingPunct="1">
              <a:lnSpc>
                <a:spcPct val="150000"/>
              </a:lnSpc>
              <a:buFontTx/>
              <a:buNone/>
            </a:pPr>
            <a:endParaRPr lang="en-US" altLang="zh-CN" sz="2400" b="1">
              <a:latin typeface="Tahoma" panose="020B0604030504040204" pitchFamily="34" charset="0"/>
              <a:ea typeface="微软雅黑" panose="020B0503020204020204" pitchFamily="34" charset="-122"/>
            </a:endParaRPr>
          </a:p>
          <a:p>
            <a:pPr lvl="1" eaLnBrk="1" hangingPunct="1">
              <a:lnSpc>
                <a:spcPct val="150000"/>
              </a:lnSpc>
              <a:buFontTx/>
              <a:buNone/>
            </a:pPr>
            <a:r>
              <a:rPr lang="en-US" altLang="zh-CN" sz="2400" b="1">
                <a:latin typeface="Tahoma" panose="020B0604030504040204" pitchFamily="34" charset="0"/>
                <a:ea typeface="微软雅黑" panose="020B0503020204020204" pitchFamily="34" charset="-122"/>
              </a:rPr>
              <a:t>void FD_ZERO(fd_set  *fdset);  </a:t>
            </a:r>
            <a:r>
              <a:rPr lang="en-US" altLang="zh-CN" sz="2400" b="1">
                <a:solidFill>
                  <a:srgbClr val="00B050"/>
                </a:solidFill>
                <a:latin typeface="Tahoma" panose="020B0604030504040204" pitchFamily="34" charset="0"/>
                <a:ea typeface="微软雅黑" panose="020B0503020204020204" pitchFamily="34" charset="-122"/>
              </a:rPr>
              <a:t>/*</a:t>
            </a:r>
            <a:r>
              <a:rPr lang="zh-CN" altLang="en-US" sz="2400" b="1">
                <a:solidFill>
                  <a:srgbClr val="00B050"/>
                </a:solidFill>
                <a:latin typeface="Tahoma" panose="020B0604030504040204" pitchFamily="34" charset="0"/>
                <a:ea typeface="微软雅黑" panose="020B0503020204020204" pitchFamily="34" charset="-122"/>
              </a:rPr>
              <a:t>所有</a:t>
            </a:r>
            <a:r>
              <a:rPr lang="en-US" altLang="zh-CN" sz="2400" b="1">
                <a:solidFill>
                  <a:srgbClr val="00B050"/>
                </a:solidFill>
                <a:latin typeface="Tahoma" panose="020B0604030504040204" pitchFamily="34" charset="0"/>
                <a:ea typeface="微软雅黑" panose="020B0503020204020204" pitchFamily="34" charset="-122"/>
              </a:rPr>
              <a:t>bit</a:t>
            </a:r>
            <a:r>
              <a:rPr lang="zh-CN" altLang="en-US" sz="2400" b="1">
                <a:solidFill>
                  <a:srgbClr val="00B050"/>
                </a:solidFill>
                <a:latin typeface="Tahoma" panose="020B0604030504040204" pitchFamily="34" charset="0"/>
                <a:ea typeface="微软雅黑" panose="020B0503020204020204" pitchFamily="34" charset="-122"/>
              </a:rPr>
              <a:t>位置</a:t>
            </a:r>
            <a:r>
              <a:rPr lang="en-US" altLang="zh-CN" sz="2400" b="1">
                <a:solidFill>
                  <a:srgbClr val="00B050"/>
                </a:solidFill>
                <a:latin typeface="Tahoma" panose="020B0604030504040204" pitchFamily="34" charset="0"/>
                <a:ea typeface="微软雅黑" panose="020B0503020204020204" pitchFamily="34" charset="-122"/>
              </a:rPr>
              <a:t>0*/</a:t>
            </a:r>
            <a:r>
              <a:rPr lang="en-US" altLang="zh-CN" sz="2400" b="1">
                <a:latin typeface="Tahoma" panose="020B0604030504040204" pitchFamily="34" charset="0"/>
                <a:ea typeface="微软雅黑" panose="020B0503020204020204" pitchFamily="34" charset="-122"/>
              </a:rPr>
              <a:t>	 </a:t>
            </a:r>
            <a:endParaRPr lang="en-US" altLang="zh-CN" sz="2400" b="1">
              <a:latin typeface="Tahoma" panose="020B0604030504040204" pitchFamily="34" charset="0"/>
              <a:ea typeface="微软雅黑" panose="020B0503020204020204" pitchFamily="34" charset="-122"/>
            </a:endParaRPr>
          </a:p>
          <a:p>
            <a:pPr lvl="1" eaLnBrk="1" hangingPunct="1">
              <a:lnSpc>
                <a:spcPct val="150000"/>
              </a:lnSpc>
              <a:buFontTx/>
              <a:buNone/>
            </a:pPr>
            <a:r>
              <a:rPr lang="en-US" altLang="zh-CN" sz="2400" b="1">
                <a:latin typeface="Tahoma" panose="020B0604030504040204" pitchFamily="34" charset="0"/>
                <a:ea typeface="微软雅黑" panose="020B0503020204020204" pitchFamily="34" charset="-122"/>
              </a:rPr>
              <a:t>void FD_SET(int fd, fd_set  *fdset);  </a:t>
            </a:r>
            <a:r>
              <a:rPr lang="en-US" altLang="zh-CN" sz="2400" b="1">
                <a:solidFill>
                  <a:srgbClr val="00B050"/>
                </a:solidFill>
                <a:latin typeface="Tahoma" panose="020B0604030504040204" pitchFamily="34" charset="0"/>
                <a:ea typeface="微软雅黑" panose="020B0503020204020204" pitchFamily="34" charset="-122"/>
              </a:rPr>
              <a:t>/*</a:t>
            </a:r>
            <a:r>
              <a:rPr lang="zh-CN" altLang="en-US" sz="2400" b="1">
                <a:solidFill>
                  <a:srgbClr val="00B050"/>
                </a:solidFill>
                <a:latin typeface="Tahoma" panose="020B0604030504040204" pitchFamily="34" charset="0"/>
                <a:ea typeface="微软雅黑" panose="020B0503020204020204" pitchFamily="34" charset="-122"/>
              </a:rPr>
              <a:t>将</a:t>
            </a:r>
            <a:r>
              <a:rPr lang="en-US" altLang="zh-CN" sz="2400" b="1">
                <a:solidFill>
                  <a:srgbClr val="00B050"/>
                </a:solidFill>
                <a:latin typeface="Tahoma" panose="020B0604030504040204" pitchFamily="34" charset="0"/>
                <a:ea typeface="微软雅黑" panose="020B0503020204020204" pitchFamily="34" charset="-122"/>
              </a:rPr>
              <a:t>fd</a:t>
            </a:r>
            <a:r>
              <a:rPr lang="zh-CN" altLang="en-US" sz="2400" b="1">
                <a:solidFill>
                  <a:srgbClr val="00B050"/>
                </a:solidFill>
                <a:latin typeface="Tahoma" panose="020B0604030504040204" pitchFamily="34" charset="0"/>
                <a:ea typeface="微软雅黑" panose="020B0503020204020204" pitchFamily="34" charset="-122"/>
              </a:rPr>
              <a:t>位置</a:t>
            </a:r>
            <a:r>
              <a:rPr lang="en-US" altLang="zh-CN" sz="2400" b="1">
                <a:solidFill>
                  <a:srgbClr val="00B050"/>
                </a:solidFill>
                <a:latin typeface="Tahoma" panose="020B0604030504040204" pitchFamily="34" charset="0"/>
                <a:ea typeface="微软雅黑" panose="020B0503020204020204" pitchFamily="34" charset="-122"/>
              </a:rPr>
              <a:t>1*/</a:t>
            </a:r>
            <a:r>
              <a:rPr lang="en-US" altLang="zh-CN" sz="2400" b="1">
                <a:latin typeface="Tahoma" panose="020B0604030504040204" pitchFamily="34" charset="0"/>
                <a:ea typeface="微软雅黑" panose="020B0503020204020204" pitchFamily="34" charset="-122"/>
              </a:rPr>
              <a:t>               </a:t>
            </a:r>
            <a:endParaRPr lang="en-US" altLang="zh-CN" sz="2400" b="1">
              <a:latin typeface="Tahoma" panose="020B0604030504040204" pitchFamily="34" charset="0"/>
              <a:ea typeface="微软雅黑" panose="020B0503020204020204" pitchFamily="34" charset="-122"/>
            </a:endParaRPr>
          </a:p>
          <a:p>
            <a:pPr lvl="1" eaLnBrk="1" hangingPunct="1">
              <a:lnSpc>
                <a:spcPct val="150000"/>
              </a:lnSpc>
              <a:buFontTx/>
              <a:buNone/>
            </a:pPr>
            <a:r>
              <a:rPr lang="en-US" altLang="zh-CN" sz="2400" b="1">
                <a:latin typeface="Tahoma" panose="020B0604030504040204" pitchFamily="34" charset="0"/>
                <a:ea typeface="微软雅黑" panose="020B0503020204020204" pitchFamily="34" charset="-122"/>
              </a:rPr>
              <a:t>void FD_CLR(int fd, fd_set  *fdset);</a:t>
            </a:r>
            <a:r>
              <a:rPr lang="en-US" altLang="zh-CN" sz="2400" b="1">
                <a:solidFill>
                  <a:srgbClr val="00B050"/>
                </a:solidFill>
                <a:latin typeface="Tahoma" panose="020B0604030504040204" pitchFamily="34" charset="0"/>
                <a:ea typeface="微软雅黑" panose="020B0503020204020204" pitchFamily="34" charset="-122"/>
              </a:rPr>
              <a:t> /*</a:t>
            </a:r>
            <a:r>
              <a:rPr lang="zh-CN" altLang="en-US" sz="2400" b="1">
                <a:solidFill>
                  <a:srgbClr val="00B050"/>
                </a:solidFill>
                <a:latin typeface="Tahoma" panose="020B0604030504040204" pitchFamily="34" charset="0"/>
                <a:ea typeface="微软雅黑" panose="020B0503020204020204" pitchFamily="34" charset="-122"/>
              </a:rPr>
              <a:t>将</a:t>
            </a:r>
            <a:r>
              <a:rPr lang="en-US" altLang="zh-CN" sz="2400" b="1">
                <a:solidFill>
                  <a:srgbClr val="00B050"/>
                </a:solidFill>
                <a:latin typeface="Tahoma" panose="020B0604030504040204" pitchFamily="34" charset="0"/>
                <a:ea typeface="微软雅黑" panose="020B0503020204020204" pitchFamily="34" charset="-122"/>
              </a:rPr>
              <a:t>fd</a:t>
            </a:r>
            <a:r>
              <a:rPr lang="zh-CN" altLang="en-US" sz="2400" b="1">
                <a:solidFill>
                  <a:srgbClr val="00B050"/>
                </a:solidFill>
                <a:latin typeface="Tahoma" panose="020B0604030504040204" pitchFamily="34" charset="0"/>
                <a:ea typeface="微软雅黑" panose="020B0503020204020204" pitchFamily="34" charset="-122"/>
              </a:rPr>
              <a:t>位置</a:t>
            </a:r>
            <a:r>
              <a:rPr lang="en-US" altLang="zh-CN" sz="2400" b="1">
                <a:solidFill>
                  <a:srgbClr val="00B050"/>
                </a:solidFill>
                <a:latin typeface="Tahoma" panose="020B0604030504040204" pitchFamily="34" charset="0"/>
                <a:ea typeface="微软雅黑" panose="020B0503020204020204" pitchFamily="34" charset="-122"/>
              </a:rPr>
              <a:t>0*/</a:t>
            </a:r>
            <a:r>
              <a:rPr lang="en-US" altLang="zh-CN" sz="2400" b="1">
                <a:latin typeface="Tahoma" panose="020B0604030504040204" pitchFamily="34" charset="0"/>
                <a:ea typeface="微软雅黑" panose="020B0503020204020204" pitchFamily="34" charset="-122"/>
              </a:rPr>
              <a:t> 	                </a:t>
            </a:r>
            <a:endParaRPr lang="en-US" altLang="zh-CN" sz="2400" b="1">
              <a:latin typeface="Tahoma" panose="020B0604030504040204" pitchFamily="34" charset="0"/>
              <a:ea typeface="微软雅黑" panose="020B0503020204020204" pitchFamily="34" charset="-122"/>
            </a:endParaRPr>
          </a:p>
          <a:p>
            <a:pPr lvl="1" eaLnBrk="1" hangingPunct="1">
              <a:lnSpc>
                <a:spcPct val="150000"/>
              </a:lnSpc>
              <a:buFontTx/>
              <a:buNone/>
            </a:pPr>
            <a:r>
              <a:rPr lang="en-US" altLang="zh-CN" sz="2400" b="1">
                <a:latin typeface="Tahoma" panose="020B0604030504040204" pitchFamily="34" charset="0"/>
                <a:ea typeface="微软雅黑" panose="020B0503020204020204" pitchFamily="34" charset="-122"/>
              </a:rPr>
              <a:t>int FD_ISSET(int fd, fd_set  *fdset);  </a:t>
            </a:r>
            <a:r>
              <a:rPr lang="en-US" altLang="zh-CN" sz="2400" b="1">
                <a:solidFill>
                  <a:srgbClr val="00B050"/>
                </a:solidFill>
                <a:latin typeface="Tahoma" panose="020B0604030504040204" pitchFamily="34" charset="0"/>
                <a:ea typeface="微软雅黑" panose="020B0503020204020204" pitchFamily="34" charset="-122"/>
              </a:rPr>
              <a:t>/*</a:t>
            </a:r>
            <a:r>
              <a:rPr lang="zh-CN" altLang="en-US" sz="2400" b="1">
                <a:solidFill>
                  <a:srgbClr val="00B050"/>
                </a:solidFill>
                <a:latin typeface="Tahoma" panose="020B0604030504040204" pitchFamily="34" charset="0"/>
                <a:ea typeface="微软雅黑" panose="020B0503020204020204" pitchFamily="34" charset="-122"/>
              </a:rPr>
              <a:t>检测</a:t>
            </a:r>
            <a:r>
              <a:rPr lang="en-US" altLang="zh-CN" sz="2400" b="1">
                <a:solidFill>
                  <a:srgbClr val="00B050"/>
                </a:solidFill>
                <a:latin typeface="Tahoma" panose="020B0604030504040204" pitchFamily="34" charset="0"/>
                <a:ea typeface="微软雅黑" panose="020B0503020204020204" pitchFamily="34" charset="-122"/>
              </a:rPr>
              <a:t>fd</a:t>
            </a:r>
            <a:r>
              <a:rPr lang="zh-CN" altLang="en-US" sz="2400" b="1">
                <a:solidFill>
                  <a:srgbClr val="00B050"/>
                </a:solidFill>
                <a:latin typeface="Tahoma" panose="020B0604030504040204" pitchFamily="34" charset="0"/>
                <a:ea typeface="微软雅黑" panose="020B0503020204020204" pitchFamily="34" charset="-122"/>
              </a:rPr>
              <a:t>位是否为</a:t>
            </a:r>
            <a:r>
              <a:rPr lang="en-US" altLang="zh-CN" sz="2400" b="1">
                <a:solidFill>
                  <a:srgbClr val="00B050"/>
                </a:solidFill>
                <a:latin typeface="Tahoma" panose="020B0604030504040204" pitchFamily="34" charset="0"/>
                <a:ea typeface="微软雅黑" panose="020B0503020204020204" pitchFamily="34" charset="-122"/>
              </a:rPr>
              <a:t>1*/</a:t>
            </a:r>
            <a:r>
              <a:rPr lang="en-US" altLang="zh-CN" sz="2400" b="1">
                <a:latin typeface="Tahoma" panose="020B0604030504040204" pitchFamily="34" charset="0"/>
                <a:ea typeface="微软雅黑" panose="020B0503020204020204" pitchFamily="34" charset="-122"/>
              </a:rPr>
              <a:t>                </a:t>
            </a:r>
            <a:endParaRPr lang="zh-CN" altLang="en-US" sz="2200" b="1">
              <a:latin typeface="Tahoma" panose="020B0604030504040204" pitchFamily="34" charset="0"/>
              <a:ea typeface="微软雅黑" panose="020B0503020204020204" pitchFamily="34" charset="-122"/>
            </a:endParaRPr>
          </a:p>
          <a:p>
            <a:pPr lvl="1" algn="r" eaLnBrk="1" hangingPunct="1">
              <a:lnSpc>
                <a:spcPct val="80000"/>
              </a:lnSpc>
              <a:buFontTx/>
              <a:buNone/>
            </a:pPr>
            <a:r>
              <a:rPr lang="zh-CN" altLang="en-US" sz="1800" b="1">
                <a:latin typeface="Tahoma" panose="020B0604030504040204" pitchFamily="34" charset="0"/>
                <a:ea typeface="微软雅黑" panose="020B0503020204020204" pitchFamily="34" charset="-122"/>
              </a:rPr>
              <a:t>                                       </a:t>
            </a:r>
            <a:endParaRPr lang="zh-CN" altLang="en-US" sz="1800" b="1">
              <a:latin typeface="Tahoma" panose="020B0604030504040204" pitchFamily="34" charset="0"/>
              <a:ea typeface="微软雅黑" panose="020B0503020204020204" pitchFamily="34" charset="-122"/>
            </a:endParaRPr>
          </a:p>
        </p:txBody>
      </p:sp>
      <p:sp>
        <p:nvSpPr>
          <p:cNvPr id="21508" name="AutoShape 4"/>
          <p:cNvSpPr>
            <a:spLocks noChangeArrowheads="1"/>
          </p:cNvSpPr>
          <p:nvPr/>
        </p:nvSpPr>
        <p:spPr bwMode="auto">
          <a:xfrm>
            <a:off x="2373313" y="1196975"/>
            <a:ext cx="3457575" cy="1295400"/>
          </a:xfrm>
          <a:prstGeom prst="wedgeEllipseCallout">
            <a:avLst>
              <a:gd name="adj1" fmla="val -48394"/>
              <a:gd name="adj2" fmla="val 74389"/>
            </a:avLst>
          </a:prstGeom>
          <a:solidFill>
            <a:schemeClr val="accent1"/>
          </a:solidFill>
          <a:ln w="9525">
            <a:solidFill>
              <a:schemeClr val="tx1"/>
            </a:solidFill>
            <a:miter lim="800000"/>
          </a:ln>
        </p:spPr>
        <p:txBody>
          <a:bodyPr/>
          <a:lstStyle/>
          <a:p>
            <a:pPr algn="ctr"/>
            <a:r>
              <a:rPr lang="en-US" altLang="zh-CN"/>
              <a:t>FD_ZERO:</a:t>
            </a:r>
            <a:r>
              <a:rPr lang="zh-CN" altLang="en-US"/>
              <a:t>清空</a:t>
            </a:r>
            <a:r>
              <a:rPr lang="en-US" altLang="zh-CN"/>
              <a:t>fd_set</a:t>
            </a:r>
            <a:r>
              <a:rPr lang="zh-CN" altLang="en-US"/>
              <a:t>描述符集合</a:t>
            </a:r>
            <a:endParaRPr lang="zh-CN" altLang="en-US"/>
          </a:p>
        </p:txBody>
      </p:sp>
      <p:sp>
        <p:nvSpPr>
          <p:cNvPr id="21509" name="AutoShape 5"/>
          <p:cNvSpPr>
            <a:spLocks noChangeArrowheads="1"/>
          </p:cNvSpPr>
          <p:nvPr/>
        </p:nvSpPr>
        <p:spPr bwMode="auto">
          <a:xfrm>
            <a:off x="2735263" y="1700213"/>
            <a:ext cx="3671887" cy="1295400"/>
          </a:xfrm>
          <a:prstGeom prst="wedgeEllipseCallout">
            <a:avLst>
              <a:gd name="adj1" fmla="val -53199"/>
              <a:gd name="adj2" fmla="val 87255"/>
            </a:avLst>
          </a:prstGeom>
          <a:solidFill>
            <a:schemeClr val="accent1"/>
          </a:solidFill>
          <a:ln w="9525">
            <a:solidFill>
              <a:schemeClr val="tx1"/>
            </a:solidFill>
            <a:miter lim="800000"/>
          </a:ln>
        </p:spPr>
        <p:txBody>
          <a:bodyPr/>
          <a:lstStyle/>
          <a:p>
            <a:pPr algn="ctr"/>
            <a:r>
              <a:rPr lang="en-US" altLang="zh-CN"/>
              <a:t>FD_SET:</a:t>
            </a:r>
            <a:r>
              <a:rPr lang="zh-CN" altLang="en-US"/>
              <a:t>往</a:t>
            </a:r>
            <a:r>
              <a:rPr lang="en-US" altLang="zh-CN"/>
              <a:t>fd_set</a:t>
            </a:r>
            <a:r>
              <a:rPr lang="zh-CN" altLang="en-US"/>
              <a:t>中添加描述符，建立文件描述符与</a:t>
            </a:r>
            <a:r>
              <a:rPr lang="en-US" altLang="zh-CN"/>
              <a:t>fd_set</a:t>
            </a:r>
            <a:r>
              <a:rPr lang="zh-CN" altLang="en-US"/>
              <a:t>联系</a:t>
            </a:r>
            <a:endParaRPr lang="zh-CN" altLang="en-US"/>
          </a:p>
        </p:txBody>
      </p:sp>
      <p:sp>
        <p:nvSpPr>
          <p:cNvPr id="21510" name="AutoShape 6"/>
          <p:cNvSpPr>
            <a:spLocks noChangeArrowheads="1"/>
          </p:cNvSpPr>
          <p:nvPr/>
        </p:nvSpPr>
        <p:spPr bwMode="auto">
          <a:xfrm>
            <a:off x="2160588" y="2379663"/>
            <a:ext cx="3670300" cy="1295400"/>
          </a:xfrm>
          <a:prstGeom prst="wedgeEllipseCallout">
            <a:avLst>
              <a:gd name="adj1" fmla="val -53199"/>
              <a:gd name="adj2" fmla="val 87255"/>
            </a:avLst>
          </a:prstGeom>
          <a:solidFill>
            <a:schemeClr val="accent1"/>
          </a:solidFill>
          <a:ln w="9525">
            <a:solidFill>
              <a:schemeClr val="tx1"/>
            </a:solidFill>
            <a:miter lim="800000"/>
          </a:ln>
        </p:spPr>
        <p:txBody>
          <a:bodyPr/>
          <a:lstStyle/>
          <a:p>
            <a:pPr algn="ctr"/>
            <a:r>
              <a:rPr lang="en-US" altLang="zh-CN"/>
              <a:t>FD_CLR:</a:t>
            </a:r>
            <a:r>
              <a:rPr lang="zh-CN" altLang="en-US"/>
              <a:t>在</a:t>
            </a:r>
            <a:r>
              <a:rPr lang="en-US" altLang="zh-CN"/>
              <a:t>fd_set</a:t>
            </a:r>
            <a:r>
              <a:rPr lang="zh-CN" altLang="en-US"/>
              <a:t>中删除描述符</a:t>
            </a:r>
            <a:endParaRPr lang="zh-CN" altLang="en-US"/>
          </a:p>
        </p:txBody>
      </p:sp>
      <p:sp>
        <p:nvSpPr>
          <p:cNvPr id="21511" name="AutoShape 7"/>
          <p:cNvSpPr>
            <a:spLocks noChangeArrowheads="1"/>
          </p:cNvSpPr>
          <p:nvPr/>
        </p:nvSpPr>
        <p:spPr bwMode="auto">
          <a:xfrm>
            <a:off x="3348038" y="5013325"/>
            <a:ext cx="3671887" cy="1295400"/>
          </a:xfrm>
          <a:prstGeom prst="wedgeEllipseCallout">
            <a:avLst>
              <a:gd name="adj1" fmla="val -73722"/>
              <a:gd name="adj2" fmla="val -43838"/>
            </a:avLst>
          </a:prstGeom>
          <a:solidFill>
            <a:schemeClr val="accent1"/>
          </a:solidFill>
          <a:ln w="9525">
            <a:solidFill>
              <a:schemeClr val="tx1"/>
            </a:solidFill>
            <a:miter lim="800000"/>
          </a:ln>
        </p:spPr>
        <p:txBody>
          <a:bodyPr/>
          <a:lstStyle/>
          <a:p>
            <a:pPr algn="ctr"/>
            <a:r>
              <a:rPr lang="en-US" altLang="zh-CN"/>
              <a:t>FD_ISST:</a:t>
            </a:r>
            <a:r>
              <a:rPr lang="zh-CN" altLang="en-US"/>
              <a:t>检查</a:t>
            </a:r>
            <a:r>
              <a:rPr lang="en-US" altLang="zh-CN"/>
              <a:t>fd_set</a:t>
            </a:r>
            <a:r>
              <a:rPr lang="zh-CN" altLang="en-US"/>
              <a:t>联系的文件描述符</a:t>
            </a:r>
            <a:r>
              <a:rPr lang="en-US" altLang="zh-CN"/>
              <a:t>fd</a:t>
            </a:r>
            <a:r>
              <a:rPr lang="zh-CN" altLang="en-US"/>
              <a:t>是否可读写</a:t>
            </a:r>
            <a:endParaRPr lang="zh-CN" altLang="en-US"/>
          </a:p>
        </p:txBody>
      </p:sp>
    </p:spTree>
  </p:cSld>
  <p:clrMapOvr>
    <a:masterClrMapping/>
  </p:clrMapOvr>
  <p:transition spd="slow">
    <p:wipe dir="r"/>
    <p:sndAc>
      <p:end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Effect transition="in" filter="blinds(horizontal)">
                                      <p:cBhvr>
                                        <p:cTn id="7" dur="500"/>
                                        <p:tgtEl>
                                          <p:spTgt spid="2150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21508"/>
                                        </p:tgtEl>
                                      </p:cBhvr>
                                    </p:animEffect>
                                    <p:set>
                                      <p:cBhvr>
                                        <p:cTn id="12" dur="1" fill="hold">
                                          <p:stCondLst>
                                            <p:cond delay="499"/>
                                          </p:stCondLst>
                                        </p:cTn>
                                        <p:tgtEl>
                                          <p:spTgt spid="2150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509"/>
                                        </p:tgtEl>
                                        <p:attrNameLst>
                                          <p:attrName>style.visibility</p:attrName>
                                        </p:attrNameLst>
                                      </p:cBhvr>
                                      <p:to>
                                        <p:strVal val="visible"/>
                                      </p:to>
                                    </p:set>
                                    <p:animEffect transition="in" filter="blinds(horizontal)">
                                      <p:cBhvr>
                                        <p:cTn id="17" dur="500"/>
                                        <p:tgtEl>
                                          <p:spTgt spid="2150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1" nodeType="clickEffect">
                                  <p:stCondLst>
                                    <p:cond delay="0"/>
                                  </p:stCondLst>
                                  <p:childTnLst>
                                    <p:animEffect transition="out" filter="blinds(horizontal)">
                                      <p:cBhvr>
                                        <p:cTn id="21" dur="500"/>
                                        <p:tgtEl>
                                          <p:spTgt spid="21509"/>
                                        </p:tgtEl>
                                      </p:cBhvr>
                                    </p:animEffect>
                                    <p:set>
                                      <p:cBhvr>
                                        <p:cTn id="22" dur="1" fill="hold">
                                          <p:stCondLst>
                                            <p:cond delay="499"/>
                                          </p:stCondLst>
                                        </p:cTn>
                                        <p:tgtEl>
                                          <p:spTgt spid="2150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510"/>
                                        </p:tgtEl>
                                        <p:attrNameLst>
                                          <p:attrName>style.visibility</p:attrName>
                                        </p:attrNameLst>
                                      </p:cBhvr>
                                      <p:to>
                                        <p:strVal val="visible"/>
                                      </p:to>
                                    </p:set>
                                    <p:animEffect transition="in" filter="blinds(horizontal)">
                                      <p:cBhvr>
                                        <p:cTn id="27" dur="500"/>
                                        <p:tgtEl>
                                          <p:spTgt spid="215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1" nodeType="clickEffect">
                                  <p:stCondLst>
                                    <p:cond delay="0"/>
                                  </p:stCondLst>
                                  <p:childTnLst>
                                    <p:animEffect transition="out" filter="blinds(horizontal)">
                                      <p:cBhvr>
                                        <p:cTn id="31" dur="500"/>
                                        <p:tgtEl>
                                          <p:spTgt spid="21510"/>
                                        </p:tgtEl>
                                      </p:cBhvr>
                                    </p:animEffect>
                                    <p:set>
                                      <p:cBhvr>
                                        <p:cTn id="32" dur="1" fill="hold">
                                          <p:stCondLst>
                                            <p:cond delay="499"/>
                                          </p:stCondLst>
                                        </p:cTn>
                                        <p:tgtEl>
                                          <p:spTgt spid="2151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1511"/>
                                        </p:tgtEl>
                                        <p:attrNameLst>
                                          <p:attrName>style.visibility</p:attrName>
                                        </p:attrNameLst>
                                      </p:cBhvr>
                                      <p:to>
                                        <p:strVal val="visible"/>
                                      </p:to>
                                    </p:set>
                                    <p:animEffect transition="in" filter="blinds(horizontal)">
                                      <p:cBhvr>
                                        <p:cTn id="37" dur="500"/>
                                        <p:tgtEl>
                                          <p:spTgt spid="2151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1" nodeType="clickEffect">
                                  <p:stCondLst>
                                    <p:cond delay="0"/>
                                  </p:stCondLst>
                                  <p:childTnLst>
                                    <p:animEffect transition="out" filter="blinds(horizontal)">
                                      <p:cBhvr>
                                        <p:cTn id="41" dur="500"/>
                                        <p:tgtEl>
                                          <p:spTgt spid="21511"/>
                                        </p:tgtEl>
                                      </p:cBhvr>
                                    </p:animEffect>
                                    <p:set>
                                      <p:cBhvr>
                                        <p:cTn id="42" dur="1" fill="hold">
                                          <p:stCondLst>
                                            <p:cond delay="499"/>
                                          </p:stCondLst>
                                        </p:cTn>
                                        <p:tgtEl>
                                          <p:spTgt spid="215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nimBg="1"/>
      <p:bldP spid="21508" grpId="1" animBg="1"/>
      <p:bldP spid="21509" grpId="0" animBg="1"/>
      <p:bldP spid="21509" grpId="1" animBg="1"/>
      <p:bldP spid="21510" grpId="0" animBg="1"/>
      <p:bldP spid="21510" grpId="1" animBg="1"/>
      <p:bldP spid="21511" grpId="0" animBg="1"/>
      <p:bldP spid="21511"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685800" y="304800"/>
            <a:ext cx="7772400" cy="762000"/>
          </a:xfrm>
        </p:spPr>
        <p:txBody>
          <a:bodyPr/>
          <a:lstStyle/>
          <a:p>
            <a:pPr eaLnBrk="1" hangingPunct="1"/>
            <a:r>
              <a:rPr lang="en-US" altLang="zh-CN"/>
              <a:t>select</a:t>
            </a:r>
            <a:r>
              <a:rPr lang="zh-CN" altLang="en-US"/>
              <a:t>函数（</a:t>
            </a:r>
            <a:r>
              <a:rPr lang="en-US" altLang="zh-CN"/>
              <a:t>4</a:t>
            </a:r>
            <a:r>
              <a:rPr lang="zh-CN" altLang="en-US"/>
              <a:t>）</a:t>
            </a:r>
            <a:endParaRPr lang="zh-CN" altLang="en-US"/>
          </a:p>
        </p:txBody>
      </p:sp>
      <p:sp>
        <p:nvSpPr>
          <p:cNvPr id="21507" name="Rectangle 3"/>
          <p:cNvSpPr>
            <a:spLocks noGrp="1" noChangeArrowheads="1"/>
          </p:cNvSpPr>
          <p:nvPr>
            <p:ph idx="1"/>
          </p:nvPr>
        </p:nvSpPr>
        <p:spPr>
          <a:xfrm>
            <a:off x="304800" y="1341438"/>
            <a:ext cx="8540750" cy="5183187"/>
          </a:xfrm>
        </p:spPr>
        <p:txBody>
          <a:bodyPr/>
          <a:lstStyle/>
          <a:p>
            <a:pPr lvl="1" algn="r" eaLnBrk="1" hangingPunct="1">
              <a:lnSpc>
                <a:spcPct val="80000"/>
              </a:lnSpc>
              <a:buFontTx/>
              <a:buNone/>
              <a:defRPr/>
            </a:pPr>
            <a:r>
              <a:rPr kumimoji="1" lang="zh-CN" altLang="en-US" sz="1800" b="1">
                <a:cs typeface="+mn-ea"/>
              </a:rPr>
              <a:t>                                       </a:t>
            </a:r>
            <a:endParaRPr kumimoji="1" lang="zh-CN" altLang="en-US" sz="1800" b="1">
              <a:cs typeface="+mn-ea"/>
            </a:endParaRPr>
          </a:p>
          <a:p>
            <a:pPr eaLnBrk="1" hangingPunct="1">
              <a:lnSpc>
                <a:spcPct val="150000"/>
              </a:lnSpc>
              <a:defRPr/>
            </a:pPr>
            <a:r>
              <a:rPr kumimoji="1" lang="zh-CN" altLang="en-US" sz="2400" b="1">
                <a:latin typeface="微软雅黑" panose="020B0503020204020204" pitchFamily="34" charset="-122"/>
                <a:ea typeface="微软雅黑" panose="020B0503020204020204" pitchFamily="34" charset="-122"/>
              </a:rPr>
              <a:t>使用</a:t>
            </a:r>
            <a:r>
              <a:rPr kumimoji="1" lang="en-US" altLang="zh-CN" sz="2400" b="1">
                <a:latin typeface="微软雅黑" panose="020B0503020204020204" pitchFamily="34" charset="-122"/>
                <a:ea typeface="微软雅黑" panose="020B0503020204020204" pitchFamily="34" charset="-122"/>
              </a:rPr>
              <a:t>select</a:t>
            </a:r>
            <a:r>
              <a:rPr kumimoji="1" lang="zh-CN" altLang="en-US" sz="2400" b="1">
                <a:latin typeface="微软雅黑" panose="020B0503020204020204" pitchFamily="34" charset="-122"/>
                <a:ea typeface="微软雅黑" panose="020B0503020204020204" pitchFamily="34" charset="-122"/>
              </a:rPr>
              <a:t>函数需重点注意的几个问题</a:t>
            </a:r>
            <a:r>
              <a:rPr kumimoji="1" lang="zh-CN" altLang="en-US" sz="2400">
                <a:ea typeface="微软雅黑 Light" panose="020B0502040204020203" pitchFamily="34" charset="-122"/>
              </a:rPr>
              <a:t>：</a:t>
            </a:r>
            <a:endParaRPr kumimoji="1" lang="zh-CN" altLang="en-US" sz="2400">
              <a:ea typeface="微软雅黑 Light" panose="020B0502040204020203" pitchFamily="34" charset="-122"/>
            </a:endParaRPr>
          </a:p>
          <a:p>
            <a:pPr lvl="1" algn="just" eaLnBrk="1" hangingPunct="1">
              <a:lnSpc>
                <a:spcPct val="150000"/>
              </a:lnSpc>
              <a:defRPr/>
            </a:pPr>
            <a:r>
              <a:rPr kumimoji="1" lang="zh-CN" altLang="en-US" sz="2400" b="1">
                <a:solidFill>
                  <a:srgbClr val="0070C0"/>
                </a:solidFill>
                <a:ea typeface="微软雅黑 Light" panose="020B0502040204020203" pitchFamily="34" charset="-122"/>
                <a:cs typeface="+mn-ea"/>
              </a:rPr>
              <a:t>需对最大描述字加</a:t>
            </a:r>
            <a:r>
              <a:rPr kumimoji="1" lang="en-US" altLang="zh-CN" sz="2400" b="1">
                <a:solidFill>
                  <a:srgbClr val="0070C0"/>
                </a:solidFill>
                <a:ea typeface="微软雅黑 Light" panose="020B0502040204020203" pitchFamily="34" charset="-122"/>
                <a:cs typeface="+mn-ea"/>
              </a:rPr>
              <a:t>1</a:t>
            </a:r>
            <a:r>
              <a:rPr kumimoji="1" lang="zh-CN" altLang="en-US" sz="2400">
                <a:ea typeface="微软雅黑 Light" panose="020B0502040204020203" pitchFamily="34" charset="-122"/>
                <a:cs typeface="+mn-ea"/>
              </a:rPr>
              <a:t>，如：需等待的描述字为</a:t>
            </a:r>
            <a:r>
              <a:rPr kumimoji="1" lang="en-US" altLang="zh-CN" sz="2400">
                <a:ea typeface="微软雅黑 Light" panose="020B0502040204020203" pitchFamily="34" charset="-122"/>
                <a:cs typeface="+mn-ea"/>
              </a:rPr>
              <a:t>1</a:t>
            </a:r>
            <a:r>
              <a:rPr kumimoji="1" lang="zh-CN" altLang="en-US" sz="2400">
                <a:ea typeface="微软雅黑 Light" panose="020B0502040204020203" pitchFamily="34" charset="-122"/>
                <a:cs typeface="+mn-ea"/>
              </a:rPr>
              <a:t>，</a:t>
            </a:r>
            <a:r>
              <a:rPr kumimoji="1" lang="en-US" altLang="zh-CN" sz="2400">
                <a:ea typeface="微软雅黑 Light" panose="020B0502040204020203" pitchFamily="34" charset="-122"/>
                <a:cs typeface="+mn-ea"/>
              </a:rPr>
              <a:t>4</a:t>
            </a:r>
            <a:r>
              <a:rPr kumimoji="1" lang="zh-CN" altLang="en-US" sz="2400">
                <a:ea typeface="微软雅黑 Light" panose="020B0502040204020203" pitchFamily="34" charset="-122"/>
                <a:cs typeface="+mn-ea"/>
              </a:rPr>
              <a:t>，</a:t>
            </a:r>
            <a:r>
              <a:rPr kumimoji="1" lang="en-US" altLang="zh-CN" sz="2400">
                <a:ea typeface="微软雅黑 Light" panose="020B0502040204020203" pitchFamily="34" charset="-122"/>
                <a:cs typeface="+mn-ea"/>
              </a:rPr>
              <a:t>5</a:t>
            </a:r>
            <a:r>
              <a:rPr kumimoji="1" lang="zh-CN" altLang="en-US" sz="2400">
                <a:ea typeface="微软雅黑 Light" panose="020B0502040204020203" pitchFamily="34" charset="-122"/>
                <a:cs typeface="+mn-ea"/>
              </a:rPr>
              <a:t>，其</a:t>
            </a:r>
            <a:r>
              <a:rPr kumimoji="1" lang="en-US" altLang="zh-CN" sz="2400">
                <a:ea typeface="微软雅黑 Light" panose="020B0502040204020203" pitchFamily="34" charset="-122"/>
                <a:cs typeface="+mn-ea"/>
              </a:rPr>
              <a:t>maxfd</a:t>
            </a:r>
            <a:r>
              <a:rPr kumimoji="1" lang="zh-CN" altLang="en-US" sz="2400">
                <a:ea typeface="微软雅黑 Light" panose="020B0502040204020203" pitchFamily="34" charset="-122"/>
                <a:cs typeface="+mn-ea"/>
              </a:rPr>
              <a:t>就应该是</a:t>
            </a:r>
            <a:r>
              <a:rPr kumimoji="1" lang="en-US" altLang="zh-CN" sz="2400">
                <a:ea typeface="微软雅黑 Light" panose="020B0502040204020203" pitchFamily="34" charset="-122"/>
                <a:cs typeface="+mn-ea"/>
              </a:rPr>
              <a:t>6</a:t>
            </a:r>
            <a:r>
              <a:rPr kumimoji="1" lang="zh-CN" altLang="en-US" sz="2400">
                <a:ea typeface="微软雅黑 Light" panose="020B0502040204020203" pitchFamily="34" charset="-122"/>
                <a:cs typeface="+mn-ea"/>
              </a:rPr>
              <a:t>。</a:t>
            </a:r>
            <a:endParaRPr kumimoji="1" lang="en-US" altLang="zh-CN" sz="2400">
              <a:ea typeface="微软雅黑 Light" panose="020B0502040204020203" pitchFamily="34" charset="-122"/>
              <a:cs typeface="+mn-ea"/>
            </a:endParaRPr>
          </a:p>
          <a:p>
            <a:pPr lvl="1" algn="just" eaLnBrk="1" hangingPunct="1">
              <a:lnSpc>
                <a:spcPct val="150000"/>
              </a:lnSpc>
              <a:defRPr/>
            </a:pPr>
            <a:r>
              <a:rPr kumimoji="1" lang="zh-CN" altLang="en-US" sz="2400">
                <a:ea typeface="微软雅黑 Light" panose="020B0502040204020203" pitchFamily="34" charset="-122"/>
                <a:cs typeface="+mn-ea"/>
              </a:rPr>
              <a:t>待测试的描述集总是从</a:t>
            </a:r>
            <a:r>
              <a:rPr kumimoji="1" lang="en-US" altLang="zh-CN" sz="2400">
                <a:ea typeface="微软雅黑 Light" panose="020B0502040204020203" pitchFamily="34" charset="-122"/>
                <a:cs typeface="+mn-ea"/>
              </a:rPr>
              <a:t>0</a:t>
            </a:r>
            <a:r>
              <a:rPr kumimoji="1" lang="zh-CN" altLang="en-US" sz="2400">
                <a:ea typeface="微软雅黑 Light" panose="020B0502040204020203" pitchFamily="34" charset="-122"/>
                <a:cs typeface="+mn-ea"/>
              </a:rPr>
              <a:t>开始的，所以如果你要检测的描述符最大值为</a:t>
            </a:r>
            <a:r>
              <a:rPr kumimoji="1" lang="en-US" altLang="zh-CN" sz="2400">
                <a:ea typeface="微软雅黑 Light" panose="020B0502040204020203" pitchFamily="34" charset="-122"/>
                <a:cs typeface="+mn-ea"/>
              </a:rPr>
              <a:t>5</a:t>
            </a:r>
            <a:r>
              <a:rPr kumimoji="1" lang="zh-CN" altLang="en-US" sz="2400">
                <a:ea typeface="微软雅黑 Light" panose="020B0502040204020203" pitchFamily="34" charset="-122"/>
                <a:cs typeface="+mn-ea"/>
              </a:rPr>
              <a:t>，则系统也要监测</a:t>
            </a:r>
            <a:r>
              <a:rPr kumimoji="1" lang="en-US" altLang="zh-CN" sz="2400">
                <a:ea typeface="微软雅黑 Light" panose="020B0502040204020203" pitchFamily="34" charset="-122"/>
                <a:cs typeface="+mn-ea"/>
              </a:rPr>
              <a:t>0</a:t>
            </a:r>
            <a:r>
              <a:rPr kumimoji="1" lang="zh-CN" altLang="en-US" sz="2400">
                <a:ea typeface="微软雅黑 Light" panose="020B0502040204020203" pitchFamily="34" charset="-122"/>
                <a:cs typeface="+mn-ea"/>
              </a:rPr>
              <a:t>、</a:t>
            </a:r>
            <a:r>
              <a:rPr kumimoji="1" lang="en-US" altLang="zh-CN" sz="2400">
                <a:ea typeface="微软雅黑 Light" panose="020B0502040204020203" pitchFamily="34" charset="-122"/>
                <a:cs typeface="+mn-ea"/>
              </a:rPr>
              <a:t>1</a:t>
            </a:r>
            <a:r>
              <a:rPr kumimoji="1" lang="zh-CN" altLang="en-US" sz="2400">
                <a:ea typeface="微软雅黑 Light" panose="020B0502040204020203" pitchFamily="34" charset="-122"/>
                <a:cs typeface="+mn-ea"/>
              </a:rPr>
              <a:t>、</a:t>
            </a:r>
            <a:r>
              <a:rPr kumimoji="1" lang="en-US" altLang="zh-CN" sz="2400">
                <a:ea typeface="微软雅黑 Light" panose="020B0502040204020203" pitchFamily="34" charset="-122"/>
                <a:cs typeface="+mn-ea"/>
              </a:rPr>
              <a:t>2</a:t>
            </a:r>
            <a:r>
              <a:rPr kumimoji="1" lang="zh-CN" altLang="en-US" sz="2400">
                <a:ea typeface="微软雅黑 Light" panose="020B0502040204020203" pitchFamily="34" charset="-122"/>
                <a:cs typeface="+mn-ea"/>
              </a:rPr>
              <a:t>、</a:t>
            </a:r>
            <a:r>
              <a:rPr kumimoji="1" lang="en-US" altLang="zh-CN" sz="2400">
                <a:ea typeface="微软雅黑 Light" panose="020B0502040204020203" pitchFamily="34" charset="-122"/>
                <a:cs typeface="+mn-ea"/>
              </a:rPr>
              <a:t>3</a:t>
            </a:r>
            <a:r>
              <a:rPr kumimoji="1" lang="zh-CN" altLang="en-US" sz="2400">
                <a:ea typeface="微软雅黑 Light" panose="020B0502040204020203" pitchFamily="34" charset="-122"/>
                <a:cs typeface="+mn-ea"/>
              </a:rPr>
              <a:t>、</a:t>
            </a:r>
            <a:r>
              <a:rPr kumimoji="1" lang="en-US" altLang="zh-CN" sz="2400">
                <a:ea typeface="微软雅黑 Light" panose="020B0502040204020203" pitchFamily="34" charset="-122"/>
                <a:cs typeface="+mn-ea"/>
              </a:rPr>
              <a:t>4</a:t>
            </a:r>
            <a:r>
              <a:rPr kumimoji="1" lang="zh-CN" altLang="en-US" sz="2400">
                <a:ea typeface="微软雅黑 Light" panose="020B0502040204020203" pitchFamily="34" charset="-122"/>
                <a:cs typeface="+mn-ea"/>
              </a:rPr>
              <a:t>、</a:t>
            </a:r>
            <a:r>
              <a:rPr kumimoji="1" lang="en-US" altLang="zh-CN" sz="2400">
                <a:ea typeface="微软雅黑 Light" panose="020B0502040204020203" pitchFamily="34" charset="-122"/>
                <a:cs typeface="+mn-ea"/>
              </a:rPr>
              <a:t>5</a:t>
            </a:r>
            <a:r>
              <a:rPr kumimoji="1" lang="zh-CN" altLang="en-US" sz="2400">
                <a:ea typeface="微软雅黑 Light" panose="020B0502040204020203" pitchFamily="34" charset="-122"/>
                <a:cs typeface="+mn-ea"/>
              </a:rPr>
              <a:t>，共</a:t>
            </a:r>
            <a:r>
              <a:rPr kumimoji="1" lang="en-US" altLang="zh-CN" sz="2400">
                <a:ea typeface="微软雅黑 Light" panose="020B0502040204020203" pitchFamily="34" charset="-122"/>
                <a:cs typeface="+mn-ea"/>
              </a:rPr>
              <a:t>6</a:t>
            </a:r>
            <a:r>
              <a:rPr kumimoji="1" lang="zh-CN" altLang="en-US" sz="2400">
                <a:ea typeface="微软雅黑 Light" panose="020B0502040204020203" pitchFamily="34" charset="-122"/>
                <a:cs typeface="+mn-ea"/>
              </a:rPr>
              <a:t>个描述符。</a:t>
            </a:r>
            <a:endParaRPr kumimoji="1" lang="en-US" altLang="zh-CN" sz="2400">
              <a:ea typeface="微软雅黑 Light" panose="020B0502040204020203" pitchFamily="34" charset="-122"/>
              <a:cs typeface="+mn-ea"/>
            </a:endParaRPr>
          </a:p>
          <a:p>
            <a:pPr lvl="1" algn="just" eaLnBrk="1" hangingPunct="1">
              <a:lnSpc>
                <a:spcPct val="150000"/>
              </a:lnSpc>
              <a:defRPr/>
            </a:pPr>
            <a:r>
              <a:rPr kumimoji="1" lang="zh-CN" altLang="en-US" sz="2400">
                <a:ea typeface="微软雅黑 Light" panose="020B0502040204020203" pitchFamily="34" charset="-122"/>
                <a:cs typeface="+mn-ea"/>
              </a:rPr>
              <a:t>是</a:t>
            </a:r>
            <a:r>
              <a:rPr kumimoji="1" lang="en-US" altLang="zh-CN" sz="2400">
                <a:ea typeface="微软雅黑 Light" panose="020B0502040204020203" pitchFamily="34" charset="-122"/>
                <a:cs typeface="+mn-ea"/>
              </a:rPr>
              <a:t>6</a:t>
            </a:r>
            <a:r>
              <a:rPr kumimoji="1" lang="zh-CN" altLang="en-US" sz="2400">
                <a:ea typeface="微软雅黑 Light" panose="020B0502040204020203" pitchFamily="34" charset="-122"/>
                <a:cs typeface="+mn-ea"/>
              </a:rPr>
              <a:t>而不是</a:t>
            </a:r>
            <a:r>
              <a:rPr kumimoji="1" lang="en-US" altLang="zh-CN" sz="2400">
                <a:ea typeface="微软雅黑 Light" panose="020B0502040204020203" pitchFamily="34" charset="-122"/>
                <a:cs typeface="+mn-ea"/>
              </a:rPr>
              <a:t>5</a:t>
            </a:r>
            <a:r>
              <a:rPr kumimoji="1" lang="zh-CN" altLang="en-US" sz="2400">
                <a:ea typeface="微软雅黑 Light" panose="020B0502040204020203" pitchFamily="34" charset="-122"/>
                <a:cs typeface="+mn-ea"/>
              </a:rPr>
              <a:t>的原因：我们</a:t>
            </a:r>
            <a:r>
              <a:rPr kumimoji="1" lang="zh-CN" altLang="en-US" sz="2400" b="1">
                <a:solidFill>
                  <a:srgbClr val="C00000"/>
                </a:solidFill>
                <a:latin typeface="微软雅黑" panose="020B0503020204020204" pitchFamily="34" charset="-122"/>
                <a:ea typeface="微软雅黑" panose="020B0503020204020204" pitchFamily="34" charset="-122"/>
                <a:cs typeface="+mn-ea"/>
              </a:rPr>
              <a:t>指定的是描述符的个数而非最大值</a:t>
            </a:r>
            <a:r>
              <a:rPr kumimoji="1" lang="zh-CN" altLang="en-US" sz="2400">
                <a:ea typeface="微软雅黑 Light" panose="020B0502040204020203" pitchFamily="34" charset="-122"/>
                <a:cs typeface="+mn-ea"/>
              </a:rPr>
              <a:t>，而描述符是从</a:t>
            </a:r>
            <a:r>
              <a:rPr kumimoji="1" lang="en-US" altLang="zh-CN" sz="2400">
                <a:ea typeface="微软雅黑 Light" panose="020B0502040204020203" pitchFamily="34" charset="-122"/>
                <a:cs typeface="+mn-ea"/>
              </a:rPr>
              <a:t>0</a:t>
            </a:r>
            <a:r>
              <a:rPr kumimoji="1" lang="zh-CN" altLang="en-US" sz="2400">
                <a:ea typeface="微软雅黑 Light" panose="020B0502040204020203" pitchFamily="34" charset="-122"/>
                <a:cs typeface="+mn-ea"/>
              </a:rPr>
              <a:t>开始的。</a:t>
            </a:r>
            <a:endParaRPr kumimoji="1" lang="zh-CN" altLang="en-US" sz="2400">
              <a:ea typeface="微软雅黑 Light" panose="020B0502040204020203" pitchFamily="34" charset="-122"/>
              <a:cs typeface="+mn-ea"/>
            </a:endParaRPr>
          </a:p>
          <a:p>
            <a:pPr lvl="1" algn="just" eaLnBrk="1" hangingPunct="1">
              <a:lnSpc>
                <a:spcPct val="150000"/>
              </a:lnSpc>
              <a:defRPr/>
            </a:pPr>
            <a:endParaRPr kumimoji="1" lang="zh-CN" altLang="en-US" sz="2400">
              <a:ea typeface="微软雅黑 Light" panose="020B0502040204020203" pitchFamily="34" charset="-122"/>
              <a:cs typeface="+mn-ea"/>
            </a:endParaRPr>
          </a:p>
          <a:p>
            <a:pPr marL="457200" lvl="1" indent="0" algn="just" eaLnBrk="1" hangingPunct="1">
              <a:lnSpc>
                <a:spcPct val="150000"/>
              </a:lnSpc>
              <a:buFontTx/>
              <a:buNone/>
              <a:defRPr/>
            </a:pPr>
            <a:endParaRPr kumimoji="1" lang="zh-CN" altLang="en-US" sz="2400">
              <a:cs typeface="+mn-ea"/>
            </a:endParaRPr>
          </a:p>
        </p:txBody>
      </p:sp>
    </p:spTree>
  </p:cSld>
  <p:clrMapOvr>
    <a:masterClrMapping/>
  </p:clrMapOvr>
  <p:transition spd="slow">
    <p:wipe dir="r"/>
    <p:sndAc>
      <p:end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507">
                                            <p:txEl>
                                              <p:pRg st="3" end="3"/>
                                            </p:txEl>
                                          </p:spTgt>
                                        </p:tgtEl>
                                        <p:attrNameLst>
                                          <p:attrName>style.visibility</p:attrName>
                                        </p:attrNameLst>
                                      </p:cBhvr>
                                      <p:to>
                                        <p:strVal val="visible"/>
                                      </p:to>
                                    </p:set>
                                    <p:animEffect transition="in" filter="fade">
                                      <p:cBhvr>
                                        <p:cTn id="7" dur="1000"/>
                                        <p:tgtEl>
                                          <p:spTgt spid="21507">
                                            <p:txEl>
                                              <p:pRg st="3" end="3"/>
                                            </p:txEl>
                                          </p:spTgt>
                                        </p:tgtEl>
                                      </p:cBhvr>
                                    </p:animEffect>
                                    <p:anim calcmode="lin" valueType="num">
                                      <p:cBhvr>
                                        <p:cTn id="8" dur="1000" fill="hold"/>
                                        <p:tgtEl>
                                          <p:spTgt spid="2150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2150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1507">
                                            <p:txEl>
                                              <p:pRg st="4" end="4"/>
                                            </p:txEl>
                                          </p:spTgt>
                                        </p:tgtEl>
                                        <p:attrNameLst>
                                          <p:attrName>style.visibility</p:attrName>
                                        </p:attrNameLst>
                                      </p:cBhvr>
                                      <p:to>
                                        <p:strVal val="visible"/>
                                      </p:to>
                                    </p:set>
                                    <p:animEffect transition="in" filter="fade">
                                      <p:cBhvr>
                                        <p:cTn id="14" dur="1000"/>
                                        <p:tgtEl>
                                          <p:spTgt spid="21507">
                                            <p:txEl>
                                              <p:pRg st="4" end="4"/>
                                            </p:txEl>
                                          </p:spTgt>
                                        </p:tgtEl>
                                      </p:cBhvr>
                                    </p:animEffect>
                                    <p:anim calcmode="lin" valueType="num">
                                      <p:cBhvr>
                                        <p:cTn id="15" dur="1000" fill="hold"/>
                                        <p:tgtEl>
                                          <p:spTgt spid="21507">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2150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a:xfrm>
            <a:off x="685800" y="304800"/>
            <a:ext cx="7772400" cy="762000"/>
          </a:xfrm>
        </p:spPr>
        <p:txBody>
          <a:bodyPr/>
          <a:lstStyle/>
          <a:p>
            <a:pPr eaLnBrk="1" hangingPunct="1"/>
            <a:r>
              <a:rPr lang="en-US" altLang="zh-CN"/>
              <a:t>select</a:t>
            </a:r>
            <a:r>
              <a:rPr lang="zh-CN" altLang="en-US"/>
              <a:t>函数（</a:t>
            </a:r>
            <a:r>
              <a:rPr lang="en-US" altLang="zh-CN"/>
              <a:t>4</a:t>
            </a:r>
            <a:r>
              <a:rPr lang="zh-CN" altLang="en-US"/>
              <a:t>）</a:t>
            </a:r>
            <a:endParaRPr lang="zh-CN" altLang="en-US"/>
          </a:p>
        </p:txBody>
      </p:sp>
      <p:sp>
        <p:nvSpPr>
          <p:cNvPr id="31746" name="Rectangle 3"/>
          <p:cNvSpPr>
            <a:spLocks noGrp="1" noChangeArrowheads="1"/>
          </p:cNvSpPr>
          <p:nvPr>
            <p:ph idx="1"/>
          </p:nvPr>
        </p:nvSpPr>
        <p:spPr>
          <a:xfrm>
            <a:off x="0" y="1341438"/>
            <a:ext cx="8845550" cy="5183187"/>
          </a:xfrm>
        </p:spPr>
        <p:txBody>
          <a:bodyPr/>
          <a:lstStyle/>
          <a:p>
            <a:pPr lvl="1" algn="r" eaLnBrk="1" hangingPunct="1">
              <a:lnSpc>
                <a:spcPct val="80000"/>
              </a:lnSpc>
              <a:buFontTx/>
              <a:buNone/>
            </a:pPr>
            <a:r>
              <a:rPr lang="zh-CN" altLang="en-US" sz="2600" b="1"/>
              <a:t>                                       </a:t>
            </a:r>
            <a:endParaRPr lang="zh-CN" altLang="en-US" sz="2600" b="1"/>
          </a:p>
          <a:p>
            <a:pPr eaLnBrk="1" hangingPunct="1">
              <a:lnSpc>
                <a:spcPct val="150000"/>
              </a:lnSpc>
            </a:pPr>
            <a:r>
              <a:rPr lang="zh-CN" altLang="en-US" sz="2600" b="1">
                <a:latin typeface="微软雅黑" panose="020B0503020204020204" pitchFamily="34" charset="-122"/>
                <a:ea typeface="微软雅黑" panose="020B0503020204020204" pitchFamily="34" charset="-122"/>
              </a:rPr>
              <a:t>使用</a:t>
            </a:r>
            <a:r>
              <a:rPr lang="en-US" altLang="zh-CN" sz="2600" b="1">
                <a:latin typeface="微软雅黑" panose="020B0503020204020204" pitchFamily="34" charset="-122"/>
                <a:ea typeface="微软雅黑" panose="020B0503020204020204" pitchFamily="34" charset="-122"/>
              </a:rPr>
              <a:t>select</a:t>
            </a:r>
            <a:r>
              <a:rPr lang="zh-CN" altLang="en-US" sz="2600" b="1">
                <a:latin typeface="微软雅黑" panose="020B0503020204020204" pitchFamily="34" charset="-122"/>
                <a:ea typeface="微软雅黑" panose="020B0503020204020204" pitchFamily="34" charset="-122"/>
              </a:rPr>
              <a:t>函数需重点注意的几个问题</a:t>
            </a:r>
            <a:r>
              <a:rPr lang="zh-CN" altLang="en-US" sz="2600">
                <a:ea typeface="微软雅黑 Light" panose="020B0502040204020203" pitchFamily="34" charset="-122"/>
              </a:rPr>
              <a:t>：</a:t>
            </a:r>
            <a:endParaRPr lang="zh-CN" altLang="en-US" sz="2600">
              <a:ea typeface="微软雅黑 Light" panose="020B0502040204020203" pitchFamily="34" charset="-122"/>
            </a:endParaRPr>
          </a:p>
          <a:p>
            <a:pPr lvl="1" algn="just" eaLnBrk="1" hangingPunct="1">
              <a:lnSpc>
                <a:spcPct val="150000"/>
              </a:lnSpc>
            </a:pPr>
            <a:r>
              <a:rPr lang="zh-CN" altLang="en-US" sz="2600">
                <a:ea typeface="微软雅黑 Light" panose="020B0502040204020203" pitchFamily="34" charset="-122"/>
              </a:rPr>
              <a:t>对集合初始化是很重要的，如果集合作为一个自动变量分配而未初始化，那将导致不可预测的后果。</a:t>
            </a:r>
            <a:r>
              <a:rPr lang="zh-CN" altLang="en-US" sz="2600" b="1">
                <a:solidFill>
                  <a:srgbClr val="C00000"/>
                </a:solidFill>
                <a:latin typeface="微软雅黑" panose="020B0503020204020204" pitchFamily="34" charset="-122"/>
                <a:ea typeface="微软雅黑" panose="020B0503020204020204" pitchFamily="34" charset="-122"/>
              </a:rPr>
              <a:t>每次</a:t>
            </a:r>
            <a:r>
              <a:rPr lang="zh-CN" altLang="en-US" sz="2600">
                <a:ea typeface="微软雅黑 Light" panose="020B0502040204020203" pitchFamily="34" charset="-122"/>
              </a:rPr>
              <a:t>调用</a:t>
            </a:r>
            <a:r>
              <a:rPr lang="en-US" altLang="zh-CN" sz="2600">
                <a:latin typeface="Tahoma" panose="020B0604030504040204" pitchFamily="34" charset="0"/>
              </a:rPr>
              <a:t>select</a:t>
            </a:r>
            <a:r>
              <a:rPr lang="zh-CN" altLang="en-US" sz="2600">
                <a:ea typeface="微软雅黑 Light" panose="020B0502040204020203" pitchFamily="34" charset="-122"/>
              </a:rPr>
              <a:t>前都必须对等待描述字集合完成</a:t>
            </a:r>
            <a:r>
              <a:rPr lang="zh-CN" altLang="en-US" sz="2600" b="1">
                <a:solidFill>
                  <a:srgbClr val="C00000"/>
                </a:solidFill>
                <a:latin typeface="微软雅黑" panose="020B0503020204020204" pitchFamily="34" charset="-122"/>
                <a:ea typeface="微软雅黑" panose="020B0503020204020204" pitchFamily="34" charset="-122"/>
              </a:rPr>
              <a:t>初始化</a:t>
            </a:r>
            <a:r>
              <a:rPr lang="zh-CN" altLang="en-US" sz="2600">
                <a:ea typeface="微软雅黑 Light" panose="020B0502040204020203" pitchFamily="34" charset="-122"/>
              </a:rPr>
              <a:t>和</a:t>
            </a:r>
            <a:r>
              <a:rPr lang="zh-CN" altLang="en-US" sz="2600" b="1">
                <a:solidFill>
                  <a:srgbClr val="C00000"/>
                </a:solidFill>
                <a:latin typeface="微软雅黑" panose="020B0503020204020204" pitchFamily="34" charset="-122"/>
                <a:ea typeface="微软雅黑" panose="020B0503020204020204" pitchFamily="34" charset="-122"/>
              </a:rPr>
              <a:t>设置</a:t>
            </a:r>
            <a:r>
              <a:rPr lang="zh-CN" altLang="en-US" sz="2600">
                <a:ea typeface="微软雅黑 Light" panose="020B0502040204020203" pitchFamily="34" charset="-122"/>
              </a:rPr>
              <a:t>工作</a:t>
            </a:r>
            <a:r>
              <a:rPr lang="zh-CN" altLang="en-US" sz="2600"/>
              <a:t>。</a:t>
            </a:r>
            <a:endParaRPr lang="zh-CN" altLang="en-US" sz="2600"/>
          </a:p>
        </p:txBody>
      </p:sp>
    </p:spTree>
  </p:cSld>
  <p:clrMapOvr>
    <a:masterClrMapping/>
  </p:clrMapOvr>
  <p:transition spd="slow">
    <p:wipe dir="r"/>
    <p:sndAc>
      <p:end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a:xfrm>
            <a:off x="685800" y="304800"/>
            <a:ext cx="7772400" cy="762000"/>
          </a:xfrm>
        </p:spPr>
        <p:txBody>
          <a:bodyPr/>
          <a:lstStyle/>
          <a:p>
            <a:pPr eaLnBrk="1" hangingPunct="1"/>
            <a:r>
              <a:rPr lang="en-US" altLang="zh-CN"/>
              <a:t>select</a:t>
            </a:r>
            <a:r>
              <a:rPr lang="zh-CN" altLang="en-US"/>
              <a:t>函数（</a:t>
            </a:r>
            <a:r>
              <a:rPr lang="en-US" altLang="zh-CN"/>
              <a:t>4</a:t>
            </a:r>
            <a:r>
              <a:rPr lang="zh-CN" altLang="en-US"/>
              <a:t>）</a:t>
            </a:r>
            <a:endParaRPr lang="zh-CN" altLang="en-US"/>
          </a:p>
        </p:txBody>
      </p:sp>
      <p:sp>
        <p:nvSpPr>
          <p:cNvPr id="21507" name="Rectangle 3"/>
          <p:cNvSpPr>
            <a:spLocks noGrp="1" noChangeArrowheads="1"/>
          </p:cNvSpPr>
          <p:nvPr>
            <p:ph idx="1"/>
          </p:nvPr>
        </p:nvSpPr>
        <p:spPr>
          <a:xfrm>
            <a:off x="152400" y="1340767"/>
            <a:ext cx="8839200" cy="5183186"/>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vl="1" algn="r" eaLnBrk="1" hangingPunct="1">
              <a:buFontTx/>
              <a:buNone/>
              <a:defRPr/>
            </a:pPr>
            <a:r>
              <a:rPr kumimoji="1" lang="zh-CN" altLang="en-US" sz="1800">
                <a:latin typeface="Tahoma" panose="020B0604030504040204" pitchFamily="34" charset="0"/>
                <a:ea typeface="微软雅黑 Light" panose="020B0502040204020203" pitchFamily="34" charset="-122"/>
              </a:rPr>
              <a:t>                                       </a:t>
            </a:r>
            <a:endParaRPr kumimoji="1" lang="zh-CN" altLang="en-US" sz="1800">
              <a:latin typeface="Tahoma" panose="020B0604030504040204" pitchFamily="34" charset="0"/>
              <a:ea typeface="微软雅黑 Light" panose="020B0502040204020203" pitchFamily="34" charset="-122"/>
            </a:endParaRPr>
          </a:p>
          <a:p>
            <a:pPr eaLnBrk="1" hangingPunct="1">
              <a:defRPr/>
            </a:pPr>
            <a:r>
              <a:rPr kumimoji="1" lang="zh-CN" altLang="en-US" sz="2400">
                <a:solidFill>
                  <a:srgbClr val="000000"/>
                </a:solidFill>
                <a:latin typeface="Tahoma" panose="020B0604030504040204" pitchFamily="34" charset="0"/>
                <a:ea typeface="微软雅黑 Light" panose="020B0502040204020203" pitchFamily="34" charset="-122"/>
              </a:rPr>
              <a:t>对</a:t>
            </a:r>
            <a:r>
              <a:rPr kumimoji="1" lang="en-US" altLang="zh-CN" sz="2400">
                <a:solidFill>
                  <a:srgbClr val="000000"/>
                </a:solidFill>
                <a:latin typeface="Tahoma" panose="020B0604030504040204" pitchFamily="34" charset="0"/>
                <a:ea typeface="微软雅黑 Light" panose="020B0502040204020203" pitchFamily="34" charset="-122"/>
              </a:rPr>
              <a:t>fd_set</a:t>
            </a:r>
            <a:r>
              <a:rPr kumimoji="1" lang="zh-CN" altLang="en-US" sz="2400">
                <a:solidFill>
                  <a:srgbClr val="000000"/>
                </a:solidFill>
                <a:latin typeface="Tahoma" panose="020B0604030504040204" pitchFamily="34" charset="0"/>
                <a:ea typeface="微软雅黑 Light" panose="020B0502040204020203" pitchFamily="34" charset="-122"/>
              </a:rPr>
              <a:t>的理解</a:t>
            </a:r>
            <a:r>
              <a:rPr kumimoji="1" lang="zh-CN" altLang="en-US" sz="2400">
                <a:latin typeface="Tahoma" panose="020B0604030504040204" pitchFamily="34" charset="0"/>
                <a:ea typeface="微软雅黑 Light" panose="020B0502040204020203" pitchFamily="34" charset="-122"/>
              </a:rPr>
              <a:t>：</a:t>
            </a:r>
            <a:endParaRPr kumimoji="1" lang="zh-CN" altLang="en-US" sz="2400">
              <a:latin typeface="Tahoma" panose="020B0604030504040204" pitchFamily="34" charset="0"/>
              <a:ea typeface="微软雅黑 Light" panose="020B0502040204020203" pitchFamily="34" charset="-122"/>
            </a:endParaRPr>
          </a:p>
          <a:p>
            <a:pPr lvl="1" algn="just" eaLnBrk="1" hangingPunct="1">
              <a:defRPr/>
            </a:pPr>
            <a:r>
              <a:rPr kumimoji="1" lang="zh-CN" altLang="en-US" sz="2400">
                <a:latin typeface="Tahoma" panose="020B0604030504040204" pitchFamily="34" charset="0"/>
                <a:ea typeface="微软雅黑 Light" panose="020B0502040204020203" pitchFamily="34" charset="-122"/>
              </a:rPr>
              <a:t>假设</a:t>
            </a:r>
            <a:r>
              <a:rPr kumimoji="1" lang="en-US" altLang="zh-CN" sz="2400">
                <a:latin typeface="Tahoma" panose="020B0604030504040204" pitchFamily="34" charset="0"/>
                <a:ea typeface="微软雅黑 Light" panose="020B0502040204020203" pitchFamily="34" charset="-122"/>
              </a:rPr>
              <a:t>fd_set</a:t>
            </a:r>
            <a:r>
              <a:rPr kumimoji="1" lang="zh-CN" altLang="en-US" sz="2400">
                <a:latin typeface="Tahoma" panose="020B0604030504040204" pitchFamily="34" charset="0"/>
                <a:ea typeface="微软雅黑 Light" panose="020B0502040204020203" pitchFamily="34" charset="-122"/>
              </a:rPr>
              <a:t>的长度为</a:t>
            </a:r>
            <a:r>
              <a:rPr kumimoji="1" lang="en-US" altLang="zh-CN" sz="2400">
                <a:latin typeface="Tahoma" panose="020B0604030504040204" pitchFamily="34" charset="0"/>
                <a:ea typeface="微软雅黑 Light" panose="020B0502040204020203" pitchFamily="34" charset="-122"/>
              </a:rPr>
              <a:t>1</a:t>
            </a:r>
            <a:r>
              <a:rPr kumimoji="1" lang="zh-CN" altLang="en-US" sz="2400">
                <a:latin typeface="Tahoma" panose="020B0604030504040204" pitchFamily="34" charset="0"/>
                <a:ea typeface="微软雅黑 Light" panose="020B0502040204020203" pitchFamily="34" charset="-122"/>
              </a:rPr>
              <a:t>字节，</a:t>
            </a:r>
            <a:r>
              <a:rPr kumimoji="1" lang="en-US" altLang="zh-CN" sz="2400">
                <a:latin typeface="Tahoma" panose="020B0604030504040204" pitchFamily="34" charset="0"/>
                <a:ea typeface="微软雅黑 Light" panose="020B0502040204020203" pitchFamily="34" charset="-122"/>
              </a:rPr>
              <a:t> fd_set</a:t>
            </a:r>
            <a:r>
              <a:rPr kumimoji="1" lang="zh-CN" altLang="en-US" sz="2400">
                <a:latin typeface="Tahoma" panose="020B0604030504040204" pitchFamily="34" charset="0"/>
                <a:ea typeface="微软雅黑 Light" panose="020B0502040204020203" pitchFamily="34" charset="-122"/>
              </a:rPr>
              <a:t>中的每一</a:t>
            </a:r>
            <a:r>
              <a:rPr kumimoji="1" lang="en-US" altLang="zh-CN" sz="2400">
                <a:latin typeface="Tahoma" panose="020B0604030504040204" pitchFamily="34" charset="0"/>
                <a:ea typeface="微软雅黑 Light" panose="020B0502040204020203" pitchFamily="34" charset="-122"/>
              </a:rPr>
              <a:t>bit</a:t>
            </a:r>
            <a:r>
              <a:rPr kumimoji="1" lang="zh-CN" altLang="en-US" sz="2400">
                <a:latin typeface="Tahoma" panose="020B0604030504040204" pitchFamily="34" charset="0"/>
                <a:ea typeface="微软雅黑 Light" panose="020B0502040204020203" pitchFamily="34" charset="-122"/>
              </a:rPr>
              <a:t>可以对应</a:t>
            </a:r>
            <a:r>
              <a:rPr kumimoji="1" lang="en-US" altLang="zh-CN" sz="2400">
                <a:latin typeface="Tahoma" panose="020B0604030504040204" pitchFamily="34" charset="0"/>
                <a:ea typeface="微软雅黑 Light" panose="020B0502040204020203" pitchFamily="34" charset="-122"/>
              </a:rPr>
              <a:t>1</a:t>
            </a:r>
            <a:r>
              <a:rPr kumimoji="1" lang="zh-CN" altLang="en-US" sz="2400">
                <a:latin typeface="Tahoma" panose="020B0604030504040204" pitchFamily="34" charset="0"/>
                <a:ea typeface="微软雅黑 Light" panose="020B0502040204020203" pitchFamily="34" charset="-122"/>
              </a:rPr>
              <a:t>个文件描述符</a:t>
            </a:r>
            <a:r>
              <a:rPr kumimoji="1" lang="en-US" altLang="zh-CN" sz="2400">
                <a:latin typeface="Tahoma" panose="020B0604030504040204" pitchFamily="34" charset="0"/>
                <a:ea typeface="微软雅黑 Light" panose="020B0502040204020203" pitchFamily="34" charset="-122"/>
              </a:rPr>
              <a:t>fd</a:t>
            </a:r>
            <a:r>
              <a:rPr kumimoji="1" lang="zh-CN" altLang="en-US" sz="2400">
                <a:latin typeface="Tahoma" panose="020B0604030504040204" pitchFamily="34" charset="0"/>
                <a:ea typeface="微软雅黑 Light" panose="020B0502040204020203" pitchFamily="34" charset="-122"/>
              </a:rPr>
              <a:t>，则一字节长的</a:t>
            </a:r>
            <a:r>
              <a:rPr kumimoji="1" lang="en-US" altLang="zh-CN" sz="2400">
                <a:latin typeface="Tahoma" panose="020B0604030504040204" pitchFamily="34" charset="0"/>
                <a:ea typeface="微软雅黑 Light" panose="020B0502040204020203" pitchFamily="34" charset="-122"/>
              </a:rPr>
              <a:t>fd_set</a:t>
            </a:r>
            <a:r>
              <a:rPr kumimoji="1" lang="zh-CN" altLang="en-US" sz="2400">
                <a:latin typeface="Tahoma" panose="020B0604030504040204" pitchFamily="34" charset="0"/>
                <a:ea typeface="微软雅黑 Light" panose="020B0502040204020203" pitchFamily="34" charset="-122"/>
              </a:rPr>
              <a:t>可以对应</a:t>
            </a:r>
            <a:r>
              <a:rPr kumimoji="1" lang="en-US" altLang="zh-CN" sz="2400">
                <a:latin typeface="Tahoma" panose="020B0604030504040204" pitchFamily="34" charset="0"/>
                <a:ea typeface="微软雅黑 Light" panose="020B0502040204020203" pitchFamily="34" charset="-122"/>
              </a:rPr>
              <a:t>8</a:t>
            </a:r>
            <a:r>
              <a:rPr kumimoji="1" lang="zh-CN" altLang="en-US" sz="2400">
                <a:latin typeface="Tahoma" panose="020B0604030504040204" pitchFamily="34" charset="0"/>
                <a:ea typeface="微软雅黑 Light" panose="020B0502040204020203" pitchFamily="34" charset="-122"/>
              </a:rPr>
              <a:t>个</a:t>
            </a:r>
            <a:r>
              <a:rPr kumimoji="1" lang="en-US" altLang="zh-CN" sz="2400">
                <a:latin typeface="Tahoma" panose="020B0604030504040204" pitchFamily="34" charset="0"/>
                <a:ea typeface="微软雅黑 Light" panose="020B0502040204020203" pitchFamily="34" charset="-122"/>
              </a:rPr>
              <a:t>fd</a:t>
            </a:r>
            <a:r>
              <a:rPr kumimoji="1" lang="zh-CN" altLang="en-US" sz="2400">
                <a:latin typeface="Tahoma" panose="020B0604030504040204" pitchFamily="34" charset="0"/>
                <a:ea typeface="微软雅黑 Light" panose="020B0502040204020203" pitchFamily="34" charset="-122"/>
              </a:rPr>
              <a:t>。</a:t>
            </a:r>
            <a:endParaRPr kumimoji="1" lang="en-US" altLang="zh-CN" sz="2400">
              <a:latin typeface="Tahoma" panose="020B0604030504040204" pitchFamily="34" charset="0"/>
              <a:ea typeface="微软雅黑 Light" panose="020B0502040204020203" pitchFamily="34" charset="-122"/>
            </a:endParaRPr>
          </a:p>
          <a:p>
            <a:pPr marL="457200" lvl="1" indent="0" algn="just" eaLnBrk="1" hangingPunct="1">
              <a:buFontTx/>
              <a:buNone/>
              <a:defRPr/>
            </a:pPr>
            <a:r>
              <a:rPr kumimoji="1" lang="en-US" altLang="zh-CN" sz="2400" kern="1200">
                <a:solidFill>
                  <a:srgbClr val="0000FF"/>
                </a:solidFill>
                <a:highlight>
                  <a:srgbClr val="FFFFFF"/>
                </a:highlight>
                <a:latin typeface="Tahoma" panose="020B0604030504040204" pitchFamily="34" charset="0"/>
                <a:ea typeface="Tahoma" panose="020B0604030504040204" pitchFamily="34" charset="0"/>
                <a:cs typeface="Tahoma" panose="020B0604030504040204" pitchFamily="34" charset="0"/>
              </a:rPr>
              <a:t>fd_set</a:t>
            </a:r>
            <a:r>
              <a:rPr kumimoji="1" lang="en-US" altLang="zh-CN" sz="2400">
                <a:latin typeface="Tahoma" panose="020B0604030504040204" pitchFamily="34" charset="0"/>
                <a:ea typeface="Tahoma" panose="020B0604030504040204" pitchFamily="34" charset="0"/>
                <a:cs typeface="Tahoma" panose="020B0604030504040204" pitchFamily="34" charset="0"/>
              </a:rPr>
              <a:t> </a:t>
            </a:r>
            <a:r>
              <a:rPr kumimoji="1" lang="en-US" altLang="zh-CN" sz="2400">
                <a:latin typeface="Tahoma" panose="020B0604030504040204" pitchFamily="34" charset="0"/>
                <a:ea typeface="微软雅黑 Light" panose="020B0502040204020203" pitchFamily="34" charset="-122"/>
              </a:rPr>
              <a:t>sets; </a:t>
            </a:r>
            <a:endParaRPr kumimoji="1" lang="en-US" altLang="zh-CN" sz="2400">
              <a:latin typeface="Tahoma" panose="020B0604030504040204" pitchFamily="34" charset="0"/>
              <a:ea typeface="微软雅黑 Light" panose="020B0502040204020203" pitchFamily="34" charset="-122"/>
            </a:endParaRPr>
          </a:p>
          <a:p>
            <a:pPr marL="457200" lvl="1" indent="0" algn="just" eaLnBrk="1" hangingPunct="1">
              <a:buFontTx/>
              <a:buNone/>
              <a:defRPr/>
            </a:pPr>
            <a:r>
              <a:rPr kumimoji="1" lang="zh-CN" altLang="en-US" sz="2400">
                <a:latin typeface="Tahoma" panose="020B0604030504040204" pitchFamily="34" charset="0"/>
                <a:ea typeface="微软雅黑 Light" panose="020B0502040204020203" pitchFamily="34" charset="-122"/>
              </a:rPr>
              <a:t>执行</a:t>
            </a:r>
            <a:r>
              <a:rPr kumimoji="1" lang="en-US" altLang="zh-CN" sz="2400" kern="1200">
                <a:solidFill>
                  <a:srgbClr val="0000FF"/>
                </a:solidFill>
                <a:highlight>
                  <a:srgbClr val="FFFFFF"/>
                </a:highlight>
                <a:latin typeface="Tahoma" panose="020B0604030504040204" pitchFamily="34" charset="0"/>
                <a:ea typeface="Tahoma" panose="020B0604030504040204" pitchFamily="34" charset="0"/>
                <a:cs typeface="Tahoma" panose="020B0604030504040204" pitchFamily="34" charset="0"/>
              </a:rPr>
              <a:t>FD_ZERO </a:t>
            </a:r>
            <a:r>
              <a:rPr kumimoji="1" lang="en-US" altLang="zh-CN" sz="2400">
                <a:latin typeface="Tahoma" panose="020B0604030504040204" pitchFamily="34" charset="0"/>
                <a:ea typeface="微软雅黑 Light" panose="020B0502040204020203" pitchFamily="34" charset="-122"/>
              </a:rPr>
              <a:t>(&amp;set);</a:t>
            </a:r>
            <a:r>
              <a:rPr kumimoji="1" lang="zh-CN" altLang="en-US" sz="2400">
                <a:latin typeface="Tahoma" panose="020B0604030504040204" pitchFamily="34" charset="0"/>
                <a:ea typeface="微软雅黑 Light" panose="020B0502040204020203" pitchFamily="34" charset="-122"/>
              </a:rPr>
              <a:t>则</a:t>
            </a:r>
            <a:r>
              <a:rPr kumimoji="1" lang="en-US" altLang="zh-CN" sz="2400">
                <a:latin typeface="Tahoma" panose="020B0604030504040204" pitchFamily="34" charset="0"/>
                <a:ea typeface="微软雅黑 Light" panose="020B0502040204020203" pitchFamily="34" charset="-122"/>
              </a:rPr>
              <a:t>sets</a:t>
            </a:r>
            <a:r>
              <a:rPr kumimoji="1" lang="zh-CN" altLang="en-US" sz="2400">
                <a:latin typeface="Tahoma" panose="020B0604030504040204" pitchFamily="34" charset="0"/>
                <a:ea typeface="微软雅黑 Light" panose="020B0502040204020203" pitchFamily="34" charset="-122"/>
              </a:rPr>
              <a:t>用位表示是</a:t>
            </a:r>
            <a:r>
              <a:rPr kumimoji="1" lang="en-US" altLang="zh-CN" sz="2400">
                <a:latin typeface="Tahoma" panose="020B0604030504040204" pitchFamily="34" charset="0"/>
                <a:ea typeface="微软雅黑 Light" panose="020B0502040204020203" pitchFamily="34" charset="-122"/>
              </a:rPr>
              <a:t>0000,0000;</a:t>
            </a:r>
            <a:endParaRPr kumimoji="1" lang="zh-CN" altLang="en-US" sz="2400">
              <a:latin typeface="Tahoma" panose="020B0604030504040204" pitchFamily="34" charset="0"/>
              <a:ea typeface="微软雅黑 Light" panose="020B0502040204020203" pitchFamily="34" charset="-122"/>
            </a:endParaRPr>
          </a:p>
        </p:txBody>
      </p:sp>
      <p:sp>
        <p:nvSpPr>
          <p:cNvPr id="6" name="AutoShape 9"/>
          <p:cNvSpPr>
            <a:spLocks noChangeArrowheads="1"/>
          </p:cNvSpPr>
          <p:nvPr/>
        </p:nvSpPr>
        <p:spPr bwMode="auto">
          <a:xfrm>
            <a:off x="702712" y="4077072"/>
            <a:ext cx="7704856" cy="1728788"/>
          </a:xfrm>
          <a:prstGeom prst="wedgeRoundRectCallout">
            <a:avLst>
              <a:gd name="adj1" fmla="val -49741"/>
              <a:gd name="adj2" fmla="val -29546"/>
              <a:gd name="adj3" fmla="val 16667"/>
            </a:avLst>
          </a:prstGeom>
          <a:solidFill>
            <a:srgbClr val="FFFFFF"/>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auto">
              <a:spcBef>
                <a:spcPct val="15000"/>
              </a:spcBef>
              <a:spcAft>
                <a:spcPts val="0"/>
              </a:spcAft>
              <a:buClrTx/>
              <a:buSzTx/>
              <a:buFontTx/>
              <a:buNone/>
              <a:defRPr/>
            </a:pPr>
            <a:r>
              <a:rPr lang="zh-CN" altLang="en-US" sz="2400" kern="0">
                <a:solidFill>
                  <a:srgbClr val="000000"/>
                </a:solidFill>
                <a:ea typeface="微软雅黑" panose="020B0503020204020204" pitchFamily="34" charset="-122"/>
              </a:rPr>
              <a:t>如果</a:t>
            </a:r>
            <a:r>
              <a:rPr lang="en-US" altLang="zh-CN" sz="2400" b="1" kern="0">
                <a:solidFill>
                  <a:srgbClr val="000000"/>
                </a:solidFill>
                <a:ea typeface="微软雅黑" panose="020B0503020204020204" pitchFamily="34" charset="-122"/>
              </a:rPr>
              <a:t>fd=5</a:t>
            </a:r>
            <a:r>
              <a:rPr lang="zh-CN" altLang="en-US" sz="2400" kern="0">
                <a:solidFill>
                  <a:srgbClr val="000000"/>
                </a:solidFill>
                <a:ea typeface="微软雅黑" panose="020B0503020204020204" pitchFamily="34" charset="-122"/>
              </a:rPr>
              <a:t>，执行</a:t>
            </a:r>
            <a:r>
              <a:rPr kumimoji="1" lang="en-US" altLang="zh-CN" sz="2400" b="1">
                <a:solidFill>
                  <a:srgbClr val="0000FF"/>
                </a:solidFill>
                <a:highlight>
                  <a:srgbClr val="FFFFFF"/>
                </a:highlight>
                <a:ea typeface="Tahoma" panose="020B0604030504040204" pitchFamily="34" charset="0"/>
                <a:cs typeface="Tahoma" panose="020B0604030504040204" pitchFamily="34" charset="0"/>
              </a:rPr>
              <a:t>FD_SET</a:t>
            </a:r>
            <a:r>
              <a:rPr lang="en-US" altLang="zh-CN" sz="2400" b="1" kern="0">
                <a:solidFill>
                  <a:srgbClr val="000000"/>
                </a:solidFill>
                <a:ea typeface="微软雅黑" panose="020B0503020204020204" pitchFamily="34" charset="-122"/>
              </a:rPr>
              <a:t>(fd,&amp;sets)</a:t>
            </a:r>
            <a:r>
              <a:rPr lang="zh-CN" altLang="en-US" sz="2400" b="1" kern="0">
                <a:solidFill>
                  <a:srgbClr val="000000"/>
                </a:solidFill>
                <a:ea typeface="微软雅黑" panose="020B0503020204020204" pitchFamily="34" charset="-122"/>
              </a:rPr>
              <a:t>，</a:t>
            </a:r>
            <a:r>
              <a:rPr kumimoji="1" lang="zh-CN" altLang="en-US" sz="2400" b="1">
                <a:ea typeface="微软雅黑 Light" panose="020B0502040204020203" pitchFamily="34" charset="-122"/>
              </a:rPr>
              <a:t>则</a:t>
            </a:r>
            <a:r>
              <a:rPr kumimoji="1" lang="en-US" altLang="zh-CN" sz="2400" b="1">
                <a:ea typeface="微软雅黑 Light" panose="020B0502040204020203" pitchFamily="34" charset="-122"/>
              </a:rPr>
              <a:t>sets</a:t>
            </a:r>
            <a:r>
              <a:rPr kumimoji="1" lang="zh-CN" altLang="en-US" sz="2400" b="1">
                <a:ea typeface="微软雅黑 Light" panose="020B0502040204020203" pitchFamily="34" charset="-122"/>
              </a:rPr>
              <a:t>为：</a:t>
            </a:r>
            <a:endParaRPr kumimoji="1" lang="en-US" altLang="zh-CN" sz="2400" b="1">
              <a:ea typeface="微软雅黑 Light" panose="020B0502040204020203" pitchFamily="34" charset="-122"/>
            </a:endParaRPr>
          </a:p>
          <a:p>
            <a:pPr fontAlgn="auto">
              <a:spcBef>
                <a:spcPct val="15000"/>
              </a:spcBef>
              <a:spcAft>
                <a:spcPts val="0"/>
              </a:spcAft>
              <a:buClrTx/>
              <a:buSzTx/>
              <a:buFontTx/>
              <a:buNone/>
              <a:defRPr/>
            </a:pPr>
            <a:r>
              <a:rPr kumimoji="1" lang="en-US" altLang="zh-CN" b="1">
                <a:ea typeface="微软雅黑 Light" panose="020B0502040204020203" pitchFamily="34" charset="-122"/>
              </a:rPr>
              <a:t>00</a:t>
            </a:r>
            <a:r>
              <a:rPr kumimoji="1" lang="en-US" altLang="zh-CN" b="1">
                <a:solidFill>
                  <a:srgbClr val="FF0000"/>
                </a:solidFill>
                <a:ea typeface="微软雅黑 Light" panose="020B0502040204020203" pitchFamily="34" charset="-122"/>
              </a:rPr>
              <a:t>1</a:t>
            </a:r>
            <a:r>
              <a:rPr kumimoji="1" lang="en-US" altLang="zh-CN" b="1">
                <a:ea typeface="微软雅黑 Light" panose="020B0502040204020203" pitchFamily="34" charset="-122"/>
              </a:rPr>
              <a:t>0,0000</a:t>
            </a:r>
            <a:endParaRPr kumimoji="1" lang="en-US" altLang="zh-CN" b="1">
              <a:ea typeface="微软雅黑 Light" panose="020B0502040204020203" pitchFamily="34" charset="-122"/>
            </a:endParaRPr>
          </a:p>
          <a:p>
            <a:pPr fontAlgn="auto">
              <a:spcBef>
                <a:spcPct val="15000"/>
              </a:spcBef>
              <a:spcAft>
                <a:spcPts val="0"/>
              </a:spcAft>
              <a:buClrTx/>
              <a:buSzTx/>
              <a:buFontTx/>
              <a:buNone/>
              <a:defRPr/>
            </a:pPr>
            <a:endParaRPr lang="zh-CN" altLang="en-US" sz="2200" b="1" kern="0">
              <a:solidFill>
                <a:srgbClr val="000000"/>
              </a:solidFill>
              <a:ea typeface="微软雅黑" panose="020B0503020204020204" pitchFamily="34" charset="-122"/>
            </a:endParaRPr>
          </a:p>
        </p:txBody>
      </p:sp>
      <p:sp>
        <p:nvSpPr>
          <p:cNvPr id="12" name="AutoShape 9"/>
          <p:cNvSpPr>
            <a:spLocks noChangeArrowheads="1"/>
          </p:cNvSpPr>
          <p:nvPr/>
        </p:nvSpPr>
        <p:spPr bwMode="auto">
          <a:xfrm>
            <a:off x="702713" y="4077071"/>
            <a:ext cx="8058290" cy="1728788"/>
          </a:xfrm>
          <a:prstGeom prst="wedgeRoundRectCallout">
            <a:avLst>
              <a:gd name="adj1" fmla="val -49741"/>
              <a:gd name="adj2" fmla="val -29546"/>
              <a:gd name="adj3" fmla="val 16667"/>
            </a:avLst>
          </a:prstGeom>
          <a:solidFill>
            <a:srgbClr val="FFFFFF"/>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auto">
              <a:spcBef>
                <a:spcPct val="15000"/>
              </a:spcBef>
              <a:spcAft>
                <a:spcPts val="0"/>
              </a:spcAft>
              <a:buClrTx/>
              <a:buSzTx/>
              <a:buFontTx/>
              <a:buNone/>
              <a:defRPr/>
            </a:pPr>
            <a:r>
              <a:rPr lang="zh-CN" altLang="en-US" sz="2400" kern="0">
                <a:solidFill>
                  <a:srgbClr val="000000"/>
                </a:solidFill>
                <a:ea typeface="微软雅黑" panose="020B0503020204020204" pitchFamily="34" charset="-122"/>
              </a:rPr>
              <a:t>如果再加入</a:t>
            </a:r>
            <a:r>
              <a:rPr lang="en-US" altLang="zh-CN" sz="2400" b="1" kern="0">
                <a:solidFill>
                  <a:srgbClr val="000000"/>
                </a:solidFill>
                <a:ea typeface="微软雅黑" panose="020B0503020204020204" pitchFamily="34" charset="-122"/>
              </a:rPr>
              <a:t>fd=1</a:t>
            </a:r>
            <a:r>
              <a:rPr lang="en-US" altLang="zh-CN" sz="2400" kern="0">
                <a:solidFill>
                  <a:srgbClr val="000000"/>
                </a:solidFill>
                <a:ea typeface="微软雅黑" panose="020B0503020204020204" pitchFamily="34" charset="-122"/>
              </a:rPr>
              <a:t>,</a:t>
            </a:r>
            <a:r>
              <a:rPr lang="en-US" altLang="zh-CN" sz="2400" b="1" kern="0">
                <a:solidFill>
                  <a:srgbClr val="000000"/>
                </a:solidFill>
                <a:ea typeface="微软雅黑" panose="020B0503020204020204" pitchFamily="34" charset="-122"/>
              </a:rPr>
              <a:t>fd=2</a:t>
            </a:r>
            <a:r>
              <a:rPr lang="zh-CN" altLang="en-US" sz="2400" b="1" kern="0">
                <a:solidFill>
                  <a:srgbClr val="000000"/>
                </a:solidFill>
                <a:ea typeface="微软雅黑" panose="020B0503020204020204" pitchFamily="34" charset="-122"/>
              </a:rPr>
              <a:t>，</a:t>
            </a:r>
            <a:r>
              <a:rPr lang="zh-CN" altLang="en-US" sz="2400" kern="0">
                <a:solidFill>
                  <a:srgbClr val="000000"/>
                </a:solidFill>
                <a:ea typeface="微软雅黑" panose="020B0503020204020204" pitchFamily="34" charset="-122"/>
              </a:rPr>
              <a:t>分别执行</a:t>
            </a:r>
            <a:r>
              <a:rPr kumimoji="1" lang="en-US" altLang="zh-CN" sz="2400" b="1">
                <a:solidFill>
                  <a:srgbClr val="0000FF"/>
                </a:solidFill>
                <a:highlight>
                  <a:srgbClr val="FFFFFF"/>
                </a:highlight>
                <a:ea typeface="Tahoma" panose="020B0604030504040204" pitchFamily="34" charset="0"/>
                <a:cs typeface="Tahoma" panose="020B0604030504040204" pitchFamily="34" charset="0"/>
              </a:rPr>
              <a:t>FD_SET</a:t>
            </a:r>
            <a:r>
              <a:rPr lang="en-US" altLang="zh-CN" sz="2400" b="1" kern="0">
                <a:solidFill>
                  <a:srgbClr val="000000"/>
                </a:solidFill>
                <a:ea typeface="微软雅黑" panose="020B0503020204020204" pitchFamily="34" charset="-122"/>
              </a:rPr>
              <a:t>(fd,&amp;sets)</a:t>
            </a:r>
            <a:r>
              <a:rPr kumimoji="1" lang="zh-CN" altLang="en-US" sz="2400" b="1">
                <a:ea typeface="微软雅黑 Light" panose="020B0502040204020203" pitchFamily="34" charset="-122"/>
              </a:rPr>
              <a:t>则</a:t>
            </a:r>
            <a:r>
              <a:rPr kumimoji="1" lang="en-US" altLang="zh-CN" sz="2400" b="1">
                <a:ea typeface="微软雅黑 Light" panose="020B0502040204020203" pitchFamily="34" charset="-122"/>
              </a:rPr>
              <a:t>sets</a:t>
            </a:r>
            <a:r>
              <a:rPr kumimoji="1" lang="zh-CN" altLang="en-US" sz="2400" b="1">
                <a:ea typeface="微软雅黑 Light" panose="020B0502040204020203" pitchFamily="34" charset="-122"/>
              </a:rPr>
              <a:t>为：</a:t>
            </a:r>
            <a:endParaRPr kumimoji="1" lang="en-US" altLang="zh-CN" sz="2400" b="1">
              <a:ea typeface="微软雅黑 Light" panose="020B0502040204020203" pitchFamily="34" charset="-122"/>
            </a:endParaRPr>
          </a:p>
          <a:p>
            <a:pPr fontAlgn="auto">
              <a:spcBef>
                <a:spcPct val="15000"/>
              </a:spcBef>
              <a:spcAft>
                <a:spcPts val="0"/>
              </a:spcAft>
              <a:buClrTx/>
              <a:buSzTx/>
              <a:buFontTx/>
              <a:buNone/>
              <a:defRPr/>
            </a:pPr>
            <a:r>
              <a:rPr kumimoji="1" lang="en-US" altLang="zh-CN" b="1">
                <a:ea typeface="微软雅黑 Light" panose="020B0502040204020203" pitchFamily="34" charset="-122"/>
              </a:rPr>
              <a:t>00</a:t>
            </a:r>
            <a:r>
              <a:rPr kumimoji="1" lang="en-US" altLang="zh-CN" b="1">
                <a:solidFill>
                  <a:srgbClr val="FF0000"/>
                </a:solidFill>
                <a:ea typeface="微软雅黑 Light" panose="020B0502040204020203" pitchFamily="34" charset="-122"/>
              </a:rPr>
              <a:t>1</a:t>
            </a:r>
            <a:r>
              <a:rPr kumimoji="1" lang="en-US" altLang="zh-CN" b="1">
                <a:ea typeface="微软雅黑 Light" panose="020B0502040204020203" pitchFamily="34" charset="-122"/>
              </a:rPr>
              <a:t>0,0</a:t>
            </a:r>
            <a:r>
              <a:rPr kumimoji="1" lang="en-US" altLang="zh-CN" b="1">
                <a:solidFill>
                  <a:srgbClr val="FF0000"/>
                </a:solidFill>
                <a:ea typeface="微软雅黑 Light" panose="020B0502040204020203" pitchFamily="34" charset="-122"/>
              </a:rPr>
              <a:t>11</a:t>
            </a:r>
            <a:r>
              <a:rPr kumimoji="1" lang="en-US" altLang="zh-CN" b="1">
                <a:ea typeface="微软雅黑 Light" panose="020B0502040204020203" pitchFamily="34" charset="-122"/>
              </a:rPr>
              <a:t>0</a:t>
            </a:r>
            <a:endParaRPr kumimoji="1" lang="en-US" altLang="zh-CN" b="1">
              <a:ea typeface="微软雅黑 Light" panose="020B0502040204020203" pitchFamily="34" charset="-122"/>
            </a:endParaRPr>
          </a:p>
          <a:p>
            <a:pPr fontAlgn="auto">
              <a:spcBef>
                <a:spcPct val="15000"/>
              </a:spcBef>
              <a:spcAft>
                <a:spcPts val="0"/>
              </a:spcAft>
              <a:buClrTx/>
              <a:buSzTx/>
              <a:buFontTx/>
              <a:buNone/>
              <a:defRPr/>
            </a:pPr>
            <a:endParaRPr lang="zh-CN" altLang="en-US" sz="2200" b="1" kern="0">
              <a:solidFill>
                <a:srgbClr val="000000"/>
              </a:solidFill>
              <a:ea typeface="微软雅黑" panose="020B0503020204020204" pitchFamily="34" charset="-122"/>
            </a:endParaRPr>
          </a:p>
        </p:txBody>
      </p:sp>
      <p:sp>
        <p:nvSpPr>
          <p:cNvPr id="13" name="AutoShape 9"/>
          <p:cNvSpPr>
            <a:spLocks noChangeArrowheads="1"/>
          </p:cNvSpPr>
          <p:nvPr/>
        </p:nvSpPr>
        <p:spPr bwMode="auto">
          <a:xfrm>
            <a:off x="703263" y="4076700"/>
            <a:ext cx="8058150" cy="2416175"/>
          </a:xfrm>
          <a:prstGeom prst="wedgeRoundRectCallout">
            <a:avLst>
              <a:gd name="adj1" fmla="val -49741"/>
              <a:gd name="adj2" fmla="val -29546"/>
              <a:gd name="adj3" fmla="val 16667"/>
            </a:avLst>
          </a:prstGeom>
          <a:solidFill>
            <a:srgbClr val="FFFFFF"/>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fontAlgn="auto">
              <a:spcBef>
                <a:spcPct val="15000"/>
              </a:spcBef>
              <a:spcAft>
                <a:spcPts val="0"/>
              </a:spcAft>
              <a:buClrTx/>
              <a:buSzTx/>
              <a:buFontTx/>
              <a:buNone/>
              <a:defRPr/>
            </a:pPr>
            <a:r>
              <a:rPr lang="zh-CN" altLang="en-US" sz="2400" kern="0">
                <a:solidFill>
                  <a:srgbClr val="000000"/>
                </a:solidFill>
                <a:ea typeface="微软雅黑" panose="020B0503020204020204" pitchFamily="34" charset="-122"/>
              </a:rPr>
              <a:t>执行</a:t>
            </a:r>
            <a:r>
              <a:rPr lang="en-US" altLang="zh-CN" sz="2400" kern="0">
                <a:solidFill>
                  <a:srgbClr val="000000"/>
                </a:solidFill>
                <a:ea typeface="微软雅黑" panose="020B0503020204020204" pitchFamily="34" charset="-122"/>
              </a:rPr>
              <a:t>select(</a:t>
            </a:r>
            <a:r>
              <a:rPr lang="en-US" altLang="zh-CN" sz="2400" kern="0">
                <a:solidFill>
                  <a:srgbClr val="0070C0"/>
                </a:solidFill>
                <a:ea typeface="微软雅黑" panose="020B0503020204020204" pitchFamily="34" charset="-122"/>
              </a:rPr>
              <a:t>6</a:t>
            </a:r>
            <a:r>
              <a:rPr lang="en-US" altLang="zh-CN" sz="2400" kern="0">
                <a:solidFill>
                  <a:srgbClr val="000000"/>
                </a:solidFill>
                <a:ea typeface="微软雅黑" panose="020B0503020204020204" pitchFamily="34" charset="-122"/>
              </a:rPr>
              <a:t>,&amp;rdfds,NULL,NULL,NULL);</a:t>
            </a:r>
            <a:r>
              <a:rPr kumimoji="1" lang="zh-CN" altLang="en-US" sz="2400">
                <a:ea typeface="微软雅黑 Light" panose="020B0502040204020203" pitchFamily="34" charset="-122"/>
              </a:rPr>
              <a:t>阻塞等待。</a:t>
            </a:r>
            <a:endParaRPr kumimoji="1" lang="en-US" altLang="zh-CN" sz="2400">
              <a:ea typeface="微软雅黑 Light" panose="020B0502040204020203" pitchFamily="34" charset="-122"/>
            </a:endParaRPr>
          </a:p>
          <a:p>
            <a:pPr fontAlgn="auto">
              <a:spcBef>
                <a:spcPct val="15000"/>
              </a:spcBef>
              <a:spcAft>
                <a:spcPts val="0"/>
              </a:spcAft>
              <a:buClrTx/>
              <a:buSzTx/>
              <a:buFontTx/>
              <a:buNone/>
              <a:defRPr/>
            </a:pPr>
            <a:r>
              <a:rPr kumimoji="1" lang="zh-CN" altLang="en-US" sz="2400">
                <a:ea typeface="微软雅黑 Light" panose="020B0502040204020203" pitchFamily="34" charset="-122"/>
              </a:rPr>
              <a:t>如果</a:t>
            </a:r>
            <a:r>
              <a:rPr lang="en-US" altLang="zh-CN" sz="2400" kern="0">
                <a:solidFill>
                  <a:srgbClr val="000000"/>
                </a:solidFill>
                <a:ea typeface="微软雅黑" panose="020B0503020204020204" pitchFamily="34" charset="-122"/>
              </a:rPr>
              <a:t>fd=1,fd=2</a:t>
            </a:r>
            <a:r>
              <a:rPr kumimoji="1" lang="zh-CN" altLang="en-US" sz="2400">
                <a:ea typeface="微软雅黑 Light" panose="020B0502040204020203" pitchFamily="34" charset="-122"/>
              </a:rPr>
              <a:t>上都发生可读事件，</a:t>
            </a:r>
            <a:r>
              <a:rPr lang="en-US" altLang="zh-CN" sz="2400" kern="0">
                <a:solidFill>
                  <a:srgbClr val="000000"/>
                </a:solidFill>
                <a:ea typeface="微软雅黑" panose="020B0503020204020204" pitchFamily="34" charset="-122"/>
              </a:rPr>
              <a:t>select</a:t>
            </a:r>
            <a:r>
              <a:rPr kumimoji="1" lang="zh-CN" altLang="en-US" sz="2400">
                <a:ea typeface="微软雅黑 Light" panose="020B0502040204020203" pitchFamily="34" charset="-122"/>
              </a:rPr>
              <a:t>返回，此时</a:t>
            </a:r>
            <a:r>
              <a:rPr kumimoji="1" lang="en-US" altLang="zh-CN" sz="2400">
                <a:ea typeface="微软雅黑 Light" panose="020B0502040204020203" pitchFamily="34" charset="-122"/>
              </a:rPr>
              <a:t>sets</a:t>
            </a:r>
            <a:r>
              <a:rPr kumimoji="1" lang="zh-CN" altLang="en-US" sz="2400">
                <a:ea typeface="微软雅黑 Light" panose="020B0502040204020203" pitchFamily="34" charset="-122"/>
              </a:rPr>
              <a:t>为：</a:t>
            </a:r>
            <a:endParaRPr kumimoji="1" lang="en-US" altLang="zh-CN" sz="2400">
              <a:ea typeface="微软雅黑 Light" panose="020B0502040204020203" pitchFamily="34" charset="-122"/>
            </a:endParaRPr>
          </a:p>
          <a:p>
            <a:pPr fontAlgn="auto">
              <a:spcBef>
                <a:spcPct val="15000"/>
              </a:spcBef>
              <a:spcAft>
                <a:spcPts val="0"/>
              </a:spcAft>
              <a:buClrTx/>
              <a:buSzTx/>
              <a:buFontTx/>
              <a:buNone/>
              <a:defRPr/>
            </a:pPr>
            <a:r>
              <a:rPr kumimoji="1" lang="en-US" altLang="zh-CN">
                <a:ea typeface="微软雅黑 Light" panose="020B0502040204020203" pitchFamily="34" charset="-122"/>
              </a:rPr>
              <a:t>00</a:t>
            </a:r>
            <a:r>
              <a:rPr kumimoji="1" lang="en-US" altLang="zh-CN">
                <a:solidFill>
                  <a:srgbClr val="FF0000"/>
                </a:solidFill>
                <a:ea typeface="微软雅黑 Light" panose="020B0502040204020203" pitchFamily="34" charset="-122"/>
              </a:rPr>
              <a:t>0</a:t>
            </a:r>
            <a:r>
              <a:rPr kumimoji="1" lang="en-US" altLang="zh-CN">
                <a:ea typeface="微软雅黑 Light" panose="020B0502040204020203" pitchFamily="34" charset="-122"/>
              </a:rPr>
              <a:t>0,0</a:t>
            </a:r>
            <a:r>
              <a:rPr kumimoji="1" lang="en-US" altLang="zh-CN">
                <a:solidFill>
                  <a:srgbClr val="FF0000"/>
                </a:solidFill>
                <a:ea typeface="微软雅黑 Light" panose="020B0502040204020203" pitchFamily="34" charset="-122"/>
              </a:rPr>
              <a:t>11</a:t>
            </a:r>
            <a:r>
              <a:rPr kumimoji="1" lang="en-US" altLang="zh-CN">
                <a:ea typeface="微软雅黑 Light" panose="020B0502040204020203" pitchFamily="34" charset="-122"/>
              </a:rPr>
              <a:t>0</a:t>
            </a:r>
            <a:endParaRPr kumimoji="1" lang="en-US" altLang="zh-CN">
              <a:ea typeface="微软雅黑 Light" panose="020B0502040204020203" pitchFamily="34" charset="-122"/>
            </a:endParaRPr>
          </a:p>
          <a:p>
            <a:pPr fontAlgn="auto">
              <a:spcBef>
                <a:spcPct val="15000"/>
              </a:spcBef>
              <a:spcAft>
                <a:spcPts val="0"/>
              </a:spcAft>
              <a:buClrTx/>
              <a:buSzTx/>
              <a:buFontTx/>
              <a:buNone/>
              <a:defRPr/>
            </a:pPr>
            <a:r>
              <a:rPr kumimoji="1" lang="zh-CN" altLang="en-US" sz="2400">
                <a:ea typeface="微软雅黑 Light" panose="020B0502040204020203" pitchFamily="34" charset="-122"/>
              </a:rPr>
              <a:t>注意：没有事件发生的</a:t>
            </a:r>
            <a:r>
              <a:rPr lang="en-US" altLang="zh-CN" sz="2400" kern="0">
                <a:solidFill>
                  <a:srgbClr val="000000"/>
                </a:solidFill>
                <a:ea typeface="微软雅黑" panose="020B0503020204020204" pitchFamily="34" charset="-122"/>
              </a:rPr>
              <a:t>fd=5</a:t>
            </a:r>
            <a:r>
              <a:rPr kumimoji="1" lang="zh-CN" altLang="en-US" sz="2400">
                <a:ea typeface="微软雅黑 Light" panose="020B0502040204020203" pitchFamily="34" charset="-122"/>
              </a:rPr>
              <a:t>被清零。</a:t>
            </a:r>
            <a:endParaRPr kumimoji="1" lang="en-US" altLang="zh-CN" sz="2400">
              <a:ea typeface="微软雅黑 Light" panose="020B0502040204020203" pitchFamily="34" charset="-122"/>
            </a:endParaRPr>
          </a:p>
          <a:p>
            <a:pPr fontAlgn="auto">
              <a:spcBef>
                <a:spcPct val="15000"/>
              </a:spcBef>
              <a:spcAft>
                <a:spcPts val="0"/>
              </a:spcAft>
              <a:buClrTx/>
              <a:buSzTx/>
              <a:buFontTx/>
              <a:buNone/>
              <a:defRPr/>
            </a:pPr>
            <a:endParaRPr lang="zh-CN" altLang="en-US" sz="2200" kern="0">
              <a:solidFill>
                <a:srgbClr val="000000"/>
              </a:solidFill>
              <a:ea typeface="微软雅黑" panose="020B0503020204020204" pitchFamily="34" charset="-122"/>
            </a:endParaRPr>
          </a:p>
        </p:txBody>
      </p:sp>
    </p:spTree>
  </p:cSld>
  <p:clrMapOvr>
    <a:masterClrMapping/>
  </p:clrMapOvr>
  <p:transition spd="slow">
    <p:wipe dir="r"/>
    <p:sndAc>
      <p:end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1000"/>
                                        <p:tgtEl>
                                          <p:spTgt spid="12"/>
                                        </p:tgtEl>
                                      </p:cBhvr>
                                    </p:animEffect>
                                    <p:anim calcmode="lin" valueType="num">
                                      <p:cBhvr>
                                        <p:cTn id="19" dur="1000" fill="hold"/>
                                        <p:tgtEl>
                                          <p:spTgt spid="12"/>
                                        </p:tgtEl>
                                        <p:attrNameLst>
                                          <p:attrName>ppt_x</p:attrName>
                                        </p:attrNameLst>
                                      </p:cBhvr>
                                      <p:tavLst>
                                        <p:tav tm="0">
                                          <p:val>
                                            <p:strVal val="#ppt_x"/>
                                          </p:val>
                                        </p:tav>
                                        <p:tav tm="100000">
                                          <p:val>
                                            <p:strVal val="#ppt_x"/>
                                          </p:val>
                                        </p:tav>
                                      </p:tavLst>
                                    </p:anim>
                                    <p:anim calcmode="lin" valueType="num">
                                      <p:cBhvr>
                                        <p:cTn id="2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685800" y="304800"/>
            <a:ext cx="7772400" cy="762000"/>
          </a:xfrm>
        </p:spPr>
        <p:txBody>
          <a:bodyPr/>
          <a:lstStyle/>
          <a:p>
            <a:pPr eaLnBrk="1" hangingPunct="1"/>
            <a:r>
              <a:rPr lang="en-US" altLang="zh-CN"/>
              <a:t>select</a:t>
            </a:r>
            <a:r>
              <a:rPr lang="zh-CN" altLang="en-US"/>
              <a:t>函数（</a:t>
            </a:r>
            <a:r>
              <a:rPr lang="en-US" altLang="zh-CN"/>
              <a:t>4</a:t>
            </a:r>
            <a:r>
              <a:rPr lang="zh-CN" altLang="en-US"/>
              <a:t>）</a:t>
            </a:r>
            <a:endParaRPr lang="zh-CN" altLang="en-US"/>
          </a:p>
        </p:txBody>
      </p:sp>
      <p:sp>
        <p:nvSpPr>
          <p:cNvPr id="33794" name="文本框 2"/>
          <p:cNvSpPr txBox="1">
            <a:spLocks noChangeArrowheads="1"/>
          </p:cNvSpPr>
          <p:nvPr/>
        </p:nvSpPr>
        <p:spPr bwMode="auto">
          <a:xfrm>
            <a:off x="611188" y="1201738"/>
            <a:ext cx="4273550"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latin typeface="Tahoma" panose="020B0604030504040204" pitchFamily="34" charset="0"/>
              </a:rPr>
              <a:t>#include &lt;sys/select.h&gt;&gt;</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#include &lt;sys/time.h&gt;</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int main()</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    fd_set fdSets;</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    FD_ZERO(&amp;fdSets);</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    /* fd = aceept(...)*/</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    int fd1 = 5;</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    FD_SET(fd1,&amp;fdSets);</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    int fd2 = 2;</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    FD_SET(fd2,&amp;fdSets);</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    int fd3 = 1;</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    FD_SET(fd3,&amp;fdSets);</a:t>
            </a:r>
            <a:endParaRPr lang="en-US" altLang="zh-CN" sz="2400" b="1">
              <a:latin typeface="Tahoma" panose="020B0604030504040204" pitchFamily="34" charset="0"/>
            </a:endParaRPr>
          </a:p>
          <a:p>
            <a:pPr eaLnBrk="0" hangingPunct="0"/>
            <a:r>
              <a:rPr lang="en-US" altLang="zh-CN" sz="2400" b="1">
                <a:latin typeface="Tahoma" panose="020B0604030504040204" pitchFamily="34" charset="0"/>
              </a:rPr>
              <a:t>}</a:t>
            </a:r>
            <a:endParaRPr lang="zh-CN" altLang="en-US" sz="2400" b="1">
              <a:latin typeface="Tahoma" panose="020B0604030504040204" pitchFamily="34" charset="0"/>
              <a:cs typeface="Tahoma" panose="020B0604030504040204" pitchFamily="34" charset="0"/>
            </a:endParaRPr>
          </a:p>
        </p:txBody>
      </p:sp>
      <p:pic>
        <p:nvPicPr>
          <p:cNvPr id="4"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9613" y="836613"/>
            <a:ext cx="54102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63" y="1882775"/>
            <a:ext cx="8474075" cy="30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8" y="1839913"/>
            <a:ext cx="9090025" cy="317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 y="1866900"/>
            <a:ext cx="91059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sndAc>
      <p:end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4"/>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nodeType="clickEffect">
                                  <p:stCondLst>
                                    <p:cond delay="0"/>
                                  </p:stCondLst>
                                  <p:childTnLst>
                                    <p:set>
                                      <p:cBhvr>
                                        <p:cTn id="23" dur="1" fill="hold">
                                          <p:stCondLst>
                                            <p:cond delay="0"/>
                                          </p:stCondLst>
                                        </p:cTn>
                                        <p:tgtEl>
                                          <p:spTgt spid="5"/>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a:xfrm>
            <a:off x="684213" y="260350"/>
            <a:ext cx="7772400" cy="1143000"/>
          </a:xfrm>
        </p:spPr>
        <p:txBody>
          <a:bodyPr/>
          <a:lstStyle/>
          <a:p>
            <a:pPr eaLnBrk="1" hangingPunct="1"/>
            <a:r>
              <a:rPr lang="en-US" altLang="zh-CN"/>
              <a:t>select</a:t>
            </a:r>
            <a:r>
              <a:rPr lang="zh-CN" altLang="en-US"/>
              <a:t>函数（</a:t>
            </a:r>
            <a:r>
              <a:rPr lang="en-US" altLang="zh-CN"/>
              <a:t>5</a:t>
            </a:r>
            <a:r>
              <a:rPr lang="zh-CN" altLang="en-US"/>
              <a:t>）</a:t>
            </a:r>
            <a:endParaRPr lang="zh-CN" altLang="en-US"/>
          </a:p>
        </p:txBody>
      </p:sp>
      <p:sp>
        <p:nvSpPr>
          <p:cNvPr id="22531" name="Rectangle 3"/>
          <p:cNvSpPr>
            <a:spLocks noGrp="1" noChangeArrowheads="1"/>
          </p:cNvSpPr>
          <p:nvPr>
            <p:ph idx="1"/>
          </p:nvPr>
        </p:nvSpPr>
        <p:spPr>
          <a:xfrm>
            <a:off x="304800" y="1340168"/>
            <a:ext cx="8540750" cy="5300662"/>
          </a:xfrm>
        </p:spPr>
        <p:txBody>
          <a:bodyPr/>
          <a:lstStyle/>
          <a:p>
            <a:pPr algn="just" eaLnBrk="1" hangingPunct="1">
              <a:lnSpc>
                <a:spcPct val="120000"/>
              </a:lnSpc>
              <a:defRPr/>
            </a:pPr>
            <a:r>
              <a:rPr kumimoji="1" lang="zh-CN" altLang="en-US" sz="2400" b="1">
                <a:latin typeface="Tahoma" panose="020B0604030504040204" pitchFamily="34" charset="0"/>
                <a:ea typeface="微软雅黑" panose="020B0503020204020204" pitchFamily="34" charset="-122"/>
              </a:rPr>
              <a:t>套接字可读的条件主要有</a:t>
            </a:r>
            <a:r>
              <a:rPr kumimoji="1" lang="zh-CN" altLang="en-US" sz="2400">
                <a:latin typeface="Tahoma" panose="020B0604030504040204" pitchFamily="34" charset="0"/>
                <a:ea typeface="微软雅黑 Light" panose="020B0502040204020203" pitchFamily="34" charset="-122"/>
              </a:rPr>
              <a:t>：</a:t>
            </a:r>
            <a:endParaRPr kumimoji="1" lang="zh-CN" altLang="en-US" sz="2400">
              <a:latin typeface="Tahoma" panose="020B0604030504040204" pitchFamily="34" charset="0"/>
              <a:ea typeface="微软雅黑 Light" panose="020B0502040204020203" pitchFamily="34" charset="-122"/>
            </a:endParaRPr>
          </a:p>
          <a:p>
            <a:pPr lvl="1" algn="just" eaLnBrk="1" hangingPunct="1">
              <a:lnSpc>
                <a:spcPct val="120000"/>
              </a:lnSpc>
              <a:defRPr/>
            </a:pPr>
            <a:r>
              <a:rPr kumimoji="1" lang="zh-CN" altLang="en-US" sz="2400">
                <a:latin typeface="Tahoma" panose="020B0604030504040204" pitchFamily="34" charset="0"/>
                <a:ea typeface="微软雅黑 Light" panose="020B0502040204020203" pitchFamily="34" charset="-122"/>
                <a:cs typeface="+mn-ea"/>
              </a:rPr>
              <a:t>套接字接收缓冲区中的数据字节数大于等于套接字接收缓冲区</a:t>
            </a:r>
            <a:r>
              <a:rPr kumimoji="1" lang="zh-CN" altLang="en-US" sz="2400" b="1">
                <a:solidFill>
                  <a:srgbClr val="0070C0"/>
                </a:solidFill>
                <a:latin typeface="Tahoma" panose="020B0604030504040204" pitchFamily="34" charset="0"/>
                <a:ea typeface="微软雅黑 Light" panose="020B0502040204020203" pitchFamily="34" charset="-122"/>
                <a:cs typeface="+mn-ea"/>
              </a:rPr>
              <a:t>低潮限度</a:t>
            </a:r>
            <a:r>
              <a:rPr kumimoji="1" lang="zh-CN" altLang="en-US" sz="2400">
                <a:latin typeface="Tahoma" panose="020B0604030504040204" pitchFamily="34" charset="0"/>
                <a:ea typeface="微软雅黑 Light" panose="020B0502040204020203" pitchFamily="34" charset="-122"/>
                <a:cs typeface="+mn-ea"/>
              </a:rPr>
              <a:t>的当前值；</a:t>
            </a:r>
            <a:endParaRPr kumimoji="1" lang="zh-CN" altLang="en-US" sz="2400">
              <a:latin typeface="Tahoma" panose="020B0604030504040204" pitchFamily="34" charset="0"/>
              <a:ea typeface="微软雅黑 Light" panose="020B0502040204020203" pitchFamily="34" charset="-122"/>
              <a:cs typeface="+mn-ea"/>
            </a:endParaRPr>
          </a:p>
          <a:p>
            <a:pPr lvl="1" algn="just" eaLnBrk="1" hangingPunct="1">
              <a:lnSpc>
                <a:spcPct val="120000"/>
              </a:lnSpc>
              <a:defRPr/>
            </a:pPr>
            <a:r>
              <a:rPr kumimoji="1" lang="zh-CN" altLang="en-US" sz="2400">
                <a:latin typeface="Tahoma" panose="020B0604030504040204" pitchFamily="34" charset="0"/>
                <a:ea typeface="微软雅黑 Light" panose="020B0502040204020203" pitchFamily="34" charset="-122"/>
                <a:cs typeface="+mn-ea"/>
              </a:rPr>
              <a:t>套接字是一个监听套接字且已完成的连接数为</a:t>
            </a:r>
            <a:r>
              <a:rPr kumimoji="1" lang="zh-CN" altLang="en-US" sz="2400" b="1">
                <a:solidFill>
                  <a:srgbClr val="C00000"/>
                </a:solidFill>
                <a:latin typeface="Tahoma" panose="020B0604030504040204" pitchFamily="34" charset="0"/>
                <a:ea typeface="微软雅黑 Light" panose="020B0502040204020203" pitchFamily="34" charset="-122"/>
                <a:cs typeface="+mn-cs"/>
              </a:rPr>
              <a:t>非</a:t>
            </a:r>
            <a:r>
              <a:rPr kumimoji="1" lang="en-US" altLang="zh-CN" sz="2400" b="1">
                <a:solidFill>
                  <a:srgbClr val="C00000"/>
                </a:solidFill>
                <a:latin typeface="Tahoma" panose="020B0604030504040204" pitchFamily="34" charset="0"/>
                <a:ea typeface="微软雅黑 Light" panose="020B0502040204020203" pitchFamily="34" charset="-122"/>
                <a:cs typeface="+mn-cs"/>
              </a:rPr>
              <a:t>0</a:t>
            </a:r>
            <a:r>
              <a:rPr kumimoji="1" lang="zh-CN" altLang="en-US" sz="2400">
                <a:latin typeface="Tahoma" panose="020B0604030504040204" pitchFamily="34" charset="0"/>
                <a:ea typeface="微软雅黑 Light" panose="020B0502040204020203" pitchFamily="34" charset="-122"/>
                <a:cs typeface="+mn-ea"/>
              </a:rPr>
              <a:t>。</a:t>
            </a:r>
            <a:endParaRPr kumimoji="1" lang="zh-CN" altLang="en-US" sz="2400">
              <a:latin typeface="Tahoma" panose="020B0604030504040204" pitchFamily="34" charset="0"/>
              <a:ea typeface="微软雅黑 Light" panose="020B0502040204020203" pitchFamily="34" charset="-122"/>
              <a:cs typeface="+mn-ea"/>
            </a:endParaRPr>
          </a:p>
          <a:p>
            <a:pPr lvl="1" algn="just" eaLnBrk="1" hangingPunct="1">
              <a:lnSpc>
                <a:spcPct val="120000"/>
              </a:lnSpc>
              <a:defRPr/>
            </a:pPr>
            <a:r>
              <a:rPr kumimoji="1" lang="zh-CN" altLang="en-US" sz="2400">
                <a:latin typeface="Tahoma" panose="020B0604030504040204" pitchFamily="34" charset="0"/>
                <a:ea typeface="微软雅黑 Light" panose="020B0502040204020203" pitchFamily="34" charset="-122"/>
                <a:cs typeface="+mn-ea"/>
              </a:rPr>
              <a:t>如果对方</a:t>
            </a:r>
            <a:r>
              <a:rPr kumimoji="1" lang="en-US" altLang="zh-CN" sz="2400">
                <a:latin typeface="Tahoma" panose="020B0604030504040204" pitchFamily="34" charset="0"/>
                <a:ea typeface="微软雅黑 Light" panose="020B0502040204020203" pitchFamily="34" charset="-122"/>
                <a:cs typeface="+mn-ea"/>
              </a:rPr>
              <a:t>TCP</a:t>
            </a:r>
            <a:r>
              <a:rPr kumimoji="1" lang="zh-CN" altLang="en-US" sz="2400">
                <a:latin typeface="Tahoma" panose="020B0604030504040204" pitchFamily="34" charset="0"/>
                <a:ea typeface="微软雅黑 Light" panose="020B0502040204020203" pitchFamily="34" charset="-122"/>
                <a:cs typeface="+mn-ea"/>
              </a:rPr>
              <a:t>发送一个</a:t>
            </a:r>
            <a:r>
              <a:rPr kumimoji="1" lang="en-US" altLang="zh-CN" sz="2400">
                <a:latin typeface="Tahoma" panose="020B0604030504040204" pitchFamily="34" charset="0"/>
                <a:ea typeface="微软雅黑 Light" panose="020B0502040204020203" pitchFamily="34" charset="-122"/>
                <a:cs typeface="+mn-ea"/>
              </a:rPr>
              <a:t>FIN</a:t>
            </a:r>
            <a:r>
              <a:rPr kumimoji="1" lang="zh-CN" altLang="en-US" sz="2400">
                <a:latin typeface="Tahoma" panose="020B0604030504040204" pitchFamily="34" charset="0"/>
                <a:ea typeface="微软雅黑 Light" panose="020B0502040204020203" pitchFamily="34" charset="-122"/>
                <a:cs typeface="+mn-ea"/>
              </a:rPr>
              <a:t>（对方进程终止），套接字就变为可读且</a:t>
            </a:r>
            <a:r>
              <a:rPr kumimoji="1" lang="en-US" altLang="zh-CN" sz="2400">
                <a:latin typeface="Tahoma" panose="020B0604030504040204" pitchFamily="34" charset="0"/>
                <a:ea typeface="微软雅黑 Light" panose="020B0502040204020203" pitchFamily="34" charset="-122"/>
                <a:cs typeface="+mn-ea"/>
              </a:rPr>
              <a:t>read</a:t>
            </a:r>
            <a:r>
              <a:rPr kumimoji="1" lang="zh-CN" altLang="en-US" sz="2400">
                <a:latin typeface="Tahoma" panose="020B0604030504040204" pitchFamily="34" charset="0"/>
                <a:ea typeface="微软雅黑 Light" panose="020B0502040204020203" pitchFamily="34" charset="-122"/>
                <a:cs typeface="+mn-ea"/>
              </a:rPr>
              <a:t>返回</a:t>
            </a:r>
            <a:r>
              <a:rPr kumimoji="1" lang="en-US" altLang="zh-CN" sz="2400">
                <a:latin typeface="Tahoma" panose="020B0604030504040204" pitchFamily="34" charset="0"/>
                <a:ea typeface="微软雅黑 Light" panose="020B0502040204020203" pitchFamily="34" charset="-122"/>
                <a:cs typeface="+mn-ea"/>
              </a:rPr>
              <a:t>0;</a:t>
            </a:r>
            <a:endParaRPr kumimoji="1" lang="en-US" altLang="zh-CN" sz="2400">
              <a:latin typeface="Tahoma" panose="020B0604030504040204" pitchFamily="34" charset="0"/>
              <a:ea typeface="微软雅黑 Light" panose="020B0502040204020203" pitchFamily="34" charset="-122"/>
              <a:cs typeface="+mn-ea"/>
            </a:endParaRPr>
          </a:p>
          <a:p>
            <a:pPr lvl="1" algn="just" eaLnBrk="1" hangingPunct="1">
              <a:lnSpc>
                <a:spcPct val="120000"/>
              </a:lnSpc>
              <a:defRPr/>
            </a:pPr>
            <a:r>
              <a:rPr kumimoji="1" lang="zh-CN" altLang="en-US" sz="2400">
                <a:latin typeface="Tahoma" panose="020B0604030504040204" pitchFamily="34" charset="0"/>
                <a:ea typeface="微软雅黑 Light" panose="020B0502040204020203" pitchFamily="34" charset="-122"/>
                <a:cs typeface="+mn-ea"/>
              </a:rPr>
              <a:t>有一个套接字错误待处理。</a:t>
            </a:r>
            <a:endParaRPr kumimoji="1" lang="zh-CN" altLang="en-US" sz="2400">
              <a:latin typeface="Tahoma" panose="020B0604030504040204" pitchFamily="34" charset="0"/>
              <a:ea typeface="微软雅黑 Light" panose="020B0502040204020203" pitchFamily="34" charset="-122"/>
              <a:cs typeface="+mn-ea"/>
            </a:endParaRPr>
          </a:p>
          <a:p>
            <a:pPr algn="just" eaLnBrk="1" hangingPunct="1">
              <a:lnSpc>
                <a:spcPct val="120000"/>
              </a:lnSpc>
              <a:defRPr/>
            </a:pPr>
            <a:r>
              <a:rPr kumimoji="1" lang="zh-CN" altLang="en-US" sz="2400" b="1">
                <a:solidFill>
                  <a:srgbClr val="0070C0"/>
                </a:solidFill>
                <a:latin typeface="Tahoma" panose="020B0604030504040204" pitchFamily="34" charset="0"/>
                <a:ea typeface="微软雅黑 Light" panose="020B0502040204020203" pitchFamily="34" charset="-122"/>
              </a:rPr>
              <a:t>接收</a:t>
            </a:r>
            <a:r>
              <a:rPr kumimoji="1" lang="zh-CN" altLang="en-US" sz="2400">
                <a:latin typeface="Tahoma" panose="020B0604030504040204" pitchFamily="34" charset="0"/>
                <a:ea typeface="微软雅黑 Light" panose="020B0502040204020203" pitchFamily="34" charset="-122"/>
              </a:rPr>
              <a:t>和</a:t>
            </a:r>
            <a:r>
              <a:rPr kumimoji="1" lang="zh-CN" altLang="en-US" sz="2400" b="1">
                <a:solidFill>
                  <a:srgbClr val="0070C0"/>
                </a:solidFill>
                <a:latin typeface="Tahoma" panose="020B0604030504040204" pitchFamily="34" charset="0"/>
                <a:ea typeface="微软雅黑 Light" panose="020B0502040204020203" pitchFamily="34" charset="-122"/>
              </a:rPr>
              <a:t>发送低潮限度</a:t>
            </a:r>
            <a:r>
              <a:rPr kumimoji="1" lang="zh-CN" altLang="en-US" sz="2400">
                <a:latin typeface="Tahoma" panose="020B0604030504040204" pitchFamily="34" charset="0"/>
                <a:ea typeface="微软雅黑 Light" panose="020B0502040204020203" pitchFamily="34" charset="-122"/>
              </a:rPr>
              <a:t>的目的是：在</a:t>
            </a:r>
            <a:r>
              <a:rPr kumimoji="1" lang="en-US" altLang="zh-CN" sz="2400">
                <a:latin typeface="Tahoma" panose="020B0604030504040204" pitchFamily="34" charset="0"/>
                <a:ea typeface="微软雅黑 Light" panose="020B0502040204020203" pitchFamily="34" charset="-122"/>
              </a:rPr>
              <a:t>select</a:t>
            </a:r>
            <a:r>
              <a:rPr kumimoji="1" lang="zh-CN" altLang="en-US" sz="2400">
                <a:latin typeface="Tahoma" panose="020B0604030504040204" pitchFamily="34" charset="0"/>
                <a:ea typeface="微软雅黑 Light" panose="020B0502040204020203" pitchFamily="34" charset="-122"/>
              </a:rPr>
              <a:t>返回可读或可写条件之前，应用进程可以对有多少数据可读或有多大空间可写进行控制。比如应用程序指定接收低水位为</a:t>
            </a:r>
            <a:r>
              <a:rPr kumimoji="1" lang="en-US" altLang="zh-CN" sz="2400">
                <a:latin typeface="Tahoma" panose="020B0604030504040204" pitchFamily="34" charset="0"/>
                <a:ea typeface="微软雅黑 Light" panose="020B0502040204020203" pitchFamily="34" charset="-122"/>
              </a:rPr>
              <a:t>64</a:t>
            </a:r>
            <a:r>
              <a:rPr kumimoji="1" lang="zh-CN" altLang="en-US" sz="2400">
                <a:latin typeface="Tahoma" panose="020B0604030504040204" pitchFamily="34" charset="0"/>
                <a:ea typeface="微软雅黑 Light" panose="020B0502040204020203" pitchFamily="34" charset="-122"/>
              </a:rPr>
              <a:t>个字节，那么接收缓冲区有</a:t>
            </a:r>
            <a:r>
              <a:rPr kumimoji="1" lang="en-US" altLang="zh-CN" sz="2400">
                <a:latin typeface="Tahoma" panose="020B0604030504040204" pitchFamily="34" charset="0"/>
                <a:ea typeface="微软雅黑 Light" panose="020B0502040204020203" pitchFamily="34" charset="-122"/>
              </a:rPr>
              <a:t>64</a:t>
            </a:r>
            <a:r>
              <a:rPr kumimoji="1" lang="zh-CN" altLang="en-US" sz="2400">
                <a:latin typeface="Tahoma" panose="020B0604030504040204" pitchFamily="34" charset="0"/>
                <a:ea typeface="微软雅黑 Light" panose="020B0502040204020203" pitchFamily="34" charset="-122"/>
              </a:rPr>
              <a:t>个字节，才算</a:t>
            </a:r>
            <a:r>
              <a:rPr kumimoji="1" lang="en-US" altLang="zh-CN" sz="2400">
                <a:latin typeface="Tahoma" panose="020B0604030504040204" pitchFamily="34" charset="0"/>
                <a:ea typeface="微软雅黑 Light" panose="020B0502040204020203" pitchFamily="34" charset="-122"/>
              </a:rPr>
              <a:t>fd</a:t>
            </a:r>
            <a:r>
              <a:rPr kumimoji="1" lang="zh-CN" altLang="en-US" sz="2400">
                <a:latin typeface="Tahoma" panose="020B0604030504040204" pitchFamily="34" charset="0"/>
                <a:ea typeface="微软雅黑 Light" panose="020B0502040204020203" pitchFamily="34" charset="-122"/>
              </a:rPr>
              <a:t>读就绪。</a:t>
            </a:r>
            <a:endParaRPr kumimoji="1" lang="zh-CN" altLang="en-US" sz="2400">
              <a:latin typeface="Tahoma" panose="020B0604030504040204" pitchFamily="34" charset="0"/>
              <a:ea typeface="微软雅黑 Light" panose="020B0502040204020203" pitchFamily="34" charset="-122"/>
            </a:endParaRPr>
          </a:p>
        </p:txBody>
      </p:sp>
    </p:spTree>
  </p:cSld>
  <p:clrMapOvr>
    <a:masterClrMapping/>
  </p:clrMapOvr>
  <p:transition spd="slow">
    <p:wipe dir="r"/>
    <p:sndAc>
      <p:end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p:txBody>
          <a:bodyPr/>
          <a:lstStyle/>
          <a:p>
            <a:pPr eaLnBrk="1" hangingPunct="1"/>
            <a:r>
              <a:rPr lang="en-US" altLang="zh-CN"/>
              <a:t>select</a:t>
            </a:r>
            <a:r>
              <a:rPr lang="zh-CN" altLang="en-US"/>
              <a:t>函数（</a:t>
            </a:r>
            <a:r>
              <a:rPr lang="en-US" altLang="zh-CN"/>
              <a:t>6</a:t>
            </a:r>
            <a:r>
              <a:rPr lang="zh-CN" altLang="en-US"/>
              <a:t>）</a:t>
            </a:r>
            <a:endParaRPr lang="zh-CN" altLang="en-US"/>
          </a:p>
        </p:txBody>
      </p:sp>
      <p:sp>
        <p:nvSpPr>
          <p:cNvPr id="35842" name="Rectangle 3"/>
          <p:cNvSpPr>
            <a:spLocks noGrp="1" noChangeArrowheads="1"/>
          </p:cNvSpPr>
          <p:nvPr>
            <p:ph idx="1"/>
          </p:nvPr>
        </p:nvSpPr>
        <p:spPr>
          <a:xfrm>
            <a:off x="685800" y="1844675"/>
            <a:ext cx="7772400" cy="4897438"/>
          </a:xfrm>
        </p:spPr>
        <p:txBody>
          <a:bodyPr/>
          <a:lstStyle/>
          <a:p>
            <a:pPr algn="just" eaLnBrk="1" hangingPunct="1">
              <a:lnSpc>
                <a:spcPct val="120000"/>
              </a:lnSpc>
            </a:pPr>
            <a:r>
              <a:rPr lang="zh-CN" altLang="en-US" sz="2400" b="1">
                <a:latin typeface="Tahoma" panose="020B0604030504040204" pitchFamily="34" charset="0"/>
                <a:ea typeface="微软雅黑" panose="020B0503020204020204" pitchFamily="34" charset="-122"/>
              </a:rPr>
              <a:t>套接字可写的条件主要有：</a:t>
            </a:r>
            <a:endParaRPr lang="zh-CN" altLang="en-US" sz="2400" b="1">
              <a:latin typeface="Tahoma" panose="020B0604030504040204" pitchFamily="34" charset="0"/>
              <a:ea typeface="微软雅黑" panose="020B0503020204020204" pitchFamily="34" charset="-122"/>
            </a:endParaRPr>
          </a:p>
          <a:p>
            <a:pPr lvl="1" algn="just" eaLnBrk="1" hangingPunct="1">
              <a:lnSpc>
                <a:spcPct val="120000"/>
              </a:lnSpc>
            </a:pPr>
            <a:r>
              <a:rPr lang="zh-CN" altLang="en-US" sz="2400">
                <a:latin typeface="Tahoma" panose="020B0604030504040204" pitchFamily="34" charset="0"/>
                <a:ea typeface="微软雅黑 Light" panose="020B0502040204020203" pitchFamily="34" charset="-122"/>
              </a:rPr>
              <a:t>套接字发送缓冲区的可用空间大于等于套接字发送缓冲区的低潮限度；</a:t>
            </a:r>
            <a:endParaRPr lang="zh-CN" altLang="en-US" sz="2400">
              <a:latin typeface="Tahoma" panose="020B0604030504040204" pitchFamily="34" charset="0"/>
              <a:ea typeface="微软雅黑 Light" panose="020B0502040204020203" pitchFamily="34" charset="-122"/>
            </a:endParaRPr>
          </a:p>
          <a:p>
            <a:pPr lvl="1" algn="just" eaLnBrk="1" hangingPunct="1">
              <a:lnSpc>
                <a:spcPct val="120000"/>
              </a:lnSpc>
            </a:pPr>
            <a:r>
              <a:rPr lang="zh-CN" altLang="en-US" sz="2400">
                <a:latin typeface="Tahoma" panose="020B0604030504040204" pitchFamily="34" charset="0"/>
                <a:ea typeface="微软雅黑 Light" panose="020B0502040204020203" pitchFamily="34" charset="-122"/>
              </a:rPr>
              <a:t>套接字的写这一半关闭，对套接字的写将产生</a:t>
            </a:r>
            <a:r>
              <a:rPr lang="en-US" altLang="zh-CN" sz="2400">
                <a:latin typeface="Tahoma" panose="020B0604030504040204" pitchFamily="34" charset="0"/>
                <a:ea typeface="微软雅黑 Light" panose="020B0502040204020203" pitchFamily="34" charset="-122"/>
              </a:rPr>
              <a:t>SIGPIPE</a:t>
            </a:r>
            <a:r>
              <a:rPr lang="zh-CN" altLang="en-US" sz="2400">
                <a:latin typeface="Tahoma" panose="020B0604030504040204" pitchFamily="34" charset="0"/>
                <a:ea typeface="微软雅黑 Light" panose="020B0502040204020203" pitchFamily="34" charset="-122"/>
              </a:rPr>
              <a:t>信号；</a:t>
            </a:r>
            <a:endParaRPr lang="zh-CN" altLang="en-US" sz="2400">
              <a:latin typeface="Tahoma" panose="020B0604030504040204" pitchFamily="34" charset="0"/>
              <a:ea typeface="微软雅黑 Light" panose="020B0502040204020203" pitchFamily="34" charset="-122"/>
            </a:endParaRPr>
          </a:p>
          <a:p>
            <a:pPr lvl="1" algn="just" eaLnBrk="1" hangingPunct="1">
              <a:lnSpc>
                <a:spcPct val="120000"/>
              </a:lnSpc>
            </a:pPr>
            <a:r>
              <a:rPr lang="zh-CN" altLang="en-US" sz="2400">
                <a:latin typeface="Tahoma" panose="020B0604030504040204" pitchFamily="34" charset="0"/>
                <a:ea typeface="微软雅黑 Light" panose="020B0502040204020203" pitchFamily="34" charset="-122"/>
              </a:rPr>
              <a:t>有一个套接字错误待处理。</a:t>
            </a:r>
            <a:endParaRPr lang="zh-CN" altLang="en-US" sz="2400">
              <a:latin typeface="Tahoma" panose="020B0604030504040204" pitchFamily="34" charset="0"/>
              <a:ea typeface="微软雅黑 Light" panose="020B0502040204020203" pitchFamily="34" charset="-122"/>
            </a:endParaRPr>
          </a:p>
          <a:p>
            <a:pPr algn="just" eaLnBrk="1" hangingPunct="1">
              <a:lnSpc>
                <a:spcPct val="120000"/>
              </a:lnSpc>
            </a:pPr>
            <a:r>
              <a:rPr lang="zh-CN" altLang="en-US" sz="2400" b="1">
                <a:latin typeface="Tahoma" panose="020B0604030504040204" pitchFamily="34" charset="0"/>
                <a:ea typeface="微软雅黑" panose="020B0503020204020204" pitchFamily="34" charset="-122"/>
              </a:rPr>
              <a:t>套接字的异常条件：</a:t>
            </a:r>
            <a:endParaRPr lang="zh-CN" altLang="en-US" sz="2400" b="1">
              <a:latin typeface="Tahoma" panose="020B0604030504040204" pitchFamily="34" charset="0"/>
              <a:ea typeface="微软雅黑" panose="020B0503020204020204" pitchFamily="34" charset="-122"/>
            </a:endParaRPr>
          </a:p>
          <a:p>
            <a:pPr lvl="1" algn="just" eaLnBrk="1" hangingPunct="1">
              <a:lnSpc>
                <a:spcPct val="120000"/>
              </a:lnSpc>
            </a:pPr>
            <a:r>
              <a:rPr lang="zh-CN" altLang="en-US" sz="2400">
                <a:latin typeface="Tahoma" panose="020B0604030504040204" pitchFamily="34" charset="0"/>
                <a:ea typeface="微软雅黑 Light" panose="020B0502040204020203" pitchFamily="34" charset="-122"/>
              </a:rPr>
              <a:t>套接口带外数据的到达；</a:t>
            </a:r>
            <a:endParaRPr lang="zh-CN" altLang="en-US" sz="2400">
              <a:latin typeface="Tahoma" panose="020B0604030504040204" pitchFamily="34" charset="0"/>
              <a:ea typeface="微软雅黑 Light" panose="020B0502040204020203" pitchFamily="34" charset="-122"/>
            </a:endParaRPr>
          </a:p>
        </p:txBody>
      </p:sp>
    </p:spTree>
  </p:cSld>
  <p:clrMapOvr>
    <a:masterClrMapping/>
  </p:clrMapOvr>
  <p:transition spd="slow">
    <p:wipe dir="r"/>
    <p:sndAc>
      <p:end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p:txBody>
          <a:bodyPr/>
          <a:lstStyle/>
          <a:p>
            <a:pPr eaLnBrk="1" hangingPunct="1"/>
            <a:r>
              <a:rPr lang="en-US" altLang="zh-CN"/>
              <a:t>select</a:t>
            </a:r>
            <a:r>
              <a:rPr lang="zh-CN" altLang="en-US"/>
              <a:t>函数（</a:t>
            </a:r>
            <a:r>
              <a:rPr lang="en-US" altLang="zh-CN"/>
              <a:t>6</a:t>
            </a:r>
            <a:r>
              <a:rPr lang="zh-CN" altLang="en-US"/>
              <a:t>）</a:t>
            </a:r>
            <a:endParaRPr lang="zh-CN" altLang="en-US"/>
          </a:p>
        </p:txBody>
      </p:sp>
      <p:pic>
        <p:nvPicPr>
          <p:cNvPr id="36866" name="内容占位符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714375" y="1989138"/>
            <a:ext cx="7772400" cy="4032250"/>
          </a:xfrm>
        </p:spPr>
      </p:pic>
    </p:spTree>
  </p:cSld>
  <p:clrMapOvr>
    <a:masterClrMapping/>
  </p:clrMapOvr>
  <p:transition spd="slow">
    <p:wipe dir="r"/>
    <p:sndAc>
      <p:end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685800" y="404813"/>
            <a:ext cx="8062913" cy="1143000"/>
          </a:xfrm>
        </p:spPr>
        <p:txBody>
          <a:bodyPr/>
          <a:lstStyle/>
          <a:p>
            <a:pPr eaLnBrk="1" hangingPunct="1"/>
            <a:r>
              <a:rPr lang="en-US" altLang="zh-CN" sz="4000"/>
              <a:t>Select()</a:t>
            </a:r>
            <a:r>
              <a:rPr lang="zh-CN" altLang="en-US" sz="4000"/>
              <a:t>函数实现</a:t>
            </a:r>
            <a:r>
              <a:rPr lang="en-US" altLang="zh-CN" sz="4000"/>
              <a:t>I/O</a:t>
            </a:r>
            <a:r>
              <a:rPr lang="zh-CN" altLang="en-US" sz="4000"/>
              <a:t>多路复用的步骤</a:t>
            </a:r>
            <a:endParaRPr lang="zh-CN" altLang="en-US" sz="4000"/>
          </a:p>
        </p:txBody>
      </p:sp>
      <p:sp>
        <p:nvSpPr>
          <p:cNvPr id="37890" name="Rectangle 3"/>
          <p:cNvSpPr>
            <a:spLocks noGrp="1" noChangeArrowheads="1"/>
          </p:cNvSpPr>
          <p:nvPr>
            <p:ph idx="1"/>
          </p:nvPr>
        </p:nvSpPr>
        <p:spPr>
          <a:xfrm>
            <a:off x="612775" y="1700213"/>
            <a:ext cx="8207375" cy="4752975"/>
          </a:xfrm>
        </p:spPr>
        <p:txBody>
          <a:bodyPr/>
          <a:lstStyle/>
          <a:p>
            <a:pPr marL="609600" indent="-609600" eaLnBrk="1" hangingPunct="1">
              <a:buFontTx/>
              <a:buAutoNum type="arabicPeriod"/>
            </a:pPr>
            <a:r>
              <a:rPr lang="zh-CN" altLang="en-US" sz="2800">
                <a:solidFill>
                  <a:schemeClr val="tx1"/>
                </a:solidFill>
                <a:uFillTx/>
                <a:latin typeface="Tahoma" panose="020B0604030504040204" pitchFamily="34" charset="0"/>
                <a:ea typeface="微软雅黑 Light" panose="020B0502040204020203" pitchFamily="34" charset="-122"/>
              </a:rPr>
              <a:t>清空描述符集合；</a:t>
            </a:r>
            <a:endParaRPr lang="zh-CN" altLang="en-US" sz="2800">
              <a:solidFill>
                <a:schemeClr val="tx1"/>
              </a:solidFill>
              <a:uFillTx/>
              <a:latin typeface="Tahoma" panose="020B0604030504040204" pitchFamily="34" charset="0"/>
              <a:ea typeface="微软雅黑 Light" panose="020B0502040204020203" pitchFamily="34" charset="-122"/>
            </a:endParaRPr>
          </a:p>
          <a:p>
            <a:pPr marL="609600" indent="-609600" eaLnBrk="1" hangingPunct="1">
              <a:buFontTx/>
              <a:buAutoNum type="arabicPeriod"/>
            </a:pPr>
            <a:r>
              <a:rPr lang="zh-CN" altLang="en-US" sz="2800">
                <a:solidFill>
                  <a:schemeClr val="tx1"/>
                </a:solidFill>
                <a:uFillTx/>
                <a:latin typeface="Tahoma" panose="020B0604030504040204" pitchFamily="34" charset="0"/>
                <a:ea typeface="微软雅黑 Light" panose="020B0502040204020203" pitchFamily="34" charset="-122"/>
              </a:rPr>
              <a:t>建立需要监视的描述符与描述符集合的联系；</a:t>
            </a:r>
            <a:endParaRPr lang="zh-CN" altLang="en-US" sz="2800">
              <a:solidFill>
                <a:schemeClr val="tx1"/>
              </a:solidFill>
              <a:uFillTx/>
              <a:latin typeface="Tahoma" panose="020B0604030504040204" pitchFamily="34" charset="0"/>
              <a:ea typeface="微软雅黑 Light" panose="020B0502040204020203" pitchFamily="34" charset="-122"/>
            </a:endParaRPr>
          </a:p>
          <a:p>
            <a:pPr marL="609600" indent="-609600" eaLnBrk="1" hangingPunct="1">
              <a:buFontTx/>
              <a:buAutoNum type="arabicPeriod"/>
            </a:pPr>
            <a:r>
              <a:rPr lang="zh-CN" altLang="en-US" sz="2800">
                <a:solidFill>
                  <a:schemeClr val="tx1"/>
                </a:solidFill>
                <a:uFillTx/>
                <a:latin typeface="Tahoma" panose="020B0604030504040204" pitchFamily="34" charset="0"/>
                <a:ea typeface="微软雅黑 Light" panose="020B0502040204020203" pitchFamily="34" charset="-122"/>
              </a:rPr>
              <a:t>调用</a:t>
            </a:r>
            <a:r>
              <a:rPr lang="en-US" altLang="zh-CN" sz="2800">
                <a:solidFill>
                  <a:schemeClr val="tx1"/>
                </a:solidFill>
                <a:uFillTx/>
                <a:latin typeface="Tahoma" panose="020B0604030504040204" pitchFamily="34" charset="0"/>
                <a:ea typeface="微软雅黑 Light" panose="020B0502040204020203" pitchFamily="34" charset="-122"/>
              </a:rPr>
              <a:t>select()</a:t>
            </a:r>
            <a:r>
              <a:rPr lang="zh-CN" altLang="en-US" sz="2800">
                <a:solidFill>
                  <a:schemeClr val="tx1"/>
                </a:solidFill>
                <a:uFillTx/>
                <a:latin typeface="Tahoma" panose="020B0604030504040204" pitchFamily="34" charset="0"/>
                <a:ea typeface="微软雅黑 Light" panose="020B0502040204020203" pitchFamily="34" charset="-122"/>
              </a:rPr>
              <a:t>函数；</a:t>
            </a:r>
            <a:endParaRPr lang="zh-CN" altLang="en-US" sz="2800">
              <a:solidFill>
                <a:schemeClr val="tx1"/>
              </a:solidFill>
              <a:uFillTx/>
              <a:latin typeface="Tahoma" panose="020B0604030504040204" pitchFamily="34" charset="0"/>
              <a:ea typeface="微软雅黑 Light" panose="020B0502040204020203" pitchFamily="34" charset="-122"/>
            </a:endParaRPr>
          </a:p>
          <a:p>
            <a:pPr marL="609600" indent="-609600" eaLnBrk="1" hangingPunct="1">
              <a:buFontTx/>
              <a:buAutoNum type="arabicPeriod"/>
            </a:pPr>
            <a:r>
              <a:rPr lang="zh-CN" altLang="en-US" sz="2800">
                <a:solidFill>
                  <a:schemeClr val="tx1"/>
                </a:solidFill>
                <a:uFillTx/>
                <a:latin typeface="Tahoma" panose="020B0604030504040204" pitchFamily="34" charset="0"/>
                <a:ea typeface="微软雅黑 Light" panose="020B0502040204020203" pitchFamily="34" charset="-122"/>
              </a:rPr>
              <a:t>检查所有需要监视的描述符，利用</a:t>
            </a:r>
            <a:r>
              <a:rPr lang="en-US" altLang="zh-CN" sz="2800">
                <a:solidFill>
                  <a:schemeClr val="tx1"/>
                </a:solidFill>
                <a:uFillTx/>
                <a:latin typeface="Tahoma" panose="020B0604030504040204" pitchFamily="34" charset="0"/>
                <a:ea typeface="微软雅黑 Light" panose="020B0502040204020203" pitchFamily="34" charset="-122"/>
              </a:rPr>
              <a:t>FD_ISSET</a:t>
            </a:r>
            <a:r>
              <a:rPr lang="zh-CN" altLang="en-US" sz="2800">
                <a:solidFill>
                  <a:schemeClr val="tx1"/>
                </a:solidFill>
                <a:uFillTx/>
                <a:latin typeface="Tahoma" panose="020B0604030504040204" pitchFamily="34" charset="0"/>
                <a:ea typeface="微软雅黑 Light" panose="020B0502040204020203" pitchFamily="34" charset="-122"/>
              </a:rPr>
              <a:t>宏判断是否已准备好；</a:t>
            </a:r>
            <a:endParaRPr lang="zh-CN" altLang="en-US" sz="2800">
              <a:solidFill>
                <a:schemeClr val="tx1"/>
              </a:solidFill>
              <a:uFillTx/>
              <a:latin typeface="Tahoma" panose="020B0604030504040204" pitchFamily="34" charset="0"/>
              <a:ea typeface="微软雅黑 Light" panose="020B0502040204020203" pitchFamily="34" charset="-122"/>
            </a:endParaRPr>
          </a:p>
          <a:p>
            <a:pPr marL="609600" indent="-609600" eaLnBrk="1" hangingPunct="1">
              <a:buFontTx/>
              <a:buAutoNum type="arabicPeriod"/>
            </a:pPr>
            <a:r>
              <a:rPr lang="zh-CN" altLang="en-US" sz="2800">
                <a:solidFill>
                  <a:schemeClr val="tx1"/>
                </a:solidFill>
                <a:uFillTx/>
                <a:latin typeface="Tahoma" panose="020B0604030504040204" pitchFamily="34" charset="0"/>
                <a:ea typeface="微软雅黑 Light" panose="020B0502040204020203" pitchFamily="34" charset="-122"/>
              </a:rPr>
              <a:t>对已准备好的描述符进行</a:t>
            </a:r>
            <a:r>
              <a:rPr lang="en-US" altLang="zh-CN" sz="2800">
                <a:solidFill>
                  <a:schemeClr val="tx1"/>
                </a:solidFill>
                <a:uFillTx/>
                <a:latin typeface="Tahoma" panose="020B0604030504040204" pitchFamily="34" charset="0"/>
                <a:ea typeface="微软雅黑 Light" panose="020B0502040204020203" pitchFamily="34" charset="-122"/>
              </a:rPr>
              <a:t>I/O</a:t>
            </a:r>
            <a:r>
              <a:rPr lang="zh-CN" altLang="en-US" sz="2800">
                <a:solidFill>
                  <a:schemeClr val="tx1"/>
                </a:solidFill>
                <a:uFillTx/>
                <a:latin typeface="Tahoma" panose="020B0604030504040204" pitchFamily="34" charset="0"/>
                <a:ea typeface="微软雅黑 Light" panose="020B0502040204020203" pitchFamily="34" charset="-122"/>
              </a:rPr>
              <a:t>操作。</a:t>
            </a:r>
            <a:endParaRPr lang="zh-CN" altLang="en-US" sz="2800">
              <a:solidFill>
                <a:schemeClr val="tx1"/>
              </a:solidFill>
              <a:uFillTx/>
              <a:latin typeface="Tahoma" panose="020B0604030504040204" pitchFamily="34" charset="0"/>
              <a:ea typeface="微软雅黑 Light" panose="020B0502040204020203"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a:xfrm>
            <a:off x="685800" y="188640"/>
            <a:ext cx="7772400" cy="762000"/>
          </a:xfrm>
        </p:spPr>
        <p:txBody>
          <a:bodyPr/>
          <a:lstStyle/>
          <a:p>
            <a:pPr eaLnBrk="1" hangingPunct="1"/>
            <a:r>
              <a:rPr lang="en-US" altLang="zh-CN" sz="3600">
                <a:latin typeface="Tahoma" panose="020B0604030504040204" pitchFamily="34" charset="0"/>
                <a:ea typeface="微软雅黑" panose="020B0503020204020204" pitchFamily="34" charset="-122"/>
              </a:rPr>
              <a:t>select</a:t>
            </a:r>
            <a:r>
              <a:rPr lang="zh-CN" altLang="en-US" sz="3600">
                <a:latin typeface="Tahoma" panose="020B0604030504040204" pitchFamily="34" charset="0"/>
                <a:ea typeface="微软雅黑" panose="020B0503020204020204" pitchFamily="34" charset="-122"/>
              </a:rPr>
              <a:t>函数例程（</a:t>
            </a:r>
            <a:r>
              <a:rPr lang="en-US" altLang="zh-CN" sz="3600">
                <a:latin typeface="Tahoma" panose="020B0604030504040204" pitchFamily="34" charset="0"/>
                <a:ea typeface="微软雅黑" panose="020B0503020204020204" pitchFamily="34" charset="-122"/>
              </a:rPr>
              <a:t>1</a:t>
            </a:r>
            <a:r>
              <a:rPr lang="zh-CN" altLang="en-US" sz="3600">
                <a:latin typeface="Tahoma" panose="020B0604030504040204" pitchFamily="34" charset="0"/>
                <a:ea typeface="微软雅黑" panose="020B0503020204020204" pitchFamily="34" charset="-122"/>
              </a:rPr>
              <a:t>）</a:t>
            </a:r>
            <a:endParaRPr lang="zh-CN" altLang="en-US" sz="3600">
              <a:latin typeface="Tahoma" panose="020B0604030504040204" pitchFamily="34" charset="0"/>
              <a:ea typeface="微软雅黑" panose="020B0503020204020204" pitchFamily="34" charset="-122"/>
            </a:endParaRPr>
          </a:p>
        </p:txBody>
      </p:sp>
      <p:sp>
        <p:nvSpPr>
          <p:cNvPr id="34819" name="Rectangle 3"/>
          <p:cNvSpPr>
            <a:spLocks noGrp="1" noChangeArrowheads="1"/>
          </p:cNvSpPr>
          <p:nvPr>
            <p:ph idx="1"/>
          </p:nvPr>
        </p:nvSpPr>
        <p:spPr>
          <a:xfrm>
            <a:off x="251520" y="1143000"/>
            <a:ext cx="8540750" cy="5616575"/>
          </a:xfrm>
        </p:spPr>
        <p:txBody>
          <a:bodyPr/>
          <a:lstStyle/>
          <a:p>
            <a:pPr eaLnBrk="1" hangingPunct="1">
              <a:lnSpc>
                <a:spcPct val="110000"/>
              </a:lnSpc>
              <a:buFontTx/>
              <a:buNone/>
              <a:defRPr/>
            </a:pPr>
            <a:r>
              <a:rPr kumimoji="1" lang="zh-CN" altLang="zh-CN" sz="2400">
                <a:latin typeface="Tahoma" panose="020B0604030504040204" pitchFamily="34" charset="0"/>
              </a:rPr>
              <a:t>int</a:t>
            </a:r>
            <a:r>
              <a:rPr kumimoji="1" lang="en-US" altLang="zh-CN" sz="2400">
                <a:latin typeface="Tahoma" panose="020B0604030504040204" pitchFamily="34" charset="0"/>
              </a:rPr>
              <a:t> </a:t>
            </a:r>
            <a:r>
              <a:rPr kumimoji="1" lang="zh-CN" altLang="zh-CN" sz="2400">
                <a:latin typeface="Tahoma" panose="020B0604030504040204" pitchFamily="34" charset="0"/>
              </a:rPr>
              <a:t>  main(void) {</a:t>
            </a:r>
            <a:endParaRPr kumimoji="1" lang="zh-CN" altLang="zh-CN" sz="2400">
              <a:latin typeface="Tahoma" panose="020B0604030504040204" pitchFamily="34" charset="0"/>
            </a:endParaRPr>
          </a:p>
          <a:p>
            <a:pPr eaLnBrk="1" hangingPunct="1">
              <a:lnSpc>
                <a:spcPct val="110000"/>
              </a:lnSpc>
              <a:buFontTx/>
              <a:buNone/>
              <a:defRPr/>
            </a:pPr>
            <a:r>
              <a:rPr kumimoji="1" lang="zh-CN" altLang="zh-CN" sz="2400">
                <a:latin typeface="Tahoma" panose="020B0604030504040204" pitchFamily="34" charset="0"/>
              </a:rPr>
              <a:t>           fd_set rfds;</a:t>
            </a:r>
            <a:endParaRPr kumimoji="1" lang="zh-CN" altLang="zh-CN" sz="2400">
              <a:latin typeface="Tahoma" panose="020B0604030504040204" pitchFamily="34" charset="0"/>
            </a:endParaRPr>
          </a:p>
          <a:p>
            <a:pPr eaLnBrk="1" hangingPunct="1">
              <a:lnSpc>
                <a:spcPct val="110000"/>
              </a:lnSpc>
              <a:buFontTx/>
              <a:buNone/>
              <a:defRPr/>
            </a:pPr>
            <a:r>
              <a:rPr kumimoji="1" lang="zh-CN" altLang="zh-CN" sz="2400">
                <a:latin typeface="Tahoma" panose="020B0604030504040204" pitchFamily="34" charset="0"/>
              </a:rPr>
              <a:t>           struct timeval </a:t>
            </a:r>
            <a:r>
              <a:rPr kumimoji="1" lang="en-US" altLang="zh-CN" sz="2400">
                <a:latin typeface="Tahoma" panose="020B0604030504040204" pitchFamily="34" charset="0"/>
              </a:rPr>
              <a:t> </a:t>
            </a:r>
            <a:r>
              <a:rPr kumimoji="1" lang="zh-CN" altLang="zh-CN" sz="2400">
                <a:latin typeface="Tahoma" panose="020B0604030504040204" pitchFamily="34" charset="0"/>
              </a:rPr>
              <a:t>tv;</a:t>
            </a:r>
            <a:endParaRPr kumimoji="1" lang="zh-CN" altLang="zh-CN" sz="2400">
              <a:latin typeface="Tahoma" panose="020B0604030504040204" pitchFamily="34" charset="0"/>
            </a:endParaRPr>
          </a:p>
          <a:p>
            <a:pPr eaLnBrk="1" hangingPunct="1">
              <a:lnSpc>
                <a:spcPct val="110000"/>
              </a:lnSpc>
              <a:buFontTx/>
              <a:buNone/>
              <a:defRPr/>
            </a:pPr>
            <a:r>
              <a:rPr kumimoji="1" lang="zh-CN" altLang="zh-CN" sz="2400">
                <a:latin typeface="Tahoma" panose="020B0604030504040204" pitchFamily="34" charset="0"/>
              </a:rPr>
              <a:t>           int retval;</a:t>
            </a:r>
            <a:endParaRPr kumimoji="1" lang="en-US" altLang="zh-CN" sz="2400">
              <a:latin typeface="Tahoma" panose="020B0604030504040204" pitchFamily="34" charset="0"/>
            </a:endParaRPr>
          </a:p>
          <a:p>
            <a:pPr eaLnBrk="1" hangingPunct="1">
              <a:lnSpc>
                <a:spcPct val="110000"/>
              </a:lnSpc>
              <a:buFontTx/>
              <a:buNone/>
              <a:defRPr/>
            </a:pPr>
            <a:r>
              <a:rPr kumimoji="1" lang="en-US" altLang="zh-CN" sz="2400">
                <a:latin typeface="Tahoma" panose="020B0604030504040204" pitchFamily="34" charset="0"/>
              </a:rPr>
              <a:t>           </a:t>
            </a:r>
            <a:r>
              <a:rPr kumimoji="1" lang="zh-CN" altLang="zh-CN" sz="2400">
                <a:latin typeface="Tahoma" panose="020B0604030504040204" pitchFamily="34" charset="0"/>
              </a:rPr>
              <a:t>char    temp[100]; </a:t>
            </a:r>
            <a:endParaRPr kumimoji="1" lang="zh-CN" altLang="zh-CN" sz="2400">
              <a:latin typeface="Tahoma" panose="020B0604030504040204" pitchFamily="34" charset="0"/>
            </a:endParaRPr>
          </a:p>
          <a:p>
            <a:pPr eaLnBrk="1" hangingPunct="1">
              <a:lnSpc>
                <a:spcPct val="110000"/>
              </a:lnSpc>
              <a:buFontTx/>
              <a:buNone/>
              <a:defRPr/>
            </a:pPr>
            <a:r>
              <a:rPr kumimoji="1" lang="zh-CN" altLang="zh-CN" sz="2400">
                <a:latin typeface="Tahoma" panose="020B0604030504040204" pitchFamily="34" charset="0"/>
              </a:rPr>
              <a:t>           </a:t>
            </a:r>
            <a:r>
              <a:rPr kumimoji="1" lang="zh-CN" altLang="zh-CN" sz="2400">
                <a:solidFill>
                  <a:schemeClr val="accent5">
                    <a:lumMod val="50000"/>
                  </a:schemeClr>
                </a:solidFill>
                <a:latin typeface="Tahoma" panose="020B0604030504040204" pitchFamily="34" charset="0"/>
              </a:rPr>
              <a:t>/* Watch stdin (fd 0) to see when it has input. */</a:t>
            </a:r>
            <a:endParaRPr kumimoji="1" lang="zh-CN" altLang="zh-CN" sz="2400">
              <a:solidFill>
                <a:schemeClr val="accent5">
                  <a:lumMod val="50000"/>
                </a:schemeClr>
              </a:solidFill>
              <a:latin typeface="Tahoma" panose="020B0604030504040204" pitchFamily="34" charset="0"/>
            </a:endParaRPr>
          </a:p>
          <a:p>
            <a:pPr eaLnBrk="1" hangingPunct="1">
              <a:lnSpc>
                <a:spcPct val="110000"/>
              </a:lnSpc>
              <a:buFontTx/>
              <a:buNone/>
              <a:defRPr/>
            </a:pPr>
            <a:r>
              <a:rPr kumimoji="1" lang="zh-CN" altLang="zh-CN" sz="2400">
                <a:latin typeface="Tahoma" panose="020B0604030504040204" pitchFamily="34" charset="0"/>
              </a:rPr>
              <a:t>           FD_ZERO(&amp;rfds);</a:t>
            </a:r>
            <a:endParaRPr kumimoji="1" lang="zh-CN" altLang="zh-CN" sz="2400">
              <a:latin typeface="Tahoma" panose="020B0604030504040204" pitchFamily="34" charset="0"/>
            </a:endParaRPr>
          </a:p>
          <a:p>
            <a:pPr eaLnBrk="1" hangingPunct="1">
              <a:lnSpc>
                <a:spcPct val="110000"/>
              </a:lnSpc>
              <a:buFontTx/>
              <a:buNone/>
              <a:defRPr/>
            </a:pPr>
            <a:r>
              <a:rPr kumimoji="1" lang="zh-CN" altLang="zh-CN" sz="2400">
                <a:latin typeface="Tahoma" panose="020B0604030504040204" pitchFamily="34" charset="0"/>
              </a:rPr>
              <a:t>           FD_SET(0, &amp;rfds);</a:t>
            </a:r>
            <a:endParaRPr kumimoji="1" lang="zh-CN" altLang="zh-CN" sz="2400">
              <a:latin typeface="Tahoma" panose="020B0604030504040204" pitchFamily="34" charset="0"/>
            </a:endParaRPr>
          </a:p>
          <a:p>
            <a:pPr eaLnBrk="1" hangingPunct="1">
              <a:lnSpc>
                <a:spcPct val="110000"/>
              </a:lnSpc>
              <a:buFontTx/>
              <a:buNone/>
              <a:defRPr/>
            </a:pPr>
            <a:r>
              <a:rPr kumimoji="1" lang="zh-CN" altLang="zh-CN" sz="2400">
                <a:solidFill>
                  <a:schemeClr val="accent5">
                    <a:lumMod val="50000"/>
                  </a:schemeClr>
                </a:solidFill>
                <a:latin typeface="Tahoma" panose="020B0604030504040204" pitchFamily="34" charset="0"/>
              </a:rPr>
              <a:t>           /* Wait up to five seconds. */</a:t>
            </a:r>
            <a:endParaRPr kumimoji="1" lang="zh-CN" altLang="zh-CN" sz="2400">
              <a:solidFill>
                <a:schemeClr val="accent5">
                  <a:lumMod val="50000"/>
                </a:schemeClr>
              </a:solidFill>
              <a:latin typeface="Tahoma" panose="020B0604030504040204" pitchFamily="34" charset="0"/>
            </a:endParaRPr>
          </a:p>
          <a:p>
            <a:pPr eaLnBrk="1" hangingPunct="1">
              <a:lnSpc>
                <a:spcPct val="110000"/>
              </a:lnSpc>
              <a:buFontTx/>
              <a:buNone/>
              <a:defRPr/>
            </a:pPr>
            <a:r>
              <a:rPr kumimoji="1" lang="zh-CN" altLang="zh-CN" sz="2400">
                <a:latin typeface="Tahoma" panose="020B0604030504040204" pitchFamily="34" charset="0"/>
              </a:rPr>
              <a:t>           tv.tv_sec = 5;</a:t>
            </a:r>
            <a:endParaRPr kumimoji="1" lang="zh-CN" altLang="zh-CN" sz="2400">
              <a:latin typeface="Tahoma" panose="020B0604030504040204" pitchFamily="34" charset="0"/>
            </a:endParaRPr>
          </a:p>
          <a:p>
            <a:pPr eaLnBrk="1" hangingPunct="1">
              <a:lnSpc>
                <a:spcPct val="110000"/>
              </a:lnSpc>
              <a:buFontTx/>
              <a:buNone/>
              <a:defRPr/>
            </a:pPr>
            <a:r>
              <a:rPr kumimoji="1" lang="zh-CN" altLang="zh-CN" sz="2400">
                <a:latin typeface="Tahoma" panose="020B0604030504040204" pitchFamily="34" charset="0"/>
              </a:rPr>
              <a:t>           tv.tv_usec = 0;</a:t>
            </a:r>
            <a:endParaRPr kumimoji="1" lang="en-US" altLang="zh-CN" sz="2400">
              <a:latin typeface="Tahoma" panose="020B0604030504040204" pitchFamily="34" charset="0"/>
            </a:endParaRPr>
          </a:p>
        </p:txBody>
      </p:sp>
    </p:spTree>
  </p:cSld>
  <p:clrMapOvr>
    <a:masterClrMapping/>
  </p:clrMapOvr>
  <p:transition spd="slow">
    <p:wipe dir="r"/>
    <p:sndAc>
      <p:end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685800" y="-92668"/>
            <a:ext cx="7772400" cy="11430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en-US" altLang="zh-CN" sz="3600">
                <a:latin typeface="Tahoma" panose="020B0604030504040204" pitchFamily="34" charset="0"/>
                <a:ea typeface="微软雅黑" panose="020B0503020204020204" pitchFamily="34" charset="-122"/>
              </a:rPr>
              <a:t>select</a:t>
            </a:r>
            <a:r>
              <a:rPr lang="zh-CN" altLang="en-US" sz="3600">
                <a:latin typeface="Tahoma" panose="020B0604030504040204" pitchFamily="34" charset="0"/>
                <a:ea typeface="微软雅黑" panose="020B0503020204020204" pitchFamily="34" charset="-122"/>
              </a:rPr>
              <a:t>函数例程（</a:t>
            </a:r>
            <a:r>
              <a:rPr lang="en-US" altLang="zh-CN" sz="3600">
                <a:latin typeface="Tahoma" panose="020B0604030504040204" pitchFamily="34" charset="0"/>
                <a:ea typeface="微软雅黑" panose="020B0503020204020204" pitchFamily="34" charset="-122"/>
              </a:rPr>
              <a:t>1</a:t>
            </a:r>
            <a:r>
              <a:rPr lang="zh-CN" altLang="en-US" sz="3600">
                <a:latin typeface="Tahoma" panose="020B0604030504040204" pitchFamily="34" charset="0"/>
                <a:ea typeface="微软雅黑" panose="020B0503020204020204" pitchFamily="34" charset="-122"/>
              </a:rPr>
              <a:t>）</a:t>
            </a:r>
            <a:endParaRPr lang="zh-CN" altLang="en-US" sz="3600">
              <a:latin typeface="Tahoma" panose="020B0604030504040204" pitchFamily="34" charset="0"/>
              <a:ea typeface="微软雅黑" panose="020B0503020204020204" pitchFamily="34" charset="-122"/>
            </a:endParaRPr>
          </a:p>
        </p:txBody>
      </p:sp>
      <p:sp>
        <p:nvSpPr>
          <p:cNvPr id="39938" name="Rectangle 3"/>
          <p:cNvSpPr>
            <a:spLocks noGrp="1" noChangeArrowheads="1"/>
          </p:cNvSpPr>
          <p:nvPr>
            <p:ph idx="1"/>
          </p:nvPr>
        </p:nvSpPr>
        <p:spPr>
          <a:xfrm>
            <a:off x="665652" y="1085056"/>
            <a:ext cx="7772400" cy="4687888"/>
          </a:xfrm>
        </p:spPr>
        <p:txBody>
          <a:bodyPr/>
          <a:lstStyle/>
          <a:p>
            <a:pPr eaLnBrk="1" hangingPunct="1">
              <a:lnSpc>
                <a:spcPct val="11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retval = select(1, &amp;rfds, NULL, NULL, &amp;tv);         </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1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if (retval){</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1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fgets(temp,100,stdin);               </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1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printf("Data is available now.\n");</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1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printf(“stdin input: %s",temp);</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1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1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else if(retval==0)</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1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printf("time out\n");</a:t>
            </a:r>
            <a:endParaRPr lang="en-US" altLang="zh-CN" sz="2400">
              <a:solidFill>
                <a:srgbClr val="00B050"/>
              </a:solidFill>
              <a:latin typeface="Tahoma" panose="020B0604030504040204" pitchFamily="34" charset="0"/>
              <a:ea typeface="Tahoma" panose="020B0604030504040204" pitchFamily="34" charset="0"/>
              <a:cs typeface="Tahoma" panose="020B0604030504040204" pitchFamily="34" charset="0"/>
            </a:endParaRPr>
          </a:p>
          <a:p>
            <a:pPr eaLnBrk="1" hangingPunct="1">
              <a:lnSpc>
                <a:spcPct val="11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else</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1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printf("No data within five seconds.\n");</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1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exit(0);</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1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a:t>
            </a:r>
            <a:endParaRPr lang="en-US" altLang="zh-CN" sz="240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ransition spd="slow">
    <p:wipe dir="r"/>
    <p:sndAc>
      <p:end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a:xfrm>
            <a:off x="685800" y="304800"/>
            <a:ext cx="7772400" cy="11430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zh-CN" altLang="en-US" sz="3600">
                <a:latin typeface="Tahoma" panose="020B0604030504040204" pitchFamily="34" charset="0"/>
                <a:ea typeface="微软雅黑" panose="020B0503020204020204" pitchFamily="34" charset="-122"/>
              </a:rPr>
              <a:t>运行结果</a:t>
            </a:r>
            <a:endParaRPr lang="zh-CN" altLang="en-US" sz="3600">
              <a:latin typeface="Tahoma" panose="020B0604030504040204" pitchFamily="34" charset="0"/>
              <a:ea typeface="微软雅黑" panose="020B0503020204020204" pitchFamily="34" charset="-122"/>
            </a:endParaRPr>
          </a:p>
        </p:txBody>
      </p:sp>
      <p:pic>
        <p:nvPicPr>
          <p:cNvPr id="40962"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0175" y="1628775"/>
            <a:ext cx="9036050" cy="410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sndAc>
      <p:end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685800" y="381675"/>
            <a:ext cx="7772400" cy="57779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en-US" altLang="zh-CN" sz="3600">
                <a:latin typeface="Tahoma" panose="020B0604030504040204" pitchFamily="34" charset="0"/>
                <a:ea typeface="微软雅黑" panose="020B0503020204020204" pitchFamily="34" charset="-122"/>
              </a:rPr>
              <a:t>select</a:t>
            </a:r>
            <a:r>
              <a:rPr lang="zh-CN" altLang="en-US" sz="3600">
                <a:latin typeface="Tahoma" panose="020B0604030504040204" pitchFamily="34" charset="0"/>
                <a:ea typeface="微软雅黑" panose="020B0503020204020204" pitchFamily="34" charset="-122"/>
              </a:rPr>
              <a:t>函数例程（</a:t>
            </a:r>
            <a:r>
              <a:rPr lang="en-US" altLang="zh-CN" sz="3600">
                <a:latin typeface="Tahoma" panose="020B0604030504040204" pitchFamily="34" charset="0"/>
                <a:ea typeface="微软雅黑" panose="020B0503020204020204" pitchFamily="34" charset="-122"/>
              </a:rPr>
              <a:t>2</a:t>
            </a:r>
            <a:r>
              <a:rPr lang="zh-CN" altLang="en-US" sz="3600">
                <a:latin typeface="Tahoma" panose="020B0604030504040204" pitchFamily="34" charset="0"/>
                <a:ea typeface="微软雅黑" panose="020B0503020204020204" pitchFamily="34" charset="-122"/>
              </a:rPr>
              <a:t>）</a:t>
            </a:r>
            <a:br>
              <a:rPr lang="zh-CN" altLang="en-US" sz="3600">
                <a:latin typeface="Tahoma" panose="020B0604030504040204" pitchFamily="34" charset="0"/>
                <a:ea typeface="微软雅黑" panose="020B0503020204020204" pitchFamily="34" charset="-122"/>
              </a:rPr>
            </a:br>
            <a:endParaRPr lang="zh-CN" altLang="en-US" sz="3600">
              <a:latin typeface="Tahoma" panose="020B0604030504040204" pitchFamily="34" charset="0"/>
              <a:ea typeface="微软雅黑" panose="020B0503020204020204" pitchFamily="34" charset="-122"/>
            </a:endParaRPr>
          </a:p>
        </p:txBody>
      </p:sp>
      <p:sp>
        <p:nvSpPr>
          <p:cNvPr id="7" name="文本框 6"/>
          <p:cNvSpPr txBox="1"/>
          <p:nvPr/>
        </p:nvSpPr>
        <p:spPr>
          <a:xfrm>
            <a:off x="251520" y="959471"/>
            <a:ext cx="9001000" cy="5293757"/>
          </a:xfrm>
          <a:prstGeom prst="rect">
            <a:avLst/>
          </a:prstGeom>
          <a:noFill/>
        </p:spPr>
        <p:txBody>
          <a:bodyPr wrap="square">
            <a:spAutoFit/>
          </a:bodyPr>
          <a:lstStyle/>
          <a:p>
            <a:r>
              <a:rPr lang="en-US" altLang="zh-CN" sz="2600">
                <a:solidFill>
                  <a:srgbClr val="0070C0"/>
                </a:solidFill>
                <a:latin typeface="Tahoma" panose="020B0604030504040204" pitchFamily="34" charset="0"/>
                <a:ea typeface="微软雅黑 Light" panose="020B0502040204020203" pitchFamily="34" charset="-122"/>
              </a:rPr>
              <a:t>    //</a:t>
            </a:r>
            <a:r>
              <a:rPr lang="zh-CN" altLang="en-US" sz="2600">
                <a:solidFill>
                  <a:srgbClr val="0070C0"/>
                </a:solidFill>
                <a:latin typeface="Tahoma" panose="020B0604030504040204" pitchFamily="34" charset="0"/>
                <a:ea typeface="微软雅黑 Light" panose="020B0502040204020203" pitchFamily="34" charset="-122"/>
              </a:rPr>
              <a:t>初始化地址结构，定义套接字</a:t>
            </a:r>
            <a:r>
              <a:rPr lang="en-US" altLang="zh-CN" sz="2600">
                <a:solidFill>
                  <a:srgbClr val="0070C0"/>
                </a:solidFill>
                <a:latin typeface="Tahoma" panose="020B0604030504040204" pitchFamily="34" charset="0"/>
                <a:ea typeface="微软雅黑 Light" panose="020B0502040204020203" pitchFamily="34" charset="-122"/>
              </a:rPr>
              <a:t>...</a:t>
            </a:r>
            <a:endParaRPr lang="en-US" altLang="zh-CN" sz="2600">
              <a:solidFill>
                <a:srgbClr val="0070C0"/>
              </a:solidFill>
              <a:latin typeface="Tahoma" panose="020B0604030504040204" pitchFamily="34" charset="0"/>
              <a:ea typeface="微软雅黑 Light" panose="020B0502040204020203" pitchFamily="34" charset="-122"/>
            </a:endParaRPr>
          </a:p>
          <a:p>
            <a:r>
              <a:rPr lang="en-US" altLang="zh-CN" sz="2600">
                <a:solidFill>
                  <a:srgbClr val="0070C0"/>
                </a:solidFill>
                <a:latin typeface="Tahoma" panose="020B0604030504040204" pitchFamily="34" charset="0"/>
                <a:ea typeface="微软雅黑 Light" panose="020B0502040204020203" pitchFamily="34" charset="-122"/>
              </a:rPr>
              <a:t>    // </a:t>
            </a:r>
            <a:r>
              <a:rPr lang="zh-CN" altLang="en-US" sz="2600">
                <a:solidFill>
                  <a:srgbClr val="0070C0"/>
                </a:solidFill>
                <a:latin typeface="Tahoma" panose="020B0604030504040204" pitchFamily="34" charset="0"/>
                <a:ea typeface="微软雅黑 Light" panose="020B0502040204020203" pitchFamily="34" charset="-122"/>
              </a:rPr>
              <a:t>创建监听套接字、绑定地址、监听</a:t>
            </a:r>
            <a:endParaRPr lang="zh-CN" altLang="en-US" sz="2600">
              <a:solidFill>
                <a:srgbClr val="0070C0"/>
              </a:solidFill>
              <a:latin typeface="Tahoma" panose="020B0604030504040204" pitchFamily="34" charset="0"/>
              <a:ea typeface="微软雅黑 Light" panose="020B0502040204020203" pitchFamily="34" charset="-122"/>
            </a:endParaRPr>
          </a:p>
          <a:p>
            <a:r>
              <a:rPr lang="zh-CN" altLang="en-US" sz="2600">
                <a:solidFill>
                  <a:srgbClr val="0070C0"/>
                </a:solidFill>
                <a:latin typeface="Tahoma" panose="020B0604030504040204" pitchFamily="34" charset="0"/>
                <a:ea typeface="微软雅黑 Light" panose="020B0502040204020203" pitchFamily="34" charset="-122"/>
              </a:rPr>
              <a:t>    </a:t>
            </a:r>
            <a:r>
              <a:rPr lang="en-US" altLang="zh-CN" sz="2600">
                <a:solidFill>
                  <a:srgbClr val="0070C0"/>
                </a:solidFill>
                <a:latin typeface="Tahoma" panose="020B0604030504040204" pitchFamily="34" charset="0"/>
                <a:ea typeface="微软雅黑 Light" panose="020B0502040204020203" pitchFamily="34" charset="-122"/>
              </a:rPr>
              <a:t>		...   </a:t>
            </a:r>
            <a:endParaRPr lang="en-US" altLang="zh-CN" sz="2600">
              <a:solidFill>
                <a:srgbClr val="0070C0"/>
              </a:solidFill>
              <a:latin typeface="Tahoma" panose="020B0604030504040204" pitchFamily="34" charset="0"/>
              <a:ea typeface="微软雅黑 Light" panose="020B0502040204020203" pitchFamily="34" charset="-122"/>
            </a:endParaRPr>
          </a:p>
          <a:p>
            <a:r>
              <a:rPr lang="en-US" altLang="zh-CN" sz="2600">
                <a:solidFill>
                  <a:srgbClr val="0070C0"/>
                </a:solidFill>
                <a:latin typeface="Tahoma" panose="020B0604030504040204" pitchFamily="34" charset="0"/>
                <a:ea typeface="微软雅黑 Light" panose="020B0502040204020203" pitchFamily="34" charset="-122"/>
              </a:rPr>
              <a:t>    // </a:t>
            </a:r>
            <a:r>
              <a:rPr lang="zh-CN" altLang="en-US" sz="2600">
                <a:solidFill>
                  <a:srgbClr val="0070C0"/>
                </a:solidFill>
                <a:latin typeface="Tahoma" panose="020B0604030504040204" pitchFamily="34" charset="0"/>
                <a:ea typeface="微软雅黑 Light" panose="020B0502040204020203" pitchFamily="34" charset="-122"/>
              </a:rPr>
              <a:t>初始化文件描述符集合</a:t>
            </a:r>
            <a:endParaRPr lang="en-US" altLang="zh-CN" sz="2600">
              <a:solidFill>
                <a:srgbClr val="0070C0"/>
              </a:solidFill>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a:t>
            </a:r>
            <a:r>
              <a:rPr lang="en-US" altLang="zh-CN" sz="2600" b="1">
                <a:latin typeface="Tahoma" panose="020B0604030504040204" pitchFamily="34" charset="0"/>
                <a:ea typeface="微软雅黑 Light" panose="020B0502040204020203" pitchFamily="34" charset="-122"/>
              </a:rPr>
              <a:t>fd_set readfds, activefds;</a:t>
            </a:r>
            <a:endParaRPr lang="zh-CN" altLang="en-US" sz="2600" b="1">
              <a:latin typeface="Tahoma" panose="020B0604030504040204" pitchFamily="34" charset="0"/>
              <a:ea typeface="微软雅黑 Light" panose="020B0502040204020203" pitchFamily="34" charset="-122"/>
            </a:endParaRPr>
          </a:p>
          <a:p>
            <a:r>
              <a:rPr lang="zh-CN" altLang="en-US" sz="2600" b="1">
                <a:solidFill>
                  <a:srgbClr val="C00000"/>
                </a:solidFill>
                <a:latin typeface="Tahoma" panose="020B0604030504040204" pitchFamily="34" charset="0"/>
                <a:ea typeface="微软雅黑 Light" panose="020B0502040204020203" pitchFamily="34" charset="-122"/>
              </a:rPr>
              <a:t>    </a:t>
            </a:r>
            <a:r>
              <a:rPr lang="en-US" altLang="zh-CN" sz="2600" b="1">
                <a:solidFill>
                  <a:srgbClr val="C00000"/>
                </a:solidFill>
                <a:latin typeface="Tahoma" panose="020B0604030504040204" pitchFamily="34" charset="0"/>
                <a:ea typeface="微软雅黑 Light" panose="020B0502040204020203" pitchFamily="34" charset="-122"/>
              </a:rPr>
              <a:t>FD_ZERO(&amp;activefds);</a:t>
            </a:r>
            <a:endParaRPr lang="en-US" altLang="zh-CN" sz="2600" b="1">
              <a:solidFill>
                <a:srgbClr val="C00000"/>
              </a:solidFill>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a:t>
            </a:r>
            <a:r>
              <a:rPr lang="en-US" altLang="zh-CN" sz="2600" b="1">
                <a:solidFill>
                  <a:srgbClr val="C00000"/>
                </a:solidFill>
                <a:latin typeface="Tahoma" panose="020B0604030504040204" pitchFamily="34" charset="0"/>
                <a:ea typeface="微软雅黑 Light" panose="020B0502040204020203" pitchFamily="34" charset="-122"/>
              </a:rPr>
              <a:t>FD_SET(listenfd, &amp;activefds); </a:t>
            </a:r>
            <a:r>
              <a:rPr lang="en-US" altLang="zh-CN" sz="2600">
                <a:solidFill>
                  <a:srgbClr val="0070C0"/>
                </a:solidFill>
                <a:latin typeface="Tahoma" panose="020B0604030504040204" pitchFamily="34" charset="0"/>
                <a:ea typeface="微软雅黑 Light" panose="020B0502040204020203" pitchFamily="34" charset="-122"/>
              </a:rPr>
              <a:t>//listenfd = socket( ... )</a:t>
            </a:r>
            <a:endParaRPr lang="en-US" altLang="zh-CN" sz="2600">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a:t>
            </a:r>
            <a:r>
              <a:rPr lang="en-US" altLang="zh-CN" sz="2600" b="1">
                <a:latin typeface="Tahoma" panose="020B0604030504040204" pitchFamily="34" charset="0"/>
                <a:ea typeface="微软雅黑 Light" panose="020B0502040204020203" pitchFamily="34" charset="-122"/>
              </a:rPr>
              <a:t>int maxfd = listenfd; </a:t>
            </a:r>
            <a:endParaRPr lang="en-US" altLang="zh-CN" sz="2600" b="1">
              <a:latin typeface="Tahoma" panose="020B0604030504040204" pitchFamily="34" charset="0"/>
              <a:ea typeface="微软雅黑 Light" panose="020B0502040204020203" pitchFamily="34" charset="-122"/>
            </a:endParaRPr>
          </a:p>
          <a:p>
            <a:r>
              <a:rPr lang="en-US" altLang="zh-CN" sz="2600" b="1">
                <a:latin typeface="Tahoma" panose="020B0604030504040204" pitchFamily="34" charset="0"/>
                <a:ea typeface="微软雅黑 Light" panose="020B0502040204020203" pitchFamily="34" charset="-122"/>
              </a:rPr>
              <a:t>    while (1) {</a:t>
            </a:r>
            <a:endParaRPr lang="en-US" altLang="zh-CN" sz="2600" b="1">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a:t>
            </a:r>
            <a:r>
              <a:rPr lang="en-US" altLang="zh-CN" sz="2600">
                <a:solidFill>
                  <a:srgbClr val="0070C0"/>
                </a:solidFill>
                <a:latin typeface="Tahoma" panose="020B0604030504040204" pitchFamily="34" charset="0"/>
                <a:ea typeface="微软雅黑 Light" panose="020B0502040204020203" pitchFamily="34" charset="-122"/>
              </a:rPr>
              <a:t>//activefds</a:t>
            </a:r>
            <a:r>
              <a:rPr lang="zh-CN" altLang="en-US" sz="2600">
                <a:solidFill>
                  <a:srgbClr val="0070C0"/>
                </a:solidFill>
                <a:latin typeface="Tahoma" panose="020B0604030504040204" pitchFamily="34" charset="0"/>
                <a:ea typeface="微软雅黑 Light" panose="020B0502040204020203" pitchFamily="34" charset="-122"/>
              </a:rPr>
              <a:t>集合维护所有活跃描述符（监听套接字</a:t>
            </a:r>
            <a:r>
              <a:rPr lang="en-US" altLang="zh-CN" sz="2600">
                <a:solidFill>
                  <a:srgbClr val="0070C0"/>
                </a:solidFill>
                <a:latin typeface="Tahoma" panose="020B0604030504040204" pitchFamily="34" charset="0"/>
                <a:ea typeface="微软雅黑 Light" panose="020B0502040204020203" pitchFamily="34" charset="-122"/>
              </a:rPr>
              <a:t>+</a:t>
            </a:r>
            <a:r>
              <a:rPr lang="zh-CN" altLang="en-US" sz="2600">
                <a:solidFill>
                  <a:srgbClr val="0070C0"/>
                </a:solidFill>
                <a:latin typeface="Tahoma" panose="020B0604030504040204" pitchFamily="34" charset="0"/>
                <a:ea typeface="微软雅黑 Light" panose="020B0502040204020203" pitchFamily="34" charset="-122"/>
              </a:rPr>
              <a:t>客户端连接）</a:t>
            </a:r>
            <a:endParaRPr lang="en-US" altLang="zh-CN" sz="2600">
              <a:solidFill>
                <a:srgbClr val="0070C0"/>
              </a:solidFill>
              <a:latin typeface="Tahoma" panose="020B0604030504040204" pitchFamily="34" charset="0"/>
              <a:ea typeface="微软雅黑 Light" panose="020B0502040204020203" pitchFamily="34" charset="-122"/>
            </a:endParaRPr>
          </a:p>
          <a:p>
            <a:r>
              <a:rPr lang="en-US" altLang="zh-CN" sz="2600" b="1">
                <a:latin typeface="Tahoma" panose="020B0604030504040204" pitchFamily="34" charset="0"/>
                <a:ea typeface="微软雅黑 Light" panose="020B0502040204020203" pitchFamily="34" charset="-122"/>
              </a:rPr>
              <a:t>        readfds = activefds;</a:t>
            </a:r>
            <a:endParaRPr lang="en-US" altLang="zh-CN" sz="2600" b="1">
              <a:latin typeface="Tahoma" panose="020B0604030504040204" pitchFamily="34" charset="0"/>
              <a:ea typeface="微软雅黑 Light" panose="020B0502040204020203" pitchFamily="34" charset="-122"/>
            </a:endParaRPr>
          </a:p>
          <a:p>
            <a:r>
              <a:rPr lang="en-US" altLang="zh-CN" sz="2600" b="1">
                <a:solidFill>
                  <a:srgbClr val="C00000"/>
                </a:solidFill>
                <a:latin typeface="Tahoma" panose="020B0604030504040204" pitchFamily="34" charset="0"/>
                <a:ea typeface="微软雅黑 Light" panose="020B0502040204020203" pitchFamily="34" charset="-122"/>
              </a:rPr>
              <a:t>        select(maxfd + 1, &amp;readfds, NULL, NULL, NULL);</a:t>
            </a:r>
            <a:endParaRPr lang="en-US" altLang="zh-CN" sz="2600" b="1">
              <a:solidFill>
                <a:srgbClr val="C00000"/>
              </a:solidFill>
              <a:latin typeface="Tahoma" panose="020B0604030504040204" pitchFamily="34" charset="0"/>
              <a:ea typeface="微软雅黑 Light" panose="020B0502040204020203" pitchFamily="34" charset="-122"/>
            </a:endParaRPr>
          </a:p>
        </p:txBody>
      </p:sp>
    </p:spTree>
  </p:cSld>
  <p:clrMapOvr>
    <a:masterClrMapping/>
  </p:clrMapOvr>
  <p:transition spd="slow">
    <p:wipe dir="r"/>
    <p:sndAc>
      <p:end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685800" y="381675"/>
            <a:ext cx="7772400" cy="57779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en-US" altLang="zh-CN" sz="3600">
                <a:latin typeface="Tahoma" panose="020B0604030504040204" pitchFamily="34" charset="0"/>
                <a:ea typeface="微软雅黑" panose="020B0503020204020204" pitchFamily="34" charset="-122"/>
              </a:rPr>
              <a:t>select</a:t>
            </a:r>
            <a:r>
              <a:rPr lang="zh-CN" altLang="en-US" sz="3600">
                <a:latin typeface="Tahoma" panose="020B0604030504040204" pitchFamily="34" charset="0"/>
                <a:ea typeface="微软雅黑" panose="020B0503020204020204" pitchFamily="34" charset="-122"/>
              </a:rPr>
              <a:t>函数例程（</a:t>
            </a:r>
            <a:r>
              <a:rPr lang="en-US" altLang="zh-CN" sz="3600">
                <a:latin typeface="Tahoma" panose="020B0604030504040204" pitchFamily="34" charset="0"/>
                <a:ea typeface="微软雅黑" panose="020B0503020204020204" pitchFamily="34" charset="-122"/>
              </a:rPr>
              <a:t>2</a:t>
            </a:r>
            <a:r>
              <a:rPr lang="zh-CN" altLang="en-US" sz="3600">
                <a:latin typeface="Tahoma" panose="020B0604030504040204" pitchFamily="34" charset="0"/>
                <a:ea typeface="微软雅黑" panose="020B0503020204020204" pitchFamily="34" charset="-122"/>
              </a:rPr>
              <a:t>）</a:t>
            </a:r>
            <a:br>
              <a:rPr lang="zh-CN" altLang="en-US" sz="3600">
                <a:latin typeface="Tahoma" panose="020B0604030504040204" pitchFamily="34" charset="0"/>
                <a:ea typeface="微软雅黑" panose="020B0503020204020204" pitchFamily="34" charset="-122"/>
              </a:rPr>
            </a:br>
            <a:endParaRPr lang="zh-CN" altLang="en-US" sz="3600">
              <a:latin typeface="Tahoma" panose="020B0604030504040204" pitchFamily="34" charset="0"/>
              <a:ea typeface="微软雅黑" panose="020B0503020204020204" pitchFamily="34" charset="-122"/>
            </a:endParaRPr>
          </a:p>
        </p:txBody>
      </p:sp>
      <p:sp>
        <p:nvSpPr>
          <p:cNvPr id="7" name="文本框 6"/>
          <p:cNvSpPr txBox="1"/>
          <p:nvPr/>
        </p:nvSpPr>
        <p:spPr>
          <a:xfrm>
            <a:off x="467544" y="966773"/>
            <a:ext cx="8208912" cy="4842095"/>
          </a:xfrm>
          <a:prstGeom prst="rect">
            <a:avLst/>
          </a:prstGeom>
          <a:noFill/>
        </p:spPr>
        <p:txBody>
          <a:bodyPr wrap="square">
            <a:spAutoFit/>
          </a:bodyPr>
          <a:lstStyle/>
          <a:p>
            <a:pPr>
              <a:lnSpc>
                <a:spcPct val="120000"/>
              </a:lnSpc>
            </a:pPr>
            <a:r>
              <a:rPr lang="zh-CN" altLang="en-US" sz="2600">
                <a:solidFill>
                  <a:srgbClr val="0070C0"/>
                </a:solidFill>
                <a:latin typeface="Tahoma" panose="020B0604030504040204" pitchFamily="34" charset="0"/>
                <a:ea typeface="微软雅黑 Light" panose="020B0502040204020203" pitchFamily="34" charset="-122"/>
              </a:rPr>
              <a:t>         </a:t>
            </a:r>
            <a:r>
              <a:rPr lang="en-US" altLang="zh-CN" sz="2600">
                <a:solidFill>
                  <a:srgbClr val="0070C0"/>
                </a:solidFill>
                <a:latin typeface="Tahoma" panose="020B0604030504040204" pitchFamily="34" charset="0"/>
                <a:ea typeface="微软雅黑 Light" panose="020B0502040204020203" pitchFamily="34" charset="-122"/>
              </a:rPr>
              <a:t>// </a:t>
            </a:r>
            <a:r>
              <a:rPr lang="zh-CN" altLang="en-US" sz="2600">
                <a:solidFill>
                  <a:srgbClr val="0070C0"/>
                </a:solidFill>
                <a:latin typeface="Tahoma" panose="020B0604030504040204" pitchFamily="34" charset="0"/>
                <a:ea typeface="微软雅黑 Light" panose="020B0502040204020203" pitchFamily="34" charset="-122"/>
              </a:rPr>
              <a:t>处理新连接</a:t>
            </a:r>
            <a:endParaRPr lang="zh-CN" altLang="en-US" sz="2600">
              <a:solidFill>
                <a:srgbClr val="0070C0"/>
              </a:solidFill>
              <a:latin typeface="Tahoma" panose="020B0604030504040204" pitchFamily="34" charset="0"/>
              <a:ea typeface="微软雅黑 Light" panose="020B0502040204020203" pitchFamily="34" charset="-122"/>
            </a:endParaRPr>
          </a:p>
          <a:p>
            <a:pPr>
              <a:lnSpc>
                <a:spcPct val="120000"/>
              </a:lnSpc>
            </a:pPr>
            <a:r>
              <a:rPr lang="zh-CN" altLang="en-US" sz="2600">
                <a:latin typeface="Tahoma" panose="020B0604030504040204" pitchFamily="34" charset="0"/>
                <a:ea typeface="微软雅黑 Light" panose="020B0502040204020203" pitchFamily="34" charset="-122"/>
              </a:rPr>
              <a:t>        </a:t>
            </a:r>
            <a:r>
              <a:rPr lang="en-US" altLang="zh-CN" sz="2600">
                <a:latin typeface="Tahoma" panose="020B0604030504040204" pitchFamily="34" charset="0"/>
                <a:ea typeface="微软雅黑 Light" panose="020B0502040204020203" pitchFamily="34" charset="-122"/>
              </a:rPr>
              <a:t>if (</a:t>
            </a:r>
            <a:r>
              <a:rPr lang="en-US" altLang="zh-CN" sz="2600" b="1">
                <a:latin typeface="Tahoma" panose="020B0604030504040204" pitchFamily="34" charset="0"/>
                <a:ea typeface="微软雅黑 Light" panose="020B0502040204020203" pitchFamily="34" charset="-122"/>
              </a:rPr>
              <a:t>FD_ISSET(listenfd, &amp;readfds)</a:t>
            </a:r>
            <a:r>
              <a:rPr lang="en-US" altLang="zh-CN" sz="2600">
                <a:latin typeface="Tahoma" panose="020B0604030504040204" pitchFamily="34" charset="0"/>
                <a:ea typeface="微软雅黑 Light" panose="020B0502040204020203" pitchFamily="34" charset="-122"/>
              </a:rPr>
              <a:t>) {</a:t>
            </a:r>
            <a:endParaRPr lang="en-US" altLang="zh-CN" sz="2600">
              <a:latin typeface="Tahoma" panose="020B0604030504040204" pitchFamily="34" charset="0"/>
              <a:ea typeface="微软雅黑 Light" panose="020B0502040204020203" pitchFamily="34" charset="-122"/>
            </a:endParaRPr>
          </a:p>
          <a:p>
            <a:pPr>
              <a:lnSpc>
                <a:spcPct val="120000"/>
              </a:lnSpc>
            </a:pPr>
            <a:r>
              <a:rPr lang="en-US" altLang="zh-CN" sz="2600">
                <a:latin typeface="Tahoma" panose="020B0604030504040204" pitchFamily="34" charset="0"/>
                <a:ea typeface="微软雅黑 Light" panose="020B0502040204020203" pitchFamily="34" charset="-122"/>
              </a:rPr>
              <a:t>            connfd = accept(listenfd, NULL, NULL);</a:t>
            </a:r>
            <a:endParaRPr lang="en-US" altLang="zh-CN" sz="2600">
              <a:latin typeface="Tahoma" panose="020B0604030504040204" pitchFamily="34" charset="0"/>
              <a:ea typeface="微软雅黑 Light" panose="020B0502040204020203" pitchFamily="34" charset="-122"/>
            </a:endParaRPr>
          </a:p>
          <a:p>
            <a:pPr>
              <a:lnSpc>
                <a:spcPct val="120000"/>
              </a:lnSpc>
            </a:pPr>
            <a:r>
              <a:rPr lang="en-US" altLang="zh-CN" sz="2600">
                <a:latin typeface="Tahoma" panose="020B0604030504040204" pitchFamily="34" charset="0"/>
                <a:ea typeface="微软雅黑 Light" panose="020B0502040204020203" pitchFamily="34" charset="-122"/>
              </a:rPr>
              <a:t>            printf("</a:t>
            </a:r>
            <a:r>
              <a:rPr lang="zh-CN" altLang="en-US" sz="2600">
                <a:latin typeface="Tahoma" panose="020B0604030504040204" pitchFamily="34" charset="0"/>
                <a:ea typeface="微软雅黑 Light" panose="020B0502040204020203" pitchFamily="34" charset="-122"/>
              </a:rPr>
              <a:t>新客户端连接</a:t>
            </a:r>
            <a:r>
              <a:rPr lang="en-US" altLang="zh-CN" sz="2600">
                <a:latin typeface="Tahoma" panose="020B0604030504040204" pitchFamily="34" charset="0"/>
                <a:ea typeface="微软雅黑 Light" panose="020B0502040204020203" pitchFamily="34" charset="-122"/>
              </a:rPr>
              <a:t>: fd=%d\n", connfd);</a:t>
            </a:r>
            <a:endParaRPr lang="en-US" altLang="zh-CN" sz="2600">
              <a:latin typeface="Tahoma" panose="020B0604030504040204" pitchFamily="34" charset="0"/>
              <a:ea typeface="微软雅黑 Light" panose="020B0502040204020203" pitchFamily="34" charset="-122"/>
            </a:endParaRPr>
          </a:p>
          <a:p>
            <a:pPr>
              <a:lnSpc>
                <a:spcPct val="120000"/>
              </a:lnSpc>
            </a:pPr>
            <a:endParaRPr lang="en-US" altLang="zh-CN" sz="2600">
              <a:latin typeface="Tahoma" panose="020B0604030504040204" pitchFamily="34" charset="0"/>
              <a:ea typeface="微软雅黑 Light" panose="020B0502040204020203" pitchFamily="34" charset="-122"/>
            </a:endParaRPr>
          </a:p>
          <a:p>
            <a:pPr>
              <a:lnSpc>
                <a:spcPct val="120000"/>
              </a:lnSpc>
            </a:pPr>
            <a:r>
              <a:rPr lang="en-US" altLang="zh-CN" sz="2600">
                <a:solidFill>
                  <a:srgbClr val="0070C0"/>
                </a:solidFill>
                <a:latin typeface="Tahoma" panose="020B0604030504040204" pitchFamily="34" charset="0"/>
                <a:ea typeface="微软雅黑 Light" panose="020B0502040204020203" pitchFamily="34" charset="-122"/>
              </a:rPr>
              <a:t>            // </a:t>
            </a:r>
            <a:r>
              <a:rPr lang="zh-CN" altLang="en-US" sz="2600">
                <a:solidFill>
                  <a:srgbClr val="0070C0"/>
                </a:solidFill>
                <a:latin typeface="Tahoma" panose="020B0604030504040204" pitchFamily="34" charset="0"/>
                <a:ea typeface="微软雅黑 Light" panose="020B0502040204020203" pitchFamily="34" charset="-122"/>
              </a:rPr>
              <a:t>将新连接加入集合</a:t>
            </a:r>
            <a:endParaRPr lang="zh-CN" altLang="en-US" sz="2600">
              <a:solidFill>
                <a:srgbClr val="0070C0"/>
              </a:solidFill>
              <a:latin typeface="Tahoma" panose="020B0604030504040204" pitchFamily="34" charset="0"/>
              <a:ea typeface="微软雅黑 Light" panose="020B0502040204020203" pitchFamily="34" charset="-122"/>
            </a:endParaRPr>
          </a:p>
          <a:p>
            <a:pPr>
              <a:lnSpc>
                <a:spcPct val="120000"/>
              </a:lnSpc>
            </a:pPr>
            <a:r>
              <a:rPr lang="zh-CN" altLang="en-US" sz="2600">
                <a:latin typeface="Tahoma" panose="020B0604030504040204" pitchFamily="34" charset="0"/>
                <a:ea typeface="微软雅黑 Light" panose="020B0502040204020203" pitchFamily="34" charset="-122"/>
              </a:rPr>
              <a:t>            </a:t>
            </a:r>
            <a:r>
              <a:rPr lang="en-US" altLang="zh-CN" sz="2600" b="1">
                <a:latin typeface="Tahoma" panose="020B0604030504040204" pitchFamily="34" charset="0"/>
                <a:ea typeface="微软雅黑 Light" panose="020B0502040204020203" pitchFamily="34" charset="-122"/>
              </a:rPr>
              <a:t>FD_SET(connfd, &amp;activefds);</a:t>
            </a:r>
            <a:endParaRPr lang="en-US" altLang="zh-CN" sz="2600" b="1">
              <a:latin typeface="Tahoma" panose="020B0604030504040204" pitchFamily="34" charset="0"/>
              <a:ea typeface="微软雅黑 Light" panose="020B0502040204020203" pitchFamily="34" charset="-122"/>
            </a:endParaRPr>
          </a:p>
          <a:p>
            <a:pPr>
              <a:lnSpc>
                <a:spcPct val="120000"/>
              </a:lnSpc>
            </a:pPr>
            <a:r>
              <a:rPr lang="en-US" altLang="zh-CN" sz="2600">
                <a:latin typeface="Tahoma" panose="020B0604030504040204" pitchFamily="34" charset="0"/>
                <a:ea typeface="微软雅黑 Light" panose="020B0502040204020203" pitchFamily="34" charset="-122"/>
              </a:rPr>
              <a:t>            if (connfd &gt; maxfd) </a:t>
            </a:r>
            <a:endParaRPr lang="en-US" altLang="zh-CN" sz="2600">
              <a:latin typeface="Tahoma" panose="020B0604030504040204" pitchFamily="34" charset="0"/>
              <a:ea typeface="微软雅黑 Light" panose="020B0502040204020203" pitchFamily="34" charset="-122"/>
            </a:endParaRPr>
          </a:p>
          <a:p>
            <a:pPr>
              <a:lnSpc>
                <a:spcPct val="120000"/>
              </a:lnSpc>
            </a:pPr>
            <a:r>
              <a:rPr lang="en-US" altLang="zh-CN" sz="2600">
                <a:latin typeface="Tahoma" panose="020B0604030504040204" pitchFamily="34" charset="0"/>
                <a:ea typeface="微软雅黑 Light" panose="020B0502040204020203" pitchFamily="34" charset="-122"/>
              </a:rPr>
              <a:t>		maxfd = connfd;</a:t>
            </a:r>
            <a:endParaRPr lang="en-US" altLang="zh-CN" sz="2600">
              <a:latin typeface="Tahoma" panose="020B0604030504040204" pitchFamily="34" charset="0"/>
              <a:ea typeface="微软雅黑 Light" panose="020B0502040204020203" pitchFamily="34" charset="-122"/>
            </a:endParaRPr>
          </a:p>
          <a:p>
            <a:pPr>
              <a:lnSpc>
                <a:spcPct val="120000"/>
              </a:lnSpc>
            </a:pPr>
            <a:r>
              <a:rPr lang="en-US" altLang="zh-CN" sz="2600">
                <a:latin typeface="Tahoma" panose="020B0604030504040204" pitchFamily="34" charset="0"/>
                <a:ea typeface="微软雅黑 Light" panose="020B0502040204020203" pitchFamily="34" charset="-122"/>
              </a:rPr>
              <a:t>        }</a:t>
            </a:r>
            <a:endParaRPr lang="en-US" altLang="zh-CN" sz="2600" b="1">
              <a:latin typeface="Tahoma" panose="020B0604030504040204" pitchFamily="34" charset="0"/>
              <a:ea typeface="微软雅黑 Light" panose="020B0502040204020203" pitchFamily="34" charset="-122"/>
            </a:endParaRPr>
          </a:p>
        </p:txBody>
      </p:sp>
    </p:spTree>
  </p:cSld>
  <p:clrMapOvr>
    <a:masterClrMapping/>
  </p:clrMapOvr>
  <p:transition spd="slow">
    <p:wipe dir="r"/>
    <p:sndAc>
      <p:end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685800" y="381675"/>
            <a:ext cx="7772400" cy="57779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en-US" altLang="zh-CN" sz="3600">
                <a:latin typeface="Tahoma" panose="020B0604030504040204" pitchFamily="34" charset="0"/>
                <a:ea typeface="微软雅黑" panose="020B0503020204020204" pitchFamily="34" charset="-122"/>
              </a:rPr>
              <a:t>select</a:t>
            </a:r>
            <a:r>
              <a:rPr lang="zh-CN" altLang="en-US" sz="3600">
                <a:latin typeface="Tahoma" panose="020B0604030504040204" pitchFamily="34" charset="0"/>
                <a:ea typeface="微软雅黑" panose="020B0503020204020204" pitchFamily="34" charset="-122"/>
              </a:rPr>
              <a:t>函数例程（</a:t>
            </a:r>
            <a:r>
              <a:rPr lang="en-US" altLang="zh-CN" sz="3600">
                <a:latin typeface="Tahoma" panose="020B0604030504040204" pitchFamily="34" charset="0"/>
                <a:ea typeface="微软雅黑" panose="020B0503020204020204" pitchFamily="34" charset="-122"/>
              </a:rPr>
              <a:t>2</a:t>
            </a:r>
            <a:r>
              <a:rPr lang="zh-CN" altLang="en-US" sz="3600">
                <a:latin typeface="Tahoma" panose="020B0604030504040204" pitchFamily="34" charset="0"/>
                <a:ea typeface="微软雅黑" panose="020B0503020204020204" pitchFamily="34" charset="-122"/>
              </a:rPr>
              <a:t>）</a:t>
            </a:r>
            <a:br>
              <a:rPr lang="zh-CN" altLang="en-US" sz="3600">
                <a:latin typeface="Tahoma" panose="020B0604030504040204" pitchFamily="34" charset="0"/>
                <a:ea typeface="微软雅黑" panose="020B0503020204020204" pitchFamily="34" charset="-122"/>
              </a:rPr>
            </a:br>
            <a:endParaRPr lang="zh-CN" altLang="en-US" sz="3600">
              <a:latin typeface="Tahoma" panose="020B0604030504040204" pitchFamily="34" charset="0"/>
              <a:ea typeface="微软雅黑" panose="020B0503020204020204" pitchFamily="34" charset="-122"/>
            </a:endParaRPr>
          </a:p>
        </p:txBody>
      </p:sp>
      <p:sp>
        <p:nvSpPr>
          <p:cNvPr id="7" name="文本框 6"/>
          <p:cNvSpPr txBox="1"/>
          <p:nvPr/>
        </p:nvSpPr>
        <p:spPr>
          <a:xfrm>
            <a:off x="251520" y="966773"/>
            <a:ext cx="8424936" cy="5773888"/>
          </a:xfrm>
          <a:prstGeom prst="rect">
            <a:avLst/>
          </a:prstGeom>
          <a:noFill/>
        </p:spPr>
        <p:txBody>
          <a:bodyPr wrap="square">
            <a:spAutoFit/>
          </a:bodyPr>
          <a:lstStyle/>
          <a:p>
            <a:pPr>
              <a:lnSpc>
                <a:spcPct val="120000"/>
              </a:lnSpc>
            </a:pPr>
            <a:r>
              <a:rPr lang="zh-CN" altLang="en-US" sz="2600">
                <a:latin typeface="Tahoma" panose="020B0604030504040204" pitchFamily="34" charset="0"/>
                <a:ea typeface="微软雅黑 Light" panose="020B0502040204020203" pitchFamily="34" charset="-122"/>
              </a:rPr>
              <a:t>       </a:t>
            </a:r>
            <a:r>
              <a:rPr lang="en-US" altLang="zh-CN" sz="2600">
                <a:solidFill>
                  <a:srgbClr val="0070C0"/>
                </a:solidFill>
                <a:latin typeface="Tahoma" panose="020B0604030504040204" pitchFamily="34" charset="0"/>
                <a:ea typeface="微软雅黑 Light" panose="020B0502040204020203" pitchFamily="34" charset="-122"/>
              </a:rPr>
              <a:t>// </a:t>
            </a:r>
            <a:r>
              <a:rPr lang="zh-CN" altLang="en-US" sz="2600">
                <a:solidFill>
                  <a:srgbClr val="0070C0"/>
                </a:solidFill>
                <a:latin typeface="Tahoma" panose="020B0604030504040204" pitchFamily="34" charset="0"/>
                <a:ea typeface="微软雅黑 Light" panose="020B0502040204020203" pitchFamily="34" charset="-122"/>
              </a:rPr>
              <a:t>处理客户端数据</a:t>
            </a:r>
            <a:endParaRPr lang="zh-CN" altLang="en-US" sz="2600">
              <a:solidFill>
                <a:srgbClr val="0070C0"/>
              </a:solidFill>
              <a:latin typeface="Tahoma" panose="020B0604030504040204" pitchFamily="34" charset="0"/>
              <a:ea typeface="微软雅黑 Light" panose="020B0502040204020203" pitchFamily="34" charset="-122"/>
            </a:endParaRPr>
          </a:p>
          <a:p>
            <a:r>
              <a:rPr lang="zh-CN" altLang="en-US" sz="2600">
                <a:latin typeface="Tahoma" panose="020B0604030504040204" pitchFamily="34" charset="0"/>
                <a:ea typeface="微软雅黑 Light" panose="020B0502040204020203" pitchFamily="34" charset="-122"/>
              </a:rPr>
              <a:t>        </a:t>
            </a:r>
            <a:r>
              <a:rPr lang="en-US" altLang="zh-CN" sz="2600">
                <a:latin typeface="Tahoma" panose="020B0604030504040204" pitchFamily="34" charset="0"/>
                <a:ea typeface="微软雅黑 Light" panose="020B0502040204020203" pitchFamily="34" charset="-122"/>
              </a:rPr>
              <a:t>for (int i = 0; i &lt;= maxfd; i++) {</a:t>
            </a:r>
            <a:endParaRPr lang="en-US" altLang="zh-CN" sz="2600">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if (i != listenfd &amp;&amp; FD_ISSET(i, &amp;readfds)) {</a:t>
            </a:r>
            <a:endParaRPr lang="en-US" altLang="zh-CN" sz="2600">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char buffer[BUFFER_SIZE];</a:t>
            </a:r>
            <a:endParaRPr lang="en-US" altLang="zh-CN" sz="2600">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ssize_t n = read(i, buffer, BUFFER_SIZE);</a:t>
            </a:r>
            <a:endParaRPr lang="en-US" altLang="zh-CN" sz="2600">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if (n &gt; 0) {</a:t>
            </a:r>
            <a:endParaRPr lang="en-US" altLang="zh-CN" sz="2600">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write(i, buffer, n);</a:t>
            </a:r>
            <a:endParaRPr lang="en-US" altLang="zh-CN" sz="2600">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 else {</a:t>
            </a:r>
            <a:endParaRPr lang="en-US" altLang="zh-CN" sz="2600">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close(i);</a:t>
            </a:r>
            <a:endParaRPr lang="en-US" altLang="zh-CN" sz="2600">
              <a:latin typeface="Tahoma" panose="020B0604030504040204" pitchFamily="34" charset="0"/>
              <a:ea typeface="微软雅黑 Light" panose="020B0502040204020203" pitchFamily="34" charset="-122"/>
            </a:endParaRPr>
          </a:p>
          <a:p>
            <a:r>
              <a:rPr lang="en-US" altLang="zh-CN" sz="2600" b="1">
                <a:solidFill>
                  <a:srgbClr val="C00000"/>
                </a:solidFill>
                <a:latin typeface="Tahoma" panose="020B0604030504040204" pitchFamily="34" charset="0"/>
                <a:ea typeface="微软雅黑 Light" panose="020B0502040204020203" pitchFamily="34" charset="-122"/>
              </a:rPr>
              <a:t>                     FD_CLR(i, &amp;activefds);</a:t>
            </a:r>
            <a:endParaRPr lang="en-US" altLang="zh-CN" sz="2600" b="1">
              <a:solidFill>
                <a:srgbClr val="C00000"/>
              </a:solidFill>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printf("</a:t>
            </a:r>
            <a:r>
              <a:rPr lang="zh-CN" altLang="en-US" sz="2600">
                <a:latin typeface="Tahoma" panose="020B0604030504040204" pitchFamily="34" charset="0"/>
                <a:ea typeface="微软雅黑 Light" panose="020B0502040204020203" pitchFamily="34" charset="-122"/>
              </a:rPr>
              <a:t>客户端 </a:t>
            </a:r>
            <a:r>
              <a:rPr lang="en-US" altLang="zh-CN" sz="2600">
                <a:latin typeface="Tahoma" panose="020B0604030504040204" pitchFamily="34" charset="0"/>
                <a:ea typeface="微软雅黑 Light" panose="020B0502040204020203" pitchFamily="34" charset="-122"/>
              </a:rPr>
              <a:t>fd=%d </a:t>
            </a:r>
            <a:r>
              <a:rPr lang="zh-CN" altLang="en-US" sz="2600">
                <a:latin typeface="Tahoma" panose="020B0604030504040204" pitchFamily="34" charset="0"/>
                <a:ea typeface="微软雅黑 Light" panose="020B0502040204020203" pitchFamily="34" charset="-122"/>
              </a:rPr>
              <a:t>断开连接</a:t>
            </a:r>
            <a:r>
              <a:rPr lang="en-US" altLang="zh-CN" sz="2600">
                <a:latin typeface="Tahoma" panose="020B0604030504040204" pitchFamily="34" charset="0"/>
                <a:ea typeface="微软雅黑 Light" panose="020B0502040204020203" pitchFamily="34" charset="-122"/>
              </a:rPr>
              <a:t>\n", i);</a:t>
            </a:r>
            <a:endParaRPr lang="en-US" altLang="zh-CN" sz="2600">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a:t>
            </a:r>
            <a:endParaRPr lang="en-US" altLang="zh-CN" sz="2600">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a:t>
            </a:r>
            <a:endParaRPr lang="en-US" altLang="zh-CN" sz="2600">
              <a:latin typeface="Tahoma" panose="020B0604030504040204" pitchFamily="34" charset="0"/>
              <a:ea typeface="微软雅黑 Light" panose="020B0502040204020203" pitchFamily="34" charset="-122"/>
            </a:endParaRPr>
          </a:p>
          <a:p>
            <a:r>
              <a:rPr lang="en-US" altLang="zh-CN" sz="2600">
                <a:latin typeface="Tahoma" panose="020B0604030504040204" pitchFamily="34" charset="0"/>
                <a:ea typeface="微软雅黑 Light" panose="020B0502040204020203" pitchFamily="34" charset="-122"/>
              </a:rPr>
              <a:t>        }</a:t>
            </a:r>
            <a:endParaRPr lang="en-US" altLang="zh-CN" sz="2600" b="1">
              <a:latin typeface="Tahoma" panose="020B0604030504040204" pitchFamily="34" charset="0"/>
              <a:ea typeface="微软雅黑 Light" panose="020B0502040204020203" pitchFamily="34" charset="-122"/>
            </a:endParaRPr>
          </a:p>
        </p:txBody>
      </p:sp>
    </p:spTree>
  </p:cSld>
  <p:clrMapOvr>
    <a:masterClrMapping/>
  </p:clrMapOvr>
  <p:transition spd="slow">
    <p:wipe dir="r"/>
    <p:sndAc>
      <p:endSnd/>
    </p:sndAc>
  </p:transition>
</p:sld>
</file>

<file path=ppt/slides/slide35.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685800" y="609600"/>
            <a:ext cx="7772400" cy="762000"/>
          </a:xfrm>
        </p:spPr>
        <p:txBody>
          <a:bodyPr/>
          <a:lstStyle/>
          <a:p>
            <a:pPr eaLnBrk="1" hangingPunct="1"/>
            <a:r>
              <a:rPr lang="en-US" altLang="zh-CN" sz="3200" b="1">
                <a:solidFill>
                  <a:schemeClr val="tx1"/>
                </a:solidFill>
                <a:latin typeface="Tahoma" panose="020B0604030504040204" pitchFamily="34" charset="0"/>
              </a:rPr>
              <a:t>pselect</a:t>
            </a:r>
            <a:r>
              <a:rPr lang="zh-CN" altLang="en-US" sz="3200" b="1">
                <a:solidFill>
                  <a:schemeClr val="tx1"/>
                </a:solidFill>
                <a:latin typeface="Tahoma" panose="020B0604030504040204" pitchFamily="34" charset="0"/>
              </a:rPr>
              <a:t>（）</a:t>
            </a:r>
            <a:r>
              <a:rPr lang="zh-CN" altLang="en-US" sz="3200" b="1">
                <a:solidFill>
                  <a:schemeClr val="tx1"/>
                </a:solidFill>
              </a:rPr>
              <a:t>函数（</a:t>
            </a:r>
            <a:r>
              <a:rPr lang="en-US" altLang="zh-CN" sz="3200" b="1">
                <a:solidFill>
                  <a:schemeClr val="tx1"/>
                </a:solidFill>
              </a:rPr>
              <a:t>1</a:t>
            </a:r>
            <a:r>
              <a:rPr lang="zh-CN" altLang="en-US" sz="3200" b="1">
                <a:solidFill>
                  <a:schemeClr val="tx1"/>
                </a:solidFill>
              </a:rPr>
              <a:t>）</a:t>
            </a:r>
            <a:endParaRPr lang="zh-CN" altLang="en-US" sz="3200" b="1">
              <a:solidFill>
                <a:schemeClr val="tx1"/>
              </a:solidFill>
            </a:endParaRPr>
          </a:p>
        </p:txBody>
      </p:sp>
      <p:sp>
        <p:nvSpPr>
          <p:cNvPr id="41987" name="Rectangle 3"/>
          <p:cNvSpPr>
            <a:spLocks noGrp="1" noChangeArrowheads="1"/>
          </p:cNvSpPr>
          <p:nvPr>
            <p:ph idx="1"/>
          </p:nvPr>
        </p:nvSpPr>
        <p:spPr>
          <a:xfrm>
            <a:off x="395536" y="1371600"/>
            <a:ext cx="8352928" cy="5297488"/>
          </a:xfrm>
        </p:spPr>
        <p:txBody>
          <a:bodyPr/>
          <a:lstStyle/>
          <a:p>
            <a:pPr eaLnBrk="1" hangingPunct="1">
              <a:lnSpc>
                <a:spcPct val="12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int pselect (int maxfdp1, fd_set *readset, fd_set * writeset, fd_set * exceptset, </a:t>
            </a:r>
            <a:r>
              <a:rPr lang="en-US" altLang="zh-CN" sz="2400">
                <a:solidFill>
                  <a:srgbClr val="0070C0"/>
                </a:solidFill>
                <a:latin typeface="Tahoma" panose="020B0604030504040204" pitchFamily="34" charset="0"/>
                <a:ea typeface="Tahoma" panose="020B0604030504040204" pitchFamily="34" charset="0"/>
                <a:cs typeface="Tahoma" panose="020B0604030504040204" pitchFamily="34" charset="0"/>
              </a:rPr>
              <a:t>const struct timespec </a:t>
            </a:r>
            <a:r>
              <a:rPr lang="en-US" altLang="zh-CN" sz="2400">
                <a:latin typeface="Tahoma" panose="020B0604030504040204" pitchFamily="34" charset="0"/>
                <a:ea typeface="Tahoma" panose="020B0604030504040204" pitchFamily="34" charset="0"/>
                <a:cs typeface="Tahoma" panose="020B0604030504040204" pitchFamily="34" charset="0"/>
              </a:rPr>
              <a:t>* timeout, const sigset_t *sigmask);</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2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a:t>
            </a:r>
            <a:r>
              <a:rPr lang="zh-CN" altLang="en-US" sz="2400">
                <a:latin typeface="Tahoma" panose="020B0604030504040204" pitchFamily="34" charset="0"/>
                <a:cs typeface="Tahoma" panose="020B0604030504040204" pitchFamily="34" charset="0"/>
              </a:rPr>
              <a:t>返回：准备好的描述字个数，</a:t>
            </a:r>
            <a:r>
              <a:rPr lang="en-US" altLang="zh-CN" sz="2400">
                <a:latin typeface="Tahoma" panose="020B0604030504040204" pitchFamily="34" charset="0"/>
                <a:ea typeface="Tahoma" panose="020B0604030504040204" pitchFamily="34" charset="0"/>
                <a:cs typeface="Tahoma" panose="020B0604030504040204" pitchFamily="34" charset="0"/>
              </a:rPr>
              <a:t>0</a:t>
            </a:r>
            <a:r>
              <a:rPr lang="zh-CN" altLang="en-US" sz="2400">
                <a:latin typeface="Tahoma" panose="020B0604030504040204" pitchFamily="34" charset="0"/>
                <a:cs typeface="Tahoma" panose="020B0604030504040204" pitchFamily="34" charset="0"/>
              </a:rPr>
              <a:t>－超时， －</a:t>
            </a:r>
            <a:r>
              <a:rPr lang="en-US" altLang="zh-CN" sz="2400">
                <a:latin typeface="Tahoma" panose="020B0604030504040204" pitchFamily="34" charset="0"/>
                <a:ea typeface="Tahoma" panose="020B0604030504040204" pitchFamily="34" charset="0"/>
                <a:cs typeface="Tahoma" panose="020B0604030504040204" pitchFamily="34" charset="0"/>
              </a:rPr>
              <a:t>1</a:t>
            </a:r>
            <a:r>
              <a:rPr lang="zh-CN" altLang="en-US" sz="2400">
                <a:latin typeface="Tahoma" panose="020B0604030504040204" pitchFamily="34" charset="0"/>
                <a:cs typeface="Tahoma" panose="020B0604030504040204" pitchFamily="34" charset="0"/>
              </a:rPr>
              <a:t>－出错。</a:t>
            </a:r>
            <a:endParaRPr lang="zh-CN" altLang="en-US" sz="2400">
              <a:latin typeface="Tahoma" panose="020B0604030504040204" pitchFamily="34" charset="0"/>
              <a:cs typeface="Tahoma" panose="020B0604030504040204" pitchFamily="34" charset="0"/>
            </a:endParaRPr>
          </a:p>
          <a:p>
            <a:pPr eaLnBrk="1" hangingPunct="1">
              <a:lnSpc>
                <a:spcPct val="120000"/>
              </a:lnSpc>
            </a:pPr>
            <a:r>
              <a:rPr lang="en-US" altLang="zh-CN" sz="2400">
                <a:latin typeface="Tahoma" panose="020B0604030504040204" pitchFamily="34" charset="0"/>
                <a:ea typeface="Tahoma" panose="020B0604030504040204" pitchFamily="34" charset="0"/>
                <a:cs typeface="Tahoma" panose="020B0604030504040204" pitchFamily="34" charset="0"/>
              </a:rPr>
              <a:t>pselect</a:t>
            </a:r>
            <a:r>
              <a:rPr lang="zh-CN" altLang="en-US" sz="2400">
                <a:latin typeface="Tahoma" panose="020B0604030504040204" pitchFamily="34" charset="0"/>
                <a:cs typeface="Tahoma" panose="020B0604030504040204" pitchFamily="34" charset="0"/>
              </a:rPr>
              <a:t>函数使用结构</a:t>
            </a:r>
            <a:r>
              <a:rPr lang="en-US" altLang="zh-CN" sz="2400">
                <a:latin typeface="Tahoma" panose="020B0604030504040204" pitchFamily="34" charset="0"/>
                <a:ea typeface="Tahoma" panose="020B0604030504040204" pitchFamily="34" charset="0"/>
                <a:cs typeface="Tahoma" panose="020B0604030504040204" pitchFamily="34" charset="0"/>
              </a:rPr>
              <a:t>timespec</a:t>
            </a:r>
            <a:r>
              <a:rPr lang="zh-CN" altLang="en-US" sz="2400">
                <a:latin typeface="Tahoma" panose="020B0604030504040204" pitchFamily="34" charset="0"/>
                <a:cs typeface="Tahoma" panose="020B0604030504040204" pitchFamily="34" charset="0"/>
              </a:rPr>
              <a:t>，而不是</a:t>
            </a:r>
            <a:r>
              <a:rPr lang="en-US" altLang="zh-CN" sz="2400">
                <a:latin typeface="Tahoma" panose="020B0604030504040204" pitchFamily="34" charset="0"/>
                <a:ea typeface="Tahoma" panose="020B0604030504040204" pitchFamily="34" charset="0"/>
                <a:cs typeface="Tahoma" panose="020B0604030504040204" pitchFamily="34" charset="0"/>
              </a:rPr>
              <a:t>timeval:</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2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struct timespec  {</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2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time_t	tv_sec;		/* seconds */</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2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long	tv_nsec;	           /* nanoseconds */</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12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a:t>
            </a:r>
            <a:endParaRPr lang="en-US" altLang="zh-CN" sz="2400">
              <a:latin typeface="Tahoma" panose="020B0604030504040204" pitchFamily="34" charset="0"/>
              <a:ea typeface="Tahoma" panose="020B0604030504040204" pitchFamily="34" charset="0"/>
              <a:cs typeface="Tahoma" panose="020B0604030504040204" pitchFamily="34" charset="0"/>
            </a:endParaRPr>
          </a:p>
        </p:txBody>
      </p:sp>
    </p:spTree>
  </p:cSld>
  <p:clrMapOvr>
    <a:overrideClrMapping bg1="lt1" tx1="dk1" bg2="lt2" tx2="dk2" accent1="accent1" accent2="accent2" accent3="accent3" accent4="accent4" accent5="accent5" accent6="accent6" hlink="hlink" folHlink="folHlink"/>
  </p:clrMapOvr>
  <p:transition spd="slow">
    <p:wipe dir="r"/>
    <p:sndAc>
      <p:endSnd/>
    </p:sndAc>
  </p:transition>
</p:sld>
</file>

<file path=ppt/slides/slide36.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zh-CN" sz="3200" b="1">
                <a:latin typeface="Tahoma" panose="020B0604030504040204" pitchFamily="34" charset="0"/>
              </a:rPr>
              <a:t>pselect</a:t>
            </a:r>
            <a:r>
              <a:rPr lang="zh-CN" altLang="en-US" sz="3200" b="1">
                <a:latin typeface="Tahoma" panose="020B0604030504040204" pitchFamily="34" charset="0"/>
              </a:rPr>
              <a:t>（）</a:t>
            </a:r>
            <a:r>
              <a:rPr lang="zh-CN" altLang="en-US" sz="3200"/>
              <a:t>函数（</a:t>
            </a:r>
            <a:r>
              <a:rPr lang="en-US" altLang="zh-CN" sz="3200"/>
              <a:t>2</a:t>
            </a:r>
            <a:r>
              <a:rPr lang="zh-CN" altLang="en-US" sz="3200"/>
              <a:t>）</a:t>
            </a:r>
            <a:endParaRPr lang="zh-CN" altLang="en-US" sz="3200"/>
          </a:p>
        </p:txBody>
      </p:sp>
      <p:sp>
        <p:nvSpPr>
          <p:cNvPr id="43011" name="Rectangle 3"/>
          <p:cNvSpPr>
            <a:spLocks noGrp="1" noChangeArrowheads="1"/>
          </p:cNvSpPr>
          <p:nvPr>
            <p:ph idx="1"/>
          </p:nvPr>
        </p:nvSpPr>
        <p:spPr/>
        <p:txBody>
          <a:bodyPr/>
          <a:lstStyle/>
          <a:p>
            <a:pPr eaLnBrk="1" hangingPunct="1">
              <a:lnSpc>
                <a:spcPct val="120000"/>
              </a:lnSpc>
            </a:pPr>
            <a:r>
              <a:rPr lang="en-US" altLang="zh-CN" sz="2400">
                <a:solidFill>
                  <a:schemeClr val="tx2"/>
                </a:solidFill>
                <a:latin typeface="Tahoma" panose="020B0604030504040204" pitchFamily="34" charset="0"/>
              </a:rPr>
              <a:t>select</a:t>
            </a:r>
            <a:r>
              <a:rPr lang="zh-CN" altLang="en-US" sz="2400">
                <a:latin typeface="Tahoma" panose="020B0604030504040204" pitchFamily="34" charset="0"/>
              </a:rPr>
              <a:t>和</a:t>
            </a:r>
            <a:r>
              <a:rPr lang="en-US" altLang="zh-CN" sz="2400">
                <a:solidFill>
                  <a:schemeClr val="tx2"/>
                </a:solidFill>
                <a:latin typeface="Tahoma" panose="020B0604030504040204" pitchFamily="34" charset="0"/>
              </a:rPr>
              <a:t>pselect</a:t>
            </a:r>
            <a:r>
              <a:rPr lang="zh-CN" altLang="en-US" sz="2400">
                <a:latin typeface="Tahoma" panose="020B0604030504040204" pitchFamily="34" charset="0"/>
              </a:rPr>
              <a:t>都是等待一系列的文件描述符（</a:t>
            </a:r>
            <a:r>
              <a:rPr lang="en-US" altLang="zh-CN" sz="2400">
                <a:latin typeface="Tahoma" panose="020B0604030504040204" pitchFamily="34" charset="0"/>
              </a:rPr>
              <a:t>int</a:t>
            </a:r>
            <a:r>
              <a:rPr lang="zh-CN" altLang="en-US" sz="2400">
                <a:latin typeface="Tahoma" panose="020B0604030504040204" pitchFamily="34" charset="0"/>
              </a:rPr>
              <a:t>）的状态发生变化。</a:t>
            </a:r>
            <a:endParaRPr lang="zh-CN" altLang="en-US" sz="2400">
              <a:latin typeface="Tahoma" panose="020B0604030504040204" pitchFamily="34" charset="0"/>
            </a:endParaRPr>
          </a:p>
          <a:p>
            <a:pPr eaLnBrk="1" hangingPunct="1">
              <a:lnSpc>
                <a:spcPct val="120000"/>
              </a:lnSpc>
            </a:pPr>
            <a:r>
              <a:rPr lang="zh-CN" altLang="en-US" sz="2400">
                <a:latin typeface="Tahoma" panose="020B0604030504040204" pitchFamily="34" charset="0"/>
              </a:rPr>
              <a:t>这两个函数基本上是一致，但是有两个区别：</a:t>
            </a:r>
            <a:endParaRPr lang="zh-CN" altLang="en-US" sz="2400">
              <a:latin typeface="Tahoma" panose="020B0604030504040204" pitchFamily="34" charset="0"/>
            </a:endParaRPr>
          </a:p>
          <a:p>
            <a:pPr eaLnBrk="1" hangingPunct="1">
              <a:lnSpc>
                <a:spcPct val="120000"/>
              </a:lnSpc>
            </a:pPr>
            <a:r>
              <a:rPr lang="zh-CN" altLang="en-US" sz="2400">
                <a:latin typeface="Tahoma" panose="020B0604030504040204" pitchFamily="34" charset="0"/>
              </a:rPr>
              <a:t>第一点   </a:t>
            </a:r>
            <a:r>
              <a:rPr lang="zh-CN" altLang="en-US" sz="2400">
                <a:solidFill>
                  <a:schemeClr val="tx2"/>
                </a:solidFill>
                <a:latin typeface="Tahoma" panose="020B0604030504040204" pitchFamily="34" charset="0"/>
              </a:rPr>
              <a:t> </a:t>
            </a:r>
            <a:r>
              <a:rPr lang="en-US" altLang="zh-CN" sz="2400">
                <a:solidFill>
                  <a:schemeClr val="tx2"/>
                </a:solidFill>
                <a:latin typeface="Tahoma" panose="020B0604030504040204" pitchFamily="34" charset="0"/>
              </a:rPr>
              <a:t>select</a:t>
            </a:r>
            <a:r>
              <a:rPr lang="zh-CN" altLang="en-US" sz="2400">
                <a:latin typeface="Tahoma" panose="020B0604030504040204" pitchFamily="34" charset="0"/>
              </a:rPr>
              <a:t>函数用的</a:t>
            </a:r>
            <a:r>
              <a:rPr lang="en-US" altLang="zh-CN" sz="2400">
                <a:solidFill>
                  <a:schemeClr val="tx2"/>
                </a:solidFill>
                <a:latin typeface="Tahoma" panose="020B0604030504040204" pitchFamily="34" charset="0"/>
              </a:rPr>
              <a:t>timeou</a:t>
            </a:r>
            <a:r>
              <a:rPr lang="en-US" altLang="zh-CN" sz="2400">
                <a:latin typeface="Tahoma" panose="020B0604030504040204" pitchFamily="34" charset="0"/>
              </a:rPr>
              <a:t>t</a:t>
            </a:r>
            <a:r>
              <a:rPr lang="zh-CN" altLang="en-US" sz="2400">
                <a:latin typeface="Tahoma" panose="020B0604030504040204" pitchFamily="34" charset="0"/>
              </a:rPr>
              <a:t>参数，是一个</a:t>
            </a:r>
            <a:r>
              <a:rPr lang="en-US" altLang="zh-CN" sz="2400">
                <a:solidFill>
                  <a:schemeClr val="tx2"/>
                </a:solidFill>
                <a:latin typeface="Tahoma" panose="020B0604030504040204" pitchFamily="34" charset="0"/>
              </a:rPr>
              <a:t>timeval</a:t>
            </a:r>
            <a:r>
              <a:rPr lang="zh-CN" altLang="en-US" sz="2400">
                <a:latin typeface="Tahoma" panose="020B0604030504040204" pitchFamily="34" charset="0"/>
              </a:rPr>
              <a:t>的结构体（包含秒和微秒），然而</a:t>
            </a:r>
            <a:r>
              <a:rPr lang="en-US" altLang="zh-CN" sz="2400">
                <a:solidFill>
                  <a:schemeClr val="tx2"/>
                </a:solidFill>
                <a:latin typeface="Tahoma" panose="020B0604030504040204" pitchFamily="34" charset="0"/>
              </a:rPr>
              <a:t>pselec</a:t>
            </a:r>
            <a:r>
              <a:rPr lang="en-US" altLang="zh-CN" sz="2400">
                <a:latin typeface="Tahoma" panose="020B0604030504040204" pitchFamily="34" charset="0"/>
              </a:rPr>
              <a:t>t</a:t>
            </a:r>
            <a:r>
              <a:rPr lang="zh-CN" altLang="en-US" sz="2400">
                <a:latin typeface="Tahoma" panose="020B0604030504040204" pitchFamily="34" charset="0"/>
              </a:rPr>
              <a:t>用的是一个</a:t>
            </a:r>
            <a:r>
              <a:rPr lang="en-US" altLang="zh-CN" sz="2400">
                <a:solidFill>
                  <a:schemeClr val="tx2"/>
                </a:solidFill>
                <a:latin typeface="Tahoma" panose="020B0604030504040204" pitchFamily="34" charset="0"/>
              </a:rPr>
              <a:t>timespec</a:t>
            </a:r>
            <a:r>
              <a:rPr lang="zh-CN" altLang="en-US" sz="2400">
                <a:latin typeface="Tahoma" panose="020B0604030504040204" pitchFamily="34" charset="0"/>
              </a:rPr>
              <a:t>结构体（包含秒和纳秒）</a:t>
            </a:r>
            <a:endParaRPr lang="zh-CN" altLang="en-US" sz="2400">
              <a:latin typeface="Tahoma" panose="020B0604030504040204" pitchFamily="34" charset="0"/>
            </a:endParaRPr>
          </a:p>
          <a:p>
            <a:pPr eaLnBrk="1" hangingPunct="1">
              <a:lnSpc>
                <a:spcPct val="120000"/>
              </a:lnSpc>
            </a:pPr>
            <a:r>
              <a:rPr lang="zh-CN" altLang="en-US" sz="2400">
                <a:latin typeface="Tahoma" panose="020B0604030504040204" pitchFamily="34" charset="0"/>
              </a:rPr>
              <a:t>第二点   </a:t>
            </a:r>
            <a:r>
              <a:rPr lang="zh-CN" altLang="en-US" sz="2400">
                <a:solidFill>
                  <a:schemeClr val="tx2"/>
                </a:solidFill>
                <a:latin typeface="Tahoma" panose="020B0604030504040204" pitchFamily="34" charset="0"/>
              </a:rPr>
              <a:t> </a:t>
            </a:r>
            <a:r>
              <a:rPr lang="en-US" altLang="zh-CN" sz="2400">
                <a:solidFill>
                  <a:schemeClr val="tx2"/>
                </a:solidFill>
                <a:latin typeface="Tahoma" panose="020B0604030504040204" pitchFamily="34" charset="0"/>
              </a:rPr>
              <a:t>select</a:t>
            </a:r>
            <a:r>
              <a:rPr lang="zh-CN" altLang="en-US" sz="2400">
                <a:latin typeface="Tahoma" panose="020B0604030504040204" pitchFamily="34" charset="0"/>
              </a:rPr>
              <a:t>函数没有</a:t>
            </a:r>
            <a:r>
              <a:rPr lang="en-US" altLang="zh-CN" sz="2400">
                <a:solidFill>
                  <a:schemeClr val="tx2"/>
                </a:solidFill>
                <a:latin typeface="Tahoma" panose="020B0604030504040204" pitchFamily="34" charset="0"/>
              </a:rPr>
              <a:t>sigmask</a:t>
            </a:r>
            <a:r>
              <a:rPr lang="zh-CN" altLang="en-US" sz="2400">
                <a:latin typeface="Tahoma" panose="020B0604030504040204" pitchFamily="34" charset="0"/>
              </a:rPr>
              <a:t>参数，当</a:t>
            </a:r>
            <a:r>
              <a:rPr lang="en-US" altLang="zh-CN" sz="2400">
                <a:solidFill>
                  <a:schemeClr val="tx2"/>
                </a:solidFill>
                <a:latin typeface="Tahoma" panose="020B0604030504040204" pitchFamily="34" charset="0"/>
              </a:rPr>
              <a:t>pselect</a:t>
            </a:r>
            <a:r>
              <a:rPr lang="zh-CN" altLang="en-US" sz="2400">
                <a:latin typeface="Tahoma" panose="020B0604030504040204" pitchFamily="34" charset="0"/>
              </a:rPr>
              <a:t>的</a:t>
            </a:r>
            <a:r>
              <a:rPr lang="en-US" altLang="zh-CN" sz="2400">
                <a:solidFill>
                  <a:schemeClr val="tx2"/>
                </a:solidFill>
                <a:latin typeface="Tahoma" panose="020B0604030504040204" pitchFamily="34" charset="0"/>
              </a:rPr>
              <a:t>sigmask</a:t>
            </a:r>
            <a:r>
              <a:rPr lang="zh-CN" altLang="en-US" sz="2400">
                <a:latin typeface="Tahoma" panose="020B0604030504040204" pitchFamily="34" charset="0"/>
              </a:rPr>
              <a:t>参数为</a:t>
            </a:r>
            <a:r>
              <a:rPr lang="en-US" altLang="zh-CN" sz="2400">
                <a:solidFill>
                  <a:schemeClr val="tx2"/>
                </a:solidFill>
                <a:latin typeface="Tahoma" panose="020B0604030504040204" pitchFamily="34" charset="0"/>
              </a:rPr>
              <a:t>null</a:t>
            </a:r>
            <a:r>
              <a:rPr lang="zh-CN" altLang="en-US" sz="2400">
                <a:latin typeface="Tahoma" panose="020B0604030504040204" pitchFamily="34" charset="0"/>
              </a:rPr>
              <a:t>时，两者行为时一致的。</a:t>
            </a:r>
            <a:endParaRPr lang="zh-CN" altLang="en-US" sz="2400">
              <a:latin typeface="Tahoma" panose="020B060403050404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a:xfrm>
            <a:off x="900113" y="549275"/>
            <a:ext cx="7772400" cy="1143000"/>
          </a:xfrm>
        </p:spPr>
        <p:txBody>
          <a:bodyPr/>
          <a:lstStyle/>
          <a:p>
            <a:pPr eaLnBrk="1" hangingPunct="1"/>
            <a:r>
              <a:rPr lang="en-US" altLang="zh-CN" sz="3200" b="1">
                <a:latin typeface="Tahoma" panose="020B0604030504040204" pitchFamily="34" charset="0"/>
              </a:rPr>
              <a:t>pselect</a:t>
            </a:r>
            <a:r>
              <a:rPr lang="zh-CN" altLang="en-US" sz="3200" b="1">
                <a:latin typeface="Tahoma" panose="020B0604030504040204" pitchFamily="34" charset="0"/>
              </a:rPr>
              <a:t>（）</a:t>
            </a:r>
            <a:r>
              <a:rPr lang="zh-CN" altLang="en-US" sz="3200"/>
              <a:t>函数（</a:t>
            </a:r>
            <a:r>
              <a:rPr lang="en-US" altLang="zh-CN" sz="3200"/>
              <a:t>2</a:t>
            </a:r>
            <a:r>
              <a:rPr lang="zh-CN" altLang="en-US" sz="3200"/>
              <a:t>）</a:t>
            </a:r>
            <a:endParaRPr lang="zh-CN" altLang="en-US" sz="3200"/>
          </a:p>
        </p:txBody>
      </p:sp>
      <p:sp>
        <p:nvSpPr>
          <p:cNvPr id="44034" name="Rectangle 3"/>
          <p:cNvSpPr>
            <a:spLocks noGrp="1" noChangeArrowheads="1"/>
          </p:cNvSpPr>
          <p:nvPr>
            <p:ph idx="1"/>
          </p:nvPr>
        </p:nvSpPr>
        <p:spPr>
          <a:xfrm>
            <a:off x="685800" y="1989138"/>
            <a:ext cx="8278688" cy="4114800"/>
          </a:xfrm>
        </p:spPr>
        <p:txBody>
          <a:bodyPr/>
          <a:lstStyle/>
          <a:p>
            <a:pPr eaLnBrk="1" hangingPunct="1">
              <a:lnSpc>
                <a:spcPct val="130000"/>
              </a:lnSpc>
            </a:pPr>
            <a:r>
              <a:rPr lang="zh-CN" altLang="en-US" sz="2600">
                <a:ea typeface="微软雅黑 Light" panose="020B0502040204020203" pitchFamily="34" charset="-122"/>
              </a:rPr>
              <a:t>函数</a:t>
            </a:r>
            <a:r>
              <a:rPr lang="en-US" altLang="zh-CN" sz="2600">
                <a:ea typeface="微软雅黑 Light" panose="020B0502040204020203" pitchFamily="34" charset="-122"/>
              </a:rPr>
              <a:t>pselect</a:t>
            </a:r>
            <a:r>
              <a:rPr lang="zh-CN" altLang="en-US" sz="2600">
                <a:ea typeface="微软雅黑 Light" panose="020B0502040204020203" pitchFamily="34" charset="-122"/>
              </a:rPr>
              <a:t>增加了第六个参数：指向信号掩码的指针。这允许程序禁止递交某些信号，测试由这些当前禁止的信号的信号处理程序所设置的全局变量，然后调用</a:t>
            </a:r>
            <a:r>
              <a:rPr lang="en-US" altLang="zh-CN" sz="2600">
                <a:ea typeface="微软雅黑 Light" panose="020B0502040204020203" pitchFamily="34" charset="-122"/>
              </a:rPr>
              <a:t>pselect</a:t>
            </a:r>
            <a:r>
              <a:rPr lang="zh-CN" altLang="en-US" sz="2600">
                <a:ea typeface="微软雅黑 Light" panose="020B0502040204020203" pitchFamily="34" charset="-122"/>
              </a:rPr>
              <a:t>，告诉它临时重置信号掩码。</a:t>
            </a:r>
            <a:endParaRPr lang="zh-CN" altLang="en-US" sz="2600">
              <a:ea typeface="微软雅黑 Light" panose="020B0502040204020203" pitchFamily="34" charset="-122"/>
            </a:endParaRPr>
          </a:p>
        </p:txBody>
      </p:sp>
    </p:spTree>
  </p:cSld>
  <p:clrMapOvr>
    <a:masterClrMapping/>
  </p:clrMapOvr>
  <p:transition spd="slow">
    <p:wipe dir="r"/>
    <p:sndAc>
      <p:end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a:xfrm>
            <a:off x="1042988" y="188913"/>
            <a:ext cx="7772400" cy="1143000"/>
          </a:xfrm>
        </p:spPr>
        <p:txBody>
          <a:bodyPr/>
          <a:lstStyle/>
          <a:p>
            <a:pPr eaLnBrk="1" hangingPunct="1"/>
            <a:r>
              <a:rPr lang="en-US" altLang="zh-CN"/>
              <a:t>pselect</a:t>
            </a:r>
            <a:r>
              <a:rPr lang="zh-CN" altLang="en-US"/>
              <a:t>函数例程</a:t>
            </a:r>
            <a:endParaRPr lang="zh-CN" altLang="en-US"/>
          </a:p>
        </p:txBody>
      </p:sp>
      <p:sp>
        <p:nvSpPr>
          <p:cNvPr id="45058" name="Rectangle 3"/>
          <p:cNvSpPr>
            <a:spLocks noGrp="1" noChangeArrowheads="1"/>
          </p:cNvSpPr>
          <p:nvPr>
            <p:ph idx="1"/>
          </p:nvPr>
        </p:nvSpPr>
        <p:spPr>
          <a:xfrm>
            <a:off x="0" y="1268413"/>
            <a:ext cx="8845550" cy="5040312"/>
          </a:xfrm>
        </p:spPr>
        <p:txBody>
          <a:bodyPr/>
          <a:lstStyle/>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int main(void)   {</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fd_set      rset;</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sigset_t    newsig,oldsig;</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char        temp[100];</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FD_ZERO(&amp;rset);</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FD_SET(0,&amp;rset);</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sigemptyset(&amp;newsig);</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sigemptyset(&amp;oldsig);</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sigaddset(&amp;newsig,SIGINT);    </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while(1)    {</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if(pselect(1,&amp;rset,NULL,NULL,NULL,&amp;newsig) &gt; 0) {</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fgets(temp,100,stdin);</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printf("Input string is %s\n",temp);</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exit(0);</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    }</a:t>
            </a:r>
            <a:endParaRPr lang="en-US" altLang="zh-CN" sz="2400">
              <a:latin typeface="Tahoma" panose="020B0604030504040204" pitchFamily="34" charset="0"/>
              <a:ea typeface="Tahoma" panose="020B0604030504040204" pitchFamily="34" charset="0"/>
              <a:cs typeface="Tahoma" panose="020B0604030504040204" pitchFamily="34" charset="0"/>
            </a:endParaRPr>
          </a:p>
          <a:p>
            <a:pPr eaLnBrk="1" hangingPunct="1">
              <a:lnSpc>
                <a:spcPct val="80000"/>
              </a:lnSpc>
              <a:buFontTx/>
              <a:buNone/>
            </a:pPr>
            <a:r>
              <a:rPr lang="en-US" altLang="zh-CN" sz="2400">
                <a:latin typeface="Tahoma" panose="020B0604030504040204" pitchFamily="34" charset="0"/>
                <a:ea typeface="Tahoma" panose="020B0604030504040204" pitchFamily="34" charset="0"/>
                <a:cs typeface="Tahoma" panose="020B0604030504040204" pitchFamily="34" charset="0"/>
              </a:rPr>
              <a:t>}</a:t>
            </a:r>
            <a:endParaRPr lang="en-US" altLang="zh-CN" sz="2400">
              <a:latin typeface="Tahoma" panose="020B0604030504040204" pitchFamily="34" charset="0"/>
              <a:ea typeface="Tahoma" panose="020B0604030504040204" pitchFamily="34" charset="0"/>
              <a:cs typeface="Tahoma" panose="020B0604030504040204" pitchFamily="34" charset="0"/>
            </a:endParaRPr>
          </a:p>
        </p:txBody>
      </p:sp>
      <p:sp>
        <p:nvSpPr>
          <p:cNvPr id="29700" name="AutoShape 4"/>
          <p:cNvSpPr>
            <a:spLocks noChangeArrowheads="1"/>
          </p:cNvSpPr>
          <p:nvPr/>
        </p:nvSpPr>
        <p:spPr bwMode="auto">
          <a:xfrm>
            <a:off x="6156325" y="2349500"/>
            <a:ext cx="2519363" cy="1366838"/>
          </a:xfrm>
          <a:prstGeom prst="wedgeRoundRectCallout">
            <a:avLst>
              <a:gd name="adj1" fmla="val -43412"/>
              <a:gd name="adj2" fmla="val 131137"/>
              <a:gd name="adj3" fmla="val 16667"/>
            </a:avLst>
          </a:prstGeom>
          <a:solidFill>
            <a:srgbClr val="FF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zh-CN" altLang="en-US">
                <a:solidFill>
                  <a:srgbClr val="FFFFFF"/>
                </a:solidFill>
                <a:effectLst>
                  <a:outerShdw blurRad="38100" dist="38100" dir="2700000" algn="tl">
                    <a:srgbClr val="000000"/>
                  </a:outerShdw>
                </a:effectLst>
                <a:latin typeface="Comic Sans MS" panose="030F0702030302020204" pitchFamily="66" charset="0"/>
                <a:ea typeface="华文新魏" panose="02010800040101010101" pitchFamily="2" charset="-122"/>
              </a:rPr>
              <a:t>等待</a:t>
            </a:r>
            <a:r>
              <a:rPr lang="en-US" altLang="zh-CN">
                <a:solidFill>
                  <a:srgbClr val="FFFFFF"/>
                </a:solidFill>
                <a:effectLst>
                  <a:outerShdw blurRad="38100" dist="38100" dir="2700000" algn="tl">
                    <a:srgbClr val="000000"/>
                  </a:outerShdw>
                </a:effectLst>
                <a:latin typeface="Comic Sans MS" panose="030F0702030302020204" pitchFamily="66" charset="0"/>
                <a:ea typeface="华文新魏" panose="02010800040101010101" pitchFamily="2" charset="-122"/>
              </a:rPr>
              <a:t>rset</a:t>
            </a:r>
            <a:r>
              <a:rPr lang="zh-CN" altLang="en-US">
                <a:solidFill>
                  <a:srgbClr val="FFFFFF"/>
                </a:solidFill>
                <a:effectLst>
                  <a:outerShdw blurRad="38100" dist="38100" dir="2700000" algn="tl">
                    <a:srgbClr val="000000"/>
                  </a:outerShdw>
                </a:effectLst>
                <a:latin typeface="Comic Sans MS" panose="030F0702030302020204" pitchFamily="66" charset="0"/>
                <a:ea typeface="华文新魏" panose="02010800040101010101" pitchFamily="2" charset="-122"/>
              </a:rPr>
              <a:t>中的描述字变为可读前，阻塞</a:t>
            </a:r>
            <a:r>
              <a:rPr lang="en-US" altLang="zh-CN">
                <a:solidFill>
                  <a:srgbClr val="FFFFFF"/>
                </a:solidFill>
                <a:effectLst>
                  <a:outerShdw blurRad="38100" dist="38100" dir="2700000" algn="tl">
                    <a:srgbClr val="000000"/>
                  </a:outerShdw>
                </a:effectLst>
                <a:latin typeface="Comic Sans MS" panose="030F0702030302020204" pitchFamily="66" charset="0"/>
                <a:ea typeface="华文新魏" panose="02010800040101010101" pitchFamily="2" charset="-122"/>
              </a:rPr>
              <a:t>newsig</a:t>
            </a:r>
            <a:r>
              <a:rPr lang="zh-CN" altLang="en-US">
                <a:solidFill>
                  <a:srgbClr val="FFFFFF"/>
                </a:solidFill>
                <a:effectLst>
                  <a:outerShdw blurRad="38100" dist="38100" dir="2700000" algn="tl">
                    <a:srgbClr val="000000"/>
                  </a:outerShdw>
                </a:effectLst>
                <a:latin typeface="Comic Sans MS" panose="030F0702030302020204" pitchFamily="66" charset="0"/>
                <a:ea typeface="华文新魏" panose="02010800040101010101" pitchFamily="2" charset="-122"/>
              </a:rPr>
              <a:t>中的信号。</a:t>
            </a:r>
            <a:endParaRPr lang="zh-CN" altLang="en-US">
              <a:solidFill>
                <a:srgbClr val="FFFFFF"/>
              </a:solidFill>
              <a:effectLst>
                <a:outerShdw blurRad="38100" dist="38100" dir="2700000" algn="tl">
                  <a:srgbClr val="000000"/>
                </a:outerShdw>
              </a:effectLst>
              <a:latin typeface="Comic Sans MS" panose="030F0702030302020204" pitchFamily="66" charset="0"/>
              <a:ea typeface="华文新魏" panose="02010800040101010101" pitchFamily="2" charset="-122"/>
            </a:endParaRPr>
          </a:p>
        </p:txBody>
      </p:sp>
      <p:sp>
        <p:nvSpPr>
          <p:cNvPr id="29701" name="AutoShape 5"/>
          <p:cNvSpPr>
            <a:spLocks noChangeArrowheads="1"/>
          </p:cNvSpPr>
          <p:nvPr/>
        </p:nvSpPr>
        <p:spPr bwMode="auto">
          <a:xfrm>
            <a:off x="1663565" y="298450"/>
            <a:ext cx="5543550" cy="1582738"/>
          </a:xfrm>
          <a:prstGeom prst="wedgeEllipseCallout">
            <a:avLst>
              <a:gd name="adj1" fmla="val -51214"/>
              <a:gd name="adj2" fmla="val 66147"/>
            </a:avLst>
          </a:prstGeom>
          <a:solidFill>
            <a:schemeClr val="accent1"/>
          </a:solidFill>
          <a:ln w="9525">
            <a:solidFill>
              <a:schemeClr val="tx1"/>
            </a:solidFill>
            <a:miter lim="800000"/>
          </a:ln>
        </p:spPr>
        <p:txBody>
          <a:bodyPr/>
          <a:lstStyle/>
          <a:p>
            <a:r>
              <a:rPr lang="en-US" altLang="zh-CN"/>
              <a:t>sigset_t:</a:t>
            </a:r>
            <a:r>
              <a:rPr lang="zh-CN" altLang="en-US"/>
              <a:t>信号集。</a:t>
            </a:r>
            <a:r>
              <a:rPr lang="en-US" altLang="zh-CN"/>
              <a:t>typedef struct { </a:t>
            </a:r>
            <a:endParaRPr lang="en-US" altLang="zh-CN"/>
          </a:p>
          <a:p>
            <a:r>
              <a:rPr lang="zh-CN" altLang="en-US"/>
              <a:t>　　</a:t>
            </a:r>
            <a:r>
              <a:rPr lang="en-US" altLang="zh-CN"/>
              <a:t>unsigned long sig[_NSIG_WORDS]</a:t>
            </a:r>
            <a:r>
              <a:rPr lang="zh-CN" altLang="en-US"/>
              <a:t>；</a:t>
            </a:r>
            <a:endParaRPr lang="zh-CN" altLang="en-US"/>
          </a:p>
          <a:p>
            <a:r>
              <a:rPr lang="zh-CN" altLang="en-US"/>
              <a:t>　　</a:t>
            </a:r>
            <a:r>
              <a:rPr lang="en-US" altLang="zh-CN"/>
              <a:t>} sigset_t </a:t>
            </a:r>
            <a:endParaRPr lang="en-US" altLang="zh-CN"/>
          </a:p>
        </p:txBody>
      </p:sp>
      <p:sp>
        <p:nvSpPr>
          <p:cNvPr id="29702" name="AutoShape 6"/>
          <p:cNvSpPr>
            <a:spLocks noChangeArrowheads="1"/>
          </p:cNvSpPr>
          <p:nvPr/>
        </p:nvSpPr>
        <p:spPr bwMode="auto">
          <a:xfrm>
            <a:off x="1908175" y="1412875"/>
            <a:ext cx="3671888" cy="1295400"/>
          </a:xfrm>
          <a:prstGeom prst="wedgeEllipseCallout">
            <a:avLst>
              <a:gd name="adj1" fmla="val -57851"/>
              <a:gd name="adj2" fmla="val 110526"/>
            </a:avLst>
          </a:prstGeom>
          <a:solidFill>
            <a:schemeClr val="accent1"/>
          </a:solidFill>
          <a:ln w="9525">
            <a:solidFill>
              <a:schemeClr val="tx1"/>
            </a:solidFill>
            <a:miter lim="800000"/>
          </a:ln>
        </p:spPr>
        <p:txBody>
          <a:bodyPr/>
          <a:lstStyle/>
          <a:p>
            <a:pPr algn="ctr"/>
            <a:r>
              <a:rPr lang="zh-CN" altLang="en-US"/>
              <a:t>初始化信号集</a:t>
            </a:r>
            <a:endParaRPr lang="zh-CN" altLang="en-US"/>
          </a:p>
        </p:txBody>
      </p:sp>
      <p:sp>
        <p:nvSpPr>
          <p:cNvPr id="29704" name="AutoShape 8"/>
          <p:cNvSpPr>
            <a:spLocks noChangeArrowheads="1"/>
          </p:cNvSpPr>
          <p:nvPr/>
        </p:nvSpPr>
        <p:spPr bwMode="auto">
          <a:xfrm>
            <a:off x="1993107" y="2349500"/>
            <a:ext cx="3671887" cy="1295400"/>
          </a:xfrm>
          <a:prstGeom prst="wedgeEllipseCallout">
            <a:avLst>
              <a:gd name="adj1" fmla="val -59219"/>
              <a:gd name="adj2" fmla="val 94236"/>
            </a:avLst>
          </a:prstGeom>
          <a:solidFill>
            <a:schemeClr val="accent1"/>
          </a:solidFill>
          <a:ln w="9525">
            <a:solidFill>
              <a:schemeClr val="tx1"/>
            </a:solidFill>
            <a:miter lim="800000"/>
          </a:ln>
        </p:spPr>
        <p:txBody>
          <a:bodyPr/>
          <a:lstStyle/>
          <a:p>
            <a:pPr algn="ctr"/>
            <a:r>
              <a:rPr lang="zh-CN" altLang="en-US"/>
              <a:t>在信号集中加入信号</a:t>
            </a:r>
            <a:endParaRPr lang="zh-CN" altLang="en-US"/>
          </a:p>
        </p:txBody>
      </p:sp>
    </p:spTree>
  </p:cSld>
  <p:clrMapOvr>
    <a:masterClrMapping/>
  </p:clrMapOvr>
  <p:transition spd="slow">
    <p:wipe dir="r"/>
    <p:sndAc>
      <p:end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01"/>
                                        </p:tgtEl>
                                        <p:attrNameLst>
                                          <p:attrName>style.visibility</p:attrName>
                                        </p:attrNameLst>
                                      </p:cBhvr>
                                      <p:to>
                                        <p:strVal val="visible"/>
                                      </p:to>
                                    </p:set>
                                    <p:animEffect transition="in" filter="blinds(horizontal)">
                                      <p:cBhvr>
                                        <p:cTn id="7" dur="500"/>
                                        <p:tgtEl>
                                          <p:spTgt spid="2970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29701"/>
                                        </p:tgtEl>
                                      </p:cBhvr>
                                    </p:animEffect>
                                    <p:set>
                                      <p:cBhvr>
                                        <p:cTn id="12" dur="1" fill="hold">
                                          <p:stCondLst>
                                            <p:cond delay="499"/>
                                          </p:stCondLst>
                                        </p:cTn>
                                        <p:tgtEl>
                                          <p:spTgt spid="2970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702"/>
                                        </p:tgtEl>
                                        <p:attrNameLst>
                                          <p:attrName>style.visibility</p:attrName>
                                        </p:attrNameLst>
                                      </p:cBhvr>
                                      <p:to>
                                        <p:strVal val="visible"/>
                                      </p:to>
                                    </p:set>
                                    <p:animEffect transition="in" filter="blinds(horizontal)">
                                      <p:cBhvr>
                                        <p:cTn id="17" dur="500"/>
                                        <p:tgtEl>
                                          <p:spTgt spid="2970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1" nodeType="clickEffect">
                                  <p:stCondLst>
                                    <p:cond delay="0"/>
                                  </p:stCondLst>
                                  <p:childTnLst>
                                    <p:animEffect transition="out" filter="blinds(horizontal)">
                                      <p:cBhvr>
                                        <p:cTn id="21" dur="500"/>
                                        <p:tgtEl>
                                          <p:spTgt spid="29702"/>
                                        </p:tgtEl>
                                      </p:cBhvr>
                                    </p:animEffect>
                                    <p:set>
                                      <p:cBhvr>
                                        <p:cTn id="22" dur="1" fill="hold">
                                          <p:stCondLst>
                                            <p:cond delay="499"/>
                                          </p:stCondLst>
                                        </p:cTn>
                                        <p:tgtEl>
                                          <p:spTgt spid="2970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9704"/>
                                        </p:tgtEl>
                                        <p:attrNameLst>
                                          <p:attrName>style.visibility</p:attrName>
                                        </p:attrNameLst>
                                      </p:cBhvr>
                                      <p:to>
                                        <p:strVal val="visible"/>
                                      </p:to>
                                    </p:set>
                                    <p:animEffect transition="in" filter="blinds(horizontal)">
                                      <p:cBhvr>
                                        <p:cTn id="27" dur="500"/>
                                        <p:tgtEl>
                                          <p:spTgt spid="2970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1" nodeType="clickEffect">
                                  <p:stCondLst>
                                    <p:cond delay="0"/>
                                  </p:stCondLst>
                                  <p:childTnLst>
                                    <p:animEffect transition="out" filter="blinds(horizontal)">
                                      <p:cBhvr>
                                        <p:cTn id="31" dur="500"/>
                                        <p:tgtEl>
                                          <p:spTgt spid="29704"/>
                                        </p:tgtEl>
                                      </p:cBhvr>
                                    </p:animEffect>
                                    <p:set>
                                      <p:cBhvr>
                                        <p:cTn id="32" dur="1" fill="hold">
                                          <p:stCondLst>
                                            <p:cond delay="499"/>
                                          </p:stCondLst>
                                        </p:cTn>
                                        <p:tgtEl>
                                          <p:spTgt spid="2970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7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nimBg="1"/>
      <p:bldP spid="29701" grpId="0" animBg="1"/>
      <p:bldP spid="29701" grpId="1" animBg="1"/>
      <p:bldP spid="29702" grpId="0" animBg="1"/>
      <p:bldP spid="29702" grpId="1" animBg="1"/>
      <p:bldP spid="29704" grpId="0" animBg="1"/>
      <p:bldP spid="29704"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a:xfrm>
            <a:off x="755650" y="609600"/>
            <a:ext cx="7772400" cy="1143000"/>
          </a:xfrm>
        </p:spPr>
        <p:txBody>
          <a:bodyPr/>
          <a:lstStyle/>
          <a:p>
            <a:pPr eaLnBrk="1" hangingPunct="1"/>
            <a:r>
              <a:rPr lang="en-US" altLang="zh-CN" sz="3200" b="1">
                <a:latin typeface="Tahoma" panose="020B0604030504040204" pitchFamily="34" charset="0"/>
              </a:rPr>
              <a:t>pselect</a:t>
            </a:r>
            <a:r>
              <a:rPr lang="zh-CN" altLang="en-US" sz="3200" b="1">
                <a:latin typeface="Tahoma" panose="020B0604030504040204" pitchFamily="34" charset="0"/>
              </a:rPr>
              <a:t>（）</a:t>
            </a:r>
            <a:r>
              <a:rPr lang="zh-CN" altLang="en-US" sz="3200"/>
              <a:t>运行结果</a:t>
            </a:r>
            <a:endParaRPr lang="zh-CN" altLang="en-US" sz="3200"/>
          </a:p>
        </p:txBody>
      </p:sp>
      <p:graphicFrame>
        <p:nvGraphicFramePr>
          <p:cNvPr id="46082" name="Object 5"/>
          <p:cNvGraphicFramePr>
            <a:graphicFrameLocks noChangeAspect="1"/>
          </p:cNvGraphicFramePr>
          <p:nvPr/>
        </p:nvGraphicFramePr>
        <p:xfrm>
          <a:off x="1143000" y="1752600"/>
          <a:ext cx="7239000" cy="4343400"/>
        </p:xfrm>
        <a:graphic>
          <a:graphicData uri="http://schemas.openxmlformats.org/presentationml/2006/ole">
            <mc:AlternateContent xmlns:mc="http://schemas.openxmlformats.org/markup-compatibility/2006">
              <mc:Choice xmlns:v="urn:schemas-microsoft-com:vml" Requires="v">
                <p:oleObj spid="_x0000_s1044" name="" r:id="rId1" imgW="3905250" imgH="2343150" progId="Paint.Picture">
                  <p:embed/>
                </p:oleObj>
              </mc:Choice>
              <mc:Fallback>
                <p:oleObj name="" r:id="rId1" imgW="3905250" imgH="2343150" progId="Paint.Picture">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752600"/>
                        <a:ext cx="7239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wipe dir="r"/>
    <p:sndAc>
      <p:end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a:xfrm>
            <a:off x="685800" y="236537"/>
            <a:ext cx="7772400" cy="1143000"/>
          </a:xfrm>
        </p:spPr>
        <p:txBody>
          <a:bodyPr/>
          <a:lstStyle/>
          <a:p>
            <a:pPr eaLnBrk="1" hangingPunct="1"/>
            <a:r>
              <a:rPr lang="en-US" altLang="zh-CN" sz="3200" smtClean="0">
                <a:latin typeface="Tahoma" panose="020B0604030504040204" pitchFamily="34" charset="0"/>
                <a:ea typeface="微软雅黑" panose="020B0503020204020204" pitchFamily="34" charset="-122"/>
              </a:rPr>
              <a:t>UDP</a:t>
            </a:r>
            <a:r>
              <a:rPr lang="zh-CN" altLang="en-US" sz="3200" smtClean="0">
                <a:latin typeface="Tahoma" panose="020B0604030504040204" pitchFamily="34" charset="0"/>
                <a:ea typeface="微软雅黑" panose="020B0503020204020204" pitchFamily="34" charset="-122"/>
              </a:rPr>
              <a:t>谈话程序</a:t>
            </a:r>
            <a:endParaRPr lang="zh-CN" altLang="en-US" sz="3200">
              <a:latin typeface="Tahoma" panose="020B0604030504040204" pitchFamily="34" charset="0"/>
              <a:ea typeface="微软雅黑" panose="020B0503020204020204" pitchFamily="34" charset="-122"/>
            </a:endParaRPr>
          </a:p>
        </p:txBody>
      </p:sp>
      <p:sp>
        <p:nvSpPr>
          <p:cNvPr id="47106" name="Text Box 4"/>
          <p:cNvSpPr txBox="1">
            <a:spLocks noChangeArrowheads="1"/>
          </p:cNvSpPr>
          <p:nvPr/>
        </p:nvSpPr>
        <p:spPr bwMode="auto">
          <a:xfrm>
            <a:off x="495300" y="1484784"/>
            <a:ext cx="8305800" cy="1485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ct val="50000"/>
              </a:spcBef>
            </a:pPr>
            <a:r>
              <a:rPr lang="zh-CN" altLang="en-US" sz="2400" b="1">
                <a:latin typeface="Tahoma" panose="020B0604030504040204" pitchFamily="34" charset="0"/>
                <a:ea typeface="微软雅黑 Light" panose="020B0502040204020203" pitchFamily="34" charset="-122"/>
              </a:rPr>
              <a:t>       谈话程序。双方都可以从终端输入一串字符（以回车结束），通过</a:t>
            </a:r>
            <a:r>
              <a:rPr lang="en-US" altLang="zh-CN" sz="2400" b="1">
                <a:latin typeface="Tahoma" panose="020B0604030504040204" pitchFamily="34" charset="0"/>
                <a:ea typeface="微软雅黑 Light" panose="020B0502040204020203" pitchFamily="34" charset="-122"/>
              </a:rPr>
              <a:t>UDP</a:t>
            </a:r>
            <a:r>
              <a:rPr lang="zh-CN" altLang="en-US" sz="2400" b="1">
                <a:latin typeface="Tahoma" panose="020B0604030504040204" pitchFamily="34" charset="0"/>
                <a:ea typeface="微软雅黑 Light" panose="020B0502040204020203" pitchFamily="34" charset="-122"/>
              </a:rPr>
              <a:t>的方式发送到对方，并显示在对方的终端上。从命令行</a:t>
            </a:r>
            <a:r>
              <a:rPr lang="zh-CN" altLang="en-US" sz="2400" b="1">
                <a:latin typeface="Tahoma" panose="020B0604030504040204" pitchFamily="34" charset="0"/>
                <a:ea typeface="微软雅黑 Light" panose="020B0502040204020203" pitchFamily="34" charset="-122"/>
              </a:rPr>
              <a:t>输入源地址、源端口、目的地址、目的</a:t>
            </a:r>
            <a:r>
              <a:rPr lang="zh-CN" altLang="en-US" sz="2400" b="1">
                <a:latin typeface="Tahoma" panose="020B0604030504040204" pitchFamily="34" charset="0"/>
                <a:ea typeface="微软雅黑 Light" panose="020B0502040204020203" pitchFamily="34" charset="-122"/>
              </a:rPr>
              <a:t>端口</a:t>
            </a:r>
            <a:r>
              <a:rPr lang="zh-CN" altLang="en-US" sz="2400" b="1" smtClean="0">
                <a:latin typeface="Tahoma" panose="020B0604030504040204" pitchFamily="34" charset="0"/>
                <a:ea typeface="微软雅黑 Light" panose="020B0502040204020203" pitchFamily="34" charset="-122"/>
              </a:rPr>
              <a:t>。</a:t>
            </a:r>
            <a:endParaRPr lang="zh-CN" altLang="en-US" sz="2400" b="1">
              <a:latin typeface="Tahoma" panose="020B0604030504040204" pitchFamily="34" charset="0"/>
              <a:ea typeface="微软雅黑 Light" panose="020B0502040204020203" pitchFamily="34" charset="-122"/>
            </a:endParaRPr>
          </a:p>
        </p:txBody>
      </p:sp>
      <p:sp>
        <p:nvSpPr>
          <p:cNvPr id="47107" name="Text Box 5"/>
          <p:cNvSpPr txBox="1">
            <a:spLocks noChangeArrowheads="1"/>
          </p:cNvSpPr>
          <p:nvPr/>
        </p:nvSpPr>
        <p:spPr bwMode="auto">
          <a:xfrm>
            <a:off x="685800" y="3429000"/>
            <a:ext cx="7924800" cy="2150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ct val="50000"/>
              </a:spcBef>
            </a:pPr>
            <a:r>
              <a:rPr lang="zh-CN" altLang="en-US" sz="2400" b="1">
                <a:solidFill>
                  <a:srgbClr val="0070C0"/>
                </a:solidFill>
                <a:latin typeface="Tahoma" panose="020B0604030504040204" pitchFamily="34" charset="0"/>
                <a:ea typeface="微软雅黑" panose="020B0503020204020204" pitchFamily="34" charset="-122"/>
              </a:rPr>
              <a:t>问题所在：双方都要读取</a:t>
            </a:r>
            <a:r>
              <a:rPr lang="en-US" altLang="zh-CN" sz="2400" b="1">
                <a:solidFill>
                  <a:srgbClr val="0070C0"/>
                </a:solidFill>
                <a:latin typeface="Tahoma" panose="020B0604030504040204" pitchFamily="34" charset="0"/>
                <a:ea typeface="微软雅黑" panose="020B0503020204020204" pitchFamily="34" charset="-122"/>
              </a:rPr>
              <a:t>socket</a:t>
            </a:r>
            <a:r>
              <a:rPr lang="zh-CN" altLang="en-US" sz="2400" b="1">
                <a:solidFill>
                  <a:srgbClr val="0070C0"/>
                </a:solidFill>
                <a:latin typeface="Tahoma" panose="020B0604030504040204" pitchFamily="34" charset="0"/>
                <a:ea typeface="微软雅黑" panose="020B0503020204020204" pitchFamily="34" charset="-122"/>
              </a:rPr>
              <a:t>数据和标准输入数据</a:t>
            </a:r>
            <a:r>
              <a:rPr lang="zh-CN" altLang="en-US" sz="2400" b="1">
                <a:latin typeface="Tahoma" panose="020B0604030504040204" pitchFamily="34" charset="0"/>
                <a:ea typeface="微软雅黑 Light" panose="020B0502040204020203" pitchFamily="34" charset="-122"/>
              </a:rPr>
              <a:t>。</a:t>
            </a:r>
            <a:endParaRPr lang="zh-CN" altLang="en-US" sz="2400" b="1">
              <a:latin typeface="Tahoma" panose="020B0604030504040204" pitchFamily="34" charset="0"/>
              <a:ea typeface="微软雅黑 Light" panose="020B0502040204020203" pitchFamily="34" charset="-122"/>
            </a:endParaRPr>
          </a:p>
          <a:p>
            <a:pPr>
              <a:lnSpc>
                <a:spcPct val="130000"/>
              </a:lnSpc>
              <a:spcBef>
                <a:spcPct val="50000"/>
              </a:spcBef>
            </a:pPr>
            <a:r>
              <a:rPr lang="zh-CN" altLang="en-US" sz="2400" b="1">
                <a:latin typeface="Tahoma" panose="020B0604030504040204" pitchFamily="34" charset="0"/>
                <a:ea typeface="微软雅黑 Light" panose="020B0502040204020203" pitchFamily="34" charset="-122"/>
              </a:rPr>
              <a:t>即同一方调用</a:t>
            </a:r>
            <a:r>
              <a:rPr lang="en-US" altLang="zh-CN" sz="2400" b="1">
                <a:latin typeface="Tahoma" panose="020B0604030504040204" pitchFamily="34" charset="0"/>
                <a:ea typeface="微软雅黑 Light" panose="020B0502040204020203" pitchFamily="34" charset="-122"/>
              </a:rPr>
              <a:t>recvfrom</a:t>
            </a:r>
            <a:r>
              <a:rPr lang="zh-CN" altLang="en-US" sz="2400" b="1">
                <a:latin typeface="Tahoma" panose="020B0604030504040204" pitchFamily="34" charset="0"/>
                <a:ea typeface="微软雅黑 Light" panose="020B0502040204020203" pitchFamily="34" charset="-122"/>
              </a:rPr>
              <a:t>和</a:t>
            </a:r>
            <a:r>
              <a:rPr lang="en-US" altLang="zh-CN" sz="2400" b="1">
                <a:latin typeface="Tahoma" panose="020B0604030504040204" pitchFamily="34" charset="0"/>
                <a:ea typeface="微软雅黑 Light" panose="020B0502040204020203" pitchFamily="34" charset="-122"/>
              </a:rPr>
              <a:t>fgets</a:t>
            </a:r>
            <a:r>
              <a:rPr lang="zh-CN" altLang="en-US" sz="2400" b="1">
                <a:latin typeface="Tahoma" panose="020B0604030504040204" pitchFamily="34" charset="0"/>
                <a:ea typeface="微软雅黑 Light" panose="020B0502040204020203" pitchFamily="34" charset="-122"/>
              </a:rPr>
              <a:t>函数。此两个函数都会引起进程阻塞。例如：调用</a:t>
            </a:r>
            <a:r>
              <a:rPr lang="en-US" altLang="zh-CN" sz="2400" b="1">
                <a:latin typeface="Tahoma" panose="020B0604030504040204" pitchFamily="34" charset="0"/>
                <a:ea typeface="微软雅黑 Light" panose="020B0502040204020203" pitchFamily="34" charset="-122"/>
              </a:rPr>
              <a:t>fgets</a:t>
            </a:r>
            <a:r>
              <a:rPr lang="zh-CN" altLang="en-US" sz="2400" b="1">
                <a:latin typeface="Tahoma" panose="020B0604030504040204" pitchFamily="34" charset="0"/>
                <a:ea typeface="微软雅黑 Light" panose="020B0502040204020203" pitchFamily="34" charset="-122"/>
              </a:rPr>
              <a:t>，进程阻塞等待用户输入数据，此时对方向自已发送数据</a:t>
            </a:r>
            <a:r>
              <a:rPr lang="en-US" altLang="zh-CN" sz="2400" b="1">
                <a:latin typeface="Tahoma" panose="020B0604030504040204" pitchFamily="34" charset="0"/>
                <a:ea typeface="微软雅黑 Light" panose="020B0502040204020203" pitchFamily="34" charset="-122"/>
              </a:rPr>
              <a:t>….</a:t>
            </a:r>
            <a:r>
              <a:rPr lang="zh-CN" altLang="en-US" sz="2400" b="1">
                <a:latin typeface="Tahoma" panose="020B0604030504040204" pitchFamily="34" charset="0"/>
                <a:ea typeface="微软雅黑 Light" panose="020B0502040204020203" pitchFamily="34" charset="-122"/>
              </a:rPr>
              <a:t>不能处理</a:t>
            </a:r>
            <a:r>
              <a:rPr lang="en-US" altLang="zh-CN" sz="2400" b="1">
                <a:latin typeface="Tahoma" panose="020B0604030504040204" pitchFamily="34" charset="0"/>
                <a:ea typeface="微软雅黑 Light" panose="020B0502040204020203" pitchFamily="34" charset="-122"/>
              </a:rPr>
              <a:t>!</a:t>
            </a:r>
            <a:endParaRPr lang="en-US" altLang="zh-CN" sz="2400" b="1">
              <a:latin typeface="Tahoma" panose="020B0604030504040204" pitchFamily="34" charset="0"/>
              <a:ea typeface="微软雅黑 Light" panose="020B0502040204020203"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0" y="188595"/>
            <a:ext cx="9107805" cy="6924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defRPr/>
            </a:pPr>
            <a:r>
              <a:rPr lang="en-US" altLang="zh-CN" sz="2400">
                <a:latin typeface="Tahoma" panose="020B0604030504040204" pitchFamily="34" charset="0"/>
                <a:ea typeface="微软雅黑 Light" panose="020B0502040204020203" pitchFamily="34" charset="-122"/>
                <a:cs typeface="Tahoma" panose="020B0604030504040204" pitchFamily="34" charset="0"/>
              </a:rPr>
              <a:t>fd_set infds;</a:t>
            </a:r>
            <a:endParaRPr lang="en-US" altLang="zh-CN" sz="2400">
              <a:latin typeface="Tahoma" panose="020B0604030504040204" pitchFamily="34" charset="0"/>
              <a:ea typeface="微软雅黑 Light" panose="020B0502040204020203" pitchFamily="34" charset="-122"/>
              <a:cs typeface="Tahoma" panose="020B0604030504040204" pitchFamily="34" charset="0"/>
            </a:endParaRPr>
          </a:p>
          <a:p>
            <a:pPr>
              <a:spcBef>
                <a:spcPct val="50000"/>
              </a:spcBef>
              <a:buFontTx/>
              <a:buNone/>
              <a:defRPr/>
            </a:pPr>
            <a:r>
              <a:rPr lang="en-US" altLang="zh-CN" sz="2400">
                <a:latin typeface="Tahoma" panose="020B0604030504040204" pitchFamily="34" charset="0"/>
                <a:ea typeface="微软雅黑 Light" panose="020B0502040204020203" pitchFamily="34" charset="-122"/>
                <a:cs typeface="Tahoma" panose="020B0604030504040204" pitchFamily="34" charset="0"/>
              </a:rPr>
              <a:t>for(;;) {</a:t>
            </a:r>
            <a:endParaRPr lang="en-US" altLang="zh-CN" sz="2400">
              <a:latin typeface="Tahoma" panose="020B0604030504040204" pitchFamily="34" charset="0"/>
              <a:ea typeface="微软雅黑 Light" panose="020B0502040204020203" pitchFamily="34" charset="-122"/>
              <a:cs typeface="Tahoma" panose="020B0604030504040204" pitchFamily="34" charset="0"/>
            </a:endParaRPr>
          </a:p>
          <a:p>
            <a:pPr>
              <a:spcBef>
                <a:spcPct val="50000"/>
              </a:spcBef>
              <a:buFontTx/>
              <a:buNone/>
              <a:defRPr/>
            </a:pPr>
            <a:r>
              <a:rPr lang="en-US" altLang="zh-CN" sz="2400">
                <a:latin typeface="Tahoma" panose="020B0604030504040204" pitchFamily="34" charset="0"/>
                <a:ea typeface="微软雅黑 Light" panose="020B0502040204020203" pitchFamily="34" charset="-122"/>
                <a:cs typeface="Tahoma" panose="020B0604030504040204" pitchFamily="34" charset="0"/>
              </a:rPr>
              <a:t>      FD_ZERO(&amp;infds);  </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a:t>
            </a:r>
            <a:r>
              <a:rPr lang="zh-CN" altLang="en-US"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重置句柄集 *</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a:t>
            </a:r>
            <a:endPar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endParaRPr>
          </a:p>
          <a:p>
            <a:pPr>
              <a:spcBef>
                <a:spcPct val="50000"/>
              </a:spcBef>
              <a:buFontTx/>
              <a:buNone/>
              <a:defRPr/>
            </a:pPr>
            <a:r>
              <a:rPr lang="en-US" altLang="zh-CN" sz="2400">
                <a:latin typeface="Tahoma" panose="020B0604030504040204" pitchFamily="34" charset="0"/>
                <a:ea typeface="微软雅黑 Light" panose="020B0502040204020203" pitchFamily="34" charset="-122"/>
                <a:cs typeface="Tahoma" panose="020B0604030504040204" pitchFamily="34" charset="0"/>
              </a:rPr>
              <a:t>      FD_SET(fileno(stdin),&amp;infds);  </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a:t>
            </a:r>
            <a:r>
              <a:rPr lang="zh-CN" altLang="en-US"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把标准输入置入句柄集*</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a:t>
            </a:r>
            <a:endPar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endParaRPr>
          </a:p>
          <a:p>
            <a:pPr>
              <a:spcBef>
                <a:spcPct val="50000"/>
              </a:spcBef>
              <a:buFontTx/>
              <a:buNone/>
              <a:defRPr/>
            </a:pPr>
            <a:r>
              <a:rPr lang="en-US" altLang="zh-CN" sz="2400">
                <a:latin typeface="Tahoma" panose="020B0604030504040204" pitchFamily="34" charset="0"/>
                <a:ea typeface="微软雅黑 Light" panose="020B0502040204020203" pitchFamily="34" charset="-122"/>
                <a:cs typeface="Tahoma" panose="020B0604030504040204" pitchFamily="34" charset="0"/>
              </a:rPr>
              <a:t>      FD_SET(sockfd,&amp;infds);    </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a:t>
            </a:r>
            <a:r>
              <a:rPr lang="zh-CN" altLang="en-US"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把</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socket</a:t>
            </a:r>
            <a:r>
              <a:rPr lang="zh-CN" altLang="en-US"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置入句柄集*</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a:t>
            </a:r>
            <a:endPar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endParaRPr>
          </a:p>
          <a:p>
            <a:pPr>
              <a:spcBef>
                <a:spcPct val="50000"/>
              </a:spcBef>
              <a:buFontTx/>
              <a:buNone/>
              <a:defRPr/>
            </a:pPr>
            <a:r>
              <a:rPr lang="en-US" altLang="zh-CN" sz="2400">
                <a:latin typeface="Tahoma" panose="020B0604030504040204" pitchFamily="34" charset="0"/>
                <a:ea typeface="微软雅黑 Light" panose="020B0502040204020203" pitchFamily="34" charset="-122"/>
                <a:cs typeface="Tahoma" panose="020B0604030504040204" pitchFamily="34" charset="0"/>
              </a:rPr>
              <a:t>      maxfd=max(fileno(stdin),sockfd)+1;</a:t>
            </a:r>
            <a:endParaRPr lang="en-US" altLang="zh-CN" sz="2400">
              <a:latin typeface="Tahoma" panose="020B0604030504040204" pitchFamily="34" charset="0"/>
              <a:ea typeface="微软雅黑 Light" panose="020B0502040204020203" pitchFamily="34" charset="-122"/>
              <a:cs typeface="Tahoma" panose="020B0604030504040204" pitchFamily="34" charset="0"/>
            </a:endParaRPr>
          </a:p>
          <a:p>
            <a:pPr>
              <a:spcBef>
                <a:spcPct val="50000"/>
              </a:spcBef>
              <a:buFontTx/>
              <a:buNone/>
              <a:defRPr/>
            </a:pPr>
            <a:r>
              <a:rPr lang="en-US" altLang="zh-CN" sz="2400">
                <a:solidFill>
                  <a:srgbClr val="897237"/>
                </a:solidFill>
                <a:latin typeface="Tahoma" panose="020B0604030504040204" pitchFamily="34" charset="0"/>
                <a:ea typeface="微软雅黑 Light" panose="020B0502040204020203" pitchFamily="34" charset="-122"/>
                <a:cs typeface="Tahoma" panose="020B0604030504040204" pitchFamily="34" charset="0"/>
              </a:rPr>
              <a:t>      </a:t>
            </a:r>
            <a:r>
              <a:rPr lang="en-US" altLang="zh-CN" sz="2400">
                <a:solidFill>
                  <a:srgbClr val="934F2D"/>
                </a:solidFill>
                <a:latin typeface="Tahoma" panose="020B0604030504040204" pitchFamily="34" charset="0"/>
                <a:ea typeface="微软雅黑 Light" panose="020B0502040204020203" pitchFamily="34" charset="-122"/>
                <a:cs typeface="Tahoma" panose="020B0604030504040204" pitchFamily="34" charset="0"/>
              </a:rPr>
              <a:t>if(select(maxfd,&amp;infds,NULL,NULL,NULL)==-1)</a:t>
            </a:r>
            <a:r>
              <a:rPr lang="en-US" altLang="zh-CN" sz="2400">
                <a:latin typeface="Tahoma" panose="020B0604030504040204" pitchFamily="34" charset="0"/>
                <a:ea typeface="微软雅黑 Light" panose="020B0502040204020203" pitchFamily="34" charset="-122"/>
                <a:cs typeface="Tahoma" panose="020B0604030504040204" pitchFamily="34" charset="0"/>
              </a:rPr>
              <a:t>{ </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a:t>
            </a:r>
            <a:r>
              <a:rPr lang="zh-CN" altLang="en-US"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错误处理*</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          </a:t>
            </a:r>
            <a:r>
              <a:rPr lang="en-US" altLang="zh-CN" sz="2400">
                <a:latin typeface="Tahoma" panose="020B0604030504040204" pitchFamily="34" charset="0"/>
                <a:ea typeface="微软雅黑 Light" panose="020B0502040204020203" pitchFamily="34" charset="-122"/>
                <a:cs typeface="Tahoma" panose="020B0604030504040204" pitchFamily="34" charset="0"/>
              </a:rPr>
              <a:t>}</a:t>
            </a:r>
            <a:endParaRPr lang="en-US" altLang="zh-CN" sz="2400">
              <a:latin typeface="Tahoma" panose="020B0604030504040204" pitchFamily="34" charset="0"/>
              <a:ea typeface="微软雅黑 Light" panose="020B0502040204020203" pitchFamily="34" charset="-122"/>
              <a:cs typeface="Tahoma" panose="020B0604030504040204" pitchFamily="34" charset="0"/>
            </a:endParaRPr>
          </a:p>
          <a:p>
            <a:pPr>
              <a:spcBef>
                <a:spcPct val="50000"/>
              </a:spcBef>
              <a:buFontTx/>
              <a:buNone/>
              <a:defRPr/>
            </a:pPr>
            <a:r>
              <a:rPr lang="en-US" altLang="zh-CN" sz="2400">
                <a:latin typeface="Tahoma" panose="020B0604030504040204" pitchFamily="34" charset="0"/>
                <a:ea typeface="微软雅黑 Light" panose="020B0502040204020203" pitchFamily="34" charset="-122"/>
                <a:cs typeface="Tahoma" panose="020B0604030504040204" pitchFamily="34" charset="0"/>
              </a:rPr>
              <a:t>      if(FD_ISSET(sockfd,&amp;infds))  </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a:t>
            </a:r>
            <a:r>
              <a:rPr lang="zh-CN" altLang="en-US"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测试</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socket</a:t>
            </a:r>
            <a:r>
              <a:rPr lang="zh-CN" altLang="en-US"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是否可读*</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a:t>
            </a:r>
            <a:endPar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endParaRPr>
          </a:p>
          <a:p>
            <a:pPr>
              <a:spcBef>
                <a:spcPct val="50000"/>
              </a:spcBef>
              <a:buFontTx/>
              <a:buNone/>
              <a:defRPr/>
            </a:pPr>
            <a:r>
              <a:rPr lang="en-US" altLang="zh-CN" sz="2400">
                <a:latin typeface="Tahoma" panose="020B0604030504040204" pitchFamily="34" charset="0"/>
                <a:ea typeface="微软雅黑 Light" panose="020B0502040204020203" pitchFamily="34" charset="-122"/>
                <a:cs typeface="Tahoma" panose="020B0604030504040204" pitchFamily="34" charset="0"/>
              </a:rPr>
              <a:t>       {         </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 </a:t>
            </a:r>
            <a:r>
              <a:rPr lang="zh-CN" altLang="en-US"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读</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socket */        </a:t>
            </a:r>
            <a:r>
              <a:rPr lang="en-US" altLang="zh-CN" sz="2400">
                <a:latin typeface="Tahoma" panose="020B0604030504040204" pitchFamily="34" charset="0"/>
                <a:ea typeface="微软雅黑 Light" panose="020B0502040204020203" pitchFamily="34" charset="-122"/>
                <a:cs typeface="Tahoma" panose="020B0604030504040204" pitchFamily="34" charset="0"/>
              </a:rPr>
              <a:t>}</a:t>
            </a:r>
            <a:endParaRPr lang="en-US" altLang="zh-CN" sz="2400">
              <a:latin typeface="Tahoma" panose="020B0604030504040204" pitchFamily="34" charset="0"/>
              <a:ea typeface="微软雅黑 Light" panose="020B0502040204020203" pitchFamily="34" charset="-122"/>
              <a:cs typeface="Tahoma" panose="020B0604030504040204" pitchFamily="34" charset="0"/>
            </a:endParaRPr>
          </a:p>
          <a:p>
            <a:pPr>
              <a:spcBef>
                <a:spcPct val="50000"/>
              </a:spcBef>
              <a:buFontTx/>
              <a:buNone/>
              <a:defRPr/>
            </a:pPr>
            <a:r>
              <a:rPr lang="en-US" altLang="zh-CN" sz="2400">
                <a:latin typeface="Tahoma" panose="020B0604030504040204" pitchFamily="34" charset="0"/>
                <a:ea typeface="微软雅黑 Light" panose="020B0502040204020203" pitchFamily="34" charset="-122"/>
                <a:cs typeface="Tahoma" panose="020B0604030504040204" pitchFamily="34" charset="0"/>
              </a:rPr>
              <a:t>      if(FD_ISSET(fileno(stdin),&amp;infds))  </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a:t>
            </a:r>
            <a:r>
              <a:rPr lang="zh-CN" altLang="en-US"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测试标准输入是否可读*</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a:t>
            </a:r>
            <a:endPar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endParaRPr>
          </a:p>
          <a:p>
            <a:pPr>
              <a:spcBef>
                <a:spcPct val="50000"/>
              </a:spcBef>
              <a:buFontTx/>
              <a:buNone/>
              <a:defRPr/>
            </a:pPr>
            <a:r>
              <a:rPr lang="en-US" altLang="zh-CN" sz="2400">
                <a:latin typeface="Tahoma" panose="020B0604030504040204" pitchFamily="34" charset="0"/>
                <a:ea typeface="微软雅黑 Light" panose="020B0502040204020203" pitchFamily="34" charset="-122"/>
                <a:cs typeface="Tahoma" panose="020B0604030504040204" pitchFamily="34" charset="0"/>
              </a:rPr>
              <a:t>        { </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a:t>
            </a:r>
            <a:r>
              <a:rPr lang="zh-CN" altLang="en-US"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读标准输入 *</a:t>
            </a:r>
            <a:r>
              <a:rPr lang="en-US" altLang="zh-CN" sz="2400">
                <a:solidFill>
                  <a:schemeClr val="accent5">
                    <a:lumMod val="50000"/>
                  </a:schemeClr>
                </a:solidFill>
                <a:latin typeface="Tahoma" panose="020B0604030504040204" pitchFamily="34" charset="0"/>
                <a:ea typeface="微软雅黑 Light" panose="020B0502040204020203" pitchFamily="34" charset="-122"/>
                <a:cs typeface="Tahoma" panose="020B0604030504040204" pitchFamily="34" charset="0"/>
              </a:rPr>
              <a:t>/      </a:t>
            </a:r>
            <a:r>
              <a:rPr lang="en-US" altLang="zh-CN" sz="2400">
                <a:latin typeface="Tahoma" panose="020B0604030504040204" pitchFamily="34" charset="0"/>
                <a:ea typeface="微软雅黑 Light" panose="020B0502040204020203" pitchFamily="34" charset="-122"/>
                <a:cs typeface="Tahoma" panose="020B0604030504040204" pitchFamily="34" charset="0"/>
              </a:rPr>
              <a:t>}</a:t>
            </a:r>
            <a:endParaRPr lang="en-US" altLang="zh-CN" sz="2400">
              <a:latin typeface="Tahoma" panose="020B0604030504040204" pitchFamily="34" charset="0"/>
              <a:ea typeface="微软雅黑 Light" panose="020B0502040204020203" pitchFamily="34" charset="-122"/>
              <a:cs typeface="Tahoma" panose="020B0604030504040204" pitchFamily="34" charset="0"/>
            </a:endParaRPr>
          </a:p>
          <a:p>
            <a:pPr>
              <a:spcBef>
                <a:spcPct val="50000"/>
              </a:spcBef>
              <a:buFontTx/>
              <a:buNone/>
              <a:defRPr/>
            </a:pPr>
            <a:r>
              <a:rPr lang="en-US" altLang="zh-CN" sz="2400">
                <a:latin typeface="Tahoma" panose="020B0604030504040204" pitchFamily="34" charset="0"/>
                <a:ea typeface="微软雅黑 Light" panose="020B0502040204020203" pitchFamily="34" charset="-122"/>
                <a:cs typeface="Tahoma" panose="020B0604030504040204" pitchFamily="34" charset="0"/>
              </a:rPr>
              <a:t>   }</a:t>
            </a:r>
            <a:endParaRPr lang="en-US" altLang="zh-CN" sz="2400">
              <a:latin typeface="Tahoma" panose="020B0604030504040204" pitchFamily="34" charset="0"/>
              <a:ea typeface="微软雅黑 Light" panose="020B0502040204020203" pitchFamily="34" charset="-122"/>
              <a:cs typeface="Tahoma" panose="020B0604030504040204" pitchFamily="34" charset="0"/>
            </a:endParaRPr>
          </a:p>
        </p:txBody>
      </p:sp>
      <p:sp>
        <p:nvSpPr>
          <p:cNvPr id="48130" name="AutoShape 9"/>
          <p:cNvSpPr>
            <a:spLocks noChangeArrowheads="1"/>
          </p:cNvSpPr>
          <p:nvPr/>
        </p:nvSpPr>
        <p:spPr bwMode="auto">
          <a:xfrm>
            <a:off x="2324735" y="116205"/>
            <a:ext cx="6329045" cy="838200"/>
          </a:xfrm>
          <a:prstGeom prst="wedgeRoundRectCallout">
            <a:avLst>
              <a:gd name="adj1" fmla="val -49741"/>
              <a:gd name="adj2" fmla="val -29546"/>
              <a:gd name="adj3" fmla="val 16667"/>
            </a:avLst>
          </a:prstGeom>
          <a:solidFill>
            <a:srgbClr val="FFFFFF"/>
          </a:solidFill>
          <a:ln w="9525">
            <a:solidFill>
              <a:srgbClr val="000000"/>
            </a:solidFill>
            <a:miter lim="800000"/>
          </a:ln>
        </p:spPr>
        <p:txBody>
          <a:bodyPr lIns="92075" tIns="46038" rIns="92075" bIns="46038"/>
          <a:lstStyle/>
          <a:p>
            <a:pPr>
              <a:spcBef>
                <a:spcPct val="50000"/>
              </a:spcBef>
              <a:buClr>
                <a:schemeClr val="folHlink"/>
              </a:buClr>
              <a:buSzPct val="60000"/>
            </a:pPr>
            <a:r>
              <a:rPr lang="zh-CN" altLang="en-US" sz="2400" b="1">
                <a:solidFill>
                  <a:srgbClr val="0070C0"/>
                </a:solidFill>
                <a:latin typeface="Tahoma" panose="020B0604030504040204" pitchFamily="34" charset="0"/>
                <a:ea typeface="微软雅黑" panose="020B0503020204020204" pitchFamily="34" charset="-122"/>
              </a:rPr>
              <a:t>解决方法，使用</a:t>
            </a:r>
            <a:r>
              <a:rPr lang="en-US" altLang="zh-CN" sz="2400" b="1">
                <a:solidFill>
                  <a:srgbClr val="0070C0"/>
                </a:solidFill>
                <a:latin typeface="Tahoma" panose="020B0604030504040204" pitchFamily="34" charset="0"/>
                <a:ea typeface="微软雅黑" panose="020B0503020204020204" pitchFamily="34" charset="-122"/>
              </a:rPr>
              <a:t>I/O</a:t>
            </a:r>
            <a:r>
              <a:rPr lang="zh-CN" altLang="en-US" sz="2400" b="1">
                <a:solidFill>
                  <a:srgbClr val="0070C0"/>
                </a:solidFill>
                <a:latin typeface="Tahoma" panose="020B0604030504040204" pitchFamily="34" charset="0"/>
                <a:ea typeface="微软雅黑" panose="020B0503020204020204" pitchFamily="34" charset="-122"/>
              </a:rPr>
              <a:t>复用，进程阻塞到</a:t>
            </a:r>
            <a:r>
              <a:rPr lang="en-US" altLang="zh-CN" sz="2400" b="1">
                <a:solidFill>
                  <a:srgbClr val="0070C0"/>
                </a:solidFill>
                <a:latin typeface="Tahoma" panose="020B0604030504040204" pitchFamily="34" charset="0"/>
                <a:ea typeface="微软雅黑" panose="020B0503020204020204" pitchFamily="34" charset="-122"/>
              </a:rPr>
              <a:t>select</a:t>
            </a:r>
            <a:r>
              <a:rPr lang="zh-CN" altLang="en-US" sz="2400" b="1">
                <a:solidFill>
                  <a:srgbClr val="0070C0"/>
                </a:solidFill>
                <a:latin typeface="Tahoma" panose="020B0604030504040204" pitchFamily="34" charset="0"/>
                <a:ea typeface="微软雅黑" panose="020B0503020204020204" pitchFamily="34" charset="-122"/>
              </a:rPr>
              <a:t>，</a:t>
            </a:r>
            <a:r>
              <a:rPr lang="zh-CN" altLang="en-US" sz="2400" b="1">
                <a:solidFill>
                  <a:srgbClr val="C00000"/>
                </a:solidFill>
                <a:latin typeface="Tahoma" panose="020B0604030504040204" pitchFamily="34" charset="0"/>
                <a:ea typeface="微软雅黑" panose="020B0503020204020204" pitchFamily="34" charset="-122"/>
              </a:rPr>
              <a:t>当标准输入和</a:t>
            </a:r>
            <a:r>
              <a:rPr lang="en-US" altLang="zh-CN" sz="2400" b="1">
                <a:solidFill>
                  <a:srgbClr val="C00000"/>
                </a:solidFill>
                <a:latin typeface="Tahoma" panose="020B0604030504040204" pitchFamily="34" charset="0"/>
                <a:ea typeface="微软雅黑" panose="020B0503020204020204" pitchFamily="34" charset="-122"/>
              </a:rPr>
              <a:t>socket</a:t>
            </a:r>
            <a:r>
              <a:rPr lang="zh-CN" altLang="en-US" sz="2400" b="1">
                <a:solidFill>
                  <a:srgbClr val="C00000"/>
                </a:solidFill>
                <a:latin typeface="Tahoma" panose="020B0604030504040204" pitchFamily="34" charset="0"/>
                <a:ea typeface="微软雅黑" panose="020B0503020204020204" pitchFamily="34" charset="-122"/>
              </a:rPr>
              <a:t>有数据时返回。</a:t>
            </a:r>
            <a:endParaRPr lang="zh-CN" altLang="en-US" sz="2400" b="1">
              <a:solidFill>
                <a:srgbClr val="C00000"/>
              </a:solidFill>
              <a:latin typeface="Tahoma" panose="020B0604030504040204" pitchFamily="34" charset="0"/>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3"/>
          <p:cNvSpPr txBox="1">
            <a:spLocks noChangeArrowheads="1"/>
          </p:cNvSpPr>
          <p:nvPr/>
        </p:nvSpPr>
        <p:spPr bwMode="auto">
          <a:xfrm>
            <a:off x="179512" y="260648"/>
            <a:ext cx="8534400" cy="5816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ahoma" panose="020B0604030504040204" pitchFamily="34" charset="0"/>
                <a:ea typeface="微软雅黑" panose="020B0503020204020204" pitchFamily="34" charset="-122"/>
              </a:rPr>
              <a:t>#define BUFFER_SIZE 1024</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int main(int argc, char* argv[]) {</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if (argc != 5) {</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fprintf(stderr, "</a:t>
            </a:r>
            <a:r>
              <a:rPr lang="zh-CN" altLang="en-US" sz="2400">
                <a:latin typeface="Tahoma" panose="020B0604030504040204" pitchFamily="34" charset="0"/>
                <a:ea typeface="微软雅黑" panose="020B0503020204020204" pitchFamily="34" charset="-122"/>
              </a:rPr>
              <a:t>用法</a:t>
            </a:r>
            <a:r>
              <a:rPr lang="en-US" altLang="zh-CN" sz="2400">
                <a:latin typeface="Tahoma" panose="020B0604030504040204" pitchFamily="34" charset="0"/>
                <a:ea typeface="微软雅黑" panose="020B0503020204020204" pitchFamily="34" charset="-122"/>
              </a:rPr>
              <a:t>: %s &lt;</a:t>
            </a:r>
            <a:r>
              <a:rPr lang="zh-CN" altLang="en-US" sz="2400">
                <a:latin typeface="Tahoma" panose="020B0604030504040204" pitchFamily="34" charset="0"/>
                <a:ea typeface="微软雅黑" panose="020B0503020204020204" pitchFamily="34" charset="-122"/>
              </a:rPr>
              <a:t>本地</a:t>
            </a:r>
            <a:r>
              <a:rPr lang="en-US" altLang="zh-CN" sz="2400">
                <a:latin typeface="Tahoma" panose="020B0604030504040204" pitchFamily="34" charset="0"/>
                <a:ea typeface="微软雅黑" panose="020B0503020204020204" pitchFamily="34" charset="-122"/>
              </a:rPr>
              <a:t>IP&gt; &lt;</a:t>
            </a:r>
            <a:r>
              <a:rPr lang="zh-CN" altLang="en-US" sz="2400">
                <a:latin typeface="Tahoma" panose="020B0604030504040204" pitchFamily="34" charset="0"/>
                <a:ea typeface="微软雅黑" panose="020B0503020204020204" pitchFamily="34" charset="-122"/>
              </a:rPr>
              <a:t>本地端口</a:t>
            </a:r>
            <a:r>
              <a:rPr lang="en-US" altLang="zh-CN" sz="2400">
                <a:latin typeface="Tahoma" panose="020B0604030504040204" pitchFamily="34" charset="0"/>
                <a:ea typeface="微软雅黑" panose="020B0503020204020204" pitchFamily="34" charset="-122"/>
              </a:rPr>
              <a:t>&gt; &lt;</a:t>
            </a:r>
            <a:r>
              <a:rPr lang="zh-CN" altLang="en-US" sz="2400">
                <a:latin typeface="Tahoma" panose="020B0604030504040204" pitchFamily="34" charset="0"/>
                <a:ea typeface="微软雅黑" panose="020B0503020204020204" pitchFamily="34" charset="-122"/>
              </a:rPr>
              <a:t>对方</a:t>
            </a:r>
            <a:r>
              <a:rPr lang="en-US" altLang="zh-CN" sz="2400">
                <a:latin typeface="Tahoma" panose="020B0604030504040204" pitchFamily="34" charset="0"/>
                <a:ea typeface="微软雅黑" panose="020B0503020204020204" pitchFamily="34" charset="-122"/>
              </a:rPr>
              <a:t>IP&gt; &lt;</a:t>
            </a:r>
            <a:r>
              <a:rPr lang="zh-CN" altLang="en-US" sz="2400">
                <a:latin typeface="Tahoma" panose="020B0604030504040204" pitchFamily="34" charset="0"/>
                <a:ea typeface="微软雅黑" panose="020B0503020204020204" pitchFamily="34" charset="-122"/>
              </a:rPr>
              <a:t>对方端口</a:t>
            </a:r>
            <a:r>
              <a:rPr lang="en-US" altLang="zh-CN" sz="2400">
                <a:latin typeface="Tahoma" panose="020B0604030504040204" pitchFamily="34" charset="0"/>
                <a:ea typeface="微软雅黑" panose="020B0503020204020204" pitchFamily="34" charset="-122"/>
              </a:rPr>
              <a:t>&gt;\n</a:t>
            </a:r>
            <a:r>
              <a:rPr lang="en-US" altLang="zh-CN" sz="2400" b="1">
                <a:latin typeface="Tahoma" panose="020B0604030504040204" pitchFamily="34" charset="0"/>
                <a:ea typeface="微软雅黑" panose="020B0503020204020204" pitchFamily="34" charset="-122"/>
              </a:rPr>
              <a:t>", argv[0]);</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exit(1);</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const char* local_ip = argv[1];</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int local_port = atoi(argv[2]);</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const char* peer_ip = argv[3];</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int remote_port = atoi(argv[4]);</a:t>
            </a:r>
            <a:endParaRPr lang="en-US" altLang="zh-CN" sz="2400" b="1">
              <a:latin typeface="Tahoma" panose="020B0604030504040204" pitchFamily="34" charset="0"/>
              <a:ea typeface="微软雅黑" panose="020B0503020204020204" pitchFamily="34" charset="-122"/>
              <a:cs typeface="Tahoma" panose="020B060403050404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3"/>
          <p:cNvSpPr txBox="1">
            <a:spLocks noChangeArrowheads="1"/>
          </p:cNvSpPr>
          <p:nvPr/>
        </p:nvSpPr>
        <p:spPr bwMode="auto">
          <a:xfrm>
            <a:off x="179512" y="3445"/>
            <a:ext cx="8534400" cy="655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a:latin typeface="Tahoma" panose="020B0604030504040204" pitchFamily="34" charset="0"/>
                <a:ea typeface="微软雅黑" panose="020B0503020204020204" pitchFamily="34" charset="-122"/>
              </a:rPr>
              <a:t>   int sockfd;</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struct sockaddr_in local_addr, remote_addr;</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socklen_t addr_len = sizeof(remote_addr);</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fd_set read_fds;</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char buffer[BUFFER_SIZE];</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a:t>
            </a:r>
            <a:r>
              <a:rPr lang="en-US" altLang="zh-CN" sz="2400" b="1">
                <a:solidFill>
                  <a:srgbClr val="0070C0"/>
                </a:solidFill>
                <a:latin typeface="Tahoma" panose="020B0604030504040204" pitchFamily="34" charset="0"/>
                <a:ea typeface="微软雅黑" panose="020B0503020204020204" pitchFamily="34" charset="-122"/>
              </a:rPr>
              <a:t>// </a:t>
            </a:r>
            <a:r>
              <a:rPr lang="zh-CN" altLang="en-US" sz="2400" b="1">
                <a:solidFill>
                  <a:srgbClr val="0070C0"/>
                </a:solidFill>
                <a:latin typeface="Tahoma" panose="020B0604030504040204" pitchFamily="34" charset="0"/>
                <a:ea typeface="微软雅黑" panose="020B0503020204020204" pitchFamily="34" charset="-122"/>
              </a:rPr>
              <a:t>创建 </a:t>
            </a:r>
            <a:r>
              <a:rPr lang="en-US" altLang="zh-CN" sz="2400" b="1">
                <a:solidFill>
                  <a:srgbClr val="0070C0"/>
                </a:solidFill>
                <a:latin typeface="Tahoma" panose="020B0604030504040204" pitchFamily="34" charset="0"/>
                <a:ea typeface="微软雅黑" panose="020B0503020204020204" pitchFamily="34" charset="-122"/>
              </a:rPr>
              <a:t>UDP </a:t>
            </a:r>
            <a:r>
              <a:rPr lang="zh-CN" altLang="en-US" sz="2400" b="1">
                <a:solidFill>
                  <a:srgbClr val="0070C0"/>
                </a:solidFill>
                <a:latin typeface="Tahoma" panose="020B0604030504040204" pitchFamily="34" charset="0"/>
                <a:ea typeface="微软雅黑" panose="020B0503020204020204" pitchFamily="34" charset="-122"/>
              </a:rPr>
              <a:t>套接字</a:t>
            </a:r>
            <a:endParaRPr lang="zh-CN" altLang="en-US" sz="2400" b="1">
              <a:solidFill>
                <a:srgbClr val="0070C0"/>
              </a:solidFill>
              <a:latin typeface="Tahoma" panose="020B0604030504040204" pitchFamily="34" charset="0"/>
              <a:ea typeface="微软雅黑" panose="020B0503020204020204" pitchFamily="34" charset="-122"/>
            </a:endParaRPr>
          </a:p>
          <a:p>
            <a:pPr>
              <a:spcBef>
                <a:spcPct val="50000"/>
              </a:spcBef>
            </a:pPr>
            <a:r>
              <a:rPr lang="zh-CN" altLang="en-US" sz="2400" b="1">
                <a:latin typeface="Tahoma" panose="020B0604030504040204" pitchFamily="34" charset="0"/>
                <a:ea typeface="微软雅黑" panose="020B0503020204020204" pitchFamily="34" charset="-122"/>
              </a:rPr>
              <a:t>    </a:t>
            </a:r>
            <a:r>
              <a:rPr lang="en-US" altLang="zh-CN" sz="2400" b="1">
                <a:latin typeface="Tahoma" panose="020B0604030504040204" pitchFamily="34" charset="0"/>
                <a:ea typeface="微软雅黑" panose="020B0503020204020204" pitchFamily="34" charset="-122"/>
              </a:rPr>
              <a:t>sockfd = socket(AF_INET, SOCK_DGRAM, 0);</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if (sockfd &lt; 0) {</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perror("socket </a:t>
            </a:r>
            <a:r>
              <a:rPr lang="zh-CN" altLang="en-US" sz="2400" b="1">
                <a:latin typeface="Tahoma" panose="020B0604030504040204" pitchFamily="34" charset="0"/>
                <a:ea typeface="微软雅黑" panose="020B0503020204020204" pitchFamily="34" charset="-122"/>
              </a:rPr>
              <a:t>创建失败</a:t>
            </a:r>
            <a:r>
              <a:rPr lang="en-US" altLang="zh-CN" sz="2400" b="1">
                <a:latin typeface="Tahoma" panose="020B0604030504040204" pitchFamily="34" charset="0"/>
                <a:ea typeface="微软雅黑" panose="020B0503020204020204" pitchFamily="34" charset="-122"/>
              </a:rPr>
              <a:t>");</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exit(1);</a:t>
            </a:r>
            <a:endParaRPr lang="en-US" altLang="zh-CN" sz="2400" b="1">
              <a:latin typeface="Tahoma" panose="020B0604030504040204" pitchFamily="34" charset="0"/>
              <a:ea typeface="微软雅黑" panose="020B0503020204020204" pitchFamily="34" charset="-122"/>
            </a:endParaRPr>
          </a:p>
          <a:p>
            <a:pPr>
              <a:spcBef>
                <a:spcPct val="50000"/>
              </a:spcBef>
            </a:pPr>
            <a:r>
              <a:rPr lang="en-US" altLang="zh-CN" sz="2400" b="1">
                <a:latin typeface="Tahoma" panose="020B0604030504040204" pitchFamily="34" charset="0"/>
                <a:ea typeface="微软雅黑" panose="020B0503020204020204" pitchFamily="34" charset="-122"/>
              </a:rPr>
              <a:t>    }</a:t>
            </a:r>
            <a:endParaRPr lang="en-US" altLang="zh-CN" sz="2400" b="1">
              <a:latin typeface="Tahoma" panose="020B0604030504040204" pitchFamily="34" charset="0"/>
              <a:ea typeface="微软雅黑" panose="020B0503020204020204" pitchFamily="34" charset="-122"/>
            </a:endParaRPr>
          </a:p>
          <a:p>
            <a:pPr>
              <a:spcBef>
                <a:spcPct val="50000"/>
              </a:spcBef>
            </a:pPr>
            <a:endParaRPr lang="en-US" altLang="zh-CN" sz="2400" b="1">
              <a:latin typeface="Tahoma" panose="020B0604030504040204" pitchFamily="34" charset="0"/>
              <a:ea typeface="微软雅黑" panose="020B0503020204020204" pitchFamily="34" charset="-122"/>
              <a:cs typeface="Tahoma" panose="020B060403050404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3"/>
          <p:cNvSpPr txBox="1">
            <a:spLocks noChangeArrowheads="1"/>
          </p:cNvSpPr>
          <p:nvPr/>
        </p:nvSpPr>
        <p:spPr bwMode="auto">
          <a:xfrm>
            <a:off x="179512" y="3445"/>
            <a:ext cx="8964488" cy="6694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90000"/>
              </a:lnSpc>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solidFill>
                  <a:srgbClr val="0070C0"/>
                </a:solidFill>
                <a:latin typeface="Tahoma" panose="020B0604030504040204" pitchFamily="34" charset="0"/>
                <a:ea typeface="微软雅黑" panose="020B0503020204020204" pitchFamily="34" charset="-122"/>
              </a:rPr>
              <a:t>// </a:t>
            </a:r>
            <a:r>
              <a:rPr lang="zh-CN" altLang="en-US" sz="2200" b="1">
                <a:solidFill>
                  <a:srgbClr val="0070C0"/>
                </a:solidFill>
                <a:latin typeface="Tahoma" panose="020B0604030504040204" pitchFamily="34" charset="0"/>
                <a:ea typeface="微软雅黑" panose="020B0503020204020204" pitchFamily="34" charset="-122"/>
              </a:rPr>
              <a:t>设置本地地址</a:t>
            </a:r>
            <a:endParaRPr lang="zh-CN" altLang="en-US" sz="2200" b="1">
              <a:solidFill>
                <a:srgbClr val="0070C0"/>
              </a:solidFill>
              <a:latin typeface="Tahoma" panose="020B0604030504040204" pitchFamily="34" charset="0"/>
              <a:ea typeface="微软雅黑" panose="020B0503020204020204" pitchFamily="34" charset="-122"/>
            </a:endParaRPr>
          </a:p>
          <a:p>
            <a:pPr>
              <a:lnSpc>
                <a:spcPct val="90000"/>
              </a:lnSpc>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latin typeface="Tahoma" panose="020B0604030504040204" pitchFamily="34" charset="0"/>
                <a:ea typeface="微软雅黑" panose="020B0503020204020204" pitchFamily="34" charset="-122"/>
              </a:rPr>
              <a:t>memset(&amp;local_addr, 0, sizeof(local_addr));</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local_addr.sin_family = AF_INET;</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local_addr.sin_port = htons(local_port);</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if (inet_pton(AF_INET, local_ip, &amp;local_addr.sin_addr) &lt;= 0) {</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perror("</a:t>
            </a:r>
            <a:r>
              <a:rPr lang="zh-CN" altLang="en-US" sz="2200" b="1">
                <a:latin typeface="Tahoma" panose="020B0604030504040204" pitchFamily="34" charset="0"/>
                <a:ea typeface="微软雅黑" panose="020B0503020204020204" pitchFamily="34" charset="-122"/>
              </a:rPr>
              <a:t>无效的本地地址</a:t>
            </a:r>
            <a:r>
              <a:rPr lang="en-US" altLang="zh-CN" sz="2200" b="1">
                <a:latin typeface="Tahoma" panose="020B0604030504040204" pitchFamily="34" charset="0"/>
                <a:ea typeface="微软雅黑" panose="020B0503020204020204" pitchFamily="34" charset="-122"/>
              </a:rPr>
              <a:t>");   close(sockfd);</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exit(1);</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solidFill>
                  <a:srgbClr val="0070C0"/>
                </a:solidFill>
                <a:latin typeface="Tahoma" panose="020B0604030504040204" pitchFamily="34" charset="0"/>
                <a:ea typeface="微软雅黑" panose="020B0503020204020204" pitchFamily="34" charset="-122"/>
              </a:rPr>
              <a:t>    // </a:t>
            </a:r>
            <a:r>
              <a:rPr lang="zh-CN" altLang="en-US" sz="2200" b="1">
                <a:solidFill>
                  <a:srgbClr val="0070C0"/>
                </a:solidFill>
                <a:latin typeface="Tahoma" panose="020B0604030504040204" pitchFamily="34" charset="0"/>
                <a:ea typeface="微软雅黑" panose="020B0503020204020204" pitchFamily="34" charset="-122"/>
              </a:rPr>
              <a:t>绑定本地地址</a:t>
            </a:r>
            <a:endParaRPr lang="zh-CN" altLang="en-US" sz="2200" b="1">
              <a:solidFill>
                <a:srgbClr val="0070C0"/>
              </a:solidFill>
              <a:latin typeface="Tahoma" panose="020B0604030504040204" pitchFamily="34" charset="0"/>
              <a:ea typeface="微软雅黑" panose="020B0503020204020204" pitchFamily="34" charset="-122"/>
            </a:endParaRPr>
          </a:p>
          <a:p>
            <a:pPr>
              <a:lnSpc>
                <a:spcPct val="90000"/>
              </a:lnSpc>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latin typeface="Tahoma" panose="020B0604030504040204" pitchFamily="34" charset="0"/>
                <a:ea typeface="微软雅黑" panose="020B0503020204020204" pitchFamily="34" charset="-122"/>
              </a:rPr>
              <a:t>if (bind(sockfd, (struct sockaddr*)&amp;local_addr, sizeof(local_addr))) {</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perror("bind </a:t>
            </a:r>
            <a:r>
              <a:rPr lang="zh-CN" altLang="en-US" sz="2200" b="1">
                <a:latin typeface="Tahoma" panose="020B0604030504040204" pitchFamily="34" charset="0"/>
                <a:ea typeface="微软雅黑" panose="020B0503020204020204" pitchFamily="34" charset="-122"/>
              </a:rPr>
              <a:t>失败</a:t>
            </a:r>
            <a:r>
              <a:rPr lang="en-US" altLang="zh-CN" sz="2200" b="1">
                <a:latin typeface="Tahoma" panose="020B0604030504040204" pitchFamily="34" charset="0"/>
                <a:ea typeface="微软雅黑" panose="020B0503020204020204" pitchFamily="34" charset="-122"/>
              </a:rPr>
              <a:t>");   close(sockfd);</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exit(1);</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a:t>
            </a:r>
            <a:endParaRPr lang="en-US" altLang="zh-CN" sz="2200" b="1">
              <a:latin typeface="Tahoma" panose="020B0604030504040204" pitchFamily="34" charset="0"/>
              <a:ea typeface="微软雅黑" panose="020B0503020204020204" pitchFamily="34" charset="-122"/>
              <a:cs typeface="Tahoma" panose="020B060403050404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3"/>
          <p:cNvSpPr txBox="1">
            <a:spLocks noChangeArrowheads="1"/>
          </p:cNvSpPr>
          <p:nvPr/>
        </p:nvSpPr>
        <p:spPr bwMode="auto">
          <a:xfrm>
            <a:off x="179512" y="116632"/>
            <a:ext cx="8964488" cy="57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solidFill>
                  <a:srgbClr val="0070C0"/>
                </a:solidFill>
                <a:latin typeface="Tahoma" panose="020B0604030504040204" pitchFamily="34" charset="0"/>
                <a:ea typeface="微软雅黑" panose="020B0503020204020204" pitchFamily="34" charset="-122"/>
              </a:rPr>
              <a:t>// </a:t>
            </a:r>
            <a:r>
              <a:rPr lang="zh-CN" altLang="en-US" sz="2200" b="1">
                <a:solidFill>
                  <a:srgbClr val="0070C0"/>
                </a:solidFill>
                <a:latin typeface="Tahoma" panose="020B0604030504040204" pitchFamily="34" charset="0"/>
                <a:ea typeface="微软雅黑" panose="020B0503020204020204" pitchFamily="34" charset="-122"/>
              </a:rPr>
              <a:t>设置对方地址</a:t>
            </a:r>
            <a:endParaRPr lang="zh-CN" altLang="en-US" sz="2200" b="1">
              <a:solidFill>
                <a:srgbClr val="0070C0"/>
              </a:solidFill>
              <a:latin typeface="Tahoma" panose="020B0604030504040204" pitchFamily="34" charset="0"/>
              <a:ea typeface="微软雅黑" panose="020B0503020204020204" pitchFamily="34" charset="-122"/>
            </a:endParaRPr>
          </a:p>
          <a:p>
            <a:pPr>
              <a:lnSpc>
                <a:spcPct val="90000"/>
              </a:lnSpc>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latin typeface="Tahoma" panose="020B0604030504040204" pitchFamily="34" charset="0"/>
                <a:ea typeface="微软雅黑" panose="020B0503020204020204" pitchFamily="34" charset="-122"/>
              </a:rPr>
              <a:t>memset(&amp;remote_addr, 0, sizeof(remote_addr));</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remote_addr.sin_family = AF_INET;</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remote_addr.sin_port = htons(remote_port);</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if (inet_pton(AF_INET, peer_ip, &amp;remote_addr.sin_addr) &lt;= 0) {</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perror("</a:t>
            </a:r>
            <a:r>
              <a:rPr lang="zh-CN" altLang="en-US" sz="2200" b="1">
                <a:latin typeface="Tahoma" panose="020B0604030504040204" pitchFamily="34" charset="0"/>
                <a:ea typeface="微软雅黑" panose="020B0503020204020204" pitchFamily="34" charset="-122"/>
              </a:rPr>
              <a:t>无效的对方地址</a:t>
            </a:r>
            <a:r>
              <a:rPr lang="en-US" altLang="zh-CN" sz="2200" b="1">
                <a:latin typeface="Tahoma" panose="020B0604030504040204" pitchFamily="34" charset="0"/>
                <a:ea typeface="微软雅黑" panose="020B0503020204020204" pitchFamily="34" charset="-122"/>
              </a:rPr>
              <a:t>");</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close(sockfd);</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exit(1);</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printf("UDP </a:t>
            </a:r>
            <a:r>
              <a:rPr lang="zh-CN" altLang="en-US" sz="2200" b="1">
                <a:latin typeface="Tahoma" panose="020B0604030504040204" pitchFamily="34" charset="0"/>
                <a:ea typeface="微软雅黑" panose="020B0503020204020204" pitchFamily="34" charset="-122"/>
              </a:rPr>
              <a:t>谈话程序已启动，本地地址</a:t>
            </a:r>
            <a:r>
              <a:rPr lang="en-US" altLang="zh-CN" sz="2200" b="1">
                <a:latin typeface="Tahoma" panose="020B0604030504040204" pitchFamily="34" charset="0"/>
                <a:ea typeface="微软雅黑" panose="020B0503020204020204" pitchFamily="34" charset="-122"/>
              </a:rPr>
              <a:t>: %s:%d</a:t>
            </a:r>
            <a:r>
              <a:rPr lang="zh-CN" altLang="en-US" sz="2200" b="1">
                <a:latin typeface="Tahoma" panose="020B0604030504040204" pitchFamily="34" charset="0"/>
                <a:ea typeface="微软雅黑" panose="020B0503020204020204" pitchFamily="34" charset="-122"/>
              </a:rPr>
              <a:t>，对方地址</a:t>
            </a:r>
            <a:r>
              <a:rPr lang="en-US" altLang="zh-CN" sz="2200" b="1">
                <a:latin typeface="Tahoma" panose="020B0604030504040204" pitchFamily="34" charset="0"/>
                <a:ea typeface="微软雅黑" panose="020B0503020204020204" pitchFamily="34" charset="-122"/>
              </a:rPr>
              <a:t>: %s:%d\n",</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local_ip, local_port, peer_ip,remote_port);</a:t>
            </a:r>
            <a:endParaRPr lang="en-US" altLang="zh-CN" sz="2200" b="1">
              <a:latin typeface="Tahoma" panose="020B0604030504040204" pitchFamily="34" charset="0"/>
              <a:ea typeface="微软雅黑" panose="020B0503020204020204" pitchFamily="34" charset="-122"/>
              <a:cs typeface="Tahoma" panose="020B060403050404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3"/>
          <p:cNvSpPr txBox="1">
            <a:spLocks noChangeArrowheads="1"/>
          </p:cNvSpPr>
          <p:nvPr/>
        </p:nvSpPr>
        <p:spPr bwMode="auto">
          <a:xfrm>
            <a:off x="179512" y="116632"/>
            <a:ext cx="8964488" cy="6355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latin typeface="Tahoma" panose="020B0604030504040204" pitchFamily="34" charset="0"/>
                <a:ea typeface="微软雅黑" panose="020B0503020204020204" pitchFamily="34" charset="-122"/>
              </a:rPr>
              <a:t>while (1)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solidFill>
                  <a:srgbClr val="0070C0"/>
                </a:solidFill>
                <a:latin typeface="Tahoma" panose="020B0604030504040204" pitchFamily="34" charset="0"/>
                <a:ea typeface="微软雅黑" panose="020B0503020204020204" pitchFamily="34" charset="-122"/>
              </a:rPr>
              <a:t>        // </a:t>
            </a:r>
            <a:r>
              <a:rPr lang="zh-CN" altLang="en-US" sz="2200" b="1">
                <a:solidFill>
                  <a:srgbClr val="0070C0"/>
                </a:solidFill>
                <a:latin typeface="Tahoma" panose="020B0604030504040204" pitchFamily="34" charset="0"/>
                <a:ea typeface="微软雅黑" panose="020B0503020204020204" pitchFamily="34" charset="-122"/>
              </a:rPr>
              <a:t>初始化文件描述符集合</a:t>
            </a:r>
            <a:endParaRPr lang="zh-CN" altLang="en-US" sz="2200" b="1">
              <a:solidFill>
                <a:srgbClr val="0070C0"/>
              </a:solidFill>
              <a:latin typeface="Tahoma" panose="020B0604030504040204" pitchFamily="34" charset="0"/>
              <a:ea typeface="微软雅黑" panose="020B0503020204020204" pitchFamily="34" charset="-122"/>
            </a:endParaRPr>
          </a:p>
          <a:p>
            <a:pPr>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latin typeface="Tahoma" panose="020B0604030504040204" pitchFamily="34" charset="0"/>
                <a:ea typeface="微软雅黑" panose="020B0503020204020204" pitchFamily="34" charset="-122"/>
              </a:rPr>
              <a:t>FD_ZERO(&amp;read_fds);</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FD_SET(STDIN_FILENO, &amp;read_fds);  </a:t>
            </a:r>
            <a:r>
              <a:rPr lang="en-US" altLang="zh-CN" sz="2200" b="1">
                <a:solidFill>
                  <a:srgbClr val="0070C0"/>
                </a:solidFill>
                <a:latin typeface="Tahoma" panose="020B0604030504040204" pitchFamily="34" charset="0"/>
                <a:ea typeface="微软雅黑" panose="020B0503020204020204" pitchFamily="34" charset="-122"/>
              </a:rPr>
              <a:t>// </a:t>
            </a:r>
            <a:r>
              <a:rPr lang="zh-CN" altLang="en-US" sz="2200" b="1">
                <a:solidFill>
                  <a:srgbClr val="0070C0"/>
                </a:solidFill>
                <a:latin typeface="Tahoma" panose="020B0604030504040204" pitchFamily="34" charset="0"/>
                <a:ea typeface="微软雅黑" panose="020B0503020204020204" pitchFamily="34" charset="-122"/>
              </a:rPr>
              <a:t>监控标准输入</a:t>
            </a:r>
            <a:endParaRPr lang="zh-CN" altLang="en-US" sz="2200" b="1">
              <a:solidFill>
                <a:srgbClr val="0070C0"/>
              </a:solidFill>
              <a:latin typeface="Tahoma" panose="020B0604030504040204" pitchFamily="34" charset="0"/>
              <a:ea typeface="微软雅黑" panose="020B0503020204020204" pitchFamily="34" charset="-122"/>
            </a:endParaRPr>
          </a:p>
          <a:p>
            <a:pPr>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latin typeface="Tahoma" panose="020B0604030504040204" pitchFamily="34" charset="0"/>
                <a:ea typeface="微软雅黑" panose="020B0503020204020204" pitchFamily="34" charset="-122"/>
              </a:rPr>
              <a:t>FD_SET(sockfd, &amp;read_fds);        </a:t>
            </a:r>
            <a:r>
              <a:rPr lang="en-US" altLang="zh-CN" sz="2200" b="1">
                <a:solidFill>
                  <a:srgbClr val="0070C0"/>
                </a:solidFill>
                <a:latin typeface="Tahoma" panose="020B0604030504040204" pitchFamily="34" charset="0"/>
                <a:ea typeface="微软雅黑" panose="020B0503020204020204" pitchFamily="34" charset="-122"/>
              </a:rPr>
              <a:t>// </a:t>
            </a:r>
            <a:r>
              <a:rPr lang="zh-CN" altLang="en-US" sz="2200" b="1">
                <a:solidFill>
                  <a:srgbClr val="0070C0"/>
                </a:solidFill>
                <a:latin typeface="Tahoma" panose="020B0604030504040204" pitchFamily="34" charset="0"/>
                <a:ea typeface="微软雅黑" panose="020B0503020204020204" pitchFamily="34" charset="-122"/>
              </a:rPr>
              <a:t>监控 </a:t>
            </a:r>
            <a:r>
              <a:rPr lang="en-US" altLang="zh-CN" sz="2200" b="1">
                <a:solidFill>
                  <a:srgbClr val="0070C0"/>
                </a:solidFill>
                <a:latin typeface="Tahoma" panose="020B0604030504040204" pitchFamily="34" charset="0"/>
                <a:ea typeface="微软雅黑" panose="020B0503020204020204" pitchFamily="34" charset="-122"/>
              </a:rPr>
              <a:t>UDP </a:t>
            </a:r>
            <a:r>
              <a:rPr lang="zh-CN" altLang="en-US" sz="2200" b="1">
                <a:solidFill>
                  <a:srgbClr val="0070C0"/>
                </a:solidFill>
                <a:latin typeface="Tahoma" panose="020B0604030504040204" pitchFamily="34" charset="0"/>
                <a:ea typeface="微软雅黑" panose="020B0503020204020204" pitchFamily="34" charset="-122"/>
              </a:rPr>
              <a:t>套接字</a:t>
            </a:r>
            <a:endParaRPr lang="zh-CN" altLang="en-US" sz="2200" b="1">
              <a:solidFill>
                <a:srgbClr val="0070C0"/>
              </a:solidFill>
              <a:latin typeface="Tahoma" panose="020B0604030504040204" pitchFamily="34" charset="0"/>
              <a:ea typeface="微软雅黑" panose="020B0503020204020204" pitchFamily="34" charset="-122"/>
            </a:endParaRPr>
          </a:p>
          <a:p>
            <a:pPr>
              <a:spcBef>
                <a:spcPct val="50000"/>
              </a:spcBef>
            </a:pPr>
            <a:endParaRPr lang="zh-CN" altLang="en-US" sz="2200" b="1">
              <a:latin typeface="Tahoma" panose="020B0604030504040204" pitchFamily="34" charset="0"/>
              <a:ea typeface="微软雅黑" panose="020B0503020204020204" pitchFamily="34" charset="-122"/>
            </a:endParaRPr>
          </a:p>
          <a:p>
            <a:pPr>
              <a:spcBef>
                <a:spcPct val="50000"/>
              </a:spcBef>
            </a:pPr>
            <a:r>
              <a:rPr lang="zh-CN" altLang="en-US" sz="2200" b="1">
                <a:solidFill>
                  <a:srgbClr val="0070C0"/>
                </a:solidFill>
                <a:latin typeface="Tahoma" panose="020B0604030504040204" pitchFamily="34" charset="0"/>
                <a:ea typeface="微软雅黑" panose="020B0503020204020204" pitchFamily="34" charset="-122"/>
              </a:rPr>
              <a:t>        </a:t>
            </a:r>
            <a:r>
              <a:rPr lang="en-US" altLang="zh-CN" sz="2200" b="1">
                <a:solidFill>
                  <a:srgbClr val="0070C0"/>
                </a:solidFill>
                <a:latin typeface="Tahoma" panose="020B0604030504040204" pitchFamily="34" charset="0"/>
                <a:ea typeface="微软雅黑" panose="020B0503020204020204" pitchFamily="34" charset="-122"/>
              </a:rPr>
              <a:t>// </a:t>
            </a:r>
            <a:r>
              <a:rPr lang="zh-CN" altLang="en-US" sz="2200" b="1">
                <a:solidFill>
                  <a:srgbClr val="0070C0"/>
                </a:solidFill>
                <a:latin typeface="Tahoma" panose="020B0604030504040204" pitchFamily="34" charset="0"/>
                <a:ea typeface="微软雅黑" panose="020B0503020204020204" pitchFamily="34" charset="-122"/>
              </a:rPr>
              <a:t>调用 </a:t>
            </a:r>
            <a:r>
              <a:rPr lang="en-US" altLang="zh-CN" sz="2200" b="1">
                <a:solidFill>
                  <a:srgbClr val="0070C0"/>
                </a:solidFill>
                <a:latin typeface="Tahoma" panose="020B0604030504040204" pitchFamily="34" charset="0"/>
                <a:ea typeface="微软雅黑" panose="020B0503020204020204" pitchFamily="34" charset="-122"/>
              </a:rPr>
              <a:t>select </a:t>
            </a:r>
            <a:r>
              <a:rPr lang="zh-CN" altLang="en-US" sz="2200" b="1">
                <a:solidFill>
                  <a:srgbClr val="0070C0"/>
                </a:solidFill>
                <a:latin typeface="Tahoma" panose="020B0604030504040204" pitchFamily="34" charset="0"/>
                <a:ea typeface="微软雅黑" panose="020B0503020204020204" pitchFamily="34" charset="-122"/>
              </a:rPr>
              <a:t>监控文件描述符</a:t>
            </a:r>
            <a:endParaRPr lang="zh-CN" altLang="en-US" sz="2200" b="1">
              <a:solidFill>
                <a:srgbClr val="0070C0"/>
              </a:solidFill>
              <a:latin typeface="Tahoma" panose="020B0604030504040204" pitchFamily="34" charset="0"/>
              <a:ea typeface="微软雅黑" panose="020B0503020204020204" pitchFamily="34" charset="-122"/>
            </a:endParaRPr>
          </a:p>
          <a:p>
            <a:pPr>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latin typeface="Tahoma" panose="020B0604030504040204" pitchFamily="34" charset="0"/>
                <a:ea typeface="微软雅黑" panose="020B0503020204020204" pitchFamily="34" charset="-122"/>
              </a:rPr>
              <a:t>int activity = </a:t>
            </a:r>
            <a:r>
              <a:rPr lang="en-US" altLang="zh-CN" sz="2200" b="1">
                <a:solidFill>
                  <a:srgbClr val="C00000"/>
                </a:solidFill>
                <a:latin typeface="Tahoma" panose="020B0604030504040204" pitchFamily="34" charset="0"/>
                <a:ea typeface="微软雅黑" panose="020B0503020204020204" pitchFamily="34" charset="-122"/>
              </a:rPr>
              <a:t>select(sockfd + 1, &amp;read_fds, NULL, NULL, NULL);</a:t>
            </a:r>
            <a:endParaRPr lang="en-US" altLang="zh-CN" sz="2200" b="1">
              <a:solidFill>
                <a:srgbClr val="C00000"/>
              </a:solidFill>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if (activity &lt; 0)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perror("select </a:t>
            </a:r>
            <a:r>
              <a:rPr lang="zh-CN" altLang="en-US" sz="2200" b="1">
                <a:latin typeface="Tahoma" panose="020B0604030504040204" pitchFamily="34" charset="0"/>
                <a:ea typeface="微软雅黑" panose="020B0503020204020204" pitchFamily="34" charset="-122"/>
              </a:rPr>
              <a:t>失败</a:t>
            </a:r>
            <a:r>
              <a:rPr lang="en-US" altLang="zh-CN" sz="2200" b="1">
                <a:latin typeface="Tahoma" panose="020B0604030504040204" pitchFamily="34" charset="0"/>
                <a:ea typeface="微软雅黑" panose="020B0503020204020204" pitchFamily="34" charset="-122"/>
              </a:rPr>
              <a:t>");</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break;</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a:t>
            </a:r>
            <a:endParaRPr lang="en-US" altLang="zh-CN" sz="2200" b="1">
              <a:latin typeface="Tahoma" panose="020B0604030504040204" pitchFamily="34" charset="0"/>
              <a:ea typeface="微软雅黑" panose="020B0503020204020204" pitchFamily="34" charset="-122"/>
              <a:cs typeface="Tahoma" panose="020B060403050404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3"/>
          <p:cNvSpPr txBox="1">
            <a:spLocks noChangeArrowheads="1"/>
          </p:cNvSpPr>
          <p:nvPr/>
        </p:nvSpPr>
        <p:spPr bwMode="auto">
          <a:xfrm>
            <a:off x="179512" y="116632"/>
            <a:ext cx="8964488" cy="648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solidFill>
                  <a:srgbClr val="0070C0"/>
                </a:solidFill>
                <a:latin typeface="Tahoma" panose="020B0604030504040204" pitchFamily="34" charset="0"/>
                <a:ea typeface="微软雅黑" panose="020B0503020204020204" pitchFamily="34" charset="-122"/>
              </a:rPr>
              <a:t>// </a:t>
            </a:r>
            <a:r>
              <a:rPr lang="zh-CN" altLang="en-US" sz="2200" b="1">
                <a:solidFill>
                  <a:srgbClr val="0070C0"/>
                </a:solidFill>
                <a:latin typeface="Tahoma" panose="020B0604030504040204" pitchFamily="34" charset="0"/>
                <a:ea typeface="微软雅黑" panose="020B0503020204020204" pitchFamily="34" charset="-122"/>
              </a:rPr>
              <a:t>检查标准输入是否有数据可读</a:t>
            </a:r>
            <a:endParaRPr lang="zh-CN" altLang="en-US" sz="2200" b="1">
              <a:solidFill>
                <a:srgbClr val="0070C0"/>
              </a:solidFill>
              <a:latin typeface="Tahoma" panose="020B0604030504040204" pitchFamily="34" charset="0"/>
              <a:ea typeface="微软雅黑" panose="020B0503020204020204" pitchFamily="34" charset="-122"/>
            </a:endParaRPr>
          </a:p>
          <a:p>
            <a:pPr>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latin typeface="Tahoma" panose="020B0604030504040204" pitchFamily="34" charset="0"/>
                <a:ea typeface="微软雅黑" panose="020B0503020204020204" pitchFamily="34" charset="-122"/>
              </a:rPr>
              <a:t>if (FD_ISSET(STDIN_FILENO, &amp;read_fds))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if (fgets(buffer, BUFFER_SIZE, stdin) != NULL) {</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a:t>
            </a:r>
            <a:r>
              <a:rPr lang="en-US" altLang="zh-CN" sz="2200" b="1">
                <a:solidFill>
                  <a:srgbClr val="0070C0"/>
                </a:solidFill>
                <a:latin typeface="Tahoma" panose="020B0604030504040204" pitchFamily="34" charset="0"/>
                <a:ea typeface="微软雅黑" panose="020B0503020204020204" pitchFamily="34" charset="-122"/>
              </a:rPr>
              <a:t>// </a:t>
            </a:r>
            <a:r>
              <a:rPr lang="zh-CN" altLang="en-US" sz="2200" b="1">
                <a:solidFill>
                  <a:srgbClr val="0070C0"/>
                </a:solidFill>
                <a:latin typeface="Tahoma" panose="020B0604030504040204" pitchFamily="34" charset="0"/>
                <a:ea typeface="微软雅黑" panose="020B0503020204020204" pitchFamily="34" charset="-122"/>
              </a:rPr>
              <a:t>发送数据到对方</a:t>
            </a:r>
            <a:endParaRPr lang="zh-CN" altLang="en-US" sz="2200" b="1">
              <a:solidFill>
                <a:srgbClr val="0070C0"/>
              </a:solidFill>
              <a:latin typeface="Tahoma" panose="020B0604030504040204" pitchFamily="34" charset="0"/>
              <a:ea typeface="微软雅黑" panose="020B0503020204020204" pitchFamily="34" charset="-122"/>
            </a:endParaRPr>
          </a:p>
          <a:p>
            <a:pPr>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latin typeface="Tahoma" panose="020B0604030504040204" pitchFamily="34" charset="0"/>
                <a:ea typeface="微软雅黑" panose="020B0503020204020204" pitchFamily="34" charset="-122"/>
              </a:rPr>
              <a:t>if (sendto(sockfd, buffer, strlen(buffer), 0,</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(struct sockaddr*)&amp;remote_addr, addr_len) &lt; 0)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perror("sendto </a:t>
            </a:r>
            <a:r>
              <a:rPr lang="zh-CN" altLang="en-US" sz="2200" b="1">
                <a:latin typeface="Tahoma" panose="020B0604030504040204" pitchFamily="34" charset="0"/>
                <a:ea typeface="微软雅黑" panose="020B0503020204020204" pitchFamily="34" charset="-122"/>
              </a:rPr>
              <a:t>失败</a:t>
            </a:r>
            <a:r>
              <a:rPr lang="en-US" altLang="zh-CN" sz="2200" b="1">
                <a:latin typeface="Tahoma" panose="020B0604030504040204" pitchFamily="34" charset="0"/>
                <a:ea typeface="微软雅黑" panose="020B0503020204020204" pitchFamily="34" charset="-122"/>
              </a:rPr>
              <a:t>");</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break;</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printf("</a:t>
            </a:r>
            <a:r>
              <a:rPr lang="zh-CN" altLang="en-US" sz="2200" b="1">
                <a:latin typeface="Tahoma" panose="020B0604030504040204" pitchFamily="34" charset="0"/>
                <a:ea typeface="微软雅黑" panose="020B0503020204020204" pitchFamily="34" charset="-122"/>
              </a:rPr>
              <a:t>已发送消息</a:t>
            </a:r>
            <a:r>
              <a:rPr lang="en-US" altLang="zh-CN" sz="2200" b="1">
                <a:latin typeface="Tahoma" panose="020B0604030504040204" pitchFamily="34" charset="0"/>
                <a:ea typeface="微软雅黑" panose="020B0503020204020204" pitchFamily="34" charset="-122"/>
              </a:rPr>
              <a:t>: %s", buffer);</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 else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printf("</a:t>
            </a:r>
            <a:r>
              <a:rPr lang="zh-CN" altLang="en-US" sz="2200" b="1">
                <a:latin typeface="Tahoma" panose="020B0604030504040204" pitchFamily="34" charset="0"/>
                <a:ea typeface="微软雅黑" panose="020B0503020204020204" pitchFamily="34" charset="-122"/>
              </a:rPr>
              <a:t>标准输入已关闭</a:t>
            </a:r>
            <a:r>
              <a:rPr lang="en-US" altLang="zh-CN" sz="2200" b="1">
                <a:latin typeface="Tahoma" panose="020B0604030504040204" pitchFamily="34" charset="0"/>
                <a:ea typeface="微软雅黑" panose="020B0503020204020204" pitchFamily="34" charset="-122"/>
              </a:rPr>
              <a:t>\n");break;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a:t>
            </a:r>
            <a:endParaRPr lang="en-US" altLang="zh-CN" sz="2200" b="1">
              <a:latin typeface="Tahoma" panose="020B0604030504040204" pitchFamily="34" charset="0"/>
              <a:ea typeface="微软雅黑" panose="020B0503020204020204" pitchFamily="34" charset="-122"/>
              <a:cs typeface="Tahoma" panose="020B060403050404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3"/>
          <p:cNvSpPr txBox="1">
            <a:spLocks noChangeArrowheads="1"/>
          </p:cNvSpPr>
          <p:nvPr/>
        </p:nvSpPr>
        <p:spPr bwMode="auto">
          <a:xfrm>
            <a:off x="179512" y="116632"/>
            <a:ext cx="8964488" cy="649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solidFill>
                  <a:srgbClr val="0070C0"/>
                </a:solidFill>
                <a:latin typeface="Tahoma" panose="020B0604030504040204" pitchFamily="34" charset="0"/>
                <a:ea typeface="微软雅黑" panose="020B0503020204020204" pitchFamily="34" charset="-122"/>
              </a:rPr>
              <a:t>// </a:t>
            </a:r>
            <a:r>
              <a:rPr lang="zh-CN" altLang="en-US" sz="2200" b="1">
                <a:solidFill>
                  <a:srgbClr val="0070C0"/>
                </a:solidFill>
                <a:latin typeface="Tahoma" panose="020B0604030504040204" pitchFamily="34" charset="0"/>
                <a:ea typeface="微软雅黑" panose="020B0503020204020204" pitchFamily="34" charset="-122"/>
              </a:rPr>
              <a:t>检查 </a:t>
            </a:r>
            <a:r>
              <a:rPr lang="en-US" altLang="zh-CN" sz="2200" b="1">
                <a:solidFill>
                  <a:srgbClr val="0070C0"/>
                </a:solidFill>
                <a:latin typeface="Tahoma" panose="020B0604030504040204" pitchFamily="34" charset="0"/>
                <a:ea typeface="微软雅黑" panose="020B0503020204020204" pitchFamily="34" charset="-122"/>
              </a:rPr>
              <a:t>UDP </a:t>
            </a:r>
            <a:r>
              <a:rPr lang="zh-CN" altLang="en-US" sz="2200" b="1">
                <a:solidFill>
                  <a:srgbClr val="0070C0"/>
                </a:solidFill>
                <a:latin typeface="Tahoma" panose="020B0604030504040204" pitchFamily="34" charset="0"/>
                <a:ea typeface="微软雅黑" panose="020B0503020204020204" pitchFamily="34" charset="-122"/>
              </a:rPr>
              <a:t>套接字是否有数据可读</a:t>
            </a:r>
            <a:endParaRPr lang="zh-CN" altLang="en-US" sz="2200" b="1">
              <a:solidFill>
                <a:srgbClr val="0070C0"/>
              </a:solidFill>
              <a:latin typeface="Tahoma" panose="020B0604030504040204" pitchFamily="34" charset="0"/>
              <a:ea typeface="微软雅黑" panose="020B0503020204020204" pitchFamily="34" charset="-122"/>
            </a:endParaRPr>
          </a:p>
          <a:p>
            <a:pPr>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latin typeface="Tahoma" panose="020B0604030504040204" pitchFamily="34" charset="0"/>
                <a:ea typeface="微软雅黑" panose="020B0503020204020204" pitchFamily="34" charset="-122"/>
              </a:rPr>
              <a:t>if (FD_ISSET(sockfd, &amp;read_fds))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ssize_t n = recvfrom(sockfd, buffer, BUFFER_SIZE - 1, 0,</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(struct sockaddr*)&amp;remote_addr, &amp;addr_len);</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if (n &gt; 0)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buffer[n] = '\0';  // </a:t>
            </a:r>
            <a:r>
              <a:rPr lang="zh-CN" altLang="en-US" sz="2200" b="1">
                <a:latin typeface="Tahoma" panose="020B0604030504040204" pitchFamily="34" charset="0"/>
                <a:ea typeface="微软雅黑" panose="020B0503020204020204" pitchFamily="34" charset="-122"/>
              </a:rPr>
              <a:t>确保字符串以 </a:t>
            </a:r>
            <a:r>
              <a:rPr lang="en-US" altLang="zh-CN" sz="2200" b="1">
                <a:latin typeface="Tahoma" panose="020B0604030504040204" pitchFamily="34" charset="0"/>
                <a:ea typeface="微软雅黑" panose="020B0503020204020204" pitchFamily="34" charset="-122"/>
              </a:rPr>
              <a:t>null </a:t>
            </a:r>
            <a:r>
              <a:rPr lang="zh-CN" altLang="en-US" sz="2200" b="1">
                <a:latin typeface="Tahoma" panose="020B0604030504040204" pitchFamily="34" charset="0"/>
                <a:ea typeface="微软雅黑" panose="020B0503020204020204" pitchFamily="34" charset="-122"/>
              </a:rPr>
              <a:t>结尾</a:t>
            </a:r>
            <a:endParaRPr lang="zh-CN" altLang="en-US" sz="2200" b="1">
              <a:latin typeface="Tahoma" panose="020B0604030504040204" pitchFamily="34" charset="0"/>
              <a:ea typeface="微软雅黑" panose="020B0503020204020204" pitchFamily="34" charset="-122"/>
            </a:endParaRPr>
          </a:p>
          <a:p>
            <a:pPr>
              <a:spcBef>
                <a:spcPct val="50000"/>
              </a:spcBef>
            </a:pPr>
            <a:r>
              <a:rPr lang="zh-CN" altLang="en-US" sz="2200" b="1">
                <a:latin typeface="Tahoma" panose="020B0604030504040204" pitchFamily="34" charset="0"/>
                <a:ea typeface="微软雅黑" panose="020B0503020204020204" pitchFamily="34" charset="-122"/>
              </a:rPr>
              <a:t>                </a:t>
            </a:r>
            <a:r>
              <a:rPr lang="en-US" altLang="zh-CN" sz="2200" b="1">
                <a:latin typeface="Tahoma" panose="020B0604030504040204" pitchFamily="34" charset="0"/>
                <a:ea typeface="微软雅黑" panose="020B0503020204020204" pitchFamily="34" charset="-122"/>
              </a:rPr>
              <a:t>printf("</a:t>
            </a:r>
            <a:r>
              <a:rPr lang="zh-CN" altLang="en-US" sz="2200" b="1">
                <a:latin typeface="Tahoma" panose="020B0604030504040204" pitchFamily="34" charset="0"/>
                <a:ea typeface="微软雅黑" panose="020B0503020204020204" pitchFamily="34" charset="-122"/>
              </a:rPr>
              <a:t>收到消息</a:t>
            </a:r>
            <a:r>
              <a:rPr lang="en-US" altLang="zh-CN" sz="2200" b="1">
                <a:latin typeface="Tahoma" panose="020B0604030504040204" pitchFamily="34" charset="0"/>
                <a:ea typeface="微软雅黑" panose="020B0503020204020204" pitchFamily="34" charset="-122"/>
              </a:rPr>
              <a:t>: %s", buffer);</a:t>
            </a:r>
            <a:endParaRPr lang="en-US" altLang="zh-CN" sz="2200" b="1">
              <a:latin typeface="Tahoma" panose="020B0604030504040204" pitchFamily="34" charset="0"/>
              <a:ea typeface="微软雅黑" panose="020B0503020204020204" pitchFamily="34" charset="-122"/>
            </a:endParaRPr>
          </a:p>
          <a:p>
            <a:pPr>
              <a:lnSpc>
                <a:spcPct val="90000"/>
              </a:lnSpc>
              <a:spcBef>
                <a:spcPct val="50000"/>
              </a:spcBef>
            </a:pPr>
            <a:r>
              <a:rPr lang="en-US" altLang="zh-CN" sz="2200" b="1">
                <a:latin typeface="Tahoma" panose="020B0604030504040204" pitchFamily="34" charset="0"/>
                <a:ea typeface="微软雅黑" panose="020B0503020204020204" pitchFamily="34" charset="-122"/>
              </a:rPr>
              <a:t>            } else if (n == 0)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printf("</a:t>
            </a:r>
            <a:r>
              <a:rPr lang="zh-CN" altLang="en-US" sz="2200" b="1">
                <a:latin typeface="Tahoma" panose="020B0604030504040204" pitchFamily="34" charset="0"/>
                <a:ea typeface="微软雅黑" panose="020B0503020204020204" pitchFamily="34" charset="-122"/>
              </a:rPr>
              <a:t>对方已关闭连接</a:t>
            </a:r>
            <a:r>
              <a:rPr lang="en-US" altLang="zh-CN" sz="2200" b="1">
                <a:latin typeface="Tahoma" panose="020B0604030504040204" pitchFamily="34" charset="0"/>
                <a:ea typeface="微软雅黑" panose="020B0503020204020204" pitchFamily="34" charset="-122"/>
              </a:rPr>
              <a:t>\n"); break;</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 else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perror("recvfrom </a:t>
            </a:r>
            <a:r>
              <a:rPr lang="zh-CN" altLang="en-US" sz="2200" b="1">
                <a:latin typeface="Tahoma" panose="020B0604030504040204" pitchFamily="34" charset="0"/>
                <a:ea typeface="微软雅黑" panose="020B0503020204020204" pitchFamily="34" charset="-122"/>
              </a:rPr>
              <a:t>失败</a:t>
            </a:r>
            <a:r>
              <a:rPr lang="en-US" altLang="zh-CN" sz="2200" b="1">
                <a:latin typeface="Tahoma" panose="020B0604030504040204" pitchFamily="34" charset="0"/>
                <a:ea typeface="微软雅黑" panose="020B0503020204020204" pitchFamily="34" charset="-122"/>
              </a:rPr>
              <a:t>"); break; }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rPr>
              <a:t>        }</a:t>
            </a:r>
            <a:endParaRPr lang="en-US" altLang="zh-CN" sz="2200" b="1">
              <a:latin typeface="Tahoma" panose="020B0604030504040204" pitchFamily="34" charset="0"/>
              <a:ea typeface="微软雅黑" panose="020B0503020204020204" pitchFamily="34" charset="-122"/>
            </a:endParaRPr>
          </a:p>
          <a:p>
            <a:pPr>
              <a:spcBef>
                <a:spcPct val="50000"/>
              </a:spcBef>
            </a:pPr>
            <a:r>
              <a:rPr lang="en-US" altLang="zh-CN" sz="2200" b="1">
                <a:latin typeface="Tahoma" panose="020B0604030504040204" pitchFamily="34" charset="0"/>
                <a:ea typeface="微软雅黑" panose="020B0503020204020204" pitchFamily="34" charset="-122"/>
                <a:cs typeface="Tahoma" panose="020B0604030504040204" pitchFamily="34" charset="0"/>
              </a:rPr>
              <a:t>} //while</a:t>
            </a:r>
            <a:r>
              <a:rPr lang="zh-CN" altLang="en-US" sz="2200" b="1">
                <a:latin typeface="Tahoma" panose="020B0604030504040204" pitchFamily="34" charset="0"/>
                <a:ea typeface="微软雅黑" panose="020B0503020204020204" pitchFamily="34" charset="-122"/>
                <a:cs typeface="Tahoma" panose="020B0604030504040204" pitchFamily="34" charset="0"/>
              </a:rPr>
              <a:t>循环结束，之后关闭套接字，程序退出</a:t>
            </a:r>
            <a:r>
              <a:rPr lang="en-US" altLang="zh-CN" sz="2200" b="1">
                <a:latin typeface="Tahoma" panose="020B0604030504040204" pitchFamily="34" charset="0"/>
                <a:ea typeface="微软雅黑" panose="020B0503020204020204" pitchFamily="34" charset="-122"/>
                <a:cs typeface="Tahoma" panose="020B0604030504040204" pitchFamily="34" charset="0"/>
              </a:rPr>
              <a:t>.</a:t>
            </a:r>
            <a:endParaRPr lang="en-US" altLang="zh-CN" sz="2200" b="1">
              <a:latin typeface="Tahoma" panose="020B0604030504040204" pitchFamily="34" charset="0"/>
              <a:ea typeface="微软雅黑" panose="020B0503020204020204" pitchFamily="34" charset="-122"/>
              <a:cs typeface="Tahoma" panose="020B060403050404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a:xfrm>
            <a:off x="685800" y="53752"/>
            <a:ext cx="7772400" cy="710952"/>
          </a:xfrm>
        </p:spPr>
        <p:txBody>
          <a:bodyPr/>
          <a:lstStyle/>
          <a:p>
            <a:pPr eaLnBrk="1" hangingPunct="1"/>
            <a:r>
              <a:rPr lang="en-US" altLang="zh-CN" sz="3200" smtClean="0">
                <a:latin typeface="Tahoma" panose="020B0604030504040204" pitchFamily="34" charset="0"/>
                <a:ea typeface="微软雅黑" panose="020B0503020204020204" pitchFamily="34" charset="-122"/>
              </a:rPr>
              <a:t>TCP-UDP</a:t>
            </a:r>
            <a:r>
              <a:rPr lang="zh-CN" altLang="en-US" sz="3200" smtClean="0">
                <a:latin typeface="Tahoma" panose="020B0604030504040204" pitchFamily="34" charset="0"/>
                <a:ea typeface="微软雅黑" panose="020B0503020204020204" pitchFamily="34" charset="-122"/>
              </a:rPr>
              <a:t>服务器</a:t>
            </a:r>
            <a:endParaRPr lang="zh-CN" altLang="en-US" sz="3200">
              <a:latin typeface="Tahoma" panose="020B0604030504040204" pitchFamily="34" charset="0"/>
              <a:ea typeface="微软雅黑" panose="020B0503020204020204" pitchFamily="34" charset="-122"/>
            </a:endParaRPr>
          </a:p>
        </p:txBody>
      </p:sp>
      <p:sp>
        <p:nvSpPr>
          <p:cNvPr id="47106" name="Text Box 4"/>
          <p:cNvSpPr txBox="1">
            <a:spLocks noChangeArrowheads="1"/>
          </p:cNvSpPr>
          <p:nvPr/>
        </p:nvSpPr>
        <p:spPr bwMode="auto">
          <a:xfrm>
            <a:off x="247650" y="764704"/>
            <a:ext cx="8648700"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ct val="50000"/>
              </a:spcBef>
            </a:pPr>
            <a:r>
              <a:rPr lang="zh-CN" altLang="en-US" sz="2400" b="1" smtClean="0">
                <a:latin typeface="Tahoma" panose="020B0604030504040204" pitchFamily="34" charset="0"/>
                <a:ea typeface="微软雅黑 Light" panose="020B0502040204020203" pitchFamily="34" charset="-122"/>
              </a:rPr>
              <a:t>采用</a:t>
            </a:r>
            <a:r>
              <a:rPr lang="en-US" altLang="zh-CN" sz="2400" smtClean="0">
                <a:latin typeface="Tahoma" panose="020B0604030504040204" pitchFamily="34" charset="0"/>
                <a:ea typeface="微软雅黑 Light" panose="020B0502040204020203" pitchFamily="34" charset="-122"/>
              </a:rPr>
              <a:t>IO</a:t>
            </a:r>
            <a:r>
              <a:rPr lang="zh-CN" altLang="en-US" sz="2400" b="1" smtClean="0">
                <a:latin typeface="Tahoma" panose="020B0604030504040204" pitchFamily="34" charset="0"/>
                <a:ea typeface="微软雅黑 Light" panose="020B0502040204020203" pitchFamily="34" charset="-122"/>
              </a:rPr>
              <a:t>复用技术，使服务器既可以处理</a:t>
            </a:r>
            <a:r>
              <a:rPr lang="en-US" altLang="zh-CN" sz="2400" b="1" smtClean="0">
                <a:latin typeface="Tahoma" panose="020B0604030504040204" pitchFamily="34" charset="0"/>
                <a:ea typeface="微软雅黑 Light" panose="020B0502040204020203" pitchFamily="34" charset="-122"/>
              </a:rPr>
              <a:t>TCP</a:t>
            </a:r>
            <a:r>
              <a:rPr lang="zh-CN" altLang="en-US" sz="2400" b="1" smtClean="0">
                <a:latin typeface="Tahoma" panose="020B0604030504040204" pitchFamily="34" charset="0"/>
                <a:ea typeface="微软雅黑 Light" panose="020B0502040204020203" pitchFamily="34" charset="-122"/>
              </a:rPr>
              <a:t>，也可以处理</a:t>
            </a:r>
            <a:r>
              <a:rPr lang="en-US" altLang="zh-CN" sz="2400" b="1" smtClean="0">
                <a:latin typeface="Tahoma" panose="020B0604030504040204" pitchFamily="34" charset="0"/>
                <a:ea typeface="微软雅黑 Light" panose="020B0502040204020203" pitchFamily="34" charset="-122"/>
              </a:rPr>
              <a:t>UDP</a:t>
            </a:r>
            <a:r>
              <a:rPr lang="zh-CN" altLang="en-US" sz="2400" b="1" smtClean="0">
                <a:latin typeface="Tahoma" panose="020B0604030504040204" pitchFamily="34" charset="0"/>
                <a:ea typeface="微软雅黑 Light" panose="020B0502040204020203" pitchFamily="34" charset="-122"/>
              </a:rPr>
              <a:t>。</a:t>
            </a:r>
            <a:endParaRPr lang="zh-CN" altLang="en-US" sz="2400" b="1">
              <a:latin typeface="Tahoma" panose="020B0604030504040204" pitchFamily="34" charset="0"/>
              <a:ea typeface="微软雅黑 Light" panose="020B0502040204020203" pitchFamily="34" charset="-122"/>
            </a:endParaRPr>
          </a:p>
        </p:txBody>
      </p:sp>
      <p:sp>
        <p:nvSpPr>
          <p:cNvPr id="47107" name="Text Box 5"/>
          <p:cNvSpPr txBox="1">
            <a:spLocks noChangeArrowheads="1"/>
          </p:cNvSpPr>
          <p:nvPr/>
        </p:nvSpPr>
        <p:spPr bwMode="auto">
          <a:xfrm>
            <a:off x="107504" y="1465392"/>
            <a:ext cx="9144000"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90000"/>
              </a:lnSpc>
              <a:spcBef>
                <a:spcPct val="50000"/>
              </a:spcBef>
            </a:pPr>
            <a:r>
              <a:rPr lang="en-US" altLang="zh-CN" sz="2400" b="1" smtClean="0">
                <a:latin typeface="Tahoma" panose="020B0604030504040204" pitchFamily="34" charset="0"/>
                <a:ea typeface="微软雅黑 Light" panose="020B0502040204020203" pitchFamily="34" charset="-122"/>
              </a:rPr>
              <a:t>    </a:t>
            </a:r>
            <a:r>
              <a:rPr lang="en-US" altLang="zh-CN" sz="2400" b="1">
                <a:latin typeface="Tahoma" panose="020B0604030504040204" pitchFamily="34" charset="0"/>
                <a:ea typeface="微软雅黑 Light" panose="020B0502040204020203" pitchFamily="34" charset="-122"/>
              </a:rPr>
              <a:t>int tcp_sock, udp_sock;</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struct sockaddr_in tcp_addr, udp_addr, client_addr;</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socklen_t client_len = sizeof(client_addr);</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fd_set read_fds, active_fds;</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char buffer[BUFFER_SIZE];</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a:t>
            </a:r>
            <a:r>
              <a:rPr lang="en-US" altLang="zh-CN" sz="2400" b="1">
                <a:latin typeface="Tahoma" panose="020B0604030504040204" pitchFamily="34" charset="0"/>
                <a:ea typeface="微软雅黑 Light" panose="020B0502040204020203" pitchFamily="34" charset="-122"/>
              </a:rPr>
              <a:t>int </a:t>
            </a:r>
            <a:r>
              <a:rPr lang="en-US" altLang="zh-CN" sz="2400" b="1" smtClean="0">
                <a:latin typeface="Tahoma" panose="020B0604030504040204" pitchFamily="34" charset="0"/>
                <a:ea typeface="微软雅黑 Light" panose="020B0502040204020203" pitchFamily="34" charset="-122"/>
              </a:rPr>
              <a:t>i, max_fd</a:t>
            </a:r>
            <a:r>
              <a:rPr lang="en-US" altLang="zh-CN" sz="2400" b="1">
                <a:latin typeface="Tahoma" panose="020B0604030504040204" pitchFamily="34" charset="0"/>
                <a:ea typeface="微软雅黑 Light" panose="020B0502040204020203" pitchFamily="34" charset="-122"/>
              </a:rPr>
              <a:t>, ret;</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int </a:t>
            </a:r>
            <a:r>
              <a:rPr lang="en-US" altLang="zh-CN" sz="2400" b="1">
                <a:latin typeface="Tahoma" panose="020B0604030504040204" pitchFamily="34" charset="0"/>
                <a:ea typeface="微软雅黑 Light" panose="020B0502040204020203" pitchFamily="34" charset="-122"/>
              </a:rPr>
              <a:t>client_sockets[MAX_CLIENTS</a:t>
            </a:r>
            <a:r>
              <a:rPr lang="en-US" altLang="zh-CN" sz="2400" b="1" smtClean="0">
                <a:latin typeface="Tahoma" panose="020B0604030504040204" pitchFamily="34" charset="0"/>
                <a:ea typeface="微软雅黑 Light" panose="020B0502040204020203" pitchFamily="34" charset="-122"/>
              </a:rPr>
              <a:t>];</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solidFill>
                  <a:srgbClr val="0070C0"/>
                </a:solidFill>
                <a:latin typeface="Tahoma" panose="020B0604030504040204" pitchFamily="34" charset="0"/>
                <a:ea typeface="微软雅黑 Light" panose="020B0502040204020203" pitchFamily="34" charset="-122"/>
              </a:rPr>
              <a:t>    // </a:t>
            </a:r>
            <a:r>
              <a:rPr lang="zh-CN" altLang="en-US" sz="2400" b="1">
                <a:solidFill>
                  <a:srgbClr val="0070C0"/>
                </a:solidFill>
                <a:latin typeface="Tahoma" panose="020B0604030504040204" pitchFamily="34" charset="0"/>
                <a:ea typeface="微软雅黑 Light" panose="020B0502040204020203" pitchFamily="34" charset="-122"/>
              </a:rPr>
              <a:t>初始化客户端 </a:t>
            </a:r>
            <a:r>
              <a:rPr lang="en-US" altLang="zh-CN" sz="2400" b="1">
                <a:solidFill>
                  <a:srgbClr val="0070C0"/>
                </a:solidFill>
                <a:latin typeface="Tahoma" panose="020B0604030504040204" pitchFamily="34" charset="0"/>
                <a:ea typeface="微软雅黑 Light" panose="020B0502040204020203" pitchFamily="34" charset="-122"/>
              </a:rPr>
              <a:t>socket </a:t>
            </a:r>
            <a:r>
              <a:rPr lang="zh-CN" altLang="en-US" sz="2400" b="1">
                <a:solidFill>
                  <a:srgbClr val="0070C0"/>
                </a:solidFill>
                <a:latin typeface="Tahoma" panose="020B0604030504040204" pitchFamily="34" charset="0"/>
                <a:ea typeface="微软雅黑 Light" panose="020B0502040204020203" pitchFamily="34" charset="-122"/>
              </a:rPr>
              <a:t>数组</a:t>
            </a:r>
            <a:endParaRPr lang="zh-CN" altLang="en-US" sz="2400" b="1">
              <a:solidFill>
                <a:srgbClr val="0070C0"/>
              </a:solidFill>
              <a:latin typeface="Tahoma" panose="020B0604030504040204" pitchFamily="34" charset="0"/>
              <a:ea typeface="微软雅黑 Light" panose="020B0502040204020203" pitchFamily="34" charset="-122"/>
            </a:endParaRPr>
          </a:p>
          <a:p>
            <a:pPr>
              <a:lnSpc>
                <a:spcPct val="90000"/>
              </a:lnSpc>
              <a:spcBef>
                <a:spcPct val="50000"/>
              </a:spcBef>
            </a:pPr>
            <a:r>
              <a:rPr lang="zh-CN" altLang="en-US" sz="2400" b="1">
                <a:latin typeface="Tahoma" panose="020B0604030504040204" pitchFamily="34" charset="0"/>
                <a:ea typeface="微软雅黑 Light" panose="020B0502040204020203" pitchFamily="34" charset="-122"/>
              </a:rPr>
              <a:t>    </a:t>
            </a:r>
            <a:r>
              <a:rPr lang="en-US" altLang="zh-CN" sz="2400" b="1">
                <a:latin typeface="Tahoma" panose="020B0604030504040204" pitchFamily="34" charset="0"/>
                <a:ea typeface="微软雅黑 Light" panose="020B0502040204020203" pitchFamily="34" charset="-122"/>
              </a:rPr>
              <a:t>for (i = 0; i &lt; MAX_CLIENTS; i</a:t>
            </a:r>
            <a:r>
              <a:rPr lang="en-US" altLang="zh-CN" sz="2400" b="1">
                <a:latin typeface="Tahoma" panose="020B0604030504040204" pitchFamily="34" charset="0"/>
                <a:ea typeface="微软雅黑 Light" panose="020B0502040204020203" pitchFamily="34" charset="-122"/>
              </a:rPr>
              <a:t>++) </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client_sockets[i] = -</a:t>
            </a:r>
            <a:r>
              <a:rPr lang="en-US" altLang="zh-CN" sz="2400" b="1">
                <a:latin typeface="Tahoma" panose="020B0604030504040204" pitchFamily="34" charset="0"/>
                <a:ea typeface="微软雅黑 Light" panose="020B0502040204020203" pitchFamily="34" charset="-122"/>
              </a:rPr>
              <a:t>1</a:t>
            </a:r>
            <a:r>
              <a:rPr lang="en-US" altLang="zh-CN" sz="2400" b="1" smtClean="0">
                <a:latin typeface="Tahoma" panose="020B0604030504040204" pitchFamily="34" charset="0"/>
                <a:ea typeface="微软雅黑 Light" panose="020B0502040204020203" pitchFamily="34" charset="-122"/>
              </a:rPr>
              <a:t>;</a:t>
            </a:r>
            <a:endParaRPr lang="en-US" altLang="zh-CN" sz="2400" b="1">
              <a:latin typeface="Tahoma" panose="020B0604030504040204" pitchFamily="34" charset="0"/>
              <a:ea typeface="微软雅黑 Light" panose="020B0502040204020203" pitchFamily="34"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5"/>
          <p:cNvSpPr txBox="1">
            <a:spLocks noChangeArrowheads="1"/>
          </p:cNvSpPr>
          <p:nvPr/>
        </p:nvSpPr>
        <p:spPr bwMode="auto">
          <a:xfrm>
            <a:off x="179512" y="332656"/>
            <a:ext cx="8856984" cy="541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90000"/>
              </a:lnSpc>
              <a:spcBef>
                <a:spcPct val="50000"/>
              </a:spcBef>
            </a:pPr>
            <a:r>
              <a:rPr lang="en-US" altLang="zh-CN" sz="2400" b="1" smtClean="0">
                <a:solidFill>
                  <a:srgbClr val="0070C0"/>
                </a:solidFill>
                <a:latin typeface="Tahoma" panose="020B0604030504040204" pitchFamily="34" charset="0"/>
                <a:ea typeface="微软雅黑 Light" panose="020B0502040204020203" pitchFamily="34" charset="-122"/>
              </a:rPr>
              <a:t>// </a:t>
            </a:r>
            <a:r>
              <a:rPr lang="zh-CN" altLang="en-US" sz="2400" b="1" smtClean="0">
                <a:solidFill>
                  <a:srgbClr val="0070C0"/>
                </a:solidFill>
                <a:latin typeface="Tahoma" panose="020B0604030504040204" pitchFamily="34" charset="0"/>
                <a:ea typeface="微软雅黑 Light" panose="020B0502040204020203" pitchFamily="34" charset="-122"/>
              </a:rPr>
              <a:t>创建、绑定、监听（监听套接字）</a:t>
            </a:r>
            <a:r>
              <a:rPr lang="en-US" altLang="zh-CN" sz="2400" b="1" smtClean="0">
                <a:solidFill>
                  <a:srgbClr val="0070C0"/>
                </a:solidFill>
                <a:latin typeface="Tahoma" panose="020B0604030504040204" pitchFamily="34" charset="0"/>
                <a:ea typeface="微软雅黑 Light" panose="020B0502040204020203" pitchFamily="34" charset="-122"/>
              </a:rPr>
              <a:t>……</a:t>
            </a:r>
            <a:endParaRPr lang="en-US" altLang="zh-CN" sz="2400" b="1" smtClean="0">
              <a:solidFill>
                <a:srgbClr val="0070C0"/>
              </a:solidFill>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smtClean="0">
                <a:solidFill>
                  <a:srgbClr val="0070C0"/>
                </a:solidFill>
                <a:latin typeface="Tahoma" panose="020B0604030504040204" pitchFamily="34" charset="0"/>
                <a:ea typeface="微软雅黑 Light" panose="020B0502040204020203" pitchFamily="34" charset="-122"/>
              </a:rPr>
              <a:t>// </a:t>
            </a:r>
            <a:r>
              <a:rPr lang="zh-CN" altLang="en-US" sz="2400" b="1" smtClean="0">
                <a:solidFill>
                  <a:srgbClr val="0070C0"/>
                </a:solidFill>
                <a:latin typeface="Tahoma" panose="020B0604030504040204" pitchFamily="34" charset="0"/>
                <a:ea typeface="微软雅黑 Light" panose="020B0502040204020203" pitchFamily="34" charset="-122"/>
              </a:rPr>
              <a:t>创建、绑定 </a:t>
            </a:r>
            <a:r>
              <a:rPr lang="en-US" altLang="zh-CN" sz="2400" b="1" smtClean="0">
                <a:solidFill>
                  <a:srgbClr val="0070C0"/>
                </a:solidFill>
                <a:latin typeface="Tahoma" panose="020B0604030504040204" pitchFamily="34" charset="0"/>
                <a:ea typeface="微软雅黑 Light" panose="020B0502040204020203" pitchFamily="34" charset="-122"/>
              </a:rPr>
              <a:t>UDP </a:t>
            </a:r>
            <a:r>
              <a:rPr lang="zh-CN" altLang="en-US" sz="2400" b="1" smtClean="0">
                <a:solidFill>
                  <a:srgbClr val="0070C0"/>
                </a:solidFill>
                <a:latin typeface="Tahoma" panose="020B0604030504040204" pitchFamily="34" charset="0"/>
                <a:ea typeface="微软雅黑 Light" panose="020B0502040204020203" pitchFamily="34" charset="-122"/>
              </a:rPr>
              <a:t>套接字</a:t>
            </a:r>
            <a:endParaRPr lang="zh-CN" altLang="en-US" sz="2400" b="1">
              <a:solidFill>
                <a:srgbClr val="0070C0"/>
              </a:solidFill>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smtClean="0">
                <a:latin typeface="Tahoma" panose="020B0604030504040204" pitchFamily="34" charset="0"/>
                <a:ea typeface="微软雅黑 Light" panose="020B0502040204020203" pitchFamily="34" charset="-122"/>
              </a:rPr>
              <a:t>    </a:t>
            </a:r>
            <a:r>
              <a:rPr lang="en-US" altLang="zh-CN" sz="2400" b="1">
                <a:latin typeface="Tahoma" panose="020B0604030504040204" pitchFamily="34" charset="0"/>
                <a:ea typeface="微软雅黑 Light" panose="020B0502040204020203" pitchFamily="34" charset="-122"/>
              </a:rPr>
              <a:t>memset(&amp;udp_addr, 0, sizeof(udp_addr));</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udp_addr.sin_family = AF_INET;</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udp_addr.sin_addr.s_addr = INADDR_ANY;</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udp_addr.sin_port = htons(UDP_PORT);</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if (bind(udp_sock, (struct sockaddr*)&amp;udp_addr, sizeof(udp_addr)) &lt; 0) {</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perror("UDP bind </a:t>
            </a:r>
            <a:r>
              <a:rPr lang="en-US" altLang="zh-CN" sz="2400" b="1">
                <a:latin typeface="Tahoma" panose="020B0604030504040204" pitchFamily="34" charset="0"/>
                <a:ea typeface="微软雅黑 Light" panose="020B0502040204020203" pitchFamily="34" charset="-122"/>
              </a:rPr>
              <a:t>failed</a:t>
            </a:r>
            <a:r>
              <a:rPr lang="en-US" altLang="zh-CN" sz="2400" b="1" smtClean="0">
                <a:latin typeface="Tahoma" panose="020B0604030504040204" pitchFamily="34" charset="0"/>
                <a:ea typeface="微软雅黑 Light" panose="020B0502040204020203" pitchFamily="34" charset="-122"/>
              </a:rPr>
              <a:t>");  exit(1);</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smtClean="0">
                <a:latin typeface="Tahoma" panose="020B0604030504040204" pitchFamily="34" charset="0"/>
                <a:ea typeface="微软雅黑 Light" panose="020B0502040204020203" pitchFamily="34" charset="-122"/>
              </a:rPr>
              <a:t>}</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printf("Server is running...\n");</a:t>
            </a:r>
            <a:endParaRPr lang="en-US" altLang="zh-CN" sz="2400" b="1">
              <a:latin typeface="Tahoma" panose="020B0604030504040204" pitchFamily="34" charset="0"/>
              <a:ea typeface="微软雅黑 Light" panose="020B0502040204020203" pitchFamily="34"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5"/>
          <p:cNvSpPr txBox="1">
            <a:spLocks noChangeArrowheads="1"/>
          </p:cNvSpPr>
          <p:nvPr/>
        </p:nvSpPr>
        <p:spPr bwMode="auto">
          <a:xfrm>
            <a:off x="179512" y="332656"/>
            <a:ext cx="8856984" cy="677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90000"/>
              </a:lnSpc>
              <a:spcBef>
                <a:spcPct val="50000"/>
              </a:spcBef>
            </a:pPr>
            <a:r>
              <a:rPr lang="zh-CN" altLang="en-US" sz="2400" b="1">
                <a:solidFill>
                  <a:srgbClr val="0070C0"/>
                </a:solidFill>
                <a:latin typeface="Tahoma" panose="020B0604030504040204" pitchFamily="34" charset="0"/>
                <a:ea typeface="微软雅黑 Light" panose="020B0502040204020203" pitchFamily="34" charset="-122"/>
              </a:rPr>
              <a:t> </a:t>
            </a:r>
            <a:r>
              <a:rPr lang="en-US" altLang="zh-CN" sz="2400" b="1">
                <a:solidFill>
                  <a:srgbClr val="0070C0"/>
                </a:solidFill>
                <a:latin typeface="Tahoma" panose="020B0604030504040204" pitchFamily="34" charset="0"/>
                <a:ea typeface="微软雅黑 Light" panose="020B0502040204020203" pitchFamily="34" charset="-122"/>
              </a:rPr>
              <a:t>// </a:t>
            </a:r>
            <a:r>
              <a:rPr lang="zh-CN" altLang="en-US" sz="2400" b="1">
                <a:solidFill>
                  <a:srgbClr val="0070C0"/>
                </a:solidFill>
                <a:latin typeface="Tahoma" panose="020B0604030504040204" pitchFamily="34" charset="0"/>
                <a:ea typeface="微软雅黑 Light" panose="020B0502040204020203" pitchFamily="34" charset="-122"/>
              </a:rPr>
              <a:t>初始化 </a:t>
            </a:r>
            <a:r>
              <a:rPr lang="en-US" altLang="zh-CN" sz="2400" b="1">
                <a:solidFill>
                  <a:srgbClr val="0070C0"/>
                </a:solidFill>
                <a:latin typeface="Tahoma" panose="020B0604030504040204" pitchFamily="34" charset="0"/>
                <a:ea typeface="微软雅黑 Light" panose="020B0502040204020203" pitchFamily="34" charset="-122"/>
              </a:rPr>
              <a:t>active_fds</a:t>
            </a:r>
            <a:endParaRPr lang="en-US" altLang="zh-CN" sz="2400" b="1">
              <a:solidFill>
                <a:srgbClr val="0070C0"/>
              </a:solidFill>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FD_ZERO(&amp;active_fds);</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FD_SET(tcp_sock, &amp;active_fds);</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FD_SET(udp_sock, &amp;active_fds);</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max_fd = (tcp_sock &gt; udp_sock) ? tcp_sock : </a:t>
            </a:r>
            <a:r>
              <a:rPr lang="en-US" altLang="zh-CN" sz="2400" b="1">
                <a:latin typeface="Tahoma" panose="020B0604030504040204" pitchFamily="34" charset="0"/>
                <a:ea typeface="微软雅黑 Light" panose="020B0502040204020203" pitchFamily="34" charset="-122"/>
              </a:rPr>
              <a:t>udp_sock</a:t>
            </a:r>
            <a:r>
              <a:rPr lang="en-US" altLang="zh-CN" sz="2400" b="1" smtClean="0">
                <a:latin typeface="Tahoma" panose="020B0604030504040204" pitchFamily="34" charset="0"/>
                <a:ea typeface="微软雅黑 Light" panose="020B0502040204020203" pitchFamily="34" charset="-122"/>
              </a:rPr>
              <a:t>;</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while (1) {</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smtClean="0">
                <a:latin typeface="Tahoma" panose="020B0604030504040204" pitchFamily="34" charset="0"/>
                <a:ea typeface="微软雅黑 Light" panose="020B0502040204020203" pitchFamily="34" charset="-122"/>
              </a:rPr>
              <a:t>         read_fds </a:t>
            </a:r>
            <a:r>
              <a:rPr lang="en-US" altLang="zh-CN" sz="2400" b="1">
                <a:latin typeface="Tahoma" panose="020B0604030504040204" pitchFamily="34" charset="0"/>
                <a:ea typeface="微软雅黑 Light" panose="020B0502040204020203" pitchFamily="34" charset="-122"/>
              </a:rPr>
              <a:t>= </a:t>
            </a:r>
            <a:r>
              <a:rPr lang="en-US" altLang="zh-CN" sz="2400" b="1">
                <a:latin typeface="Tahoma" panose="020B0604030504040204" pitchFamily="34" charset="0"/>
                <a:ea typeface="微软雅黑 Light" panose="020B0502040204020203" pitchFamily="34" charset="-122"/>
              </a:rPr>
              <a:t>active_fds</a:t>
            </a:r>
            <a:r>
              <a:rPr lang="en-US" altLang="zh-CN" sz="2400" b="1" smtClean="0">
                <a:latin typeface="Tahoma" panose="020B0604030504040204" pitchFamily="34" charset="0"/>
                <a:ea typeface="微软雅黑 Light" panose="020B0502040204020203" pitchFamily="34" charset="-122"/>
              </a:rPr>
              <a:t>; </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a:t>
            </a:r>
            <a:r>
              <a:rPr lang="en-US" altLang="zh-CN" sz="2400" b="1">
                <a:solidFill>
                  <a:srgbClr val="0070C0"/>
                </a:solidFill>
                <a:latin typeface="Tahoma" panose="020B0604030504040204" pitchFamily="34" charset="0"/>
                <a:ea typeface="微软雅黑 Light" panose="020B0502040204020203" pitchFamily="34" charset="-122"/>
              </a:rPr>
              <a:t>// </a:t>
            </a:r>
            <a:r>
              <a:rPr lang="zh-CN" altLang="en-US" sz="2400" b="1">
                <a:solidFill>
                  <a:srgbClr val="0070C0"/>
                </a:solidFill>
                <a:latin typeface="Tahoma" panose="020B0604030504040204" pitchFamily="34" charset="0"/>
                <a:ea typeface="微软雅黑 Light" panose="020B0502040204020203" pitchFamily="34" charset="-122"/>
              </a:rPr>
              <a:t>使用 </a:t>
            </a:r>
            <a:r>
              <a:rPr lang="en-US" altLang="zh-CN" sz="2400" b="1">
                <a:solidFill>
                  <a:srgbClr val="0070C0"/>
                </a:solidFill>
                <a:latin typeface="Tahoma" panose="020B0604030504040204" pitchFamily="34" charset="0"/>
                <a:ea typeface="微软雅黑 Light" panose="020B0502040204020203" pitchFamily="34" charset="-122"/>
              </a:rPr>
              <a:t>select </a:t>
            </a:r>
            <a:r>
              <a:rPr lang="zh-CN" altLang="en-US" sz="2400" b="1">
                <a:solidFill>
                  <a:srgbClr val="0070C0"/>
                </a:solidFill>
                <a:latin typeface="Tahoma" panose="020B0604030504040204" pitchFamily="34" charset="0"/>
                <a:ea typeface="微软雅黑 Light" panose="020B0502040204020203" pitchFamily="34" charset="-122"/>
              </a:rPr>
              <a:t>等待事件</a:t>
            </a:r>
            <a:endParaRPr lang="zh-CN" altLang="en-US" sz="2400" b="1">
              <a:solidFill>
                <a:srgbClr val="0070C0"/>
              </a:solidFill>
              <a:latin typeface="Tahoma" panose="020B0604030504040204" pitchFamily="34" charset="0"/>
              <a:ea typeface="微软雅黑 Light" panose="020B0502040204020203" pitchFamily="34" charset="-122"/>
            </a:endParaRPr>
          </a:p>
          <a:p>
            <a:pPr>
              <a:lnSpc>
                <a:spcPct val="90000"/>
              </a:lnSpc>
              <a:spcBef>
                <a:spcPct val="50000"/>
              </a:spcBef>
            </a:pPr>
            <a:r>
              <a:rPr lang="zh-CN" altLang="en-US" sz="2400" b="1">
                <a:latin typeface="Tahoma" panose="020B0604030504040204" pitchFamily="34" charset="0"/>
                <a:ea typeface="微软雅黑 Light" panose="020B0502040204020203" pitchFamily="34" charset="-122"/>
              </a:rPr>
              <a:t>        </a:t>
            </a:r>
            <a:r>
              <a:rPr lang="en-US" altLang="zh-CN" sz="2400" b="1">
                <a:latin typeface="Tahoma" panose="020B0604030504040204" pitchFamily="34" charset="0"/>
                <a:ea typeface="微软雅黑 Light" panose="020B0502040204020203" pitchFamily="34" charset="-122"/>
              </a:rPr>
              <a:t>ret = select(max_fd + 1, &amp;read_fds, NULL, NULL, NULL);</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if (ret &lt; 0</a:t>
            </a:r>
            <a:r>
              <a:rPr lang="en-US" altLang="zh-CN" sz="2400" b="1">
                <a:latin typeface="Tahoma" panose="020B0604030504040204" pitchFamily="34" charset="0"/>
                <a:ea typeface="微软雅黑 Light" panose="020B0502040204020203" pitchFamily="34" charset="-122"/>
              </a:rPr>
              <a:t>) </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smtClean="0">
                <a:latin typeface="Tahoma" panose="020B0604030504040204" pitchFamily="34" charset="0"/>
                <a:ea typeface="微软雅黑 Light" panose="020B0502040204020203" pitchFamily="34" charset="-122"/>
              </a:rPr>
              <a:t>            break</a:t>
            </a:r>
            <a:r>
              <a:rPr lang="en-US" altLang="zh-CN" sz="2400" b="1">
                <a:latin typeface="Tahoma" panose="020B0604030504040204" pitchFamily="34" charset="0"/>
                <a:ea typeface="微软雅黑 Light" panose="020B0502040204020203" pitchFamily="34" charset="-122"/>
              </a:rPr>
              <a:t>;</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solidFill>
                  <a:srgbClr val="0070C0"/>
                </a:solidFill>
                <a:latin typeface="Tahoma" panose="020B0604030504040204" pitchFamily="34" charset="0"/>
                <a:ea typeface="微软雅黑 Light" panose="020B0502040204020203" pitchFamily="34" charset="-122"/>
              </a:rPr>
              <a:t>        </a:t>
            </a:r>
            <a:endParaRPr lang="en-US" altLang="zh-CN" sz="2400" b="1">
              <a:latin typeface="Tahoma" panose="020B0604030504040204" pitchFamily="34" charset="0"/>
              <a:ea typeface="微软雅黑 Light" panose="020B0502040204020203" pitchFamily="34"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5"/>
          <p:cNvSpPr txBox="1">
            <a:spLocks noChangeArrowheads="1"/>
          </p:cNvSpPr>
          <p:nvPr/>
        </p:nvSpPr>
        <p:spPr bwMode="auto">
          <a:xfrm>
            <a:off x="179512" y="116632"/>
            <a:ext cx="8856984" cy="477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10000"/>
              </a:lnSpc>
              <a:spcBef>
                <a:spcPct val="50000"/>
              </a:spcBef>
            </a:pPr>
            <a:r>
              <a:rPr lang="en-US" altLang="zh-CN" sz="2600" b="1" smtClean="0">
                <a:solidFill>
                  <a:srgbClr val="0070C0"/>
                </a:solidFill>
                <a:latin typeface="Tahoma" panose="020B0604030504040204" pitchFamily="34" charset="0"/>
                <a:ea typeface="微软雅黑 Light" panose="020B0502040204020203" pitchFamily="34" charset="-122"/>
              </a:rPr>
              <a:t>        // </a:t>
            </a:r>
            <a:r>
              <a:rPr lang="zh-CN" altLang="en-US" sz="2600" b="1">
                <a:solidFill>
                  <a:srgbClr val="0070C0"/>
                </a:solidFill>
                <a:latin typeface="Tahoma" panose="020B0604030504040204" pitchFamily="34" charset="0"/>
                <a:ea typeface="微软雅黑 Light" panose="020B0502040204020203" pitchFamily="34" charset="-122"/>
              </a:rPr>
              <a:t>处理 </a:t>
            </a:r>
            <a:r>
              <a:rPr lang="en-US" altLang="zh-CN" sz="2600" b="1">
                <a:solidFill>
                  <a:srgbClr val="0070C0"/>
                </a:solidFill>
                <a:latin typeface="Tahoma" panose="020B0604030504040204" pitchFamily="34" charset="0"/>
                <a:ea typeface="微软雅黑 Light" panose="020B0502040204020203" pitchFamily="34" charset="-122"/>
              </a:rPr>
              <a:t>TCP </a:t>
            </a:r>
            <a:r>
              <a:rPr lang="zh-CN" altLang="en-US" sz="2600" b="1">
                <a:solidFill>
                  <a:srgbClr val="0070C0"/>
                </a:solidFill>
                <a:latin typeface="Tahoma" panose="020B0604030504040204" pitchFamily="34" charset="0"/>
                <a:ea typeface="微软雅黑 Light" panose="020B0502040204020203" pitchFamily="34" charset="-122"/>
              </a:rPr>
              <a:t>监听 </a:t>
            </a:r>
            <a:r>
              <a:rPr lang="en-US" altLang="zh-CN" sz="2600" b="1">
                <a:solidFill>
                  <a:srgbClr val="0070C0"/>
                </a:solidFill>
                <a:latin typeface="Tahoma" panose="020B0604030504040204" pitchFamily="34" charset="0"/>
                <a:ea typeface="微软雅黑 Light" panose="020B0502040204020203" pitchFamily="34" charset="-122"/>
              </a:rPr>
              <a:t>socket</a:t>
            </a:r>
            <a:endParaRPr lang="en-US" altLang="zh-CN" sz="2600" b="1">
              <a:solidFill>
                <a:srgbClr val="0070C0"/>
              </a:solidFill>
              <a:latin typeface="Tahoma" panose="020B0604030504040204" pitchFamily="34" charset="0"/>
              <a:ea typeface="微软雅黑 Light" panose="020B0502040204020203" pitchFamily="34" charset="-122"/>
            </a:endParaRPr>
          </a:p>
          <a:p>
            <a:pPr>
              <a:lnSpc>
                <a:spcPct val="110000"/>
              </a:lnSpc>
              <a:spcBef>
                <a:spcPct val="50000"/>
              </a:spcBef>
            </a:pPr>
            <a:r>
              <a:rPr lang="en-US" altLang="zh-CN" sz="2600" b="1">
                <a:latin typeface="Tahoma" panose="020B0604030504040204" pitchFamily="34" charset="0"/>
                <a:ea typeface="微软雅黑 Light" panose="020B0502040204020203" pitchFamily="34" charset="-122"/>
              </a:rPr>
              <a:t>        if (FD_ISSET(tcp_sock, &amp;read_fds)) {</a:t>
            </a:r>
            <a:endParaRPr lang="en-US" altLang="zh-CN" sz="2600" b="1">
              <a:latin typeface="Tahoma" panose="020B0604030504040204" pitchFamily="34" charset="0"/>
              <a:ea typeface="微软雅黑 Light" panose="020B0502040204020203" pitchFamily="34" charset="-122"/>
            </a:endParaRPr>
          </a:p>
          <a:p>
            <a:pPr>
              <a:lnSpc>
                <a:spcPct val="110000"/>
              </a:lnSpc>
              <a:spcBef>
                <a:spcPct val="50000"/>
              </a:spcBef>
            </a:pPr>
            <a:r>
              <a:rPr lang="en-US" altLang="zh-CN" sz="2600" b="1">
                <a:latin typeface="Tahoma" panose="020B0604030504040204" pitchFamily="34" charset="0"/>
                <a:ea typeface="微软雅黑 Light" panose="020B0502040204020203" pitchFamily="34" charset="-122"/>
              </a:rPr>
              <a:t>            int client_sock = accept(tcp_sock, (struct sockaddr*)&amp;client_addr, &amp;client_len);</a:t>
            </a:r>
            <a:endParaRPr lang="en-US" altLang="zh-CN" sz="2600" b="1">
              <a:latin typeface="Tahoma" panose="020B0604030504040204" pitchFamily="34" charset="0"/>
              <a:ea typeface="微软雅黑 Light" panose="020B0502040204020203" pitchFamily="34" charset="-122"/>
            </a:endParaRPr>
          </a:p>
          <a:p>
            <a:pPr>
              <a:lnSpc>
                <a:spcPct val="110000"/>
              </a:lnSpc>
              <a:spcBef>
                <a:spcPct val="50000"/>
              </a:spcBef>
            </a:pPr>
            <a:r>
              <a:rPr lang="en-US" altLang="zh-CN" sz="2600" b="1">
                <a:latin typeface="Tahoma" panose="020B0604030504040204" pitchFamily="34" charset="0"/>
                <a:ea typeface="微软雅黑 Light" panose="020B0502040204020203" pitchFamily="34" charset="-122"/>
              </a:rPr>
              <a:t>            if (client_sock &lt; 0) {</a:t>
            </a:r>
            <a:endParaRPr lang="en-US" altLang="zh-CN" sz="2600" b="1">
              <a:latin typeface="Tahoma" panose="020B0604030504040204" pitchFamily="34" charset="0"/>
              <a:ea typeface="微软雅黑 Light" panose="020B0502040204020203" pitchFamily="34" charset="-122"/>
            </a:endParaRPr>
          </a:p>
          <a:p>
            <a:pPr>
              <a:lnSpc>
                <a:spcPct val="110000"/>
              </a:lnSpc>
              <a:spcBef>
                <a:spcPct val="50000"/>
              </a:spcBef>
            </a:pPr>
            <a:r>
              <a:rPr lang="en-US" altLang="zh-CN" sz="2600" b="1">
                <a:latin typeface="Tahoma" panose="020B0604030504040204" pitchFamily="34" charset="0"/>
                <a:ea typeface="微软雅黑 Light" panose="020B0502040204020203" pitchFamily="34" charset="-122"/>
              </a:rPr>
              <a:t>                perror("TCP accept failed");</a:t>
            </a:r>
            <a:endParaRPr lang="en-US" altLang="zh-CN" sz="2600" b="1">
              <a:latin typeface="Tahoma" panose="020B0604030504040204" pitchFamily="34" charset="0"/>
              <a:ea typeface="微软雅黑 Light" panose="020B0502040204020203" pitchFamily="34" charset="-122"/>
            </a:endParaRPr>
          </a:p>
          <a:p>
            <a:pPr>
              <a:lnSpc>
                <a:spcPct val="110000"/>
              </a:lnSpc>
              <a:spcBef>
                <a:spcPct val="50000"/>
              </a:spcBef>
            </a:pPr>
            <a:r>
              <a:rPr lang="en-US" altLang="zh-CN" sz="2600" b="1">
                <a:latin typeface="Tahoma" panose="020B0604030504040204" pitchFamily="34" charset="0"/>
                <a:ea typeface="微软雅黑 Light" panose="020B0502040204020203" pitchFamily="34" charset="-122"/>
              </a:rPr>
              <a:t>                continue;</a:t>
            </a:r>
            <a:endParaRPr lang="en-US" altLang="zh-CN" sz="2600" b="1">
              <a:latin typeface="Tahoma" panose="020B0604030504040204" pitchFamily="34" charset="0"/>
              <a:ea typeface="微软雅黑 Light" panose="020B0502040204020203" pitchFamily="34" charset="-122"/>
            </a:endParaRPr>
          </a:p>
          <a:p>
            <a:pPr>
              <a:lnSpc>
                <a:spcPct val="110000"/>
              </a:lnSpc>
              <a:spcBef>
                <a:spcPct val="50000"/>
              </a:spcBef>
            </a:pPr>
            <a:r>
              <a:rPr lang="en-US" altLang="zh-CN" sz="2600" b="1">
                <a:latin typeface="Tahoma" panose="020B0604030504040204" pitchFamily="34" charset="0"/>
                <a:ea typeface="微软雅黑 Light" panose="020B0502040204020203" pitchFamily="34" charset="-122"/>
              </a:rPr>
              <a:t>            </a:t>
            </a:r>
            <a:r>
              <a:rPr lang="en-US" altLang="zh-CN" sz="2600" b="1" smtClean="0">
                <a:latin typeface="Tahoma" panose="020B0604030504040204" pitchFamily="34" charset="0"/>
                <a:ea typeface="微软雅黑 Light" panose="020B0502040204020203" pitchFamily="34" charset="-122"/>
              </a:rPr>
              <a:t>}</a:t>
            </a:r>
            <a:endParaRPr lang="en-US" altLang="zh-CN" sz="2600" b="1">
              <a:latin typeface="Tahoma" panose="020B0604030504040204" pitchFamily="34" charset="0"/>
              <a:ea typeface="微软雅黑 Light" panose="020B0502040204020203" pitchFamily="34"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5"/>
          <p:cNvSpPr txBox="1">
            <a:spLocks noChangeArrowheads="1"/>
          </p:cNvSpPr>
          <p:nvPr/>
        </p:nvSpPr>
        <p:spPr bwMode="auto">
          <a:xfrm>
            <a:off x="179512" y="116632"/>
            <a:ext cx="8856984"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a:latin typeface="Tahoma" panose="020B0604030504040204" pitchFamily="34" charset="0"/>
                <a:ea typeface="微软雅黑 Light" panose="020B0502040204020203" pitchFamily="34" charset="-122"/>
              </a:rPr>
              <a:t> </a:t>
            </a:r>
            <a:r>
              <a:rPr lang="zh-CN" altLang="en-US" sz="2400" b="1" smtClean="0">
                <a:latin typeface="Tahoma" panose="020B0604030504040204" pitchFamily="34" charset="0"/>
                <a:ea typeface="微软雅黑 Light" panose="020B0502040204020203" pitchFamily="34" charset="-122"/>
              </a:rPr>
              <a:t>       </a:t>
            </a:r>
            <a:r>
              <a:rPr lang="en-US" altLang="zh-CN" sz="2400" b="1" smtClean="0">
                <a:solidFill>
                  <a:srgbClr val="0070C0"/>
                </a:solidFill>
                <a:latin typeface="Tahoma" panose="020B0604030504040204" pitchFamily="34" charset="0"/>
                <a:ea typeface="微软雅黑 Light" panose="020B0502040204020203" pitchFamily="34" charset="-122"/>
              </a:rPr>
              <a:t>// </a:t>
            </a:r>
            <a:r>
              <a:rPr lang="zh-CN" altLang="en-US" sz="2400" b="1">
                <a:solidFill>
                  <a:srgbClr val="0070C0"/>
                </a:solidFill>
                <a:latin typeface="Tahoma" panose="020B0604030504040204" pitchFamily="34" charset="0"/>
                <a:ea typeface="微软雅黑 Light" panose="020B0502040204020203" pitchFamily="34" charset="-122"/>
              </a:rPr>
              <a:t>处理 </a:t>
            </a:r>
            <a:r>
              <a:rPr lang="en-US" altLang="zh-CN" sz="2400" b="1">
                <a:solidFill>
                  <a:srgbClr val="0070C0"/>
                </a:solidFill>
                <a:latin typeface="Tahoma" panose="020B0604030504040204" pitchFamily="34" charset="0"/>
                <a:ea typeface="微软雅黑 Light" panose="020B0502040204020203" pitchFamily="34" charset="-122"/>
              </a:rPr>
              <a:t>TCP </a:t>
            </a:r>
            <a:r>
              <a:rPr lang="zh-CN" altLang="en-US" sz="2400" b="1">
                <a:solidFill>
                  <a:srgbClr val="0070C0"/>
                </a:solidFill>
                <a:latin typeface="Tahoma" panose="020B0604030504040204" pitchFamily="34" charset="0"/>
                <a:ea typeface="微软雅黑 Light" panose="020B0502040204020203" pitchFamily="34" charset="-122"/>
              </a:rPr>
              <a:t>客户端 </a:t>
            </a:r>
            <a:r>
              <a:rPr lang="en-US" altLang="zh-CN" sz="2400" b="1">
                <a:solidFill>
                  <a:srgbClr val="0070C0"/>
                </a:solidFill>
                <a:latin typeface="Tahoma" panose="020B0604030504040204" pitchFamily="34" charset="0"/>
                <a:ea typeface="微软雅黑 Light" panose="020B0502040204020203" pitchFamily="34" charset="-122"/>
              </a:rPr>
              <a:t>socket</a:t>
            </a:r>
            <a:endParaRPr lang="en-US" altLang="zh-CN" sz="2400" b="1">
              <a:solidFill>
                <a:srgbClr val="0070C0"/>
              </a:solidFill>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for (i = 0; i &lt; MAX_CLIENTS; i++) {</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int client_sock = client_sockets[i];</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if (client_sock != -1 &amp;&amp; FD_ISSET(client_sock, &amp;read_fds)) {</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memset(buffer, 0, BUFFER_SIZE);</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ssize_t bytes_read = read(client_sock, buffer, BUFFER_SIZE);</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if (bytes_read &gt; 0) {</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printf("TCP client %d: %s", i, buffer);</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write(client_sock, buffer, bytes_read);</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a:t>
            </a:r>
            <a:r>
              <a:rPr lang="en-US" altLang="zh-CN" sz="2400" b="1" smtClean="0">
                <a:latin typeface="Tahoma" panose="020B0604030504040204" pitchFamily="34" charset="0"/>
                <a:ea typeface="微软雅黑 Light" panose="020B0502040204020203" pitchFamily="34" charset="-122"/>
              </a:rPr>
              <a:t>}</a:t>
            </a:r>
            <a:endParaRPr lang="en-US" altLang="zh-CN" sz="2400" b="1">
              <a:latin typeface="Tahoma" panose="020B0604030504040204" pitchFamily="34" charset="0"/>
              <a:ea typeface="微软雅黑 Light" panose="020B0502040204020203" pitchFamily="34"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5"/>
          <p:cNvSpPr txBox="1">
            <a:spLocks noChangeArrowheads="1"/>
          </p:cNvSpPr>
          <p:nvPr/>
        </p:nvSpPr>
        <p:spPr bwMode="auto">
          <a:xfrm>
            <a:off x="107504" y="332656"/>
            <a:ext cx="8856984"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400" b="1" smtClean="0">
                <a:latin typeface="Tahoma" panose="020B0604030504040204" pitchFamily="34" charset="0"/>
                <a:ea typeface="微软雅黑 Light" panose="020B0502040204020203" pitchFamily="34" charset="-122"/>
              </a:rPr>
              <a:t>         else </a:t>
            </a:r>
            <a:r>
              <a:rPr lang="en-US" altLang="zh-CN" sz="2400" b="1">
                <a:latin typeface="Tahoma" panose="020B0604030504040204" pitchFamily="34" charset="0"/>
                <a:ea typeface="微软雅黑 Light" panose="020B0502040204020203" pitchFamily="34" charset="-122"/>
              </a:rPr>
              <a:t>{</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a:t>
            </a:r>
            <a:r>
              <a:rPr lang="en-US" altLang="zh-CN" sz="2400" b="1">
                <a:solidFill>
                  <a:srgbClr val="0070C0"/>
                </a:solidFill>
                <a:latin typeface="Tahoma" panose="020B0604030504040204" pitchFamily="34" charset="0"/>
                <a:ea typeface="微软雅黑 Light" panose="020B0502040204020203" pitchFamily="34" charset="-122"/>
              </a:rPr>
              <a:t>// </a:t>
            </a:r>
            <a:r>
              <a:rPr lang="zh-CN" altLang="en-US" sz="2400" b="1">
                <a:solidFill>
                  <a:srgbClr val="0070C0"/>
                </a:solidFill>
                <a:latin typeface="Tahoma" panose="020B0604030504040204" pitchFamily="34" charset="0"/>
                <a:ea typeface="微软雅黑 Light" panose="020B0502040204020203" pitchFamily="34" charset="-122"/>
              </a:rPr>
              <a:t>客户端断开连接</a:t>
            </a:r>
            <a:endParaRPr lang="zh-CN" altLang="en-US" sz="2400" b="1">
              <a:solidFill>
                <a:srgbClr val="0070C0"/>
              </a:solidFill>
              <a:latin typeface="Tahoma" panose="020B0604030504040204" pitchFamily="34" charset="0"/>
              <a:ea typeface="微软雅黑 Light" panose="020B0502040204020203" pitchFamily="34" charset="-122"/>
            </a:endParaRPr>
          </a:p>
          <a:p>
            <a:pPr>
              <a:spcBef>
                <a:spcPct val="50000"/>
              </a:spcBef>
            </a:pPr>
            <a:r>
              <a:rPr lang="zh-CN" altLang="en-US" sz="2400" b="1">
                <a:latin typeface="Tahoma" panose="020B0604030504040204" pitchFamily="34" charset="0"/>
                <a:ea typeface="微软雅黑 Light" panose="020B0502040204020203" pitchFamily="34" charset="-122"/>
              </a:rPr>
              <a:t>                    </a:t>
            </a:r>
            <a:r>
              <a:rPr lang="en-US" altLang="zh-CN" sz="2400" b="1">
                <a:latin typeface="Tahoma" panose="020B0604030504040204" pitchFamily="34" charset="0"/>
                <a:ea typeface="微软雅黑 Light" panose="020B0502040204020203" pitchFamily="34" charset="-122"/>
              </a:rPr>
              <a:t>printf("TCP client %d disconnected\n", i);</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close(client_sock);</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FD_CLR(client_sock, &amp;active_fds);</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client_sockets[i] = -1;</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a:t>
            </a:r>
            <a:endParaRPr lang="en-US" altLang="zh-CN" sz="2400" b="1">
              <a:latin typeface="Tahoma" panose="020B0604030504040204" pitchFamily="34" charset="0"/>
              <a:ea typeface="微软雅黑 Light" panose="020B0502040204020203" pitchFamily="34" charset="-122"/>
            </a:endParaRPr>
          </a:p>
          <a:p>
            <a:pPr>
              <a:spcBef>
                <a:spcPct val="50000"/>
              </a:spcBef>
            </a:pPr>
            <a:r>
              <a:rPr lang="en-US" altLang="zh-CN" sz="2400" b="1">
                <a:latin typeface="Tahoma" panose="020B0604030504040204" pitchFamily="34" charset="0"/>
                <a:ea typeface="微软雅黑 Light" panose="020B0502040204020203" pitchFamily="34" charset="-122"/>
              </a:rPr>
              <a:t>        }</a:t>
            </a:r>
            <a:endParaRPr lang="en-US" altLang="zh-CN" sz="2400" b="1">
              <a:latin typeface="Tahoma" panose="020B0604030504040204" pitchFamily="34" charset="0"/>
              <a:ea typeface="微软雅黑 Light" panose="020B0502040204020203" pitchFamily="34" charset="-122"/>
            </a:endParaRPr>
          </a:p>
          <a:p>
            <a:pPr>
              <a:spcBef>
                <a:spcPct val="50000"/>
              </a:spcBef>
            </a:pPr>
            <a:endParaRPr lang="en-US" altLang="zh-CN" sz="2400" b="1">
              <a:solidFill>
                <a:srgbClr val="0070C0"/>
              </a:solidFill>
              <a:latin typeface="Tahoma" panose="020B0604030504040204" pitchFamily="34" charset="0"/>
              <a:ea typeface="微软雅黑 Light" panose="020B0502040204020203" pitchFamily="34"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5"/>
          <p:cNvSpPr txBox="1">
            <a:spLocks noChangeArrowheads="1"/>
          </p:cNvSpPr>
          <p:nvPr/>
        </p:nvSpPr>
        <p:spPr bwMode="auto">
          <a:xfrm>
            <a:off x="287016" y="188640"/>
            <a:ext cx="8856984" cy="6592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90000"/>
              </a:lnSpc>
              <a:spcBef>
                <a:spcPct val="50000"/>
              </a:spcBef>
            </a:pPr>
            <a:r>
              <a:rPr lang="zh-CN" altLang="en-US" sz="2400" b="1">
                <a:solidFill>
                  <a:srgbClr val="0070C0"/>
                </a:solidFill>
                <a:latin typeface="Tahoma" panose="020B0604030504040204" pitchFamily="34" charset="0"/>
                <a:ea typeface="微软雅黑 Light" panose="020B0502040204020203" pitchFamily="34" charset="-122"/>
              </a:rPr>
              <a:t> </a:t>
            </a:r>
            <a:r>
              <a:rPr lang="en-US" altLang="zh-CN" sz="2400" b="1">
                <a:solidFill>
                  <a:srgbClr val="0070C0"/>
                </a:solidFill>
                <a:latin typeface="Tahoma" panose="020B0604030504040204" pitchFamily="34" charset="0"/>
                <a:ea typeface="微软雅黑 Light" panose="020B0502040204020203" pitchFamily="34" charset="-122"/>
              </a:rPr>
              <a:t>// </a:t>
            </a:r>
            <a:r>
              <a:rPr lang="zh-CN" altLang="en-US" sz="2400" b="1">
                <a:solidFill>
                  <a:srgbClr val="0070C0"/>
                </a:solidFill>
                <a:latin typeface="Tahoma" panose="020B0604030504040204" pitchFamily="34" charset="0"/>
                <a:ea typeface="微软雅黑 Light" panose="020B0502040204020203" pitchFamily="34" charset="-122"/>
              </a:rPr>
              <a:t>处理 </a:t>
            </a:r>
            <a:r>
              <a:rPr lang="en-US" altLang="zh-CN" sz="2400" b="1">
                <a:solidFill>
                  <a:srgbClr val="0070C0"/>
                </a:solidFill>
                <a:latin typeface="Tahoma" panose="020B0604030504040204" pitchFamily="34" charset="0"/>
                <a:ea typeface="微软雅黑 Light" panose="020B0502040204020203" pitchFamily="34" charset="-122"/>
              </a:rPr>
              <a:t>UDP </a:t>
            </a:r>
            <a:r>
              <a:rPr lang="zh-CN" altLang="en-US" sz="2400" b="1">
                <a:solidFill>
                  <a:srgbClr val="0070C0"/>
                </a:solidFill>
                <a:latin typeface="Tahoma" panose="020B0604030504040204" pitchFamily="34" charset="0"/>
                <a:ea typeface="微软雅黑 Light" panose="020B0502040204020203" pitchFamily="34" charset="-122"/>
              </a:rPr>
              <a:t>数据包</a:t>
            </a:r>
            <a:endParaRPr lang="zh-CN" altLang="en-US" sz="2400" b="1">
              <a:solidFill>
                <a:srgbClr val="0070C0"/>
              </a:solidFill>
              <a:latin typeface="Tahoma" panose="020B0604030504040204" pitchFamily="34" charset="0"/>
              <a:ea typeface="微软雅黑 Light" panose="020B0502040204020203" pitchFamily="34" charset="-122"/>
            </a:endParaRPr>
          </a:p>
          <a:p>
            <a:pPr>
              <a:lnSpc>
                <a:spcPct val="90000"/>
              </a:lnSpc>
              <a:spcBef>
                <a:spcPct val="50000"/>
              </a:spcBef>
            </a:pPr>
            <a:r>
              <a:rPr lang="zh-CN" altLang="en-US" sz="2400" b="1">
                <a:latin typeface="Tahoma" panose="020B0604030504040204" pitchFamily="34" charset="0"/>
                <a:ea typeface="微软雅黑 Light" panose="020B0502040204020203" pitchFamily="34" charset="-122"/>
              </a:rPr>
              <a:t>        </a:t>
            </a:r>
            <a:r>
              <a:rPr lang="en-US" altLang="zh-CN" sz="2400" b="1">
                <a:latin typeface="Tahoma" panose="020B0604030504040204" pitchFamily="34" charset="0"/>
                <a:ea typeface="微软雅黑 Light" panose="020B0502040204020203" pitchFamily="34" charset="-122"/>
              </a:rPr>
              <a:t>if (FD_ISSET(udp_sock, &amp;read_fds)) {</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memset(buffer, 0, BUFFER_SIZE);</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ssize_t bytes_recv = recvfrom(udp_sock, buffer, BUFFER_SIZE, 0,</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(struct sockaddr*)&amp;client_addr, &amp;client_len);</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if (bytes_recv &gt; 0) {</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printf("UDP client: %s", buffer);</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sendto(udp_sock, buffer, bytes_recv, 0,</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(struct sockaddr*)&amp;client_addr, client_len);</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a:t>
            </a:r>
            <a:endParaRPr lang="en-US" altLang="zh-CN" sz="2400" b="1">
              <a:latin typeface="Tahoma" panose="020B0604030504040204" pitchFamily="34" charset="0"/>
              <a:ea typeface="微软雅黑 Light" panose="020B0502040204020203" pitchFamily="34" charset="-122"/>
            </a:endParaRPr>
          </a:p>
          <a:p>
            <a:pPr>
              <a:lnSpc>
                <a:spcPct val="90000"/>
              </a:lnSpc>
              <a:spcBef>
                <a:spcPct val="50000"/>
              </a:spcBef>
            </a:pPr>
            <a:r>
              <a:rPr lang="en-US" altLang="zh-CN" sz="2400" b="1">
                <a:latin typeface="Tahoma" panose="020B0604030504040204" pitchFamily="34" charset="0"/>
                <a:ea typeface="微软雅黑 Light" panose="020B0502040204020203" pitchFamily="34" charset="-122"/>
              </a:rPr>
              <a:t>        }</a:t>
            </a:r>
            <a:endParaRPr lang="en-US" altLang="zh-CN" sz="2400" b="1">
              <a:solidFill>
                <a:srgbClr val="0070C0"/>
              </a:solidFill>
              <a:latin typeface="Tahoma" panose="020B0604030504040204" pitchFamily="34" charset="0"/>
              <a:ea typeface="微软雅黑 Light" panose="020B0502040204020203" pitchFamily="34"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p:txBody>
          <a:bodyPr/>
          <a:lstStyle/>
          <a:p>
            <a:pPr eaLnBrk="1" hangingPunct="1"/>
            <a:r>
              <a:rPr lang="zh-CN" altLang="en-US"/>
              <a:t>非阻塞</a:t>
            </a:r>
            <a:r>
              <a:rPr lang="en-US" altLang="zh-CN"/>
              <a:t>I/O</a:t>
            </a:r>
            <a:r>
              <a:rPr lang="zh-CN" altLang="en-US"/>
              <a:t>模型</a:t>
            </a:r>
            <a:endParaRPr lang="zh-CN" altLang="en-US"/>
          </a:p>
        </p:txBody>
      </p:sp>
      <p:sp>
        <p:nvSpPr>
          <p:cNvPr id="149507" name="Rectangle 3"/>
          <p:cNvSpPr>
            <a:spLocks noGrp="1" noChangeArrowheads="1"/>
          </p:cNvSpPr>
          <p:nvPr>
            <p:ph idx="1"/>
          </p:nvPr>
        </p:nvSpPr>
        <p:spPr>
          <a:xfrm>
            <a:off x="304800" y="1557338"/>
            <a:ext cx="8540750" cy="4895850"/>
          </a:xfrm>
        </p:spPr>
        <p:txBody>
          <a:bodyPr/>
          <a:lstStyle/>
          <a:p>
            <a:pPr eaLnBrk="1" hangingPunct="1">
              <a:defRPr/>
            </a:pPr>
            <a:r>
              <a:rPr kumimoji="1" lang="zh-CN" altLang="en-US" sz="2400"/>
              <a:t>当把一个套接字设置成非阻塞方式时，即通知内核：</a:t>
            </a:r>
            <a:r>
              <a:rPr kumimoji="1" lang="zh-CN" altLang="en-US" sz="2400">
                <a:solidFill>
                  <a:srgbClr val="FF0066"/>
                </a:solidFill>
                <a:effectLst>
                  <a:outerShdw blurRad="38100" dist="38100" dir="2700000" algn="tl">
                    <a:srgbClr val="000000"/>
                  </a:outerShdw>
                </a:effectLst>
              </a:rPr>
              <a:t>当请求的</a:t>
            </a:r>
            <a:r>
              <a:rPr kumimoji="1" lang="en-US" altLang="zh-CN" sz="2400">
                <a:solidFill>
                  <a:srgbClr val="FF0066"/>
                </a:solidFill>
                <a:effectLst>
                  <a:outerShdw blurRad="38100" dist="38100" dir="2700000" algn="tl">
                    <a:srgbClr val="000000"/>
                  </a:outerShdw>
                </a:effectLst>
              </a:rPr>
              <a:t>i/o</a:t>
            </a:r>
            <a:r>
              <a:rPr kumimoji="1" lang="zh-CN" altLang="en-US" sz="2400">
                <a:solidFill>
                  <a:srgbClr val="FF0066"/>
                </a:solidFill>
                <a:effectLst>
                  <a:outerShdw blurRad="38100" dist="38100" dir="2700000" algn="tl">
                    <a:srgbClr val="000000"/>
                  </a:outerShdw>
                </a:effectLst>
              </a:rPr>
              <a:t>操作非得让进程睡眠不能完成时，不要进程睡眠，而应返回一个错误</a:t>
            </a:r>
            <a:r>
              <a:rPr kumimoji="1" lang="zh-CN" altLang="en-US" sz="2400"/>
              <a:t>。</a:t>
            </a:r>
            <a:r>
              <a:rPr kumimoji="1" lang="en-US" altLang="zh-CN" sz="2400"/>
              <a:t>(</a:t>
            </a:r>
            <a:r>
              <a:rPr kumimoji="1" lang="zh-CN" altLang="en-US" sz="2400"/>
              <a:t>返回不成功指示</a:t>
            </a:r>
            <a:r>
              <a:rPr kumimoji="1" lang="en-US" altLang="zh-CN" sz="2400"/>
              <a:t>)</a:t>
            </a:r>
            <a:endParaRPr kumimoji="1" lang="en-US" altLang="zh-CN" sz="2400"/>
          </a:p>
          <a:p>
            <a:pPr eaLnBrk="1" hangingPunct="1">
              <a:lnSpc>
                <a:spcPct val="70000"/>
              </a:lnSpc>
              <a:defRPr/>
            </a:pPr>
            <a:endParaRPr kumimoji="1" lang="en-US" altLang="zh-CN" sz="24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endParaRPr kumimoji="1" lang="en-US" altLang="zh-CN" sz="2000"/>
          </a:p>
          <a:p>
            <a:pPr eaLnBrk="1" hangingPunct="1">
              <a:lnSpc>
                <a:spcPct val="70000"/>
              </a:lnSpc>
              <a:defRPr/>
            </a:pPr>
            <a:r>
              <a:rPr kumimoji="1" lang="zh-CN" altLang="en-US" sz="2400"/>
              <a:t>上述方式循环调用</a:t>
            </a:r>
            <a:r>
              <a:rPr kumimoji="1" lang="en-US" altLang="zh-CN" sz="2400"/>
              <a:t>recvfrom</a:t>
            </a:r>
            <a:r>
              <a:rPr kumimoji="1" lang="zh-CN" altLang="en-US" sz="2400"/>
              <a:t>，称为</a:t>
            </a:r>
            <a:r>
              <a:rPr kumimoji="1" lang="zh-CN" altLang="en-US" sz="2400">
                <a:solidFill>
                  <a:srgbClr val="FF0066"/>
                </a:solidFill>
                <a:effectLst>
                  <a:outerShdw blurRad="38100" dist="38100" dir="2700000" algn="tl">
                    <a:srgbClr val="000000"/>
                  </a:outerShdw>
                </a:effectLst>
              </a:rPr>
              <a:t>轮询</a:t>
            </a:r>
            <a:r>
              <a:rPr kumimoji="1" lang="zh-CN" altLang="en-US" sz="2400"/>
              <a:t>，极为浪费</a:t>
            </a:r>
            <a:r>
              <a:rPr kumimoji="1" lang="en-US" altLang="zh-CN" sz="2400"/>
              <a:t>cpu</a:t>
            </a:r>
            <a:r>
              <a:rPr kumimoji="1" lang="zh-CN" altLang="en-US" sz="2400"/>
              <a:t>资源</a:t>
            </a:r>
            <a:endParaRPr kumimoji="1" lang="zh-CN" altLang="en-US" sz="2400"/>
          </a:p>
        </p:txBody>
      </p:sp>
      <p:sp>
        <p:nvSpPr>
          <p:cNvPr id="64515" name="AutoShape 4"/>
          <p:cNvSpPr/>
          <p:nvPr/>
        </p:nvSpPr>
        <p:spPr bwMode="auto">
          <a:xfrm>
            <a:off x="1979613" y="3140075"/>
            <a:ext cx="144462" cy="2376488"/>
          </a:xfrm>
          <a:prstGeom prst="leftBrace">
            <a:avLst>
              <a:gd name="adj1" fmla="val 136936"/>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4516" name="Text Box 5"/>
          <p:cNvSpPr txBox="1">
            <a:spLocks noChangeArrowheads="1"/>
          </p:cNvSpPr>
          <p:nvPr/>
        </p:nvSpPr>
        <p:spPr bwMode="auto">
          <a:xfrm>
            <a:off x="179388" y="4076700"/>
            <a:ext cx="19796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进程阻塞于</a:t>
            </a:r>
            <a:r>
              <a:rPr lang="en-US" altLang="zh-CN" sz="1800">
                <a:solidFill>
                  <a:srgbClr val="080808"/>
                </a:solidFill>
                <a:latin typeface="Comic Sans MS" panose="030F0702030302020204" pitchFamily="66" charset="0"/>
                <a:ea typeface="华文新魏" panose="02010800040101010101" pitchFamily="2" charset="-122"/>
              </a:rPr>
              <a:t>recvfrom</a:t>
            </a:r>
            <a:r>
              <a:rPr lang="zh-CN" altLang="en-US" sz="1800">
                <a:solidFill>
                  <a:srgbClr val="080808"/>
                </a:solidFill>
                <a:latin typeface="Comic Sans MS" panose="030F0702030302020204" pitchFamily="66" charset="0"/>
                <a:ea typeface="华文新魏" panose="02010800040101010101" pitchFamily="2" charset="-122"/>
              </a:rPr>
              <a:t>的调用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64517" name="Text Box 6"/>
          <p:cNvSpPr txBox="1">
            <a:spLocks noChangeArrowheads="1"/>
          </p:cNvSpPr>
          <p:nvPr/>
        </p:nvSpPr>
        <p:spPr bwMode="auto">
          <a:xfrm>
            <a:off x="1979613" y="2924175"/>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omic Sans MS" panose="030F0702030302020204" pitchFamily="66" charset="0"/>
                <a:ea typeface="华文新魏" panose="02010800040101010101" pitchFamily="2" charset="-122"/>
              </a:rPr>
              <a:t>recvfrom</a:t>
            </a:r>
            <a:endParaRPr lang="en-US" altLang="zh-CN" sz="1800">
              <a:solidFill>
                <a:srgbClr val="080808"/>
              </a:solidFill>
              <a:latin typeface="Comic Sans MS" panose="030F0702030302020204" pitchFamily="66" charset="0"/>
              <a:ea typeface="华文新魏" panose="02010800040101010101" pitchFamily="2" charset="-122"/>
            </a:endParaRPr>
          </a:p>
        </p:txBody>
      </p:sp>
      <p:sp>
        <p:nvSpPr>
          <p:cNvPr id="64518" name="Text Box 7"/>
          <p:cNvSpPr txBox="1">
            <a:spLocks noChangeArrowheads="1"/>
          </p:cNvSpPr>
          <p:nvPr/>
        </p:nvSpPr>
        <p:spPr bwMode="auto">
          <a:xfrm>
            <a:off x="1979613" y="2565400"/>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latin typeface="Comic Sans MS" panose="030F0702030302020204" pitchFamily="66" charset="0"/>
                <a:ea typeface="华文新魏" panose="02010800040101010101" pitchFamily="2" charset="-122"/>
              </a:rPr>
              <a:t>应用进程</a:t>
            </a:r>
            <a:endParaRPr lang="zh-CN" altLang="en-US" sz="1800" b="1">
              <a:latin typeface="Comic Sans MS" panose="030F0702030302020204" pitchFamily="66" charset="0"/>
              <a:ea typeface="华文新魏" panose="02010800040101010101" pitchFamily="2" charset="-122"/>
            </a:endParaRPr>
          </a:p>
        </p:txBody>
      </p:sp>
      <p:sp>
        <p:nvSpPr>
          <p:cNvPr id="64519" name="Line 8"/>
          <p:cNvSpPr>
            <a:spLocks noChangeShapeType="1"/>
          </p:cNvSpPr>
          <p:nvPr/>
        </p:nvSpPr>
        <p:spPr bwMode="auto">
          <a:xfrm>
            <a:off x="3348038" y="2997200"/>
            <a:ext cx="172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20" name="Text Box 9"/>
          <p:cNvSpPr txBox="1">
            <a:spLocks noChangeArrowheads="1"/>
          </p:cNvSpPr>
          <p:nvPr/>
        </p:nvSpPr>
        <p:spPr bwMode="auto">
          <a:xfrm>
            <a:off x="5075238" y="2565400"/>
            <a:ext cx="15128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latin typeface="Comic Sans MS" panose="030F0702030302020204" pitchFamily="66" charset="0"/>
                <a:ea typeface="华文新魏" panose="02010800040101010101" pitchFamily="2" charset="-122"/>
              </a:rPr>
              <a:t>内核</a:t>
            </a:r>
            <a:endParaRPr lang="zh-CN" altLang="en-US" sz="1800" b="1">
              <a:latin typeface="Comic Sans MS" panose="030F0702030302020204" pitchFamily="66" charset="0"/>
              <a:ea typeface="华文新魏" panose="02010800040101010101" pitchFamily="2" charset="-122"/>
            </a:endParaRPr>
          </a:p>
        </p:txBody>
      </p:sp>
      <p:sp>
        <p:nvSpPr>
          <p:cNvPr id="64521" name="Text Box 10"/>
          <p:cNvSpPr txBox="1">
            <a:spLocks noChangeArrowheads="1"/>
          </p:cNvSpPr>
          <p:nvPr/>
        </p:nvSpPr>
        <p:spPr bwMode="auto">
          <a:xfrm>
            <a:off x="5003800" y="2924175"/>
            <a:ext cx="1800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无数据报准备好</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64522" name="Text Box 11"/>
          <p:cNvSpPr txBox="1">
            <a:spLocks noChangeArrowheads="1"/>
          </p:cNvSpPr>
          <p:nvPr/>
        </p:nvSpPr>
        <p:spPr bwMode="auto">
          <a:xfrm>
            <a:off x="3419475" y="2636838"/>
            <a:ext cx="15128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64523" name="Text Box 12"/>
          <p:cNvSpPr txBox="1">
            <a:spLocks noChangeArrowheads="1"/>
          </p:cNvSpPr>
          <p:nvPr/>
        </p:nvSpPr>
        <p:spPr bwMode="auto">
          <a:xfrm>
            <a:off x="1979613" y="5300663"/>
            <a:ext cx="15128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处理数据报</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64524" name="Text Box 13"/>
          <p:cNvSpPr txBox="1">
            <a:spLocks noChangeArrowheads="1"/>
          </p:cNvSpPr>
          <p:nvPr/>
        </p:nvSpPr>
        <p:spPr bwMode="auto">
          <a:xfrm>
            <a:off x="5075238" y="5300663"/>
            <a:ext cx="180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拷贝完成</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64525" name="Text Box 14"/>
          <p:cNvSpPr txBox="1">
            <a:spLocks noChangeArrowheads="1"/>
          </p:cNvSpPr>
          <p:nvPr/>
        </p:nvSpPr>
        <p:spPr bwMode="auto">
          <a:xfrm>
            <a:off x="3635375" y="5157788"/>
            <a:ext cx="15128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64526" name="Line 15"/>
          <p:cNvSpPr>
            <a:spLocks noChangeShapeType="1"/>
          </p:cNvSpPr>
          <p:nvPr/>
        </p:nvSpPr>
        <p:spPr bwMode="auto">
          <a:xfrm flipH="1">
            <a:off x="3348038" y="5516563"/>
            <a:ext cx="18716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27" name="Text Box 16"/>
          <p:cNvSpPr txBox="1">
            <a:spLocks noChangeArrowheads="1"/>
          </p:cNvSpPr>
          <p:nvPr/>
        </p:nvSpPr>
        <p:spPr bwMode="auto">
          <a:xfrm>
            <a:off x="5075238" y="4227513"/>
            <a:ext cx="1800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数据报准备好</a:t>
            </a:r>
            <a:endParaRPr lang="zh-CN" altLang="en-US" sz="1800">
              <a:solidFill>
                <a:srgbClr val="080808"/>
              </a:solidFill>
              <a:latin typeface="Comic Sans MS" panose="030F0702030302020204" pitchFamily="66" charset="0"/>
              <a:ea typeface="华文新魏" panose="02010800040101010101" pitchFamily="2" charset="-122"/>
            </a:endParaRPr>
          </a:p>
          <a:p>
            <a:pPr algn="ctr"/>
            <a:r>
              <a:rPr lang="zh-CN" altLang="en-US" sz="1800">
                <a:solidFill>
                  <a:srgbClr val="080808"/>
                </a:solidFill>
                <a:latin typeface="Comic Sans MS" panose="030F0702030302020204" pitchFamily="66" charset="0"/>
                <a:ea typeface="华文新魏" panose="02010800040101010101" pitchFamily="2" charset="-122"/>
              </a:rPr>
              <a:t>拷贝数据报</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64528" name="Line 17"/>
          <p:cNvSpPr>
            <a:spLocks noChangeShapeType="1"/>
          </p:cNvSpPr>
          <p:nvPr/>
        </p:nvSpPr>
        <p:spPr bwMode="auto">
          <a:xfrm>
            <a:off x="5940425" y="4868863"/>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29" name="AutoShape 18"/>
          <p:cNvSpPr/>
          <p:nvPr/>
        </p:nvSpPr>
        <p:spPr bwMode="auto">
          <a:xfrm>
            <a:off x="6732588" y="3141663"/>
            <a:ext cx="71437" cy="1295400"/>
          </a:xfrm>
          <a:prstGeom prst="rightBrace">
            <a:avLst>
              <a:gd name="adj1" fmla="val 150944"/>
              <a:gd name="adj2" fmla="val 511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4530" name="AutoShape 19"/>
          <p:cNvSpPr/>
          <p:nvPr/>
        </p:nvSpPr>
        <p:spPr bwMode="auto">
          <a:xfrm>
            <a:off x="6732588" y="4724400"/>
            <a:ext cx="71437" cy="792163"/>
          </a:xfrm>
          <a:prstGeom prst="rightBrace">
            <a:avLst>
              <a:gd name="adj1" fmla="val 92305"/>
              <a:gd name="adj2" fmla="val 511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4531" name="Text Box 20"/>
          <p:cNvSpPr txBox="1">
            <a:spLocks noChangeArrowheads="1"/>
          </p:cNvSpPr>
          <p:nvPr/>
        </p:nvSpPr>
        <p:spPr bwMode="auto">
          <a:xfrm>
            <a:off x="6856413" y="3506788"/>
            <a:ext cx="1098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等待数据</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64532" name="Text Box 21"/>
          <p:cNvSpPr txBox="1">
            <a:spLocks noChangeArrowheads="1"/>
          </p:cNvSpPr>
          <p:nvPr/>
        </p:nvSpPr>
        <p:spPr bwMode="auto">
          <a:xfrm>
            <a:off x="6875463" y="4724400"/>
            <a:ext cx="1800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将数据从内核拷贝到用户空间</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64533" name="Line 22"/>
          <p:cNvSpPr>
            <a:spLocks noChangeShapeType="1"/>
          </p:cNvSpPr>
          <p:nvPr/>
        </p:nvSpPr>
        <p:spPr bwMode="auto">
          <a:xfrm flipH="1">
            <a:off x="3276600" y="3141663"/>
            <a:ext cx="17287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34" name="Text Box 23"/>
          <p:cNvSpPr txBox="1">
            <a:spLocks noChangeArrowheads="1"/>
          </p:cNvSpPr>
          <p:nvPr/>
        </p:nvSpPr>
        <p:spPr bwMode="auto">
          <a:xfrm>
            <a:off x="3203575" y="3133725"/>
            <a:ext cx="2016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omic Sans MS" panose="030F0702030302020204" pitchFamily="66" charset="0"/>
                <a:ea typeface="华文新魏" panose="02010800040101010101" pitchFamily="2" charset="-122"/>
              </a:rPr>
              <a:t>EWOULDBLOCK</a:t>
            </a:r>
            <a:endParaRPr lang="en-US" altLang="zh-CN" sz="1800">
              <a:solidFill>
                <a:srgbClr val="080808"/>
              </a:solidFill>
              <a:latin typeface="Comic Sans MS" panose="030F0702030302020204" pitchFamily="66" charset="0"/>
              <a:ea typeface="华文新魏" panose="02010800040101010101" pitchFamily="2" charset="-122"/>
            </a:endParaRPr>
          </a:p>
        </p:txBody>
      </p:sp>
      <p:sp>
        <p:nvSpPr>
          <p:cNvPr id="64535" name="Text Box 24"/>
          <p:cNvSpPr txBox="1">
            <a:spLocks noChangeArrowheads="1"/>
          </p:cNvSpPr>
          <p:nvPr/>
        </p:nvSpPr>
        <p:spPr bwMode="auto">
          <a:xfrm>
            <a:off x="1979613" y="3716338"/>
            <a:ext cx="15128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omic Sans MS" panose="030F0702030302020204" pitchFamily="66" charset="0"/>
                <a:ea typeface="华文新魏" panose="02010800040101010101" pitchFamily="2" charset="-122"/>
              </a:rPr>
              <a:t>recvfrom</a:t>
            </a:r>
            <a:endParaRPr lang="en-US" altLang="zh-CN" sz="1800">
              <a:solidFill>
                <a:srgbClr val="080808"/>
              </a:solidFill>
              <a:latin typeface="Comic Sans MS" panose="030F0702030302020204" pitchFamily="66" charset="0"/>
              <a:ea typeface="华文新魏" panose="02010800040101010101" pitchFamily="2" charset="-122"/>
            </a:endParaRPr>
          </a:p>
        </p:txBody>
      </p:sp>
      <p:sp>
        <p:nvSpPr>
          <p:cNvPr id="64536" name="Line 25"/>
          <p:cNvSpPr>
            <a:spLocks noChangeShapeType="1"/>
          </p:cNvSpPr>
          <p:nvPr/>
        </p:nvSpPr>
        <p:spPr bwMode="auto">
          <a:xfrm>
            <a:off x="3348038" y="3789363"/>
            <a:ext cx="17272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37" name="Text Box 26"/>
          <p:cNvSpPr txBox="1">
            <a:spLocks noChangeArrowheads="1"/>
          </p:cNvSpPr>
          <p:nvPr/>
        </p:nvSpPr>
        <p:spPr bwMode="auto">
          <a:xfrm>
            <a:off x="5003800" y="3644900"/>
            <a:ext cx="1800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无数据报准备好</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64538" name="Text Box 27"/>
          <p:cNvSpPr txBox="1">
            <a:spLocks noChangeArrowheads="1"/>
          </p:cNvSpPr>
          <p:nvPr/>
        </p:nvSpPr>
        <p:spPr bwMode="auto">
          <a:xfrm>
            <a:off x="3419475" y="3429000"/>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64539" name="Line 28"/>
          <p:cNvSpPr>
            <a:spLocks noChangeShapeType="1"/>
          </p:cNvSpPr>
          <p:nvPr/>
        </p:nvSpPr>
        <p:spPr bwMode="auto">
          <a:xfrm flipH="1">
            <a:off x="3276600" y="3933825"/>
            <a:ext cx="17287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40" name="Text Box 29"/>
          <p:cNvSpPr txBox="1">
            <a:spLocks noChangeArrowheads="1"/>
          </p:cNvSpPr>
          <p:nvPr/>
        </p:nvSpPr>
        <p:spPr bwMode="auto">
          <a:xfrm>
            <a:off x="3203575" y="3925888"/>
            <a:ext cx="2016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omic Sans MS" panose="030F0702030302020204" pitchFamily="66" charset="0"/>
                <a:ea typeface="华文新魏" panose="02010800040101010101" pitchFamily="2" charset="-122"/>
              </a:rPr>
              <a:t>EWOULDBLOCK</a:t>
            </a:r>
            <a:endParaRPr lang="en-US" altLang="zh-CN" sz="1800">
              <a:solidFill>
                <a:srgbClr val="080808"/>
              </a:solidFill>
              <a:latin typeface="Comic Sans MS" panose="030F0702030302020204" pitchFamily="66" charset="0"/>
              <a:ea typeface="华文新魏" panose="02010800040101010101" pitchFamily="2" charset="-122"/>
            </a:endParaRPr>
          </a:p>
        </p:txBody>
      </p:sp>
      <p:sp>
        <p:nvSpPr>
          <p:cNvPr id="64541" name="Text Box 30"/>
          <p:cNvSpPr txBox="1">
            <a:spLocks noChangeArrowheads="1"/>
          </p:cNvSpPr>
          <p:nvPr/>
        </p:nvSpPr>
        <p:spPr bwMode="auto">
          <a:xfrm>
            <a:off x="1979613" y="4221163"/>
            <a:ext cx="15128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a:solidFill>
                  <a:srgbClr val="080808"/>
                </a:solidFill>
                <a:latin typeface="Comic Sans MS" panose="030F0702030302020204" pitchFamily="66" charset="0"/>
                <a:ea typeface="华文新魏" panose="02010800040101010101" pitchFamily="2" charset="-122"/>
              </a:rPr>
              <a:t>recvfrom</a:t>
            </a:r>
            <a:endParaRPr lang="en-US" altLang="zh-CN" sz="1800">
              <a:solidFill>
                <a:srgbClr val="080808"/>
              </a:solidFill>
              <a:latin typeface="Comic Sans MS" panose="030F0702030302020204" pitchFamily="66" charset="0"/>
              <a:ea typeface="华文新魏" panose="02010800040101010101" pitchFamily="2" charset="-122"/>
            </a:endParaRPr>
          </a:p>
        </p:txBody>
      </p:sp>
      <p:sp>
        <p:nvSpPr>
          <p:cNvPr id="64542" name="Line 31"/>
          <p:cNvSpPr>
            <a:spLocks noChangeShapeType="1"/>
          </p:cNvSpPr>
          <p:nvPr/>
        </p:nvSpPr>
        <p:spPr bwMode="auto">
          <a:xfrm>
            <a:off x="3348038" y="4437063"/>
            <a:ext cx="16557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43" name="Text Box 32"/>
          <p:cNvSpPr txBox="1">
            <a:spLocks noChangeArrowheads="1"/>
          </p:cNvSpPr>
          <p:nvPr/>
        </p:nvSpPr>
        <p:spPr bwMode="auto">
          <a:xfrm>
            <a:off x="3419475" y="4141788"/>
            <a:ext cx="15128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系统调用</a:t>
            </a:r>
            <a:endParaRPr lang="zh-CN" altLang="en-US" sz="1800">
              <a:solidFill>
                <a:srgbClr val="080808"/>
              </a:solidFill>
              <a:latin typeface="Comic Sans MS" panose="030F0702030302020204" pitchFamily="66" charset="0"/>
              <a:ea typeface="华文新魏" panose="02010800040101010101" pitchFamily="2" charset="-122"/>
            </a:endParaRPr>
          </a:p>
        </p:txBody>
      </p:sp>
    </p:spTree>
  </p:cSld>
  <p:clrMapOvr>
    <a:masterClrMapping/>
  </p:clrMapOvr>
  <p:transition spd="slow">
    <p:wipe dir="r"/>
    <p:sndAc>
      <p:end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a:xfrm>
            <a:off x="685800" y="304800"/>
            <a:ext cx="7772400" cy="609600"/>
          </a:xfrm>
        </p:spPr>
        <p:txBody>
          <a:bodyPr/>
          <a:lstStyle/>
          <a:p>
            <a:pPr eaLnBrk="1" hangingPunct="1"/>
            <a:r>
              <a:rPr lang="zh-CN" altLang="en-US"/>
              <a:t>非阻塞</a:t>
            </a:r>
            <a:r>
              <a:rPr lang="en-US" altLang="zh-CN"/>
              <a:t>I/O</a:t>
            </a:r>
            <a:r>
              <a:rPr lang="zh-CN" altLang="en-US"/>
              <a:t>的实现</a:t>
            </a:r>
            <a:endParaRPr lang="zh-CN" altLang="en-US"/>
          </a:p>
        </p:txBody>
      </p:sp>
      <p:sp>
        <p:nvSpPr>
          <p:cNvPr id="65538" name="Rectangle 3"/>
          <p:cNvSpPr>
            <a:spLocks noGrp="1" noChangeArrowheads="1"/>
          </p:cNvSpPr>
          <p:nvPr>
            <p:ph idx="1"/>
          </p:nvPr>
        </p:nvSpPr>
        <p:spPr>
          <a:xfrm>
            <a:off x="684213" y="1052513"/>
            <a:ext cx="7772400" cy="5029200"/>
          </a:xfrm>
        </p:spPr>
        <p:txBody>
          <a:bodyPr/>
          <a:lstStyle/>
          <a:p>
            <a:pPr eaLnBrk="1" hangingPunct="1">
              <a:buFontTx/>
              <a:buNone/>
            </a:pPr>
            <a:r>
              <a:rPr lang="zh-CN" altLang="en-US" sz="2800"/>
              <a:t>可以通过</a:t>
            </a:r>
            <a:r>
              <a:rPr lang="en-US" altLang="zh-CN" sz="2800"/>
              <a:t>fcntl()</a:t>
            </a:r>
            <a:r>
              <a:rPr lang="zh-CN" altLang="en-US" sz="2800"/>
              <a:t>或</a:t>
            </a:r>
            <a:r>
              <a:rPr lang="en-US" altLang="zh-CN" sz="2800"/>
              <a:t>ioctl()</a:t>
            </a:r>
            <a:r>
              <a:rPr lang="zh-CN" altLang="en-US" sz="2800"/>
              <a:t>来改变句柄</a:t>
            </a:r>
            <a:r>
              <a:rPr lang="en-US" altLang="zh-CN" sz="2800"/>
              <a:t>(</a:t>
            </a:r>
            <a:r>
              <a:rPr lang="zh-CN" altLang="en-US" sz="2800"/>
              <a:t>或描述符</a:t>
            </a:r>
            <a:r>
              <a:rPr lang="en-US" altLang="zh-CN" sz="2800"/>
              <a:t>)</a:t>
            </a:r>
            <a:r>
              <a:rPr lang="zh-CN" altLang="en-US" sz="2800"/>
              <a:t>的标志来实现。</a:t>
            </a:r>
            <a:endParaRPr lang="zh-CN" altLang="en-US" sz="2800"/>
          </a:p>
          <a:p>
            <a:pPr eaLnBrk="1" hangingPunct="1">
              <a:buFontTx/>
              <a:buNone/>
            </a:pPr>
            <a:r>
              <a:rPr lang="en-US" altLang="zh-CN" sz="2800"/>
              <a:t>#include &lt;fcntl.h&gt;</a:t>
            </a:r>
            <a:endParaRPr lang="en-US" altLang="zh-CN" sz="2800"/>
          </a:p>
          <a:p>
            <a:pPr eaLnBrk="1" hangingPunct="1">
              <a:buFontTx/>
              <a:buNone/>
            </a:pPr>
            <a:r>
              <a:rPr lang="en-US" altLang="zh-CN" sz="2800"/>
              <a:t>int fcntl(int fd,int cmd);</a:t>
            </a:r>
            <a:endParaRPr lang="en-US" altLang="zh-CN" sz="2800"/>
          </a:p>
          <a:p>
            <a:pPr eaLnBrk="1" hangingPunct="1">
              <a:buFontTx/>
              <a:buNone/>
            </a:pPr>
            <a:r>
              <a:rPr lang="en-US" altLang="zh-CN" sz="2800"/>
              <a:t>int fcntl(int fd,int cmd,long arg);</a:t>
            </a:r>
            <a:endParaRPr lang="en-US" altLang="zh-CN" sz="2800"/>
          </a:p>
          <a:p>
            <a:pPr eaLnBrk="1" hangingPunct="1">
              <a:buFontTx/>
              <a:buNone/>
            </a:pPr>
            <a:r>
              <a:rPr lang="en-US" altLang="zh-CN" sz="2800"/>
              <a:t>fd</a:t>
            </a:r>
            <a:r>
              <a:rPr lang="zh-CN" altLang="en-US" sz="2800"/>
              <a:t>是要操作的句柄（或描述符）</a:t>
            </a:r>
            <a:r>
              <a:rPr lang="en-US" altLang="zh-CN" sz="2800"/>
              <a:t>,cmd</a:t>
            </a:r>
            <a:r>
              <a:rPr lang="zh-CN" altLang="en-US" sz="2800"/>
              <a:t>为要执行的操作</a:t>
            </a:r>
            <a:r>
              <a:rPr lang="en-US" altLang="zh-CN" sz="2800"/>
              <a:t>,arg</a:t>
            </a:r>
            <a:r>
              <a:rPr lang="zh-CN" altLang="en-US" sz="2800"/>
              <a:t>为操作的参数。</a:t>
            </a:r>
            <a:endParaRPr lang="zh-CN" altLang="en-US" sz="2800"/>
          </a:p>
          <a:p>
            <a:pPr eaLnBrk="1" hangingPunct="1">
              <a:buFontTx/>
              <a:buNone/>
            </a:pPr>
            <a:r>
              <a:rPr lang="zh-CN" altLang="en-US" sz="2800"/>
              <a:t>以下两个操作与设置非阻塞方式有关。</a:t>
            </a:r>
            <a:endParaRPr lang="zh-CN" altLang="en-US" sz="2800"/>
          </a:p>
          <a:p>
            <a:pPr eaLnBrk="1" hangingPunct="1">
              <a:buFontTx/>
              <a:buNone/>
            </a:pPr>
            <a:r>
              <a:rPr lang="en-US" altLang="zh-CN" sz="2800"/>
              <a:t>F_GETFL:</a:t>
            </a:r>
            <a:r>
              <a:rPr lang="zh-CN" altLang="en-US" sz="2800"/>
              <a:t>读取句柄（或描述符）标志。</a:t>
            </a:r>
            <a:endParaRPr lang="zh-CN" altLang="en-US" sz="2800"/>
          </a:p>
          <a:p>
            <a:pPr eaLnBrk="1" hangingPunct="1">
              <a:buFontTx/>
              <a:buNone/>
            </a:pPr>
            <a:r>
              <a:rPr lang="en-US" altLang="zh-CN" sz="2800"/>
              <a:t>F_SETFL:</a:t>
            </a:r>
            <a:r>
              <a:rPr lang="zh-CN" altLang="en-US" sz="2800"/>
              <a:t>设置句柄（或描述符）标志。</a:t>
            </a:r>
            <a:endParaRPr lang="zh-CN" altLang="en-US" sz="28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3"/>
          <p:cNvSpPr>
            <a:spLocks noGrp="1" noChangeArrowheads="1"/>
          </p:cNvSpPr>
          <p:nvPr>
            <p:ph idx="1"/>
          </p:nvPr>
        </p:nvSpPr>
        <p:spPr>
          <a:xfrm>
            <a:off x="323850" y="215900"/>
            <a:ext cx="8424863" cy="6453188"/>
          </a:xfrm>
        </p:spPr>
        <p:txBody>
          <a:bodyPr/>
          <a:lstStyle/>
          <a:p>
            <a:pPr eaLnBrk="1" hangingPunct="1">
              <a:lnSpc>
                <a:spcPct val="90000"/>
              </a:lnSpc>
              <a:buFontTx/>
              <a:buNone/>
            </a:pPr>
            <a:r>
              <a:rPr lang="zh-CN" altLang="en-US" sz="2800"/>
              <a:t>将句柄（描述符）</a:t>
            </a:r>
            <a:r>
              <a:rPr lang="en-US" altLang="zh-CN" sz="2800"/>
              <a:t>sockfd</a:t>
            </a:r>
            <a:r>
              <a:rPr lang="zh-CN" altLang="en-US" sz="2800"/>
              <a:t>设置为非阻塞的代码是：</a:t>
            </a:r>
            <a:endParaRPr lang="zh-CN" altLang="en-US" sz="2800"/>
          </a:p>
          <a:p>
            <a:pPr eaLnBrk="1" hangingPunct="1">
              <a:lnSpc>
                <a:spcPct val="90000"/>
              </a:lnSpc>
              <a:buFontTx/>
              <a:buNone/>
            </a:pPr>
            <a:r>
              <a:rPr lang="en-US" altLang="zh-CN" sz="2800"/>
              <a:t>int flags:</a:t>
            </a:r>
            <a:endParaRPr lang="en-US" altLang="zh-CN" sz="2800"/>
          </a:p>
          <a:p>
            <a:pPr eaLnBrk="1" hangingPunct="1">
              <a:lnSpc>
                <a:spcPct val="90000"/>
              </a:lnSpc>
              <a:buFontTx/>
              <a:buNone/>
            </a:pPr>
            <a:r>
              <a:rPr lang="en-US" altLang="zh-CN" sz="2800"/>
              <a:t>flags=fcntl(sockfd,F_GETFL,0); /*</a:t>
            </a:r>
            <a:r>
              <a:rPr lang="zh-CN" altLang="en-US" sz="2800"/>
              <a:t>读取句柄当前标志*</a:t>
            </a:r>
            <a:r>
              <a:rPr lang="en-US" altLang="zh-CN" sz="2800"/>
              <a:t>/</a:t>
            </a:r>
            <a:endParaRPr lang="en-US" altLang="zh-CN" sz="2800"/>
          </a:p>
          <a:p>
            <a:pPr eaLnBrk="1" hangingPunct="1">
              <a:lnSpc>
                <a:spcPct val="90000"/>
              </a:lnSpc>
              <a:buFontTx/>
              <a:buNone/>
            </a:pPr>
            <a:r>
              <a:rPr lang="en-US" altLang="zh-CN" sz="2800"/>
              <a:t>flags</a:t>
            </a:r>
            <a:r>
              <a:rPr lang="en-US" altLang="zh-CN" sz="2800" b="1"/>
              <a:t>|</a:t>
            </a:r>
            <a:r>
              <a:rPr lang="en-US" altLang="zh-CN" sz="2800"/>
              <a:t>=O_NONBLOCK; /*</a:t>
            </a:r>
            <a:r>
              <a:rPr lang="zh-CN" altLang="en-US" sz="2800"/>
              <a:t>加入非阻塞标志信号驱动标志：</a:t>
            </a:r>
            <a:r>
              <a:rPr lang="en-US" altLang="zh-CN" sz="2800"/>
              <a:t>O_ASYNC */</a:t>
            </a:r>
            <a:endParaRPr lang="en-US" altLang="zh-CN" sz="2800"/>
          </a:p>
          <a:p>
            <a:pPr eaLnBrk="1" hangingPunct="1">
              <a:lnSpc>
                <a:spcPct val="90000"/>
              </a:lnSpc>
              <a:buFontTx/>
              <a:buNone/>
            </a:pPr>
            <a:r>
              <a:rPr lang="en-US" altLang="zh-CN" sz="2800"/>
              <a:t>fcntl(sockfd,F_SETFL,flags); /*</a:t>
            </a:r>
            <a:r>
              <a:rPr lang="zh-CN" altLang="en-US" sz="2800"/>
              <a:t>设置带有非阻塞标志的新标志*</a:t>
            </a:r>
            <a:r>
              <a:rPr lang="en-US" altLang="zh-CN" sz="2800"/>
              <a:t>/</a:t>
            </a:r>
            <a:endParaRPr lang="en-US" altLang="zh-CN" sz="2800"/>
          </a:p>
          <a:p>
            <a:pPr eaLnBrk="1" hangingPunct="1">
              <a:lnSpc>
                <a:spcPct val="90000"/>
              </a:lnSpc>
              <a:buFontTx/>
              <a:buNone/>
            </a:pPr>
            <a:r>
              <a:rPr lang="zh-CN" altLang="en-US" sz="2800"/>
              <a:t>不能</a:t>
            </a:r>
            <a:endParaRPr lang="zh-CN" altLang="en-US" sz="2800"/>
          </a:p>
          <a:p>
            <a:pPr eaLnBrk="1" hangingPunct="1">
              <a:lnSpc>
                <a:spcPct val="90000"/>
              </a:lnSpc>
              <a:buFontTx/>
              <a:buNone/>
            </a:pPr>
            <a:r>
              <a:rPr lang="en-US" altLang="zh-CN" sz="2800"/>
              <a:t>fcntl(sockfd,F_SETFL,O_NONBLOCK)</a:t>
            </a:r>
            <a:r>
              <a:rPr lang="zh-CN" altLang="en-US" sz="2800"/>
              <a:t>，因为它将清除所有其它文件状态的标志。</a:t>
            </a:r>
            <a:endParaRPr lang="zh-CN" altLang="en-US" sz="2800"/>
          </a:p>
          <a:p>
            <a:pPr eaLnBrk="1" hangingPunct="1">
              <a:lnSpc>
                <a:spcPct val="90000"/>
              </a:lnSpc>
              <a:buFontTx/>
              <a:buNone/>
            </a:pPr>
            <a:r>
              <a:rPr lang="zh-CN" altLang="en-US" sz="2800"/>
              <a:t>           在修改文件描述符标志或文件状态标志时必须谨慎，先要取得现在的标志值，然后按照希望修改它，最后设置新标志值。不能只是执行</a:t>
            </a:r>
            <a:r>
              <a:rPr lang="en-US" altLang="zh-CN" sz="2800"/>
              <a:t>F_SETFD</a:t>
            </a:r>
            <a:r>
              <a:rPr lang="zh-CN" altLang="en-US" sz="2800"/>
              <a:t>或</a:t>
            </a:r>
            <a:r>
              <a:rPr lang="en-US" altLang="zh-CN" sz="2800"/>
              <a:t>F_SETFL</a:t>
            </a:r>
            <a:r>
              <a:rPr lang="zh-CN" altLang="en-US" sz="2800"/>
              <a:t>命令，这样会关闭以前设置的标志位。</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8003">
                                            <p:txEl>
                                              <p:pRg st="5" end="5"/>
                                            </p:txEl>
                                          </p:spTgt>
                                        </p:tgtEl>
                                        <p:attrNameLst>
                                          <p:attrName>style.visibility</p:attrName>
                                        </p:attrNameLst>
                                      </p:cBhvr>
                                      <p:to>
                                        <p:strVal val="visible"/>
                                      </p:to>
                                    </p:set>
                                    <p:anim calcmode="lin" valueType="num">
                                      <p:cBhvr additive="base">
                                        <p:cTn id="7" dur="500" fill="hold"/>
                                        <p:tgtEl>
                                          <p:spTgt spid="12800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800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8003">
                                            <p:txEl>
                                              <p:pRg st="6" end="6"/>
                                            </p:txEl>
                                          </p:spTgt>
                                        </p:tgtEl>
                                        <p:attrNameLst>
                                          <p:attrName>style.visibility</p:attrName>
                                        </p:attrNameLst>
                                      </p:cBhvr>
                                      <p:to>
                                        <p:strVal val="visible"/>
                                      </p:to>
                                    </p:set>
                                    <p:anim calcmode="lin" valueType="num">
                                      <p:cBhvr additive="base">
                                        <p:cTn id="13" dur="500" fill="hold"/>
                                        <p:tgtEl>
                                          <p:spTgt spid="12800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800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8003">
                                            <p:txEl>
                                              <p:pRg st="7" end="7"/>
                                            </p:txEl>
                                          </p:spTgt>
                                        </p:tgtEl>
                                        <p:attrNameLst>
                                          <p:attrName>style.visibility</p:attrName>
                                        </p:attrNameLst>
                                      </p:cBhvr>
                                      <p:to>
                                        <p:strVal val="visible"/>
                                      </p:to>
                                    </p:set>
                                    <p:anim calcmode="lin" valueType="num">
                                      <p:cBhvr additive="base">
                                        <p:cTn id="19" dur="500" fill="hold"/>
                                        <p:tgtEl>
                                          <p:spTgt spid="12800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800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3"/>
          <p:cNvSpPr>
            <a:spLocks noGrp="1" noChangeArrowheads="1"/>
          </p:cNvSpPr>
          <p:nvPr>
            <p:ph idx="1"/>
          </p:nvPr>
        </p:nvSpPr>
        <p:spPr>
          <a:xfrm>
            <a:off x="762000" y="1066800"/>
            <a:ext cx="7772400" cy="4724400"/>
          </a:xfrm>
        </p:spPr>
        <p:txBody>
          <a:bodyPr/>
          <a:lstStyle/>
          <a:p>
            <a:pPr eaLnBrk="1" hangingPunct="1">
              <a:buFontTx/>
              <a:buNone/>
            </a:pPr>
            <a:r>
              <a:rPr lang="en-US" altLang="zh-CN" sz="2800"/>
              <a:t>            </a:t>
            </a:r>
            <a:r>
              <a:rPr lang="zh-CN" altLang="en-US" sz="2800"/>
              <a:t>当读句柄（描述符）时句柄不是“可读”，或者写句柄时句柄不是“可写”，进程不会阻塞，而是出错返回，并将</a:t>
            </a:r>
            <a:r>
              <a:rPr lang="en-US" altLang="zh-CN" sz="2800"/>
              <a:t>errno</a:t>
            </a:r>
            <a:r>
              <a:rPr lang="zh-CN" altLang="en-US" sz="2800"/>
              <a:t>设置为</a:t>
            </a:r>
            <a:r>
              <a:rPr lang="en-US" altLang="zh-CN" sz="2800"/>
              <a:t>EWOULDBLOCK</a:t>
            </a:r>
            <a:r>
              <a:rPr lang="zh-CN" altLang="en-US" sz="2800"/>
              <a:t>。进程通过循环反复地进行读写系统调用，直到不再出错返回，或者是出错但</a:t>
            </a:r>
            <a:r>
              <a:rPr lang="en-US" altLang="zh-CN" sz="2800"/>
              <a:t>errno</a:t>
            </a:r>
            <a:r>
              <a:rPr lang="zh-CN" altLang="en-US" sz="2800"/>
              <a:t>不为</a:t>
            </a:r>
            <a:r>
              <a:rPr lang="en-US" altLang="zh-CN" sz="2800"/>
              <a:t>EWOULDBLOCK</a:t>
            </a:r>
            <a:r>
              <a:rPr lang="zh-CN" altLang="en-US" sz="2800"/>
              <a:t>。</a:t>
            </a:r>
            <a:endParaRPr lang="zh-CN" altLang="en-US" sz="2800"/>
          </a:p>
          <a:p>
            <a:pPr eaLnBrk="1" hangingPunct="1">
              <a:buFontTx/>
              <a:buNone/>
            </a:pPr>
            <a:endParaRPr lang="zh-CN" altLang="en-US" sz="2800"/>
          </a:p>
          <a:p>
            <a:pPr eaLnBrk="1" hangingPunct="1">
              <a:buFontTx/>
              <a:buNone/>
            </a:pPr>
            <a:r>
              <a:rPr lang="zh-CN" altLang="en-US" sz="2800"/>
              <a:t>            注意：</a:t>
            </a:r>
            <a:r>
              <a:rPr lang="en-US" altLang="zh-CN" sz="2800"/>
              <a:t>stdin</a:t>
            </a:r>
            <a:r>
              <a:rPr lang="zh-CN" altLang="en-US" sz="2800"/>
              <a:t>设为非阻塞后，不能使用标准输入输出函数操作该句柄，而要通过</a:t>
            </a:r>
            <a:r>
              <a:rPr lang="en-US" altLang="zh-CN" sz="2800"/>
              <a:t>read</a:t>
            </a:r>
            <a:r>
              <a:rPr lang="zh-CN" altLang="en-US" sz="2800"/>
              <a:t>来操作。</a:t>
            </a:r>
            <a:endParaRPr lang="zh-CN" altLang="en-US" sz="28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3"/>
          <p:cNvSpPr>
            <a:spLocks noGrp="1" noChangeArrowheads="1"/>
          </p:cNvSpPr>
          <p:nvPr>
            <p:ph idx="1"/>
          </p:nvPr>
        </p:nvSpPr>
        <p:spPr>
          <a:xfrm>
            <a:off x="685800" y="0"/>
            <a:ext cx="7772400" cy="6858000"/>
          </a:xfrm>
        </p:spPr>
        <p:txBody>
          <a:bodyPr/>
          <a:lstStyle/>
          <a:p>
            <a:pPr eaLnBrk="1" hangingPunct="1">
              <a:lnSpc>
                <a:spcPct val="80000"/>
              </a:lnSpc>
              <a:buFontTx/>
              <a:buNone/>
            </a:pPr>
            <a:r>
              <a:rPr lang="en-US" altLang="zh-CN" sz="2000"/>
              <a:t>#define MSG_TRY "try again\n"</a:t>
            </a:r>
            <a:endParaRPr lang="en-US" altLang="zh-CN" sz="2000"/>
          </a:p>
          <a:p>
            <a:pPr eaLnBrk="1" hangingPunct="1">
              <a:lnSpc>
                <a:spcPct val="80000"/>
              </a:lnSpc>
              <a:buFontTx/>
              <a:buNone/>
            </a:pPr>
            <a:r>
              <a:rPr lang="en-US" altLang="zh-CN" sz="2000"/>
              <a:t>int main(void)</a:t>
            </a:r>
            <a:endParaRPr lang="en-US" altLang="zh-CN" sz="2000"/>
          </a:p>
          <a:p>
            <a:pPr eaLnBrk="1" hangingPunct="1">
              <a:lnSpc>
                <a:spcPct val="80000"/>
              </a:lnSpc>
              <a:buFontTx/>
              <a:buNone/>
            </a:pPr>
            <a:r>
              <a:rPr lang="en-US" altLang="zh-CN" sz="2000"/>
              <a:t>{</a:t>
            </a:r>
            <a:endParaRPr lang="en-US" altLang="zh-CN" sz="2000"/>
          </a:p>
          <a:p>
            <a:pPr eaLnBrk="1" hangingPunct="1">
              <a:lnSpc>
                <a:spcPct val="80000"/>
              </a:lnSpc>
              <a:buFontTx/>
              <a:buNone/>
            </a:pPr>
            <a:r>
              <a:rPr lang="en-US" altLang="zh-CN" sz="2000"/>
              <a:t>	char buf[10];</a:t>
            </a:r>
            <a:endParaRPr lang="en-US" altLang="zh-CN" sz="2000"/>
          </a:p>
          <a:p>
            <a:pPr eaLnBrk="1" hangingPunct="1">
              <a:lnSpc>
                <a:spcPct val="80000"/>
              </a:lnSpc>
              <a:buFontTx/>
              <a:buNone/>
            </a:pPr>
            <a:r>
              <a:rPr lang="en-US" altLang="zh-CN" sz="2000"/>
              <a:t>	int n, flags;</a:t>
            </a:r>
            <a:endParaRPr lang="en-US" altLang="zh-CN" sz="2000"/>
          </a:p>
          <a:p>
            <a:pPr eaLnBrk="1" hangingPunct="1">
              <a:lnSpc>
                <a:spcPct val="80000"/>
              </a:lnSpc>
              <a:buFontTx/>
              <a:buNone/>
            </a:pPr>
            <a:r>
              <a:rPr lang="en-US" altLang="zh-CN" sz="2000"/>
              <a:t>	flags = fcntl(fileno(stdin), F_GETFL,0);</a:t>
            </a:r>
            <a:endParaRPr lang="en-US" altLang="zh-CN" sz="2000"/>
          </a:p>
          <a:p>
            <a:pPr eaLnBrk="1" hangingPunct="1">
              <a:lnSpc>
                <a:spcPct val="80000"/>
              </a:lnSpc>
              <a:buFontTx/>
              <a:buNone/>
            </a:pPr>
            <a:r>
              <a:rPr lang="en-US" altLang="zh-CN" sz="2000"/>
              <a:t>	flags |= O_NONBLOCK;</a:t>
            </a:r>
            <a:endParaRPr lang="en-US" altLang="zh-CN" sz="2000"/>
          </a:p>
          <a:p>
            <a:pPr eaLnBrk="1" hangingPunct="1">
              <a:lnSpc>
                <a:spcPct val="80000"/>
              </a:lnSpc>
              <a:buFontTx/>
              <a:buNone/>
            </a:pPr>
            <a:r>
              <a:rPr lang="en-US" altLang="zh-CN" sz="2000"/>
              <a:t>	if(fcntl(fileno(stdin), F_SETFL, flags)==-1)</a:t>
            </a:r>
            <a:endParaRPr lang="en-US" altLang="zh-CN" sz="2000"/>
          </a:p>
          <a:p>
            <a:pPr eaLnBrk="1" hangingPunct="1">
              <a:lnSpc>
                <a:spcPct val="80000"/>
              </a:lnSpc>
              <a:buFontTx/>
              <a:buNone/>
            </a:pPr>
            <a:r>
              <a:rPr lang="en-US" altLang="zh-CN" sz="2000"/>
              <a:t>	 {</a:t>
            </a:r>
            <a:endParaRPr lang="en-US" altLang="zh-CN" sz="2000"/>
          </a:p>
          <a:p>
            <a:pPr eaLnBrk="1" hangingPunct="1">
              <a:lnSpc>
                <a:spcPct val="80000"/>
              </a:lnSpc>
              <a:buFontTx/>
              <a:buNone/>
            </a:pPr>
            <a:r>
              <a:rPr lang="en-US" altLang="zh-CN" sz="2000"/>
              <a:t>		perror("fcntl");</a:t>
            </a:r>
            <a:endParaRPr lang="en-US" altLang="zh-CN" sz="2000"/>
          </a:p>
          <a:p>
            <a:pPr eaLnBrk="1" hangingPunct="1">
              <a:lnSpc>
                <a:spcPct val="80000"/>
              </a:lnSpc>
              <a:buFontTx/>
              <a:buNone/>
            </a:pPr>
            <a:r>
              <a:rPr lang="en-US" altLang="zh-CN" sz="2000"/>
              <a:t>		exit(1);</a:t>
            </a:r>
            <a:endParaRPr lang="en-US" altLang="zh-CN" sz="2000"/>
          </a:p>
          <a:p>
            <a:pPr eaLnBrk="1" hangingPunct="1">
              <a:lnSpc>
                <a:spcPct val="80000"/>
              </a:lnSpc>
              <a:buFontTx/>
              <a:buNone/>
            </a:pPr>
            <a:r>
              <a:rPr lang="en-US" altLang="zh-CN" sz="2000"/>
              <a:t>	}</a:t>
            </a:r>
            <a:endParaRPr lang="en-US" altLang="zh-CN" sz="2000"/>
          </a:p>
          <a:p>
            <a:pPr eaLnBrk="1" hangingPunct="1">
              <a:lnSpc>
                <a:spcPct val="80000"/>
              </a:lnSpc>
              <a:buFontTx/>
              <a:buNone/>
            </a:pPr>
            <a:r>
              <a:rPr lang="en-US" altLang="zh-CN" sz="2000"/>
              <a:t>	while(1)</a:t>
            </a:r>
            <a:endParaRPr lang="en-US" altLang="zh-CN" sz="2000"/>
          </a:p>
          <a:p>
            <a:pPr eaLnBrk="1" hangingPunct="1">
              <a:lnSpc>
                <a:spcPct val="80000"/>
              </a:lnSpc>
              <a:buFontTx/>
              <a:buNone/>
            </a:pPr>
            <a:r>
              <a:rPr lang="en-US" altLang="zh-CN" sz="2000"/>
              <a:t>	{</a:t>
            </a:r>
            <a:endParaRPr lang="en-US" altLang="zh-CN" sz="2000"/>
          </a:p>
          <a:p>
            <a:pPr eaLnBrk="1" hangingPunct="1">
              <a:lnSpc>
                <a:spcPct val="80000"/>
              </a:lnSpc>
              <a:buFontTx/>
              <a:buNone/>
            </a:pPr>
            <a:r>
              <a:rPr lang="en-US" altLang="zh-CN" sz="2000"/>
              <a:t>		n = read(fileno(stdin), buf, 10);</a:t>
            </a:r>
            <a:endParaRPr lang="en-US" altLang="zh-CN" sz="2000"/>
          </a:p>
          <a:p>
            <a:pPr eaLnBrk="1" hangingPunct="1">
              <a:lnSpc>
                <a:spcPct val="80000"/>
              </a:lnSpc>
              <a:buFontTx/>
              <a:buNone/>
            </a:pPr>
            <a:r>
              <a:rPr lang="en-US" altLang="zh-CN" sz="2000"/>
              <a:t>		if(errno == EWOULDBLOCK)</a:t>
            </a:r>
            <a:endParaRPr lang="en-US" altLang="zh-CN" sz="2000"/>
          </a:p>
          <a:p>
            <a:pPr eaLnBrk="1" hangingPunct="1">
              <a:lnSpc>
                <a:spcPct val="80000"/>
              </a:lnSpc>
              <a:buFontTx/>
              <a:buNone/>
            </a:pPr>
            <a:r>
              <a:rPr lang="en-US" altLang="zh-CN" sz="2000"/>
              <a:t>		{</a:t>
            </a:r>
            <a:endParaRPr lang="en-US" altLang="zh-CN" sz="2000"/>
          </a:p>
          <a:p>
            <a:pPr eaLnBrk="1" hangingPunct="1">
              <a:lnSpc>
                <a:spcPct val="80000"/>
              </a:lnSpc>
              <a:buFontTx/>
              <a:buNone/>
            </a:pPr>
            <a:r>
              <a:rPr lang="en-US" altLang="zh-CN" sz="2000"/>
              <a:t>			perror("read:");</a:t>
            </a:r>
            <a:endParaRPr lang="en-US" altLang="zh-CN" sz="2000"/>
          </a:p>
          <a:p>
            <a:pPr eaLnBrk="1" hangingPunct="1">
              <a:lnSpc>
                <a:spcPct val="80000"/>
              </a:lnSpc>
              <a:buFontTx/>
              <a:buNone/>
            </a:pPr>
            <a:r>
              <a:rPr lang="en-US" altLang="zh-CN" sz="2000"/>
              <a:t>			write(fileno(stdout), MSG_TRY, strlen(MSG_TRY));</a:t>
            </a:r>
            <a:endParaRPr lang="en-US" altLang="zh-CN" sz="2000"/>
          </a:p>
          <a:p>
            <a:pPr eaLnBrk="1" hangingPunct="1">
              <a:lnSpc>
                <a:spcPct val="80000"/>
              </a:lnSpc>
              <a:buFontTx/>
              <a:buNone/>
            </a:pPr>
            <a:r>
              <a:rPr lang="en-US" altLang="zh-CN" sz="2000"/>
              <a:t>		}</a:t>
            </a:r>
            <a:endParaRPr lang="en-US" altLang="zh-CN" sz="2000"/>
          </a:p>
          <a:p>
            <a:pPr eaLnBrk="1" hangingPunct="1">
              <a:lnSpc>
                <a:spcPct val="80000"/>
              </a:lnSpc>
              <a:buFontTx/>
              <a:buNone/>
            </a:pPr>
            <a:r>
              <a:rPr lang="en-US" altLang="zh-CN" sz="2000"/>
              <a:t>		write(fileno(stdout), buf, n);</a:t>
            </a:r>
            <a:endParaRPr lang="en-US" altLang="zh-CN" sz="2000"/>
          </a:p>
          <a:p>
            <a:pPr eaLnBrk="1" hangingPunct="1">
              <a:lnSpc>
                <a:spcPct val="80000"/>
              </a:lnSpc>
              <a:buFontTx/>
              <a:buNone/>
            </a:pPr>
            <a:r>
              <a:rPr lang="en-US" altLang="zh-CN" sz="2000"/>
              <a:t>	}return 0;}</a:t>
            </a:r>
            <a:endParaRPr lang="en-US" altLang="zh-CN" sz="20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3"/>
          <p:cNvSpPr>
            <a:spLocks noGrp="1" noChangeArrowheads="1"/>
          </p:cNvSpPr>
          <p:nvPr>
            <p:ph idx="1"/>
          </p:nvPr>
        </p:nvSpPr>
        <p:spPr>
          <a:xfrm>
            <a:off x="685800" y="228600"/>
            <a:ext cx="7772400" cy="5867400"/>
          </a:xfrm>
        </p:spPr>
        <p:txBody>
          <a:bodyPr/>
          <a:lstStyle/>
          <a:p>
            <a:pPr eaLnBrk="1" hangingPunct="1">
              <a:lnSpc>
                <a:spcPct val="90000"/>
              </a:lnSpc>
              <a:buFontTx/>
              <a:buNone/>
            </a:pPr>
            <a:r>
              <a:rPr lang="zh-CN" altLang="en-US" sz="2000" b="1"/>
              <a:t>例子：谈话程序 </a:t>
            </a:r>
            <a:r>
              <a:rPr lang="en-US" altLang="zh-CN" sz="2000" b="1"/>
              <a:t>udptalknonblock.c</a:t>
            </a:r>
            <a:endParaRPr lang="en-US" altLang="zh-CN" sz="2000" b="1"/>
          </a:p>
          <a:p>
            <a:pPr eaLnBrk="1" hangingPunct="1">
              <a:lnSpc>
                <a:spcPct val="90000"/>
              </a:lnSpc>
              <a:buFontTx/>
              <a:buNone/>
            </a:pPr>
            <a:r>
              <a:rPr lang="en-US" altLang="zh-CN" sz="2000" b="1"/>
              <a:t>……</a:t>
            </a:r>
            <a:endParaRPr lang="en-US" altLang="zh-CN" sz="2000" b="1"/>
          </a:p>
          <a:p>
            <a:pPr eaLnBrk="1" hangingPunct="1">
              <a:lnSpc>
                <a:spcPct val="90000"/>
              </a:lnSpc>
              <a:buFontTx/>
              <a:buNone/>
            </a:pPr>
            <a:r>
              <a:rPr lang="en-US" altLang="zh-CN" sz="2000" b="1"/>
              <a:t>flags=fcntl(sockfd,F_GETFL,0);</a:t>
            </a:r>
            <a:endParaRPr lang="en-US" altLang="zh-CN" sz="2000" b="1"/>
          </a:p>
          <a:p>
            <a:pPr eaLnBrk="1" hangingPunct="1">
              <a:lnSpc>
                <a:spcPct val="90000"/>
              </a:lnSpc>
              <a:buFontTx/>
              <a:buNone/>
            </a:pPr>
            <a:r>
              <a:rPr lang="en-US" altLang="zh-CN" sz="2000" b="1"/>
              <a:t>flags|=O_NONBLOCK;</a:t>
            </a:r>
            <a:endParaRPr lang="en-US" altLang="zh-CN" sz="2000" b="1"/>
          </a:p>
          <a:p>
            <a:pPr eaLnBrk="1" hangingPunct="1">
              <a:lnSpc>
                <a:spcPct val="90000"/>
              </a:lnSpc>
              <a:buFontTx/>
              <a:buNone/>
            </a:pPr>
            <a:r>
              <a:rPr lang="en-US" altLang="zh-CN" sz="2000" b="1"/>
              <a:t>fcntl(sockfd,F_SETFL,flags);</a:t>
            </a:r>
            <a:endParaRPr lang="en-US" altLang="zh-CN" sz="2000" b="1"/>
          </a:p>
          <a:p>
            <a:pPr eaLnBrk="1" hangingPunct="1">
              <a:lnSpc>
                <a:spcPct val="90000"/>
              </a:lnSpc>
              <a:buFontTx/>
              <a:buNone/>
            </a:pPr>
            <a:r>
              <a:rPr lang="en-US" altLang="zh-CN" sz="2000" b="1"/>
              <a:t>stdinfd=fileno(stdin);</a:t>
            </a:r>
            <a:endParaRPr lang="en-US" altLang="zh-CN" sz="2000" b="1"/>
          </a:p>
          <a:p>
            <a:pPr eaLnBrk="1" hangingPunct="1">
              <a:lnSpc>
                <a:spcPct val="90000"/>
              </a:lnSpc>
              <a:buFontTx/>
              <a:buNone/>
            </a:pPr>
            <a:r>
              <a:rPr lang="en-US" altLang="zh-CN" sz="2000" b="1"/>
              <a:t>flags=fcntl(stdinfd,F_GETFL,0);</a:t>
            </a:r>
            <a:endParaRPr lang="en-US" altLang="zh-CN" sz="2000" b="1"/>
          </a:p>
          <a:p>
            <a:pPr eaLnBrk="1" hangingPunct="1">
              <a:lnSpc>
                <a:spcPct val="90000"/>
              </a:lnSpc>
              <a:buFontTx/>
              <a:buNone/>
            </a:pPr>
            <a:r>
              <a:rPr lang="en-US" altLang="zh-CN" sz="2000" b="1"/>
              <a:t>flags|=O_NONBLOCK;            </a:t>
            </a:r>
            <a:endParaRPr lang="en-US" altLang="zh-CN" sz="2000" b="1"/>
          </a:p>
          <a:p>
            <a:pPr eaLnBrk="1" hangingPunct="1">
              <a:lnSpc>
                <a:spcPct val="90000"/>
              </a:lnSpc>
              <a:buFontTx/>
              <a:buNone/>
            </a:pPr>
            <a:r>
              <a:rPr lang="en-US" altLang="zh-CN" sz="2000" b="1"/>
              <a:t>fcntl(stdinfd,F_SETFL,flags);</a:t>
            </a:r>
            <a:endParaRPr lang="en-US" altLang="zh-CN" sz="2000" b="1"/>
          </a:p>
          <a:p>
            <a:pPr eaLnBrk="1" hangingPunct="1">
              <a:lnSpc>
                <a:spcPct val="90000"/>
              </a:lnSpc>
              <a:buFontTx/>
              <a:buNone/>
            </a:pPr>
            <a:r>
              <a:rPr lang="en-US" altLang="zh-CN" sz="2000" b="1"/>
              <a:t>……</a:t>
            </a:r>
            <a:endParaRPr lang="en-US" altLang="zh-CN" sz="2000" b="1"/>
          </a:p>
          <a:p>
            <a:pPr eaLnBrk="1" hangingPunct="1">
              <a:lnSpc>
                <a:spcPct val="90000"/>
              </a:lnSpc>
              <a:buFontTx/>
              <a:buNone/>
            </a:pPr>
            <a:r>
              <a:rPr lang="en-US" altLang="zh-CN" sz="2000" b="1"/>
              <a:t>For(;;) {</a:t>
            </a:r>
            <a:endParaRPr lang="en-US" altLang="zh-CN" sz="2000" b="1"/>
          </a:p>
          <a:p>
            <a:pPr eaLnBrk="1" hangingPunct="1">
              <a:lnSpc>
                <a:spcPct val="90000"/>
              </a:lnSpc>
              <a:buFontTx/>
              <a:buNone/>
            </a:pPr>
            <a:r>
              <a:rPr lang="en-US" altLang="zh-CN" sz="2000" b="1"/>
              <a:t>     n=read(sockfd,msg,BUFLEN);  /*</a:t>
            </a:r>
            <a:r>
              <a:rPr lang="zh-CN" altLang="en-US" sz="2000" b="1"/>
              <a:t>不会阻塞*</a:t>
            </a:r>
            <a:r>
              <a:rPr lang="en-US" altLang="zh-CN" sz="2000" b="1"/>
              <a:t>/</a:t>
            </a:r>
            <a:endParaRPr lang="en-US" altLang="zh-CN" sz="2000" b="1"/>
          </a:p>
          <a:p>
            <a:pPr eaLnBrk="1" hangingPunct="1">
              <a:lnSpc>
                <a:spcPct val="90000"/>
              </a:lnSpc>
              <a:buFontTx/>
              <a:buNone/>
            </a:pPr>
            <a:r>
              <a:rPr lang="en-US" altLang="zh-CN" sz="2000" b="1"/>
              <a:t>      if(n==-1){……}</a:t>
            </a:r>
            <a:endParaRPr lang="en-US" altLang="zh-CN" sz="2000" b="1"/>
          </a:p>
          <a:p>
            <a:pPr eaLnBrk="1" hangingPunct="1">
              <a:lnSpc>
                <a:spcPct val="90000"/>
              </a:lnSpc>
              <a:buFontTx/>
              <a:buNone/>
            </a:pPr>
            <a:r>
              <a:rPr lang="en-US" altLang="zh-CN" sz="2000" b="1"/>
              <a:t>      ……</a:t>
            </a:r>
            <a:endParaRPr lang="en-US" altLang="zh-CN" sz="2000" b="1"/>
          </a:p>
          <a:p>
            <a:pPr eaLnBrk="1" hangingPunct="1">
              <a:lnSpc>
                <a:spcPct val="90000"/>
              </a:lnSpc>
              <a:buFontTx/>
              <a:buNone/>
            </a:pPr>
            <a:r>
              <a:rPr lang="en-US" altLang="zh-CN" sz="2000" b="1"/>
              <a:t>      n=read(stdinfd,msg,BUFLEN); /*</a:t>
            </a:r>
            <a:r>
              <a:rPr lang="zh-CN" altLang="en-US" sz="2000" b="1"/>
              <a:t>不会阻塞*</a:t>
            </a:r>
            <a:r>
              <a:rPr lang="en-US" altLang="zh-CN" sz="2000" b="1"/>
              <a:t>/</a:t>
            </a:r>
            <a:endParaRPr lang="en-US" altLang="zh-CN" sz="2000" b="1"/>
          </a:p>
          <a:p>
            <a:pPr eaLnBrk="1" hangingPunct="1">
              <a:lnSpc>
                <a:spcPct val="90000"/>
              </a:lnSpc>
              <a:buFontTx/>
              <a:buNone/>
            </a:pPr>
            <a:r>
              <a:rPr lang="en-US" altLang="zh-CN" sz="2000" b="1"/>
              <a:t>      switch(n){……}</a:t>
            </a:r>
            <a:endParaRPr lang="en-US" altLang="zh-CN" sz="2000" b="1"/>
          </a:p>
          <a:p>
            <a:pPr eaLnBrk="1" hangingPunct="1">
              <a:lnSpc>
                <a:spcPct val="90000"/>
              </a:lnSpc>
              <a:buFontTx/>
              <a:buNone/>
            </a:pPr>
            <a:r>
              <a:rPr lang="en-US" altLang="zh-CN" sz="2000" b="1"/>
              <a:t>     …..</a:t>
            </a:r>
            <a:endParaRPr lang="en-US" altLang="zh-CN" sz="2000" b="1"/>
          </a:p>
          <a:p>
            <a:pPr eaLnBrk="1" hangingPunct="1">
              <a:lnSpc>
                <a:spcPct val="90000"/>
              </a:lnSpc>
              <a:buFontTx/>
              <a:buNone/>
            </a:pPr>
            <a:r>
              <a:rPr lang="en-US" altLang="zh-CN" sz="2000" b="1"/>
              <a:t>}</a:t>
            </a:r>
            <a:endParaRPr lang="en-US" altLang="zh-CN" sz="2000" b="1"/>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3"/>
          <p:cNvSpPr>
            <a:spLocks noGrp="1" noChangeArrowheads="1"/>
          </p:cNvSpPr>
          <p:nvPr>
            <p:ph idx="1"/>
          </p:nvPr>
        </p:nvSpPr>
        <p:spPr>
          <a:xfrm>
            <a:off x="685800" y="115888"/>
            <a:ext cx="7772400" cy="6742112"/>
          </a:xfrm>
        </p:spPr>
        <p:txBody>
          <a:bodyPr/>
          <a:lstStyle/>
          <a:p>
            <a:pPr eaLnBrk="1" hangingPunct="1">
              <a:lnSpc>
                <a:spcPct val="90000"/>
              </a:lnSpc>
              <a:buFontTx/>
              <a:buNone/>
            </a:pPr>
            <a:r>
              <a:rPr lang="en-US" altLang="zh-CN" sz="1600" b="1"/>
              <a:t>#include &lt;sys/types.h&gt;</a:t>
            </a:r>
            <a:endParaRPr lang="en-US" altLang="zh-CN" sz="1600" b="1"/>
          </a:p>
          <a:p>
            <a:pPr eaLnBrk="1" hangingPunct="1">
              <a:lnSpc>
                <a:spcPct val="90000"/>
              </a:lnSpc>
              <a:buFontTx/>
              <a:buNone/>
            </a:pPr>
            <a:r>
              <a:rPr lang="en-US" altLang="zh-CN" sz="1600" b="1"/>
              <a:t>#include &lt;sys/socket.h&gt;</a:t>
            </a:r>
            <a:endParaRPr lang="en-US" altLang="zh-CN" sz="1600" b="1"/>
          </a:p>
          <a:p>
            <a:pPr eaLnBrk="1" hangingPunct="1">
              <a:lnSpc>
                <a:spcPct val="90000"/>
              </a:lnSpc>
              <a:buFontTx/>
              <a:buNone/>
            </a:pPr>
            <a:r>
              <a:rPr lang="en-US" altLang="zh-CN" sz="1600" b="1"/>
              <a:t>#include &lt;arpa/inet.h&gt;</a:t>
            </a:r>
            <a:endParaRPr lang="en-US" altLang="zh-CN" sz="1600" b="1"/>
          </a:p>
          <a:p>
            <a:pPr eaLnBrk="1" hangingPunct="1">
              <a:lnSpc>
                <a:spcPct val="90000"/>
              </a:lnSpc>
              <a:buFontTx/>
              <a:buNone/>
            </a:pPr>
            <a:r>
              <a:rPr lang="en-US" altLang="zh-CN" sz="1600" b="1"/>
              <a:t>#include &lt;stdio.h&gt;</a:t>
            </a:r>
            <a:endParaRPr lang="en-US" altLang="zh-CN" sz="1600" b="1"/>
          </a:p>
          <a:p>
            <a:pPr eaLnBrk="1" hangingPunct="1">
              <a:lnSpc>
                <a:spcPct val="90000"/>
              </a:lnSpc>
              <a:buFontTx/>
              <a:buNone/>
            </a:pPr>
            <a:r>
              <a:rPr lang="en-US" altLang="zh-CN" sz="1600" b="1"/>
              <a:t>#include &lt;errno.h&gt;</a:t>
            </a:r>
            <a:endParaRPr lang="en-US" altLang="zh-CN" sz="1600" b="1"/>
          </a:p>
          <a:p>
            <a:pPr eaLnBrk="1" hangingPunct="1">
              <a:lnSpc>
                <a:spcPct val="90000"/>
              </a:lnSpc>
              <a:buFontTx/>
              <a:buNone/>
            </a:pPr>
            <a:r>
              <a:rPr lang="en-US" altLang="zh-CN" sz="1600" b="1"/>
              <a:t>#include &lt;fcntl.h&gt;</a:t>
            </a:r>
            <a:endParaRPr lang="en-US" altLang="zh-CN" sz="1600" b="1"/>
          </a:p>
          <a:p>
            <a:pPr eaLnBrk="1" hangingPunct="1">
              <a:lnSpc>
                <a:spcPct val="90000"/>
              </a:lnSpc>
              <a:buFontTx/>
              <a:buNone/>
            </a:pPr>
            <a:r>
              <a:rPr lang="en-US" altLang="zh-CN" sz="1600" b="1"/>
              <a:t>#define BUFLEN 255</a:t>
            </a:r>
            <a:endParaRPr lang="en-US" altLang="zh-CN" sz="1600" b="1"/>
          </a:p>
          <a:p>
            <a:pPr eaLnBrk="1" hangingPunct="1">
              <a:lnSpc>
                <a:spcPct val="90000"/>
              </a:lnSpc>
              <a:buFontTx/>
              <a:buNone/>
            </a:pPr>
            <a:r>
              <a:rPr lang="en-US" altLang="zh-CN" sz="1600" b="1"/>
              <a:t>#define max(x,y) (((x)&gt;(y))?(x):(y))</a:t>
            </a:r>
            <a:endParaRPr lang="en-US" altLang="zh-CN" sz="1600" b="1"/>
          </a:p>
          <a:p>
            <a:pPr eaLnBrk="1" hangingPunct="1">
              <a:lnSpc>
                <a:spcPct val="90000"/>
              </a:lnSpc>
              <a:buFontTx/>
              <a:buNone/>
            </a:pPr>
            <a:r>
              <a:rPr lang="en-US" altLang="zh-CN" sz="1600" b="1"/>
              <a:t>int main(int argc,char**argv)</a:t>
            </a:r>
            <a:endParaRPr lang="en-US" altLang="zh-CN" sz="1600" b="1"/>
          </a:p>
          <a:p>
            <a:pPr eaLnBrk="1" hangingPunct="1">
              <a:lnSpc>
                <a:spcPct val="90000"/>
              </a:lnSpc>
              <a:buFontTx/>
              <a:buNone/>
            </a:pPr>
            <a:r>
              <a:rPr lang="en-US" altLang="zh-CN" sz="1600" b="1"/>
              <a:t>{</a:t>
            </a:r>
            <a:endParaRPr lang="en-US" altLang="zh-CN" sz="1600" b="1"/>
          </a:p>
          <a:p>
            <a:pPr eaLnBrk="1" hangingPunct="1">
              <a:lnSpc>
                <a:spcPct val="90000"/>
              </a:lnSpc>
              <a:buFontTx/>
              <a:buNone/>
            </a:pPr>
            <a:r>
              <a:rPr lang="en-US" altLang="zh-CN" sz="1600" b="1"/>
              <a:t>   struct sockaddr_in peeraddr,localaddr;</a:t>
            </a:r>
            <a:endParaRPr lang="en-US" altLang="zh-CN" sz="1600" b="1"/>
          </a:p>
          <a:p>
            <a:pPr eaLnBrk="1" hangingPunct="1">
              <a:lnSpc>
                <a:spcPct val="90000"/>
              </a:lnSpc>
              <a:buFontTx/>
              <a:buNone/>
            </a:pPr>
            <a:r>
              <a:rPr lang="en-US" altLang="zh-CN" sz="1600" b="1"/>
              <a:t>   int sockfd,n,maxfd,socklen,flags,stdinfd;</a:t>
            </a:r>
            <a:endParaRPr lang="en-US" altLang="zh-CN" sz="1600" b="1"/>
          </a:p>
          <a:p>
            <a:pPr eaLnBrk="1" hangingPunct="1">
              <a:lnSpc>
                <a:spcPct val="90000"/>
              </a:lnSpc>
              <a:buFontTx/>
              <a:buNone/>
            </a:pPr>
            <a:r>
              <a:rPr lang="en-US" altLang="zh-CN" sz="1600" b="1"/>
              <a:t>   char msg[BUFLEN+1];</a:t>
            </a:r>
            <a:endParaRPr lang="en-US" altLang="zh-CN" sz="1600" b="1"/>
          </a:p>
          <a:p>
            <a:pPr eaLnBrk="1" hangingPunct="1">
              <a:lnSpc>
                <a:spcPct val="90000"/>
              </a:lnSpc>
              <a:buFontTx/>
              <a:buNone/>
            </a:pPr>
            <a:r>
              <a:rPr lang="en-US" altLang="zh-CN" sz="1600" b="1"/>
              <a:t>   fd_set infds;</a:t>
            </a:r>
            <a:endParaRPr lang="en-US" altLang="zh-CN" sz="1600" b="1"/>
          </a:p>
          <a:p>
            <a:pPr eaLnBrk="1" hangingPunct="1">
              <a:lnSpc>
                <a:spcPct val="90000"/>
              </a:lnSpc>
              <a:buFontTx/>
              <a:buNone/>
            </a:pPr>
            <a:r>
              <a:rPr lang="en-US" altLang="zh-CN" sz="1600" b="1"/>
              <a:t>   if(argc!=5)</a:t>
            </a:r>
            <a:endParaRPr lang="en-US" altLang="zh-CN" sz="1600" b="1"/>
          </a:p>
          <a:p>
            <a:pPr eaLnBrk="1" hangingPunct="1">
              <a:lnSpc>
                <a:spcPct val="90000"/>
              </a:lnSpc>
              <a:buFontTx/>
              <a:buNone/>
            </a:pPr>
            <a:r>
              <a:rPr lang="en-US" altLang="zh-CN" sz="1600" b="1"/>
              <a:t>   {</a:t>
            </a:r>
            <a:endParaRPr lang="en-US" altLang="zh-CN" sz="1600" b="1"/>
          </a:p>
          <a:p>
            <a:pPr eaLnBrk="1" hangingPunct="1">
              <a:lnSpc>
                <a:spcPct val="90000"/>
              </a:lnSpc>
              <a:buFontTx/>
              <a:buNone/>
            </a:pPr>
            <a:r>
              <a:rPr lang="en-US" altLang="zh-CN" sz="1600" b="1"/>
              <a:t>      printf("%s&lt;dest IP address&gt;&lt;dest port&gt;&lt;source IP address&gt; &lt;source port&gt;\n",argv[0]);</a:t>
            </a:r>
            <a:endParaRPr lang="en-US" altLang="zh-CN" sz="1600" b="1"/>
          </a:p>
          <a:p>
            <a:pPr eaLnBrk="1" hangingPunct="1">
              <a:lnSpc>
                <a:spcPct val="90000"/>
              </a:lnSpc>
              <a:buFontTx/>
              <a:buNone/>
            </a:pPr>
            <a:r>
              <a:rPr lang="en-US" altLang="zh-CN" sz="1600" b="1"/>
              <a:t>      exit(0);</a:t>
            </a:r>
            <a:endParaRPr lang="en-US" altLang="zh-CN" sz="1600" b="1"/>
          </a:p>
          <a:p>
            <a:pPr eaLnBrk="1" hangingPunct="1">
              <a:lnSpc>
                <a:spcPct val="90000"/>
              </a:lnSpc>
              <a:buFontTx/>
              <a:buNone/>
            </a:pPr>
            <a:r>
              <a:rPr lang="en-US" altLang="zh-CN" sz="1600" b="1"/>
              <a:t>   }</a:t>
            </a:r>
            <a:endParaRPr lang="en-US" altLang="zh-CN" sz="1600" b="1"/>
          </a:p>
          <a:p>
            <a:pPr eaLnBrk="1" hangingPunct="1">
              <a:lnSpc>
                <a:spcPct val="90000"/>
              </a:lnSpc>
              <a:buFontTx/>
              <a:buNone/>
            </a:pPr>
            <a:r>
              <a:rPr lang="en-US" altLang="zh-CN" sz="1600" b="1"/>
              <a:t>   sockfd=socket(AF_INET,SOCK_DGRAM,0);</a:t>
            </a:r>
            <a:endParaRPr lang="en-US" altLang="zh-CN" sz="1600" b="1"/>
          </a:p>
          <a:p>
            <a:pPr eaLnBrk="1" hangingPunct="1">
              <a:lnSpc>
                <a:spcPct val="90000"/>
              </a:lnSpc>
              <a:buFontTx/>
              <a:buNone/>
            </a:pPr>
            <a:r>
              <a:rPr lang="en-US" altLang="zh-CN" sz="1600" b="1"/>
              <a:t>   if(sockfd&lt;0){</a:t>
            </a:r>
            <a:endParaRPr lang="en-US" altLang="zh-CN" sz="1600" b="1"/>
          </a:p>
          <a:p>
            <a:pPr eaLnBrk="1" hangingPunct="1">
              <a:lnSpc>
                <a:spcPct val="90000"/>
              </a:lnSpc>
              <a:buFontTx/>
              <a:buNone/>
            </a:pPr>
            <a:r>
              <a:rPr lang="en-US" altLang="zh-CN" sz="1600" b="1"/>
              <a:t>      fprintf(stderr,"socket creating error in udptalk.c\n");</a:t>
            </a:r>
            <a:endParaRPr lang="en-US" altLang="zh-CN" sz="1600" b="1"/>
          </a:p>
          <a:p>
            <a:pPr eaLnBrk="1" hangingPunct="1">
              <a:lnSpc>
                <a:spcPct val="90000"/>
              </a:lnSpc>
              <a:buFontTx/>
              <a:buNone/>
            </a:pPr>
            <a:r>
              <a:rPr lang="en-US" altLang="zh-CN" sz="1600" b="1"/>
              <a:t>      exit(1);</a:t>
            </a:r>
            <a:endParaRPr lang="en-US" altLang="zh-CN" sz="1600" b="1"/>
          </a:p>
          <a:p>
            <a:pPr eaLnBrk="1" hangingPunct="1">
              <a:lnSpc>
                <a:spcPct val="90000"/>
              </a:lnSpc>
              <a:buFontTx/>
              <a:buNone/>
            </a:pPr>
            <a:r>
              <a:rPr lang="en-US" altLang="zh-CN" sz="1600" b="1"/>
              <a:t>   }</a:t>
            </a:r>
            <a:endParaRPr lang="en-US" altLang="zh-CN" sz="1600" b="1"/>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3"/>
          <p:cNvSpPr>
            <a:spLocks noGrp="1" noChangeArrowheads="1"/>
          </p:cNvSpPr>
          <p:nvPr>
            <p:ph idx="1"/>
          </p:nvPr>
        </p:nvSpPr>
        <p:spPr>
          <a:xfrm>
            <a:off x="685800" y="115888"/>
            <a:ext cx="7772400" cy="6626225"/>
          </a:xfrm>
        </p:spPr>
        <p:txBody>
          <a:bodyPr/>
          <a:lstStyle/>
          <a:p>
            <a:pPr eaLnBrk="1" hangingPunct="1">
              <a:lnSpc>
                <a:spcPct val="90000"/>
              </a:lnSpc>
              <a:buFontTx/>
              <a:buNone/>
            </a:pPr>
            <a:r>
              <a:rPr lang="en-US" altLang="zh-CN" sz="1800" b="1"/>
              <a:t> socklen=sizeof(struct sockaddr_in);</a:t>
            </a:r>
            <a:endParaRPr lang="en-US" altLang="zh-CN" sz="1800" b="1"/>
          </a:p>
          <a:p>
            <a:pPr eaLnBrk="1" hangingPunct="1">
              <a:lnSpc>
                <a:spcPct val="90000"/>
              </a:lnSpc>
              <a:buFontTx/>
              <a:buNone/>
            </a:pPr>
            <a:r>
              <a:rPr lang="en-US" altLang="zh-CN" sz="1800" b="1"/>
              <a:t>   memset(&amp;peeraddr,0,socklen);</a:t>
            </a:r>
            <a:endParaRPr lang="en-US" altLang="zh-CN" sz="1800" b="1"/>
          </a:p>
          <a:p>
            <a:pPr eaLnBrk="1" hangingPunct="1">
              <a:lnSpc>
                <a:spcPct val="90000"/>
              </a:lnSpc>
              <a:buFontTx/>
              <a:buNone/>
            </a:pPr>
            <a:r>
              <a:rPr lang="en-US" altLang="zh-CN" sz="1800" b="1"/>
              <a:t>   peeraddr.sin_family=AF_INET;</a:t>
            </a:r>
            <a:endParaRPr lang="en-US" altLang="zh-CN" sz="1800" b="1"/>
          </a:p>
          <a:p>
            <a:pPr eaLnBrk="1" hangingPunct="1">
              <a:lnSpc>
                <a:spcPct val="90000"/>
              </a:lnSpc>
              <a:buFontTx/>
              <a:buNone/>
            </a:pPr>
            <a:r>
              <a:rPr lang="en-US" altLang="zh-CN" sz="1800" b="1"/>
              <a:t>   peeraddr.sin_port=htons(atoi(argv[2]));</a:t>
            </a:r>
            <a:endParaRPr lang="en-US" altLang="zh-CN" sz="1800" b="1"/>
          </a:p>
          <a:p>
            <a:pPr eaLnBrk="1" hangingPunct="1">
              <a:lnSpc>
                <a:spcPct val="90000"/>
              </a:lnSpc>
              <a:buFontTx/>
              <a:buNone/>
            </a:pPr>
            <a:r>
              <a:rPr lang="en-US" altLang="zh-CN" sz="1800" b="1"/>
              <a:t>   if(inet_pton(AF_INET,argv[1],&amp;peeraddr.sin_addr)&lt;=0){</a:t>
            </a:r>
            <a:endParaRPr lang="en-US" altLang="zh-CN" sz="1800" b="1"/>
          </a:p>
          <a:p>
            <a:pPr eaLnBrk="1" hangingPunct="1">
              <a:lnSpc>
                <a:spcPct val="90000"/>
              </a:lnSpc>
              <a:buFontTx/>
              <a:buNone/>
            </a:pPr>
            <a:r>
              <a:rPr lang="en-US" altLang="zh-CN" sz="1800" b="1"/>
              <a:t>     printf("wrong dest ip address\n");</a:t>
            </a:r>
            <a:endParaRPr lang="en-US" altLang="zh-CN" sz="1800" b="1"/>
          </a:p>
          <a:p>
            <a:pPr eaLnBrk="1" hangingPunct="1">
              <a:lnSpc>
                <a:spcPct val="90000"/>
              </a:lnSpc>
              <a:buFontTx/>
              <a:buNone/>
            </a:pPr>
            <a:r>
              <a:rPr lang="en-US" altLang="zh-CN" sz="1800" b="1"/>
              <a:t>     exit(0);</a:t>
            </a:r>
            <a:endParaRPr lang="en-US" altLang="zh-CN" sz="1800" b="1"/>
          </a:p>
          <a:p>
            <a:pPr eaLnBrk="1" hangingPunct="1">
              <a:lnSpc>
                <a:spcPct val="90000"/>
              </a:lnSpc>
              <a:buFontTx/>
              <a:buNone/>
            </a:pPr>
            <a:r>
              <a:rPr lang="en-US" altLang="zh-CN" sz="1800" b="1"/>
              <a:t>   }</a:t>
            </a:r>
            <a:endParaRPr lang="en-US" altLang="zh-CN" sz="1800" b="1"/>
          </a:p>
          <a:p>
            <a:pPr eaLnBrk="1" hangingPunct="1">
              <a:lnSpc>
                <a:spcPct val="90000"/>
              </a:lnSpc>
              <a:buFontTx/>
              <a:buNone/>
            </a:pPr>
            <a:r>
              <a:rPr lang="en-US" altLang="zh-CN" sz="1800" b="1"/>
              <a:t>   memset(&amp;localaddr,0,socklen);</a:t>
            </a:r>
            <a:endParaRPr lang="en-US" altLang="zh-CN" sz="1800" b="1"/>
          </a:p>
          <a:p>
            <a:pPr eaLnBrk="1" hangingPunct="1">
              <a:lnSpc>
                <a:spcPct val="90000"/>
              </a:lnSpc>
              <a:buFontTx/>
              <a:buNone/>
            </a:pPr>
            <a:r>
              <a:rPr lang="en-US" altLang="zh-CN" sz="1800" b="1"/>
              <a:t>   localaddr.sin_family=AF_INET;</a:t>
            </a:r>
            <a:endParaRPr lang="en-US" altLang="zh-CN" sz="1800" b="1"/>
          </a:p>
          <a:p>
            <a:pPr eaLnBrk="1" hangingPunct="1">
              <a:lnSpc>
                <a:spcPct val="90000"/>
              </a:lnSpc>
              <a:buFontTx/>
              <a:buNone/>
            </a:pPr>
            <a:r>
              <a:rPr lang="en-US" altLang="zh-CN" sz="1800" b="1"/>
              <a:t>   if(inet_pton(AF_INET,argv[3],&amp;localaddr.sin_addr)&lt;=0){</a:t>
            </a:r>
            <a:endParaRPr lang="en-US" altLang="zh-CN" sz="1800" b="1"/>
          </a:p>
          <a:p>
            <a:pPr eaLnBrk="1" hangingPunct="1">
              <a:lnSpc>
                <a:spcPct val="90000"/>
              </a:lnSpc>
              <a:buFontTx/>
              <a:buNone/>
            </a:pPr>
            <a:r>
              <a:rPr lang="en-US" altLang="zh-CN" sz="1800" b="1"/>
              <a:t>      printf("Wrong source IP address\n");</a:t>
            </a:r>
            <a:endParaRPr lang="en-US" altLang="zh-CN" sz="1800" b="1"/>
          </a:p>
          <a:p>
            <a:pPr eaLnBrk="1" hangingPunct="1">
              <a:lnSpc>
                <a:spcPct val="90000"/>
              </a:lnSpc>
              <a:buFontTx/>
              <a:buNone/>
            </a:pPr>
            <a:r>
              <a:rPr lang="en-US" altLang="zh-CN" sz="1800" b="1"/>
              <a:t>      exit(0);</a:t>
            </a:r>
            <a:endParaRPr lang="en-US" altLang="zh-CN" sz="1800" b="1"/>
          </a:p>
          <a:p>
            <a:pPr eaLnBrk="1" hangingPunct="1">
              <a:lnSpc>
                <a:spcPct val="90000"/>
              </a:lnSpc>
              <a:buFontTx/>
              <a:buNone/>
            </a:pPr>
            <a:r>
              <a:rPr lang="en-US" altLang="zh-CN" sz="1800" b="1"/>
              <a:t>   }</a:t>
            </a:r>
            <a:endParaRPr lang="en-US" altLang="zh-CN" sz="1800" b="1"/>
          </a:p>
          <a:p>
            <a:pPr eaLnBrk="1" hangingPunct="1">
              <a:lnSpc>
                <a:spcPct val="90000"/>
              </a:lnSpc>
              <a:buFontTx/>
              <a:buNone/>
            </a:pPr>
            <a:r>
              <a:rPr lang="en-US" altLang="zh-CN" sz="1800" b="1"/>
              <a:t>   localaddr.sin_port=htons(atoi(argv[4]));</a:t>
            </a:r>
            <a:endParaRPr lang="en-US" altLang="zh-CN" sz="1800" b="1"/>
          </a:p>
          <a:p>
            <a:pPr eaLnBrk="1" hangingPunct="1">
              <a:lnSpc>
                <a:spcPct val="90000"/>
              </a:lnSpc>
              <a:buFontTx/>
              <a:buNone/>
            </a:pPr>
            <a:r>
              <a:rPr lang="en-US" altLang="zh-CN" sz="1800" b="1"/>
              <a:t>   if(bind(sockfd,(struct sockaddr *)&amp;localaddr,socklen)&lt;0){</a:t>
            </a:r>
            <a:endParaRPr lang="en-US" altLang="zh-CN" sz="1800" b="1"/>
          </a:p>
          <a:p>
            <a:pPr eaLnBrk="1" hangingPunct="1">
              <a:lnSpc>
                <a:spcPct val="90000"/>
              </a:lnSpc>
              <a:buFontTx/>
              <a:buNone/>
            </a:pPr>
            <a:r>
              <a:rPr lang="en-US" altLang="zh-CN" sz="1800" b="1"/>
              <a:t>      fprintf(stderr,"bind local address error in udptalk.c\n");</a:t>
            </a:r>
            <a:endParaRPr lang="en-US" altLang="zh-CN" sz="1800" b="1"/>
          </a:p>
          <a:p>
            <a:pPr eaLnBrk="1" hangingPunct="1">
              <a:lnSpc>
                <a:spcPct val="90000"/>
              </a:lnSpc>
              <a:buFontTx/>
              <a:buNone/>
            </a:pPr>
            <a:r>
              <a:rPr lang="en-US" altLang="zh-CN" sz="1800" b="1"/>
              <a:t>      exit(2);</a:t>
            </a:r>
            <a:endParaRPr lang="en-US" altLang="zh-CN" sz="1800" b="1"/>
          </a:p>
          <a:p>
            <a:pPr eaLnBrk="1" hangingPunct="1">
              <a:lnSpc>
                <a:spcPct val="90000"/>
              </a:lnSpc>
              <a:buFontTx/>
              <a:buNone/>
            </a:pPr>
            <a:r>
              <a:rPr lang="en-US" altLang="zh-CN" sz="1800" b="1"/>
              <a:t>   }</a:t>
            </a:r>
            <a:endParaRPr lang="en-US" altLang="zh-CN" sz="1800" b="1"/>
          </a:p>
          <a:p>
            <a:pPr eaLnBrk="1" hangingPunct="1">
              <a:lnSpc>
                <a:spcPct val="90000"/>
              </a:lnSpc>
              <a:buFontTx/>
              <a:buNone/>
            </a:pPr>
            <a:r>
              <a:rPr lang="en-US" altLang="zh-CN" sz="1800" b="1"/>
              <a:t>   connect(sockfd,(struct sockaddr*)&amp;peeraddr,socklen);</a:t>
            </a:r>
            <a:endParaRPr lang="en-US" altLang="zh-CN" sz="1800" b="1"/>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3"/>
          <p:cNvSpPr>
            <a:spLocks noGrp="1" noChangeArrowheads="1"/>
          </p:cNvSpPr>
          <p:nvPr>
            <p:ph idx="1"/>
          </p:nvPr>
        </p:nvSpPr>
        <p:spPr>
          <a:xfrm>
            <a:off x="684213" y="44450"/>
            <a:ext cx="7772400" cy="6742113"/>
          </a:xfrm>
        </p:spPr>
        <p:txBody>
          <a:bodyPr/>
          <a:lstStyle/>
          <a:p>
            <a:pPr eaLnBrk="1" hangingPunct="1">
              <a:lnSpc>
                <a:spcPct val="90000"/>
              </a:lnSpc>
              <a:buFontTx/>
              <a:buNone/>
            </a:pPr>
            <a:r>
              <a:rPr lang="en-US" altLang="zh-CN" sz="1800" b="1">
                <a:solidFill>
                  <a:srgbClr val="FF0000"/>
                </a:solidFill>
              </a:rPr>
              <a:t>flags=fcntl(sockfd,F_GETFL,0);</a:t>
            </a:r>
            <a:endParaRPr lang="en-US" altLang="zh-CN" sz="1800" b="1">
              <a:solidFill>
                <a:srgbClr val="FF0000"/>
              </a:solidFill>
            </a:endParaRPr>
          </a:p>
          <a:p>
            <a:pPr eaLnBrk="1" hangingPunct="1">
              <a:lnSpc>
                <a:spcPct val="90000"/>
              </a:lnSpc>
              <a:buFontTx/>
              <a:buNone/>
            </a:pPr>
            <a:r>
              <a:rPr lang="en-US" altLang="zh-CN" sz="1800" b="1">
                <a:solidFill>
                  <a:srgbClr val="FF0000"/>
                </a:solidFill>
              </a:rPr>
              <a:t>flags|=O_NONBLOCK;</a:t>
            </a:r>
            <a:endParaRPr lang="en-US" altLang="zh-CN" sz="1800" b="1">
              <a:solidFill>
                <a:srgbClr val="FF0000"/>
              </a:solidFill>
            </a:endParaRPr>
          </a:p>
          <a:p>
            <a:pPr eaLnBrk="1" hangingPunct="1">
              <a:lnSpc>
                <a:spcPct val="90000"/>
              </a:lnSpc>
              <a:buFontTx/>
              <a:buNone/>
            </a:pPr>
            <a:r>
              <a:rPr lang="en-US" altLang="zh-CN" sz="1800" b="1">
                <a:solidFill>
                  <a:srgbClr val="FF0000"/>
                </a:solidFill>
              </a:rPr>
              <a:t>fcntl(sockfd,F_SETFL,flags);</a:t>
            </a:r>
            <a:endParaRPr lang="en-US" altLang="zh-CN" sz="1800" b="1">
              <a:solidFill>
                <a:srgbClr val="FF0000"/>
              </a:solidFill>
            </a:endParaRPr>
          </a:p>
          <a:p>
            <a:pPr eaLnBrk="1" hangingPunct="1">
              <a:lnSpc>
                <a:spcPct val="90000"/>
              </a:lnSpc>
              <a:buFontTx/>
              <a:buNone/>
            </a:pPr>
            <a:r>
              <a:rPr lang="en-US" altLang="zh-CN" sz="1800" b="1">
                <a:solidFill>
                  <a:srgbClr val="FF0000"/>
                </a:solidFill>
              </a:rPr>
              <a:t>stdinfd=fileno(stdin);</a:t>
            </a:r>
            <a:endParaRPr lang="en-US" altLang="zh-CN" sz="1800" b="1">
              <a:solidFill>
                <a:srgbClr val="FF0000"/>
              </a:solidFill>
            </a:endParaRPr>
          </a:p>
          <a:p>
            <a:pPr eaLnBrk="1" hangingPunct="1">
              <a:lnSpc>
                <a:spcPct val="90000"/>
              </a:lnSpc>
              <a:buFontTx/>
              <a:buNone/>
            </a:pPr>
            <a:r>
              <a:rPr lang="en-US" altLang="zh-CN" sz="1800" b="1">
                <a:solidFill>
                  <a:srgbClr val="FF0000"/>
                </a:solidFill>
              </a:rPr>
              <a:t>flags=fcntl(stdinfd,F_GETFL,0);</a:t>
            </a:r>
            <a:endParaRPr lang="en-US" altLang="zh-CN" sz="1800" b="1">
              <a:solidFill>
                <a:srgbClr val="FF0000"/>
              </a:solidFill>
            </a:endParaRPr>
          </a:p>
          <a:p>
            <a:pPr eaLnBrk="1" hangingPunct="1">
              <a:lnSpc>
                <a:spcPct val="90000"/>
              </a:lnSpc>
              <a:buFontTx/>
              <a:buNone/>
            </a:pPr>
            <a:r>
              <a:rPr lang="en-US" altLang="zh-CN" sz="1800" b="1">
                <a:solidFill>
                  <a:srgbClr val="FF0000"/>
                </a:solidFill>
              </a:rPr>
              <a:t>flags|=O_NONBLOCK;</a:t>
            </a:r>
            <a:endParaRPr lang="en-US" altLang="zh-CN" sz="1800" b="1">
              <a:solidFill>
                <a:srgbClr val="FF0000"/>
              </a:solidFill>
            </a:endParaRPr>
          </a:p>
          <a:p>
            <a:pPr eaLnBrk="1" hangingPunct="1">
              <a:lnSpc>
                <a:spcPct val="90000"/>
              </a:lnSpc>
              <a:buFontTx/>
              <a:buNone/>
            </a:pPr>
            <a:r>
              <a:rPr lang="en-US" altLang="zh-CN" sz="1800" b="1">
                <a:solidFill>
                  <a:srgbClr val="FF0000"/>
                </a:solidFill>
              </a:rPr>
              <a:t>fcntl(stdinfd,F_SETFL,flags);</a:t>
            </a:r>
            <a:endParaRPr lang="en-US" altLang="zh-CN" sz="1800" b="1">
              <a:solidFill>
                <a:srgbClr val="FF0000"/>
              </a:solidFill>
            </a:endParaRPr>
          </a:p>
          <a:p>
            <a:pPr eaLnBrk="1" hangingPunct="1">
              <a:lnSpc>
                <a:spcPct val="90000"/>
              </a:lnSpc>
              <a:buFontTx/>
              <a:buNone/>
            </a:pPr>
            <a:endParaRPr lang="en-US" altLang="zh-CN" sz="1800" b="1">
              <a:solidFill>
                <a:srgbClr val="FF0000"/>
              </a:solidFill>
            </a:endParaRPr>
          </a:p>
          <a:p>
            <a:pPr eaLnBrk="1" hangingPunct="1">
              <a:lnSpc>
                <a:spcPct val="90000"/>
              </a:lnSpc>
              <a:buFontTx/>
              <a:buNone/>
            </a:pPr>
            <a:r>
              <a:rPr lang="en-US" altLang="zh-CN" sz="1800" b="1"/>
              <a:t>for(;;)</a:t>
            </a:r>
            <a:endParaRPr lang="en-US" altLang="zh-CN" sz="1800" b="1"/>
          </a:p>
          <a:p>
            <a:pPr eaLnBrk="1" hangingPunct="1">
              <a:lnSpc>
                <a:spcPct val="90000"/>
              </a:lnSpc>
              <a:buFontTx/>
              <a:buNone/>
            </a:pPr>
            <a:r>
              <a:rPr lang="en-US" altLang="zh-CN" sz="1800" b="1"/>
              <a:t>   {</a:t>
            </a:r>
            <a:endParaRPr lang="en-US" altLang="zh-CN" sz="1800" b="1"/>
          </a:p>
          <a:p>
            <a:pPr eaLnBrk="1" hangingPunct="1">
              <a:lnSpc>
                <a:spcPct val="90000"/>
              </a:lnSpc>
              <a:buFontTx/>
              <a:buNone/>
            </a:pPr>
            <a:r>
              <a:rPr lang="en-US" altLang="zh-CN" sz="1800" b="1"/>
              <a:t>      </a:t>
            </a:r>
            <a:r>
              <a:rPr lang="en-US" altLang="zh-CN" sz="1800" b="1">
                <a:solidFill>
                  <a:srgbClr val="FF0000"/>
                </a:solidFill>
              </a:rPr>
              <a:t>n=read(sockfd,msg,BUFLEN);</a:t>
            </a:r>
            <a:endParaRPr lang="en-US" altLang="zh-CN" sz="1800" b="1">
              <a:solidFill>
                <a:srgbClr val="FF0000"/>
              </a:solidFill>
            </a:endParaRPr>
          </a:p>
          <a:p>
            <a:pPr eaLnBrk="1" hangingPunct="1">
              <a:lnSpc>
                <a:spcPct val="90000"/>
              </a:lnSpc>
              <a:buFontTx/>
              <a:buNone/>
            </a:pPr>
            <a:r>
              <a:rPr lang="en-US" altLang="zh-CN" sz="1800" b="1"/>
              <a:t>      if(n==-1){</a:t>
            </a:r>
            <a:endParaRPr lang="en-US" altLang="zh-CN" sz="1800" b="1"/>
          </a:p>
          <a:p>
            <a:pPr eaLnBrk="1" hangingPunct="1">
              <a:lnSpc>
                <a:spcPct val="90000"/>
              </a:lnSpc>
              <a:buFontTx/>
              <a:buNone/>
            </a:pPr>
            <a:r>
              <a:rPr lang="en-US" altLang="zh-CN" sz="1800" b="1"/>
              <a:t>       if(</a:t>
            </a:r>
            <a:r>
              <a:rPr lang="en-US" altLang="zh-CN" sz="1800" b="1">
                <a:solidFill>
                  <a:srgbClr val="FF0000"/>
                </a:solidFill>
              </a:rPr>
              <a:t>errno!=EWOULDBLOCK</a:t>
            </a:r>
            <a:r>
              <a:rPr lang="en-US" altLang="zh-CN" sz="1800" b="1"/>
              <a:t>){</a:t>
            </a:r>
            <a:endParaRPr lang="en-US" altLang="zh-CN" sz="1800" b="1"/>
          </a:p>
          <a:p>
            <a:pPr eaLnBrk="1" hangingPunct="1">
              <a:lnSpc>
                <a:spcPct val="90000"/>
              </a:lnSpc>
              <a:buFontTx/>
              <a:buNone/>
            </a:pPr>
            <a:r>
              <a:rPr lang="en-US" altLang="zh-CN" sz="1800" b="1"/>
              <a:t>           printf("talk closed by peer\n");</a:t>
            </a:r>
            <a:endParaRPr lang="en-US" altLang="zh-CN" sz="1800" b="1"/>
          </a:p>
          <a:p>
            <a:pPr eaLnBrk="1" hangingPunct="1">
              <a:lnSpc>
                <a:spcPct val="90000"/>
              </a:lnSpc>
              <a:buFontTx/>
              <a:buNone/>
            </a:pPr>
            <a:r>
              <a:rPr lang="en-US" altLang="zh-CN" sz="1800" b="1"/>
              <a:t>           exit(3);</a:t>
            </a:r>
            <a:endParaRPr lang="en-US" altLang="zh-CN" sz="1800" b="1"/>
          </a:p>
          <a:p>
            <a:pPr eaLnBrk="1" hangingPunct="1">
              <a:lnSpc>
                <a:spcPct val="90000"/>
              </a:lnSpc>
              <a:buFontTx/>
              <a:buNone/>
            </a:pPr>
            <a:r>
              <a:rPr lang="en-US" altLang="zh-CN" sz="1800" b="1"/>
              <a:t>         }</a:t>
            </a:r>
            <a:endParaRPr lang="en-US" altLang="zh-CN" sz="1800" b="1"/>
          </a:p>
          <a:p>
            <a:pPr eaLnBrk="1" hangingPunct="1">
              <a:lnSpc>
                <a:spcPct val="90000"/>
              </a:lnSpc>
              <a:buFontTx/>
              <a:buNone/>
            </a:pPr>
            <a:r>
              <a:rPr lang="en-US" altLang="zh-CN" sz="1800" b="1"/>
              <a:t>      }</a:t>
            </a:r>
            <a:endParaRPr lang="en-US" altLang="zh-CN" sz="1800" b="1"/>
          </a:p>
          <a:p>
            <a:pPr eaLnBrk="1" hangingPunct="1">
              <a:lnSpc>
                <a:spcPct val="90000"/>
              </a:lnSpc>
              <a:buFontTx/>
              <a:buNone/>
            </a:pPr>
            <a:r>
              <a:rPr lang="en-US" altLang="zh-CN" sz="1800" b="1"/>
              <a:t>      else{</a:t>
            </a:r>
            <a:endParaRPr lang="en-US" altLang="zh-CN" sz="1800" b="1"/>
          </a:p>
          <a:p>
            <a:pPr eaLnBrk="1" hangingPunct="1">
              <a:lnSpc>
                <a:spcPct val="90000"/>
              </a:lnSpc>
              <a:buFontTx/>
              <a:buNone/>
            </a:pPr>
            <a:r>
              <a:rPr lang="en-US" altLang="zh-CN" sz="1800" b="1"/>
              <a:t>         msg[n]=“\0”;</a:t>
            </a:r>
            <a:endParaRPr lang="en-US" altLang="zh-CN" sz="1800" b="1"/>
          </a:p>
          <a:p>
            <a:pPr eaLnBrk="1" hangingPunct="1">
              <a:lnSpc>
                <a:spcPct val="90000"/>
              </a:lnSpc>
              <a:buFontTx/>
              <a:buNone/>
            </a:pPr>
            <a:r>
              <a:rPr lang="en-US" altLang="zh-CN" sz="1800" b="1"/>
              <a:t>         printf("peer:%s",msg);</a:t>
            </a:r>
            <a:endParaRPr lang="en-US" altLang="zh-CN" sz="1800" b="1"/>
          </a:p>
          <a:p>
            <a:pPr eaLnBrk="1" hangingPunct="1">
              <a:lnSpc>
                <a:spcPct val="90000"/>
              </a:lnSpc>
              <a:buFontTx/>
              <a:buNone/>
            </a:pPr>
            <a:r>
              <a:rPr lang="en-US" altLang="zh-CN" sz="1800" b="1"/>
              <a:t>      }</a:t>
            </a:r>
            <a:endParaRPr lang="en-US" altLang="zh-CN" sz="1800" b="1"/>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3"/>
          <p:cNvSpPr>
            <a:spLocks noGrp="1" noChangeArrowheads="1"/>
          </p:cNvSpPr>
          <p:nvPr>
            <p:ph idx="1"/>
          </p:nvPr>
        </p:nvSpPr>
        <p:spPr>
          <a:xfrm>
            <a:off x="685800" y="71438"/>
            <a:ext cx="7772400" cy="6742112"/>
          </a:xfrm>
        </p:spPr>
        <p:txBody>
          <a:bodyPr/>
          <a:lstStyle/>
          <a:p>
            <a:pPr eaLnBrk="1" hangingPunct="1">
              <a:lnSpc>
                <a:spcPct val="90000"/>
              </a:lnSpc>
              <a:buFontTx/>
              <a:buNone/>
            </a:pPr>
            <a:r>
              <a:rPr lang="en-US" altLang="zh-CN" sz="2000" b="1"/>
              <a:t>      </a:t>
            </a:r>
            <a:r>
              <a:rPr lang="en-US" altLang="zh-CN" sz="2000" b="1">
                <a:solidFill>
                  <a:srgbClr val="FF0000"/>
                </a:solidFill>
              </a:rPr>
              <a:t>n=read(stdinfd,msg,BUFLEN);</a:t>
            </a:r>
            <a:endParaRPr lang="en-US" altLang="zh-CN" sz="2000" b="1">
              <a:solidFill>
                <a:srgbClr val="FF0000"/>
              </a:solidFill>
            </a:endParaRPr>
          </a:p>
          <a:p>
            <a:pPr eaLnBrk="1" hangingPunct="1">
              <a:lnSpc>
                <a:spcPct val="90000"/>
              </a:lnSpc>
              <a:buFontTx/>
              <a:buNone/>
            </a:pPr>
            <a:r>
              <a:rPr lang="en-US" altLang="zh-CN" sz="2000" b="1"/>
              <a:t>      switch(n){</a:t>
            </a:r>
            <a:endParaRPr lang="en-US" altLang="zh-CN" sz="2000" b="1"/>
          </a:p>
          <a:p>
            <a:pPr eaLnBrk="1" hangingPunct="1">
              <a:lnSpc>
                <a:spcPct val="90000"/>
              </a:lnSpc>
              <a:buFontTx/>
              <a:buNone/>
            </a:pPr>
            <a:r>
              <a:rPr lang="en-US" altLang="zh-CN" sz="2000" b="1"/>
              <a:t>        case -1:</a:t>
            </a:r>
            <a:endParaRPr lang="en-US" altLang="zh-CN" sz="2000" b="1"/>
          </a:p>
          <a:p>
            <a:pPr eaLnBrk="1" hangingPunct="1">
              <a:lnSpc>
                <a:spcPct val="90000"/>
              </a:lnSpc>
              <a:buFontTx/>
              <a:buNone/>
            </a:pPr>
            <a:r>
              <a:rPr lang="en-US" altLang="zh-CN" sz="2000" b="1"/>
              <a:t>           if(</a:t>
            </a:r>
            <a:r>
              <a:rPr lang="en-US" altLang="zh-CN" sz="2000" b="1">
                <a:solidFill>
                  <a:srgbClr val="FF0000"/>
                </a:solidFill>
              </a:rPr>
              <a:t>errno!=EWOULDBLOCK</a:t>
            </a:r>
            <a:r>
              <a:rPr lang="en-US" altLang="zh-CN" sz="2000" b="1"/>
              <a:t>){</a:t>
            </a:r>
            <a:endParaRPr lang="en-US" altLang="zh-CN" sz="2000" b="1"/>
          </a:p>
          <a:p>
            <a:pPr eaLnBrk="1" hangingPunct="1">
              <a:lnSpc>
                <a:spcPct val="90000"/>
              </a:lnSpc>
              <a:buFontTx/>
              <a:buNone/>
            </a:pPr>
            <a:r>
              <a:rPr lang="en-US" altLang="zh-CN" sz="2000" b="1"/>
              <a:t>              fprintf(stderr,"stdin error\n");</a:t>
            </a:r>
            <a:endParaRPr lang="en-US" altLang="zh-CN" sz="2000" b="1"/>
          </a:p>
          <a:p>
            <a:pPr eaLnBrk="1" hangingPunct="1">
              <a:lnSpc>
                <a:spcPct val="90000"/>
              </a:lnSpc>
              <a:buFontTx/>
              <a:buNone/>
            </a:pPr>
            <a:r>
              <a:rPr lang="en-US" altLang="zh-CN" sz="2000" b="1"/>
              <a:t>              exit(4);</a:t>
            </a:r>
            <a:endParaRPr lang="en-US" altLang="zh-CN" sz="2000" b="1"/>
          </a:p>
          <a:p>
            <a:pPr eaLnBrk="1" hangingPunct="1">
              <a:lnSpc>
                <a:spcPct val="90000"/>
              </a:lnSpc>
              <a:buFontTx/>
              <a:buNone/>
            </a:pPr>
            <a:r>
              <a:rPr lang="en-US" altLang="zh-CN" sz="2000" b="1"/>
              <a:t>           }</a:t>
            </a:r>
            <a:endParaRPr lang="en-US" altLang="zh-CN" sz="2000" b="1"/>
          </a:p>
          <a:p>
            <a:pPr eaLnBrk="1" hangingPunct="1">
              <a:lnSpc>
                <a:spcPct val="90000"/>
              </a:lnSpc>
              <a:buFontTx/>
              <a:buNone/>
            </a:pPr>
            <a:r>
              <a:rPr lang="en-US" altLang="zh-CN" sz="2000" b="1"/>
              <a:t>           break;  /*</a:t>
            </a:r>
            <a:r>
              <a:rPr lang="zh-CN" altLang="en-US" sz="2000" b="1"/>
              <a:t>退出</a:t>
            </a:r>
            <a:r>
              <a:rPr lang="en-US" altLang="zh-CN" sz="2000" b="1"/>
              <a:t>switch</a:t>
            </a:r>
            <a:endParaRPr lang="en-US" altLang="zh-CN" sz="2000" b="1"/>
          </a:p>
          <a:p>
            <a:pPr eaLnBrk="1" hangingPunct="1">
              <a:lnSpc>
                <a:spcPct val="90000"/>
              </a:lnSpc>
              <a:buFontTx/>
              <a:buNone/>
            </a:pPr>
            <a:r>
              <a:rPr lang="en-US" altLang="zh-CN" sz="2000" b="1"/>
              <a:t>        case 0:</a:t>
            </a:r>
            <a:endParaRPr lang="en-US" altLang="zh-CN" sz="2000" b="1"/>
          </a:p>
          <a:p>
            <a:pPr eaLnBrk="1" hangingPunct="1">
              <a:lnSpc>
                <a:spcPct val="90000"/>
              </a:lnSpc>
              <a:buFontTx/>
              <a:buNone/>
            </a:pPr>
            <a:r>
              <a:rPr lang="en-US" altLang="zh-CN" sz="2000" b="1"/>
              <a:t>           printf("talk over!\n");</a:t>
            </a:r>
            <a:endParaRPr lang="en-US" altLang="zh-CN" sz="2000" b="1"/>
          </a:p>
          <a:p>
            <a:pPr eaLnBrk="1" hangingPunct="1">
              <a:lnSpc>
                <a:spcPct val="90000"/>
              </a:lnSpc>
              <a:buFontTx/>
              <a:buNone/>
            </a:pPr>
            <a:r>
              <a:rPr lang="en-US" altLang="zh-CN" sz="2000" b="1"/>
              <a:t>           exit(0);</a:t>
            </a:r>
            <a:endParaRPr lang="en-US" altLang="zh-CN" sz="2000" b="1"/>
          </a:p>
          <a:p>
            <a:pPr eaLnBrk="1" hangingPunct="1">
              <a:lnSpc>
                <a:spcPct val="90000"/>
              </a:lnSpc>
              <a:buFontTx/>
              <a:buNone/>
            </a:pPr>
            <a:r>
              <a:rPr lang="en-US" altLang="zh-CN" sz="2000" b="1"/>
              <a:t>           break;</a:t>
            </a:r>
            <a:endParaRPr lang="en-US" altLang="zh-CN" sz="2000" b="1"/>
          </a:p>
          <a:p>
            <a:pPr eaLnBrk="1" hangingPunct="1">
              <a:lnSpc>
                <a:spcPct val="90000"/>
              </a:lnSpc>
              <a:buFontTx/>
              <a:buNone/>
            </a:pPr>
            <a:r>
              <a:rPr lang="en-US" altLang="zh-CN" sz="2000" b="1"/>
              <a:t>        default:</a:t>
            </a:r>
            <a:endParaRPr lang="en-US" altLang="zh-CN" sz="2000" b="1"/>
          </a:p>
          <a:p>
            <a:pPr eaLnBrk="1" hangingPunct="1">
              <a:lnSpc>
                <a:spcPct val="90000"/>
              </a:lnSpc>
              <a:buFontTx/>
              <a:buNone/>
            </a:pPr>
            <a:r>
              <a:rPr lang="en-US" altLang="zh-CN" sz="2000" b="1"/>
              <a:t>           write(sockfd,msg,n);</a:t>
            </a:r>
            <a:endParaRPr lang="en-US" altLang="zh-CN" sz="2000" b="1"/>
          </a:p>
          <a:p>
            <a:pPr eaLnBrk="1" hangingPunct="1">
              <a:lnSpc>
                <a:spcPct val="90000"/>
              </a:lnSpc>
              <a:buFontTx/>
              <a:buNone/>
            </a:pPr>
            <a:r>
              <a:rPr lang="en-US" altLang="zh-CN" sz="2000" b="1"/>
              <a:t>           msg[n]=“\0”;</a:t>
            </a:r>
            <a:endParaRPr lang="en-US" altLang="zh-CN" sz="2000" b="1"/>
          </a:p>
          <a:p>
            <a:pPr eaLnBrk="1" hangingPunct="1">
              <a:lnSpc>
                <a:spcPct val="90000"/>
              </a:lnSpc>
              <a:buFontTx/>
              <a:buNone/>
            </a:pPr>
            <a:r>
              <a:rPr lang="en-US" altLang="zh-CN" sz="2000" b="1"/>
              <a:t>           printf("send:%s",msg);</a:t>
            </a:r>
            <a:endParaRPr lang="en-US" altLang="zh-CN" sz="2000" b="1"/>
          </a:p>
          <a:p>
            <a:pPr eaLnBrk="1" hangingPunct="1">
              <a:lnSpc>
                <a:spcPct val="90000"/>
              </a:lnSpc>
              <a:buFontTx/>
              <a:buNone/>
            </a:pPr>
            <a:r>
              <a:rPr lang="en-US" altLang="zh-CN" sz="2000" b="1"/>
              <a:t>        }</a:t>
            </a:r>
            <a:endParaRPr lang="en-US" altLang="zh-CN" sz="2000" b="1"/>
          </a:p>
          <a:p>
            <a:pPr eaLnBrk="1" hangingPunct="1">
              <a:lnSpc>
                <a:spcPct val="90000"/>
              </a:lnSpc>
              <a:buFontTx/>
              <a:buNone/>
            </a:pPr>
            <a:r>
              <a:rPr lang="en-US" altLang="zh-CN" sz="2000" b="1"/>
              <a:t>     }</a:t>
            </a:r>
            <a:endParaRPr lang="en-US" altLang="zh-CN" sz="2000" b="1"/>
          </a:p>
          <a:p>
            <a:pPr eaLnBrk="1" hangingPunct="1">
              <a:lnSpc>
                <a:spcPct val="90000"/>
              </a:lnSpc>
              <a:buFontTx/>
              <a:buNone/>
            </a:pPr>
            <a:r>
              <a:rPr lang="en-US" altLang="zh-CN" sz="2000" b="1"/>
              <a:t>  }</a:t>
            </a:r>
            <a:endParaRPr lang="en-US" altLang="zh-CN" sz="2000" b="1"/>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ext Box 2"/>
          <p:cNvSpPr txBox="1">
            <a:spLocks noChangeArrowheads="1"/>
          </p:cNvSpPr>
          <p:nvPr/>
        </p:nvSpPr>
        <p:spPr bwMode="auto">
          <a:xfrm>
            <a:off x="1524000" y="304800"/>
            <a:ext cx="655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t>程序运行结果</a:t>
            </a:r>
            <a:endParaRPr lang="zh-CN" altLang="en-US" sz="2400" b="1"/>
          </a:p>
        </p:txBody>
      </p:sp>
      <p:graphicFrame>
        <p:nvGraphicFramePr>
          <p:cNvPr id="74754" name="Object 3"/>
          <p:cNvGraphicFramePr>
            <a:graphicFrameLocks noChangeAspect="1"/>
          </p:cNvGraphicFramePr>
          <p:nvPr/>
        </p:nvGraphicFramePr>
        <p:xfrm>
          <a:off x="762000" y="830263"/>
          <a:ext cx="7848600" cy="5051425"/>
        </p:xfrm>
        <a:graphic>
          <a:graphicData uri="http://schemas.openxmlformats.org/presentationml/2006/ole">
            <mc:AlternateContent xmlns:mc="http://schemas.openxmlformats.org/markup-compatibility/2006">
              <mc:Choice xmlns:v="urn:schemas-microsoft-com:vml" Requires="v">
                <p:oleObj spid="_x0000_s3092" name="" r:id="rId1" imgW="5238750" imgH="3371850" progId="Paint.Picture">
                  <p:embed/>
                </p:oleObj>
              </mc:Choice>
              <mc:Fallback>
                <p:oleObj name="" r:id="rId1" imgW="5238750" imgH="3371850" progId="Paint.Picture">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830263"/>
                        <a:ext cx="7848600" cy="505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p:nvPr>
        </p:nvSpPr>
        <p:spPr>
          <a:xfrm>
            <a:off x="762000" y="381000"/>
            <a:ext cx="7772400" cy="609600"/>
          </a:xfrm>
        </p:spPr>
        <p:txBody>
          <a:bodyPr/>
          <a:lstStyle/>
          <a:p>
            <a:pPr eaLnBrk="1" hangingPunct="1"/>
            <a:r>
              <a:rPr lang="zh-CN" altLang="en-US"/>
              <a:t>信号驱动</a:t>
            </a:r>
            <a:r>
              <a:rPr lang="en-US" altLang="zh-CN"/>
              <a:t>I/O</a:t>
            </a:r>
            <a:r>
              <a:rPr lang="zh-CN" altLang="en-US"/>
              <a:t>模型</a:t>
            </a:r>
            <a:endParaRPr lang="zh-CN" altLang="en-US"/>
          </a:p>
        </p:txBody>
      </p:sp>
      <p:sp>
        <p:nvSpPr>
          <p:cNvPr id="148483" name="Rectangle 3"/>
          <p:cNvSpPr>
            <a:spLocks noGrp="1" noChangeArrowheads="1"/>
          </p:cNvSpPr>
          <p:nvPr>
            <p:ph idx="1"/>
          </p:nvPr>
        </p:nvSpPr>
        <p:spPr>
          <a:xfrm>
            <a:off x="304800" y="1341438"/>
            <a:ext cx="8540750" cy="4967287"/>
          </a:xfrm>
        </p:spPr>
        <p:txBody>
          <a:bodyPr/>
          <a:lstStyle/>
          <a:p>
            <a:pPr eaLnBrk="1" hangingPunct="1">
              <a:lnSpc>
                <a:spcPct val="90000"/>
              </a:lnSpc>
              <a:defRPr/>
            </a:pPr>
            <a:r>
              <a:rPr kumimoji="1" lang="zh-CN" altLang="en-US" sz="2400"/>
              <a:t>让内核在描述字准备好时用信号</a:t>
            </a:r>
            <a:r>
              <a:rPr kumimoji="1" lang="en-US" altLang="zh-CN" sz="2400"/>
              <a:t>SIGIO</a:t>
            </a:r>
            <a:r>
              <a:rPr kumimoji="1" lang="zh-CN" altLang="en-US" sz="2400"/>
              <a:t>通知进程。</a:t>
            </a:r>
            <a:r>
              <a:rPr kumimoji="1" lang="zh-CN" altLang="en-US" sz="2400">
                <a:solidFill>
                  <a:srgbClr val="FF0066"/>
                </a:solidFill>
                <a:effectLst>
                  <a:outerShdw blurRad="38100" dist="38100" dir="2700000" algn="tl">
                    <a:srgbClr val="000000"/>
                  </a:outerShdw>
                </a:effectLst>
              </a:rPr>
              <a:t>这种模型的好处是当等待数据报到达时，可以不阻塞</a:t>
            </a:r>
            <a:r>
              <a:rPr kumimoji="1" lang="zh-CN" altLang="en-US" sz="2400"/>
              <a:t>。前提是允许套接口进行信号驱动</a:t>
            </a:r>
            <a:r>
              <a:rPr kumimoji="1" lang="en-US" altLang="zh-CN" sz="2400"/>
              <a:t>i</a:t>
            </a:r>
            <a:r>
              <a:rPr kumimoji="1" lang="zh-CN" altLang="en-US" sz="2400"/>
              <a:t>／</a:t>
            </a:r>
            <a:r>
              <a:rPr kumimoji="1" lang="en-US" altLang="zh-CN" sz="2400"/>
              <a:t>o </a:t>
            </a:r>
            <a:r>
              <a:rPr kumimoji="1" lang="zh-CN" altLang="en-US" sz="2400"/>
              <a:t>。</a:t>
            </a:r>
            <a:endParaRPr kumimoji="1" lang="zh-CN" altLang="en-US" sz="2400"/>
          </a:p>
          <a:p>
            <a:pPr eaLnBrk="1" hangingPunct="1">
              <a:lnSpc>
                <a:spcPct val="90000"/>
              </a:lnSpc>
              <a:defRPr/>
            </a:pPr>
            <a:endParaRPr kumimoji="1" lang="zh-CN" altLang="en-US" sz="2400"/>
          </a:p>
          <a:p>
            <a:pPr eaLnBrk="1" hangingPunct="1">
              <a:lnSpc>
                <a:spcPct val="90000"/>
              </a:lnSpc>
              <a:defRPr/>
            </a:pPr>
            <a:endParaRPr kumimoji="1" lang="zh-CN" altLang="en-US" sz="2400"/>
          </a:p>
          <a:p>
            <a:pPr eaLnBrk="1" hangingPunct="1">
              <a:lnSpc>
                <a:spcPct val="90000"/>
              </a:lnSpc>
              <a:defRPr/>
            </a:pPr>
            <a:endParaRPr kumimoji="1" lang="zh-CN" altLang="en-US" sz="2400"/>
          </a:p>
          <a:p>
            <a:pPr eaLnBrk="1" hangingPunct="1">
              <a:lnSpc>
                <a:spcPct val="90000"/>
              </a:lnSpc>
              <a:defRPr/>
            </a:pPr>
            <a:endParaRPr kumimoji="1" lang="zh-CN" altLang="en-US" sz="2400"/>
          </a:p>
          <a:p>
            <a:pPr eaLnBrk="1" hangingPunct="1">
              <a:lnSpc>
                <a:spcPct val="90000"/>
              </a:lnSpc>
              <a:defRPr/>
            </a:pPr>
            <a:endParaRPr kumimoji="1" lang="zh-CN" altLang="en-US" sz="2400"/>
          </a:p>
          <a:p>
            <a:pPr eaLnBrk="1" hangingPunct="1">
              <a:lnSpc>
                <a:spcPct val="90000"/>
              </a:lnSpc>
              <a:defRPr/>
            </a:pPr>
            <a:endParaRPr kumimoji="1" lang="zh-CN" altLang="en-US" sz="2400"/>
          </a:p>
          <a:p>
            <a:pPr eaLnBrk="1" hangingPunct="1">
              <a:lnSpc>
                <a:spcPct val="90000"/>
              </a:lnSpc>
              <a:defRPr/>
            </a:pPr>
            <a:endParaRPr kumimoji="1" lang="zh-CN" altLang="en-US" sz="2400"/>
          </a:p>
          <a:p>
            <a:pPr eaLnBrk="1" hangingPunct="1">
              <a:lnSpc>
                <a:spcPct val="90000"/>
              </a:lnSpc>
              <a:defRPr/>
            </a:pPr>
            <a:endParaRPr kumimoji="1" lang="zh-CN" altLang="en-US" sz="2400"/>
          </a:p>
          <a:p>
            <a:pPr eaLnBrk="1" hangingPunct="1">
              <a:lnSpc>
                <a:spcPct val="90000"/>
              </a:lnSpc>
              <a:defRPr/>
            </a:pPr>
            <a:endParaRPr kumimoji="1" lang="zh-CN" altLang="en-US" sz="2000"/>
          </a:p>
          <a:p>
            <a:pPr eaLnBrk="1" hangingPunct="1">
              <a:lnSpc>
                <a:spcPct val="90000"/>
              </a:lnSpc>
              <a:defRPr/>
            </a:pPr>
            <a:r>
              <a:rPr kumimoji="1" lang="zh-CN" altLang="en-US" sz="2400"/>
              <a:t>可以由信号处理程序来读取数据，或通知主循环来读取数据</a:t>
            </a:r>
            <a:r>
              <a:rPr kumimoji="1" lang="en-US" altLang="zh-CN" sz="2400"/>
              <a:t>.</a:t>
            </a:r>
            <a:endParaRPr kumimoji="1" lang="en-US" altLang="zh-CN" sz="2400"/>
          </a:p>
        </p:txBody>
      </p:sp>
      <p:sp>
        <p:nvSpPr>
          <p:cNvPr id="75779" name="AutoShape 4"/>
          <p:cNvSpPr/>
          <p:nvPr/>
        </p:nvSpPr>
        <p:spPr bwMode="auto">
          <a:xfrm>
            <a:off x="2197100" y="2851150"/>
            <a:ext cx="71438" cy="1441450"/>
          </a:xfrm>
          <a:prstGeom prst="leftBrace">
            <a:avLst>
              <a:gd name="adj1" fmla="val 167960"/>
              <a:gd name="adj2" fmla="val 50000"/>
            </a:avLst>
          </a:prstGeom>
          <a:noFill/>
          <a:ln w="9525">
            <a:solidFill>
              <a:srgbClr val="080808"/>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8485" name="Text Box 5"/>
          <p:cNvSpPr txBox="1">
            <a:spLocks noChangeArrowheads="1"/>
          </p:cNvSpPr>
          <p:nvPr/>
        </p:nvSpPr>
        <p:spPr bwMode="auto">
          <a:xfrm>
            <a:off x="0" y="4732338"/>
            <a:ext cx="2374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数据拷贝到应用缓冲区期间，进程阻塞</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48486" name="Text Box 6"/>
          <p:cNvSpPr txBox="1">
            <a:spLocks noChangeArrowheads="1"/>
          </p:cNvSpPr>
          <p:nvPr/>
        </p:nvSpPr>
        <p:spPr bwMode="auto">
          <a:xfrm>
            <a:off x="2197100" y="2635250"/>
            <a:ext cx="1512888"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建立</a:t>
            </a:r>
            <a:r>
              <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SIGIO</a:t>
            </a: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的信号处理程序</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75782" name="Text Box 7"/>
          <p:cNvSpPr txBox="1">
            <a:spLocks noChangeArrowheads="1"/>
          </p:cNvSpPr>
          <p:nvPr/>
        </p:nvSpPr>
        <p:spPr bwMode="auto">
          <a:xfrm>
            <a:off x="2197100" y="2276475"/>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solidFill>
                  <a:srgbClr val="080808"/>
                </a:solidFill>
                <a:latin typeface="Comic Sans MS" panose="030F0702030302020204" pitchFamily="66" charset="0"/>
                <a:ea typeface="华文新魏" panose="02010800040101010101" pitchFamily="2" charset="-122"/>
              </a:rPr>
              <a:t>应用进程</a:t>
            </a:r>
            <a:endParaRPr lang="zh-CN" altLang="en-US" sz="1800" b="1">
              <a:solidFill>
                <a:srgbClr val="080808"/>
              </a:solidFill>
              <a:latin typeface="Comic Sans MS" panose="030F0702030302020204" pitchFamily="66" charset="0"/>
              <a:ea typeface="华文新魏" panose="02010800040101010101" pitchFamily="2" charset="-122"/>
            </a:endParaRPr>
          </a:p>
        </p:txBody>
      </p:sp>
      <p:sp>
        <p:nvSpPr>
          <p:cNvPr id="75783" name="Line 8"/>
          <p:cNvSpPr>
            <a:spLocks noChangeShapeType="1"/>
          </p:cNvSpPr>
          <p:nvPr/>
        </p:nvSpPr>
        <p:spPr bwMode="auto">
          <a:xfrm>
            <a:off x="3708400" y="2852738"/>
            <a:ext cx="1584325" cy="0"/>
          </a:xfrm>
          <a:prstGeom prst="line">
            <a:avLst/>
          </a:prstGeom>
          <a:noFill/>
          <a:ln w="9525">
            <a:solidFill>
              <a:srgbClr val="080808"/>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4" name="Text Box 9"/>
          <p:cNvSpPr txBox="1">
            <a:spLocks noChangeArrowheads="1"/>
          </p:cNvSpPr>
          <p:nvPr/>
        </p:nvSpPr>
        <p:spPr bwMode="auto">
          <a:xfrm>
            <a:off x="5292725" y="2276475"/>
            <a:ext cx="15128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b="1">
                <a:solidFill>
                  <a:srgbClr val="080808"/>
                </a:solidFill>
                <a:latin typeface="Comic Sans MS" panose="030F0702030302020204" pitchFamily="66" charset="0"/>
                <a:ea typeface="华文新魏" panose="02010800040101010101" pitchFamily="2" charset="-122"/>
              </a:rPr>
              <a:t>内核</a:t>
            </a:r>
            <a:endParaRPr lang="zh-CN" altLang="en-US" sz="1800" b="1">
              <a:solidFill>
                <a:srgbClr val="080808"/>
              </a:solidFill>
              <a:latin typeface="Comic Sans MS" panose="030F0702030302020204" pitchFamily="66" charset="0"/>
              <a:ea typeface="华文新魏" panose="02010800040101010101" pitchFamily="2" charset="-122"/>
            </a:endParaRPr>
          </a:p>
        </p:txBody>
      </p:sp>
      <p:sp>
        <p:nvSpPr>
          <p:cNvPr id="148490" name="Text Box 10"/>
          <p:cNvSpPr txBox="1">
            <a:spLocks noChangeArrowheads="1"/>
          </p:cNvSpPr>
          <p:nvPr/>
        </p:nvSpPr>
        <p:spPr bwMode="auto">
          <a:xfrm>
            <a:off x="3636963" y="2492375"/>
            <a:ext cx="2159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系统调用</a:t>
            </a:r>
            <a:r>
              <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sigaction</a:t>
            </a:r>
            <a:endPar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48491" name="Text Box 11"/>
          <p:cNvSpPr txBox="1">
            <a:spLocks noChangeArrowheads="1"/>
          </p:cNvSpPr>
          <p:nvPr/>
        </p:nvSpPr>
        <p:spPr bwMode="auto">
          <a:xfrm>
            <a:off x="2195513" y="5229225"/>
            <a:ext cx="15128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处理数据报</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48492" name="Text Box 12"/>
          <p:cNvSpPr txBox="1">
            <a:spLocks noChangeArrowheads="1"/>
          </p:cNvSpPr>
          <p:nvPr/>
        </p:nvSpPr>
        <p:spPr bwMode="auto">
          <a:xfrm>
            <a:off x="5292725" y="5011738"/>
            <a:ext cx="18002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拷贝完成</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48493" name="Text Box 13"/>
          <p:cNvSpPr txBox="1">
            <a:spLocks noChangeArrowheads="1"/>
          </p:cNvSpPr>
          <p:nvPr/>
        </p:nvSpPr>
        <p:spPr bwMode="auto">
          <a:xfrm>
            <a:off x="3852863" y="4868863"/>
            <a:ext cx="16557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返回成功指示</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75789" name="Line 14"/>
          <p:cNvSpPr>
            <a:spLocks noChangeShapeType="1"/>
          </p:cNvSpPr>
          <p:nvPr/>
        </p:nvSpPr>
        <p:spPr bwMode="auto">
          <a:xfrm flipH="1">
            <a:off x="3565525" y="5227638"/>
            <a:ext cx="1871663" cy="0"/>
          </a:xfrm>
          <a:prstGeom prst="line">
            <a:avLst/>
          </a:prstGeom>
          <a:noFill/>
          <a:ln w="9525">
            <a:solidFill>
              <a:srgbClr val="080808"/>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495" name="Text Box 15"/>
          <p:cNvSpPr txBox="1">
            <a:spLocks noChangeArrowheads="1"/>
          </p:cNvSpPr>
          <p:nvPr/>
        </p:nvSpPr>
        <p:spPr bwMode="auto">
          <a:xfrm>
            <a:off x="5292725" y="3787775"/>
            <a:ext cx="1800225"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数据报准备好</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a:p>
            <a:pPr algn="ctr">
              <a:lnSpc>
                <a:spcPct val="130000"/>
              </a:lnSpc>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拷贝数据报</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75791" name="Line 16"/>
          <p:cNvSpPr>
            <a:spLocks noChangeShapeType="1"/>
          </p:cNvSpPr>
          <p:nvPr/>
        </p:nvSpPr>
        <p:spPr bwMode="auto">
          <a:xfrm>
            <a:off x="6157913" y="4435475"/>
            <a:ext cx="0" cy="649288"/>
          </a:xfrm>
          <a:prstGeom prst="line">
            <a:avLst/>
          </a:prstGeom>
          <a:noFill/>
          <a:ln w="9525">
            <a:solidFill>
              <a:srgbClr val="080808"/>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2" name="AutoShape 17"/>
          <p:cNvSpPr/>
          <p:nvPr/>
        </p:nvSpPr>
        <p:spPr bwMode="auto">
          <a:xfrm>
            <a:off x="6950075" y="2852738"/>
            <a:ext cx="71438" cy="1150937"/>
          </a:xfrm>
          <a:prstGeom prst="rightBrace">
            <a:avLst>
              <a:gd name="adj1" fmla="val 134109"/>
              <a:gd name="adj2" fmla="val 51167"/>
            </a:avLst>
          </a:prstGeom>
          <a:noFill/>
          <a:ln w="9525">
            <a:solidFill>
              <a:srgbClr val="080808"/>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793" name="AutoShape 18"/>
          <p:cNvSpPr/>
          <p:nvPr/>
        </p:nvSpPr>
        <p:spPr bwMode="auto">
          <a:xfrm>
            <a:off x="6950075" y="4292600"/>
            <a:ext cx="71438" cy="935038"/>
          </a:xfrm>
          <a:prstGeom prst="rightBrace">
            <a:avLst>
              <a:gd name="adj1" fmla="val 108952"/>
              <a:gd name="adj2" fmla="val 51167"/>
            </a:avLst>
          </a:prstGeom>
          <a:noFill/>
          <a:ln w="9525">
            <a:solidFill>
              <a:srgbClr val="080808"/>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8499" name="Text Box 19"/>
          <p:cNvSpPr txBox="1">
            <a:spLocks noChangeArrowheads="1"/>
          </p:cNvSpPr>
          <p:nvPr/>
        </p:nvSpPr>
        <p:spPr bwMode="auto">
          <a:xfrm>
            <a:off x="7073900" y="3217863"/>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等待数据</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48500" name="Text Box 20"/>
          <p:cNvSpPr txBox="1">
            <a:spLocks noChangeArrowheads="1"/>
          </p:cNvSpPr>
          <p:nvPr/>
        </p:nvSpPr>
        <p:spPr bwMode="auto">
          <a:xfrm>
            <a:off x="217488" y="3349625"/>
            <a:ext cx="2051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进程继续执行</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75796" name="Line 21"/>
          <p:cNvSpPr>
            <a:spLocks noChangeShapeType="1"/>
          </p:cNvSpPr>
          <p:nvPr/>
        </p:nvSpPr>
        <p:spPr bwMode="auto">
          <a:xfrm flipH="1">
            <a:off x="3565525" y="4003675"/>
            <a:ext cx="1728788" cy="0"/>
          </a:xfrm>
          <a:prstGeom prst="line">
            <a:avLst/>
          </a:prstGeom>
          <a:noFill/>
          <a:ln w="9525">
            <a:solidFill>
              <a:srgbClr val="080808"/>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02" name="Text Box 22"/>
          <p:cNvSpPr txBox="1">
            <a:spLocks noChangeArrowheads="1"/>
          </p:cNvSpPr>
          <p:nvPr/>
        </p:nvSpPr>
        <p:spPr bwMode="auto">
          <a:xfrm>
            <a:off x="3636963" y="3644900"/>
            <a:ext cx="1657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递交</a:t>
            </a:r>
            <a:r>
              <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SIGIO</a:t>
            </a:r>
            <a:endPar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48503" name="Text Box 23"/>
          <p:cNvSpPr txBox="1">
            <a:spLocks noChangeArrowheads="1"/>
          </p:cNvSpPr>
          <p:nvPr/>
        </p:nvSpPr>
        <p:spPr bwMode="auto">
          <a:xfrm>
            <a:off x="2197100" y="4146550"/>
            <a:ext cx="15128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recvfrom</a:t>
            </a:r>
            <a:endParaRPr lang="en-US" altLang="zh-CN"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75799" name="Line 24"/>
          <p:cNvSpPr>
            <a:spLocks noChangeShapeType="1"/>
          </p:cNvSpPr>
          <p:nvPr/>
        </p:nvSpPr>
        <p:spPr bwMode="auto">
          <a:xfrm>
            <a:off x="3565525" y="4364038"/>
            <a:ext cx="1728788" cy="0"/>
          </a:xfrm>
          <a:prstGeom prst="line">
            <a:avLst/>
          </a:prstGeom>
          <a:noFill/>
          <a:ln w="9525">
            <a:solidFill>
              <a:srgbClr val="080808"/>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05" name="Text Box 25"/>
          <p:cNvSpPr txBox="1">
            <a:spLocks noChangeArrowheads="1"/>
          </p:cNvSpPr>
          <p:nvPr/>
        </p:nvSpPr>
        <p:spPr bwMode="auto">
          <a:xfrm>
            <a:off x="3636963" y="4003675"/>
            <a:ext cx="15128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系统调用</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75801" name="AutoShape 26"/>
          <p:cNvSpPr/>
          <p:nvPr/>
        </p:nvSpPr>
        <p:spPr bwMode="auto">
          <a:xfrm>
            <a:off x="2197100" y="4435475"/>
            <a:ext cx="71438" cy="1298575"/>
          </a:xfrm>
          <a:prstGeom prst="leftBrace">
            <a:avLst>
              <a:gd name="adj1" fmla="val 151312"/>
              <a:gd name="adj2" fmla="val 50000"/>
            </a:avLst>
          </a:prstGeom>
          <a:noFill/>
          <a:ln w="9525">
            <a:solidFill>
              <a:srgbClr val="080808"/>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802" name="Text Box 27"/>
          <p:cNvSpPr txBox="1">
            <a:spLocks noChangeArrowheads="1"/>
          </p:cNvSpPr>
          <p:nvPr/>
        </p:nvSpPr>
        <p:spPr bwMode="auto">
          <a:xfrm>
            <a:off x="7094538" y="4435475"/>
            <a:ext cx="17986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80808"/>
                </a:solidFill>
                <a:latin typeface="Comic Sans MS" panose="030F0702030302020204" pitchFamily="66" charset="0"/>
                <a:ea typeface="华文新魏" panose="02010800040101010101" pitchFamily="2" charset="-122"/>
              </a:rPr>
              <a:t>将数据从内核拷贝到用户空间</a:t>
            </a:r>
            <a:endParaRPr lang="zh-CN" altLang="en-US" sz="1800">
              <a:solidFill>
                <a:srgbClr val="080808"/>
              </a:solidFill>
              <a:latin typeface="Comic Sans MS" panose="030F0702030302020204" pitchFamily="66" charset="0"/>
              <a:ea typeface="华文新魏" panose="02010800040101010101" pitchFamily="2" charset="-122"/>
            </a:endParaRPr>
          </a:p>
        </p:txBody>
      </p:sp>
      <p:sp>
        <p:nvSpPr>
          <p:cNvPr id="75803" name="Line 28"/>
          <p:cNvSpPr>
            <a:spLocks noChangeShapeType="1"/>
          </p:cNvSpPr>
          <p:nvPr/>
        </p:nvSpPr>
        <p:spPr bwMode="auto">
          <a:xfrm flipH="1">
            <a:off x="3635375" y="2997200"/>
            <a:ext cx="1584325" cy="0"/>
          </a:xfrm>
          <a:prstGeom prst="line">
            <a:avLst/>
          </a:prstGeom>
          <a:noFill/>
          <a:ln w="9525">
            <a:solidFill>
              <a:srgbClr val="080808"/>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09" name="Text Box 29"/>
          <p:cNvSpPr txBox="1">
            <a:spLocks noChangeArrowheads="1"/>
          </p:cNvSpPr>
          <p:nvPr/>
        </p:nvSpPr>
        <p:spPr bwMode="auto">
          <a:xfrm>
            <a:off x="3635375" y="2924175"/>
            <a:ext cx="2159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返回</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
        <p:nvSpPr>
          <p:cNvPr id="148510" name="Text Box 30"/>
          <p:cNvSpPr txBox="1">
            <a:spLocks noChangeArrowheads="1"/>
          </p:cNvSpPr>
          <p:nvPr/>
        </p:nvSpPr>
        <p:spPr bwMode="auto">
          <a:xfrm>
            <a:off x="2124075" y="3789363"/>
            <a:ext cx="1657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rPr>
              <a:t>信号处理程序</a:t>
            </a:r>
            <a:endParaRPr lang="zh-CN" altLang="en-US" sz="1800">
              <a:solidFill>
                <a:srgbClr val="080808"/>
              </a:solidFill>
              <a:effectLst>
                <a:outerShdw blurRad="38100" dist="38100" dir="2700000" algn="tl">
                  <a:srgbClr val="FFFFFF"/>
                </a:outerShdw>
              </a:effectLst>
              <a:latin typeface="Comic Sans MS" panose="030F0702030302020204" pitchFamily="66" charset="0"/>
              <a:ea typeface="华文新魏" panose="02010800040101010101" pitchFamily="2" charset="-122"/>
            </a:endParaRPr>
          </a:p>
        </p:txBody>
      </p:sp>
    </p:spTree>
  </p:cSld>
  <p:clrMapOvr>
    <a:masterClrMapping/>
  </p:clrMapOvr>
  <p:transition spd="slow">
    <p:wipe dir="r"/>
    <p:sndAc>
      <p:endSnd/>
    </p:sndAc>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p:txBody>
          <a:bodyPr/>
          <a:lstStyle/>
          <a:p>
            <a:pPr eaLnBrk="1" hangingPunct="1"/>
            <a:r>
              <a:rPr lang="zh-CN" altLang="en-US"/>
              <a:t>信号驱动</a:t>
            </a:r>
            <a:r>
              <a:rPr lang="en-US" altLang="zh-CN"/>
              <a:t>I/O</a:t>
            </a:r>
            <a:r>
              <a:rPr lang="zh-CN" altLang="en-US"/>
              <a:t>的实现</a:t>
            </a:r>
            <a:endParaRPr lang="zh-CN" altLang="en-US"/>
          </a:p>
        </p:txBody>
      </p:sp>
      <p:sp>
        <p:nvSpPr>
          <p:cNvPr id="76802" name="Rectangle 3"/>
          <p:cNvSpPr>
            <a:spLocks noGrp="1" noChangeArrowheads="1"/>
          </p:cNvSpPr>
          <p:nvPr>
            <p:ph idx="1"/>
          </p:nvPr>
        </p:nvSpPr>
        <p:spPr>
          <a:xfrm>
            <a:off x="685800" y="1981200"/>
            <a:ext cx="8001000" cy="4114800"/>
          </a:xfrm>
        </p:spPr>
        <p:txBody>
          <a:bodyPr/>
          <a:lstStyle/>
          <a:p>
            <a:pPr eaLnBrk="1" hangingPunct="1">
              <a:lnSpc>
                <a:spcPct val="90000"/>
              </a:lnSpc>
              <a:buFontTx/>
              <a:buNone/>
            </a:pPr>
            <a:r>
              <a:rPr lang="en-US" altLang="zh-CN" sz="2800"/>
              <a:t>           </a:t>
            </a:r>
            <a:r>
              <a:rPr lang="zh-CN" altLang="en-US" sz="2800"/>
              <a:t>进程通过截取中断信号来获知某个描述符发生了</a:t>
            </a:r>
            <a:r>
              <a:rPr lang="en-US" altLang="zh-CN" sz="2800"/>
              <a:t>I/O</a:t>
            </a:r>
            <a:r>
              <a:rPr lang="zh-CN" altLang="en-US" sz="2800"/>
              <a:t>事件，并对之进行输入输出操作。</a:t>
            </a:r>
            <a:endParaRPr lang="zh-CN" altLang="en-US" sz="2800"/>
          </a:p>
          <a:p>
            <a:pPr eaLnBrk="1" hangingPunct="1">
              <a:lnSpc>
                <a:spcPct val="90000"/>
              </a:lnSpc>
              <a:buFontTx/>
              <a:buNone/>
            </a:pPr>
            <a:r>
              <a:rPr lang="zh-CN" altLang="en-US" sz="2800"/>
              <a:t>           </a:t>
            </a:r>
            <a:r>
              <a:rPr lang="en-US" altLang="zh-CN" sz="2800"/>
              <a:t>SIGIO</a:t>
            </a:r>
            <a:r>
              <a:rPr lang="zh-CN" altLang="en-US" sz="2800"/>
              <a:t>是描述符发生</a:t>
            </a:r>
            <a:r>
              <a:rPr lang="en-US" altLang="zh-CN" sz="2800"/>
              <a:t>I/O</a:t>
            </a:r>
            <a:r>
              <a:rPr lang="zh-CN" altLang="en-US" sz="2800"/>
              <a:t>事件时系统产生的中断信号。当一个描述符的标志</a:t>
            </a:r>
            <a:r>
              <a:rPr lang="en-US" altLang="zh-CN" sz="2800"/>
              <a:t>O_ASYNC</a:t>
            </a:r>
            <a:r>
              <a:rPr lang="zh-CN" altLang="en-US" sz="2800"/>
              <a:t>被置位，如果有</a:t>
            </a:r>
            <a:r>
              <a:rPr lang="en-US" altLang="zh-CN" sz="2800"/>
              <a:t>I/O</a:t>
            </a:r>
            <a:r>
              <a:rPr lang="zh-CN" altLang="en-US" sz="2800"/>
              <a:t>事件发生，系统将</a:t>
            </a:r>
            <a:r>
              <a:rPr lang="en-US" altLang="zh-CN" sz="2800"/>
              <a:t>SIGIO</a:t>
            </a:r>
            <a:r>
              <a:rPr lang="zh-CN" altLang="en-US" sz="2800"/>
              <a:t>信号发送到描述符所在的进程。因此，在一个进程中设置一个信号驱动的描述符必须要指明负责处理该描述符的中断的进程。哪个进程是该描述符的属主进程，哪个进程就负责处理该描述符上的</a:t>
            </a:r>
            <a:r>
              <a:rPr lang="en-US" altLang="zh-CN" sz="2800"/>
              <a:t>SIGIO</a:t>
            </a:r>
            <a:r>
              <a:rPr lang="zh-CN" altLang="en-US" sz="2800"/>
              <a:t>中断。</a:t>
            </a:r>
            <a:endParaRPr lang="zh-CN" altLang="en-US" sz="28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3"/>
          <p:cNvSpPr>
            <a:spLocks noGrp="1" noChangeArrowheads="1"/>
          </p:cNvSpPr>
          <p:nvPr>
            <p:ph idx="1"/>
          </p:nvPr>
        </p:nvSpPr>
        <p:spPr>
          <a:xfrm>
            <a:off x="685800" y="457200"/>
            <a:ext cx="7772400" cy="6211888"/>
          </a:xfrm>
        </p:spPr>
        <p:txBody>
          <a:bodyPr/>
          <a:lstStyle/>
          <a:p>
            <a:pPr marL="609600" indent="-609600" eaLnBrk="1" hangingPunct="1">
              <a:lnSpc>
                <a:spcPct val="90000"/>
              </a:lnSpc>
              <a:buFontTx/>
              <a:buNone/>
            </a:pPr>
            <a:r>
              <a:rPr lang="zh-CN" altLang="en-US"/>
              <a:t>要通过信号驱动方式对多个句柄进行复用，要通过如下几个步骤：</a:t>
            </a:r>
            <a:endParaRPr lang="zh-CN" altLang="en-US"/>
          </a:p>
          <a:p>
            <a:pPr marL="609600" indent="-609600" eaLnBrk="1" hangingPunct="1">
              <a:lnSpc>
                <a:spcPct val="90000"/>
              </a:lnSpc>
              <a:buFont typeface="Wingdings" panose="05000000000000000000" pitchFamily="2" charset="2"/>
              <a:buAutoNum type="arabicPeriod"/>
            </a:pPr>
            <a:r>
              <a:rPr lang="zh-CN" altLang="en-US"/>
              <a:t>将这些句柄（描述符）的属主都设为一个进程。</a:t>
            </a:r>
            <a:endParaRPr lang="zh-CN" altLang="en-US"/>
          </a:p>
          <a:p>
            <a:pPr marL="609600" indent="-609600" eaLnBrk="1" hangingPunct="1">
              <a:lnSpc>
                <a:spcPct val="90000"/>
              </a:lnSpc>
              <a:buFont typeface="Wingdings" panose="05000000000000000000" pitchFamily="2" charset="2"/>
              <a:buAutoNum type="arabicPeriod"/>
            </a:pPr>
            <a:r>
              <a:rPr lang="zh-CN" altLang="en-US"/>
              <a:t>将这些句柄（描述符）的标志位</a:t>
            </a:r>
            <a:r>
              <a:rPr lang="en-US" altLang="zh-CN"/>
              <a:t>O_ASYNC</a:t>
            </a:r>
            <a:r>
              <a:rPr lang="zh-CN" altLang="en-US"/>
              <a:t>打开，让句柄（描述符）发生</a:t>
            </a:r>
            <a:r>
              <a:rPr lang="en-US" altLang="zh-CN"/>
              <a:t>I/O</a:t>
            </a:r>
            <a:r>
              <a:rPr lang="zh-CN" altLang="en-US"/>
              <a:t>事件时发送</a:t>
            </a:r>
            <a:r>
              <a:rPr lang="en-US" altLang="zh-CN"/>
              <a:t>SIGIO</a:t>
            </a:r>
            <a:r>
              <a:rPr lang="zh-CN" altLang="en-US"/>
              <a:t>信号。</a:t>
            </a:r>
            <a:endParaRPr lang="zh-CN" altLang="en-US"/>
          </a:p>
          <a:p>
            <a:pPr marL="609600" indent="-609600" eaLnBrk="1" hangingPunct="1">
              <a:lnSpc>
                <a:spcPct val="90000"/>
              </a:lnSpc>
              <a:buFont typeface="Wingdings" panose="05000000000000000000" pitchFamily="2" charset="2"/>
              <a:buAutoNum type="arabicPeriod"/>
            </a:pPr>
            <a:r>
              <a:rPr lang="zh-CN" altLang="en-US"/>
              <a:t>在属主进程中设置对</a:t>
            </a:r>
            <a:r>
              <a:rPr lang="en-US" altLang="zh-CN"/>
              <a:t>SIGIO</a:t>
            </a:r>
            <a:r>
              <a:rPr lang="zh-CN" altLang="en-US"/>
              <a:t>信号的处理。</a:t>
            </a:r>
            <a:endParaRPr lang="zh-CN" altLang="en-US"/>
          </a:p>
          <a:p>
            <a:pPr marL="609600" indent="-609600" eaLnBrk="1" hangingPunct="1">
              <a:lnSpc>
                <a:spcPct val="90000"/>
              </a:lnSpc>
              <a:buFont typeface="Wingdings" panose="05000000000000000000" pitchFamily="2" charset="2"/>
              <a:buAutoNum type="arabicPeriod"/>
            </a:pPr>
            <a:r>
              <a:rPr lang="zh-CN" altLang="en-US"/>
              <a:t>当有</a:t>
            </a:r>
            <a:r>
              <a:rPr lang="en-US" altLang="zh-CN"/>
              <a:t>I/O</a:t>
            </a:r>
            <a:r>
              <a:rPr lang="zh-CN" altLang="en-US"/>
              <a:t>事件在任何一个句柄（描述符）上发生时，系统都会向进程发送</a:t>
            </a:r>
            <a:r>
              <a:rPr lang="en-US" altLang="zh-CN"/>
              <a:t>SIGIO</a:t>
            </a:r>
            <a:r>
              <a:rPr lang="zh-CN" altLang="en-US"/>
              <a:t>信号。进程在对</a:t>
            </a:r>
            <a:r>
              <a:rPr lang="en-US" altLang="zh-CN"/>
              <a:t>SIGIO</a:t>
            </a:r>
            <a:r>
              <a:rPr lang="zh-CN" altLang="en-US"/>
              <a:t>的中断处理中再查询各个句柄（描述符）状态，进行相应的处理。</a:t>
            </a: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p:txBody>
          <a:bodyPr/>
          <a:lstStyle/>
          <a:p>
            <a:pPr eaLnBrk="1" hangingPunct="1"/>
            <a:endParaRPr lang="zh-CN" altLang="zh-CN"/>
          </a:p>
        </p:txBody>
      </p:sp>
      <p:sp>
        <p:nvSpPr>
          <p:cNvPr id="78850" name="Rectangle 3"/>
          <p:cNvSpPr>
            <a:spLocks noGrp="1" noChangeArrowheads="1"/>
          </p:cNvSpPr>
          <p:nvPr>
            <p:ph idx="1"/>
          </p:nvPr>
        </p:nvSpPr>
        <p:spPr/>
        <p:txBody>
          <a:bodyPr/>
          <a:lstStyle/>
          <a:p>
            <a:pPr eaLnBrk="1" hangingPunct="1">
              <a:lnSpc>
                <a:spcPct val="90000"/>
              </a:lnSpc>
              <a:buFontTx/>
              <a:buNone/>
            </a:pPr>
            <a:r>
              <a:rPr lang="en-US" altLang="zh-CN"/>
              <a:t>		</a:t>
            </a:r>
            <a:r>
              <a:rPr lang="zh-CN" altLang="en-US"/>
              <a:t>在一个监听某个端口的套接字上成功的建立了一个新连接。</a:t>
            </a:r>
            <a:br>
              <a:rPr lang="zh-CN" altLang="en-US"/>
            </a:br>
            <a:r>
              <a:rPr lang="zh-CN" altLang="en-US"/>
              <a:t>	一个断线的请求被成功的初始化。</a:t>
            </a:r>
            <a:br>
              <a:rPr lang="zh-CN" altLang="en-US"/>
            </a:br>
            <a:r>
              <a:rPr lang="zh-CN" altLang="en-US"/>
              <a:t>	一个断线的请求成功的结束。</a:t>
            </a:r>
            <a:br>
              <a:rPr lang="zh-CN" altLang="en-US"/>
            </a:br>
            <a:r>
              <a:rPr lang="zh-CN" altLang="en-US"/>
              <a:t>	套接字的某一个通道（发送通道或是接收通道）被关闭。</a:t>
            </a:r>
            <a:br>
              <a:rPr lang="zh-CN" altLang="en-US"/>
            </a:br>
            <a:r>
              <a:rPr lang="zh-CN" altLang="en-US"/>
              <a:t>	套接字接收到新数据。</a:t>
            </a:r>
            <a:br>
              <a:rPr lang="zh-CN" altLang="en-US"/>
            </a:br>
            <a:r>
              <a:rPr lang="zh-CN" altLang="en-US"/>
              <a:t>	套接字将数据发送出去。</a:t>
            </a:r>
            <a:br>
              <a:rPr lang="zh-CN" altLang="en-US"/>
            </a:br>
            <a:r>
              <a:rPr lang="zh-CN" altLang="en-US"/>
              <a:t>	发生了一个异步</a:t>
            </a:r>
            <a:r>
              <a:rPr lang="en-US" altLang="zh-CN"/>
              <a:t>I/</a:t>
            </a:r>
            <a:r>
              <a:rPr lang="en-US" altLang="zh-CN" b="1"/>
              <a:t>O</a:t>
            </a:r>
            <a:r>
              <a:rPr lang="en-US" altLang="zh-CN"/>
              <a:t> </a:t>
            </a:r>
            <a:r>
              <a:rPr lang="zh-CN" altLang="en-US"/>
              <a:t>的错误。</a:t>
            </a:r>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3"/>
          <p:cNvSpPr>
            <a:spLocks noGrp="1" noChangeArrowheads="1"/>
          </p:cNvSpPr>
          <p:nvPr>
            <p:ph idx="1"/>
          </p:nvPr>
        </p:nvSpPr>
        <p:spPr>
          <a:xfrm>
            <a:off x="685800" y="0"/>
            <a:ext cx="7924800" cy="6858000"/>
          </a:xfrm>
        </p:spPr>
        <p:txBody>
          <a:bodyPr/>
          <a:lstStyle/>
          <a:p>
            <a:pPr eaLnBrk="1" hangingPunct="1">
              <a:lnSpc>
                <a:spcPct val="80000"/>
              </a:lnSpc>
              <a:buFontTx/>
              <a:buNone/>
            </a:pPr>
            <a:r>
              <a:rPr lang="en-US" altLang="zh-CN" sz="2800"/>
              <a:t>void ioaction(int signo)  /*</a:t>
            </a:r>
            <a:r>
              <a:rPr lang="zh-CN" altLang="en-US" sz="2800"/>
              <a:t>定义信号处理程序*</a:t>
            </a:r>
            <a:r>
              <a:rPr lang="en-US" altLang="zh-CN" sz="2800"/>
              <a:t>/</a:t>
            </a:r>
            <a:endParaRPr lang="en-US" altLang="zh-CN" sz="2800"/>
          </a:p>
          <a:p>
            <a:pPr eaLnBrk="1" hangingPunct="1">
              <a:lnSpc>
                <a:spcPct val="80000"/>
              </a:lnSpc>
              <a:buFontTx/>
              <a:buNone/>
            </a:pPr>
            <a:r>
              <a:rPr lang="en-US" altLang="zh-CN" sz="2800"/>
              <a:t>{….}</a:t>
            </a:r>
            <a:endParaRPr lang="en-US" altLang="zh-CN" sz="2800"/>
          </a:p>
          <a:p>
            <a:pPr eaLnBrk="1" hangingPunct="1">
              <a:lnSpc>
                <a:spcPct val="80000"/>
              </a:lnSpc>
              <a:buFontTx/>
              <a:buNone/>
            </a:pPr>
            <a:r>
              <a:rPr lang="en-US" altLang="zh-CN" sz="2800"/>
              <a:t>int main()</a:t>
            </a:r>
            <a:endParaRPr lang="en-US" altLang="zh-CN" sz="2800"/>
          </a:p>
          <a:p>
            <a:pPr eaLnBrk="1" hangingPunct="1">
              <a:lnSpc>
                <a:spcPct val="80000"/>
              </a:lnSpc>
              <a:buFontTx/>
              <a:buNone/>
            </a:pPr>
            <a:r>
              <a:rPr lang="en-US" altLang="zh-CN" sz="2800"/>
              <a:t>{</a:t>
            </a:r>
            <a:endParaRPr lang="en-US" altLang="zh-CN" sz="2800"/>
          </a:p>
          <a:p>
            <a:pPr eaLnBrk="1" hangingPunct="1">
              <a:lnSpc>
                <a:spcPct val="80000"/>
              </a:lnSpc>
              <a:buFontTx/>
              <a:buNone/>
            </a:pPr>
            <a:r>
              <a:rPr lang="en-US" altLang="zh-CN" sz="2800"/>
              <a:t>stdinfd=fileno(stdin);</a:t>
            </a:r>
            <a:endParaRPr lang="en-US" altLang="zh-CN" sz="2800"/>
          </a:p>
          <a:p>
            <a:pPr eaLnBrk="1" hangingPunct="1">
              <a:lnSpc>
                <a:spcPct val="80000"/>
              </a:lnSpc>
              <a:buFontTx/>
              <a:buNone/>
            </a:pPr>
            <a:r>
              <a:rPr lang="en-US" altLang="zh-CN" sz="2800"/>
              <a:t>signal(SIGIO,ioaction); /*</a:t>
            </a:r>
            <a:r>
              <a:rPr lang="zh-CN" altLang="en-US" sz="2800"/>
              <a:t>指定信号处理程序*</a:t>
            </a:r>
            <a:r>
              <a:rPr lang="en-US" altLang="zh-CN" sz="2800"/>
              <a:t>/</a:t>
            </a:r>
            <a:endParaRPr lang="en-US" altLang="zh-CN" sz="2800"/>
          </a:p>
          <a:p>
            <a:pPr eaLnBrk="1" hangingPunct="1">
              <a:lnSpc>
                <a:spcPct val="80000"/>
              </a:lnSpc>
              <a:buFontTx/>
              <a:buNone/>
            </a:pPr>
            <a:r>
              <a:rPr lang="en-US" altLang="zh-CN" sz="2800"/>
              <a:t>fcntl(sockfd,F_SETOWN,getpid()); /*</a:t>
            </a:r>
            <a:r>
              <a:rPr lang="zh-CN" altLang="en-US" sz="2800"/>
              <a:t>句柄（描述符）所有者为当前进程*</a:t>
            </a:r>
            <a:r>
              <a:rPr lang="en-US" altLang="zh-CN" sz="2800"/>
              <a:t>/</a:t>
            </a:r>
            <a:endParaRPr lang="en-US" altLang="zh-CN" sz="2800"/>
          </a:p>
          <a:p>
            <a:pPr eaLnBrk="1" hangingPunct="1">
              <a:lnSpc>
                <a:spcPct val="80000"/>
              </a:lnSpc>
              <a:buFontTx/>
              <a:buNone/>
            </a:pPr>
            <a:r>
              <a:rPr lang="en-US" altLang="zh-CN" sz="2800"/>
              <a:t>int on=1;</a:t>
            </a:r>
            <a:endParaRPr lang="en-US" altLang="zh-CN" sz="2800"/>
          </a:p>
          <a:p>
            <a:pPr eaLnBrk="1" hangingPunct="1">
              <a:lnSpc>
                <a:spcPct val="80000"/>
              </a:lnSpc>
              <a:buFontTx/>
              <a:buNone/>
            </a:pPr>
            <a:r>
              <a:rPr lang="en-US" altLang="zh-CN" sz="2800"/>
              <a:t>ioctl(sockfd,FIOASYNC,&amp;on); /*sockfd</a:t>
            </a:r>
            <a:r>
              <a:rPr lang="zh-CN" altLang="en-US" sz="2800"/>
              <a:t>发生</a:t>
            </a:r>
            <a:r>
              <a:rPr lang="en-US" altLang="zh-CN" sz="2800"/>
              <a:t>I/O</a:t>
            </a:r>
            <a:r>
              <a:rPr lang="zh-CN" altLang="en-US" sz="2800"/>
              <a:t>事件时发送</a:t>
            </a:r>
            <a:r>
              <a:rPr lang="en-US" altLang="zh-CN" sz="2800"/>
              <a:t>SIGIO</a:t>
            </a:r>
            <a:r>
              <a:rPr lang="zh-CN" altLang="en-US" sz="2800"/>
              <a:t>信号*</a:t>
            </a:r>
            <a:r>
              <a:rPr lang="en-US" altLang="zh-CN" sz="2800"/>
              <a:t>/</a:t>
            </a:r>
            <a:endParaRPr lang="en-US" altLang="zh-CN" sz="2800"/>
          </a:p>
          <a:p>
            <a:pPr eaLnBrk="1" hangingPunct="1">
              <a:lnSpc>
                <a:spcPct val="80000"/>
              </a:lnSpc>
              <a:buFontTx/>
              <a:buNone/>
            </a:pPr>
            <a:r>
              <a:rPr lang="en-US" altLang="zh-CN" sz="2800"/>
              <a:t> for(;;)</a:t>
            </a:r>
            <a:endParaRPr lang="en-US" altLang="zh-CN" sz="2800"/>
          </a:p>
          <a:p>
            <a:pPr eaLnBrk="1" hangingPunct="1">
              <a:lnSpc>
                <a:spcPct val="80000"/>
              </a:lnSpc>
              <a:buFontTx/>
              <a:buNone/>
            </a:pPr>
            <a:r>
              <a:rPr lang="en-US" altLang="zh-CN" sz="2800"/>
              <a:t>   {</a:t>
            </a:r>
            <a:endParaRPr lang="en-US" altLang="zh-CN" sz="2800"/>
          </a:p>
          <a:p>
            <a:pPr eaLnBrk="1" hangingPunct="1">
              <a:lnSpc>
                <a:spcPct val="80000"/>
              </a:lnSpc>
              <a:buFontTx/>
              <a:buNone/>
            </a:pPr>
            <a:r>
              <a:rPr lang="en-US" altLang="zh-CN" sz="2800"/>
              <a:t>      n=read(stdinfd,msg,BUFLEN);/*</a:t>
            </a:r>
            <a:r>
              <a:rPr lang="zh-CN" altLang="en-US" sz="2800"/>
              <a:t>可能阻塞</a:t>
            </a:r>
            <a:endParaRPr lang="zh-CN" altLang="en-US" sz="2800"/>
          </a:p>
          <a:p>
            <a:pPr eaLnBrk="1" hangingPunct="1">
              <a:lnSpc>
                <a:spcPct val="80000"/>
              </a:lnSpc>
              <a:buFontTx/>
              <a:buNone/>
            </a:pPr>
            <a:r>
              <a:rPr lang="zh-CN" altLang="en-US" sz="2800"/>
              <a:t>  </a:t>
            </a:r>
            <a:r>
              <a:rPr lang="en-US" altLang="zh-CN" sz="2800"/>
              <a:t>}}</a:t>
            </a:r>
            <a:endParaRPr lang="en-US" altLang="zh-CN" sz="28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ChangeArrowheads="1"/>
          </p:cNvSpPr>
          <p:nvPr>
            <p:ph type="title"/>
          </p:nvPr>
        </p:nvSpPr>
        <p:spPr>
          <a:xfrm>
            <a:off x="609600" y="304800"/>
            <a:ext cx="7772400" cy="609600"/>
          </a:xfrm>
        </p:spPr>
        <p:txBody>
          <a:bodyPr/>
          <a:lstStyle/>
          <a:p>
            <a:pPr eaLnBrk="1" hangingPunct="1"/>
            <a:r>
              <a:rPr lang="zh-CN" altLang="en-US"/>
              <a:t>信号驱动</a:t>
            </a:r>
            <a:r>
              <a:rPr lang="en-US" altLang="zh-CN"/>
              <a:t>I/O</a:t>
            </a:r>
            <a:r>
              <a:rPr lang="zh-CN" altLang="en-US"/>
              <a:t>源程序</a:t>
            </a:r>
            <a:endParaRPr lang="zh-CN" altLang="en-US"/>
          </a:p>
        </p:txBody>
      </p:sp>
      <p:sp>
        <p:nvSpPr>
          <p:cNvPr id="81922" name="Rectangle 3"/>
          <p:cNvSpPr>
            <a:spLocks noGrp="1" noChangeArrowheads="1"/>
          </p:cNvSpPr>
          <p:nvPr>
            <p:ph idx="1"/>
          </p:nvPr>
        </p:nvSpPr>
        <p:spPr>
          <a:xfrm>
            <a:off x="685800" y="1066800"/>
            <a:ext cx="7772400" cy="5675313"/>
          </a:xfrm>
        </p:spPr>
        <p:txBody>
          <a:bodyPr/>
          <a:lstStyle/>
          <a:p>
            <a:pPr eaLnBrk="1" hangingPunct="1">
              <a:lnSpc>
                <a:spcPct val="80000"/>
              </a:lnSpc>
              <a:buFontTx/>
              <a:buNone/>
            </a:pPr>
            <a:r>
              <a:rPr lang="en-US" altLang="zh-CN" sz="2800" b="1"/>
              <a:t>#include &lt;sys/types.h&gt;</a:t>
            </a:r>
            <a:endParaRPr lang="en-US" altLang="zh-CN" sz="2800" b="1"/>
          </a:p>
          <a:p>
            <a:pPr eaLnBrk="1" hangingPunct="1">
              <a:lnSpc>
                <a:spcPct val="80000"/>
              </a:lnSpc>
              <a:buFontTx/>
              <a:buNone/>
            </a:pPr>
            <a:r>
              <a:rPr lang="en-US" altLang="zh-CN" sz="2800" b="1"/>
              <a:t>#include &lt;sys/socket.h&gt;</a:t>
            </a:r>
            <a:endParaRPr lang="en-US" altLang="zh-CN" sz="2800" b="1"/>
          </a:p>
          <a:p>
            <a:pPr eaLnBrk="1" hangingPunct="1">
              <a:lnSpc>
                <a:spcPct val="80000"/>
              </a:lnSpc>
              <a:buFontTx/>
              <a:buNone/>
            </a:pPr>
            <a:r>
              <a:rPr lang="en-US" altLang="zh-CN" sz="2800" b="1"/>
              <a:t>#include &lt;arpa/inet.h&gt;</a:t>
            </a:r>
            <a:endParaRPr lang="en-US" altLang="zh-CN" sz="2800" b="1"/>
          </a:p>
          <a:p>
            <a:pPr eaLnBrk="1" hangingPunct="1">
              <a:lnSpc>
                <a:spcPct val="80000"/>
              </a:lnSpc>
              <a:buFontTx/>
              <a:buNone/>
            </a:pPr>
            <a:r>
              <a:rPr lang="en-US" altLang="zh-CN" sz="2800" b="1"/>
              <a:t>#include &lt;stdio.h&gt;</a:t>
            </a:r>
            <a:endParaRPr lang="en-US" altLang="zh-CN" sz="2800" b="1"/>
          </a:p>
          <a:p>
            <a:pPr eaLnBrk="1" hangingPunct="1">
              <a:lnSpc>
                <a:spcPct val="80000"/>
              </a:lnSpc>
              <a:buFontTx/>
              <a:buNone/>
            </a:pPr>
            <a:r>
              <a:rPr lang="en-US" altLang="zh-CN" sz="2800" b="1"/>
              <a:t>#include &lt;errno.h&gt;</a:t>
            </a:r>
            <a:endParaRPr lang="en-US" altLang="zh-CN" sz="2800" b="1"/>
          </a:p>
          <a:p>
            <a:pPr eaLnBrk="1" hangingPunct="1">
              <a:lnSpc>
                <a:spcPct val="80000"/>
              </a:lnSpc>
              <a:buFontTx/>
              <a:buNone/>
            </a:pPr>
            <a:r>
              <a:rPr lang="en-US" altLang="zh-CN" sz="2800" b="1"/>
              <a:t>#include &lt;signal.h&gt;</a:t>
            </a:r>
            <a:endParaRPr lang="en-US" altLang="zh-CN" sz="2800" b="1"/>
          </a:p>
          <a:p>
            <a:pPr eaLnBrk="1" hangingPunct="1">
              <a:lnSpc>
                <a:spcPct val="80000"/>
              </a:lnSpc>
              <a:buFontTx/>
              <a:buNone/>
            </a:pPr>
            <a:r>
              <a:rPr lang="en-US" altLang="zh-CN" sz="2800" b="1"/>
              <a:t>#include &lt;sys/ioctl.h&gt;</a:t>
            </a:r>
            <a:endParaRPr lang="en-US" altLang="zh-CN" sz="2800" b="1"/>
          </a:p>
          <a:p>
            <a:pPr eaLnBrk="1" hangingPunct="1">
              <a:lnSpc>
                <a:spcPct val="80000"/>
              </a:lnSpc>
              <a:buFontTx/>
              <a:buNone/>
            </a:pPr>
            <a:r>
              <a:rPr lang="en-US" altLang="zh-CN" sz="2800" b="1"/>
              <a:t>#include &lt;unistd.h&gt;</a:t>
            </a:r>
            <a:endParaRPr lang="en-US" altLang="zh-CN" sz="2800" b="1"/>
          </a:p>
          <a:p>
            <a:pPr eaLnBrk="1" hangingPunct="1">
              <a:lnSpc>
                <a:spcPct val="80000"/>
              </a:lnSpc>
              <a:buFontTx/>
              <a:buNone/>
            </a:pPr>
            <a:r>
              <a:rPr lang="en-US" altLang="zh-CN" sz="2800" b="1"/>
              <a:t>#include &lt;sys/time.h&gt;</a:t>
            </a:r>
            <a:endParaRPr lang="en-US" altLang="zh-CN" sz="2800" b="1"/>
          </a:p>
          <a:p>
            <a:pPr eaLnBrk="1" hangingPunct="1">
              <a:lnSpc>
                <a:spcPct val="80000"/>
              </a:lnSpc>
              <a:buFontTx/>
              <a:buNone/>
            </a:pPr>
            <a:r>
              <a:rPr lang="en-US" altLang="zh-CN" sz="2800" b="1"/>
              <a:t>#include &lt;fcntl.h&gt;</a:t>
            </a:r>
            <a:endParaRPr lang="en-US" altLang="zh-CN" sz="2800" b="1"/>
          </a:p>
          <a:p>
            <a:pPr eaLnBrk="1" hangingPunct="1">
              <a:lnSpc>
                <a:spcPct val="80000"/>
              </a:lnSpc>
              <a:buFontTx/>
              <a:buNone/>
            </a:pPr>
            <a:r>
              <a:rPr lang="en-US" altLang="zh-CN" sz="2800" b="1"/>
              <a:t>#define BUFLEN 255</a:t>
            </a:r>
            <a:endParaRPr lang="en-US" altLang="zh-CN" sz="2800" b="1"/>
          </a:p>
          <a:p>
            <a:pPr eaLnBrk="1" hangingPunct="1">
              <a:lnSpc>
                <a:spcPct val="80000"/>
              </a:lnSpc>
              <a:buFontTx/>
              <a:buNone/>
            </a:pPr>
            <a:r>
              <a:rPr lang="en-US" altLang="zh-CN" sz="2800" b="1"/>
              <a:t>#define max(x,y) (((x)&gt;(y))?(x):(y))</a:t>
            </a:r>
            <a:endParaRPr lang="en-US" altLang="zh-CN" sz="2800" b="1"/>
          </a:p>
          <a:p>
            <a:pPr eaLnBrk="1" hangingPunct="1">
              <a:lnSpc>
                <a:spcPct val="80000"/>
              </a:lnSpc>
              <a:buFontTx/>
              <a:buNone/>
            </a:pPr>
            <a:r>
              <a:rPr lang="en-US" altLang="zh-CN" sz="2800" b="1"/>
              <a:t>int sockfd;</a:t>
            </a:r>
            <a:endParaRPr lang="en-US" altLang="zh-CN" sz="2800" b="1"/>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3"/>
          <p:cNvSpPr>
            <a:spLocks noGrp="1" noChangeArrowheads="1"/>
          </p:cNvSpPr>
          <p:nvPr>
            <p:ph idx="1"/>
          </p:nvPr>
        </p:nvSpPr>
        <p:spPr>
          <a:xfrm>
            <a:off x="684213" y="115888"/>
            <a:ext cx="7772400" cy="6597650"/>
          </a:xfrm>
        </p:spPr>
        <p:txBody>
          <a:bodyPr/>
          <a:lstStyle/>
          <a:p>
            <a:pPr eaLnBrk="1" hangingPunct="1">
              <a:lnSpc>
                <a:spcPct val="90000"/>
              </a:lnSpc>
              <a:buFontTx/>
              <a:buNone/>
            </a:pPr>
            <a:r>
              <a:rPr lang="en-US" altLang="zh-CN" sz="2400" b="1"/>
              <a:t>int main(int argc,char**argv)</a:t>
            </a:r>
            <a:endParaRPr lang="en-US" altLang="zh-CN" sz="2400" b="1"/>
          </a:p>
          <a:p>
            <a:pPr eaLnBrk="1" hangingPunct="1">
              <a:lnSpc>
                <a:spcPct val="90000"/>
              </a:lnSpc>
              <a:buFontTx/>
              <a:buNone/>
            </a:pPr>
            <a:r>
              <a:rPr lang="en-US" altLang="zh-CN" sz="2400" b="1"/>
              <a:t>{</a:t>
            </a:r>
            <a:endParaRPr lang="en-US" altLang="zh-CN" sz="2400" b="1"/>
          </a:p>
          <a:p>
            <a:pPr eaLnBrk="1" hangingPunct="1">
              <a:lnSpc>
                <a:spcPct val="90000"/>
              </a:lnSpc>
              <a:buFontTx/>
              <a:buNone/>
            </a:pPr>
            <a:r>
              <a:rPr lang="en-US" altLang="zh-CN" sz="2400" b="1"/>
              <a:t>   struct sockaddr_in peeraddr,localaddr;</a:t>
            </a:r>
            <a:endParaRPr lang="en-US" altLang="zh-CN" sz="2400" b="1"/>
          </a:p>
          <a:p>
            <a:pPr eaLnBrk="1" hangingPunct="1">
              <a:lnSpc>
                <a:spcPct val="90000"/>
              </a:lnSpc>
              <a:buFontTx/>
              <a:buNone/>
            </a:pPr>
            <a:r>
              <a:rPr lang="en-US" altLang="zh-CN" sz="2400" b="1"/>
              <a:t>   int n,maxfd,socklen,stdinfd;</a:t>
            </a:r>
            <a:endParaRPr lang="en-US" altLang="zh-CN" sz="2400" b="1"/>
          </a:p>
          <a:p>
            <a:pPr eaLnBrk="1" hangingPunct="1">
              <a:lnSpc>
                <a:spcPct val="90000"/>
              </a:lnSpc>
              <a:buFontTx/>
              <a:buNone/>
            </a:pPr>
            <a:r>
              <a:rPr lang="en-US" altLang="zh-CN" sz="2400" b="1"/>
              <a:t>   char msg[BUFLEN+1];</a:t>
            </a:r>
            <a:endParaRPr lang="en-US" altLang="zh-CN" sz="2400" b="1"/>
          </a:p>
          <a:p>
            <a:pPr eaLnBrk="1" hangingPunct="1">
              <a:lnSpc>
                <a:spcPct val="90000"/>
              </a:lnSpc>
              <a:buFontTx/>
              <a:buNone/>
            </a:pPr>
            <a:r>
              <a:rPr lang="en-US" altLang="zh-CN" sz="2400" b="1"/>
              <a:t>   fd_set infds;</a:t>
            </a:r>
            <a:endParaRPr lang="en-US" altLang="zh-CN" sz="2400" b="1"/>
          </a:p>
          <a:p>
            <a:pPr eaLnBrk="1" hangingPunct="1">
              <a:lnSpc>
                <a:spcPct val="90000"/>
              </a:lnSpc>
              <a:buFontTx/>
              <a:buNone/>
            </a:pPr>
            <a:r>
              <a:rPr lang="en-US" altLang="zh-CN" sz="2400" b="1"/>
              <a:t>   if(argc!=5)</a:t>
            </a:r>
            <a:endParaRPr lang="en-US" altLang="zh-CN" sz="2400" b="1"/>
          </a:p>
          <a:p>
            <a:pPr eaLnBrk="1" hangingPunct="1">
              <a:lnSpc>
                <a:spcPct val="90000"/>
              </a:lnSpc>
              <a:buFontTx/>
              <a:buNone/>
            </a:pPr>
            <a:r>
              <a:rPr lang="en-US" altLang="zh-CN" sz="2400" b="1"/>
              <a:t>   {</a:t>
            </a:r>
            <a:endParaRPr lang="en-US" altLang="zh-CN" sz="2400" b="1"/>
          </a:p>
          <a:p>
            <a:pPr eaLnBrk="1" hangingPunct="1">
              <a:lnSpc>
                <a:spcPct val="90000"/>
              </a:lnSpc>
              <a:buFontTx/>
              <a:buNone/>
            </a:pPr>
            <a:r>
              <a:rPr lang="en-US" altLang="zh-CN" sz="2400" b="1"/>
              <a:t>      printf("%s&lt;dest IP address&gt;&lt;dest port&gt;&lt;source IP address&gt; &lt;source port&gt;\n",argv[0]);</a:t>
            </a:r>
            <a:endParaRPr lang="en-US" altLang="zh-CN" sz="2400" b="1"/>
          </a:p>
          <a:p>
            <a:pPr eaLnBrk="1" hangingPunct="1">
              <a:lnSpc>
                <a:spcPct val="90000"/>
              </a:lnSpc>
              <a:buFontTx/>
              <a:buNone/>
            </a:pPr>
            <a:r>
              <a:rPr lang="en-US" altLang="zh-CN" sz="2400" b="1"/>
              <a:t>      exit(0);</a:t>
            </a:r>
            <a:endParaRPr lang="en-US" altLang="zh-CN" sz="2400" b="1"/>
          </a:p>
          <a:p>
            <a:pPr eaLnBrk="1" hangingPunct="1">
              <a:lnSpc>
                <a:spcPct val="90000"/>
              </a:lnSpc>
              <a:buFontTx/>
              <a:buNone/>
            </a:pPr>
            <a:r>
              <a:rPr lang="en-US" altLang="zh-CN" sz="2400" b="1"/>
              <a:t>   }</a:t>
            </a:r>
            <a:endParaRPr lang="en-US" altLang="zh-CN" sz="2400" b="1"/>
          </a:p>
          <a:p>
            <a:pPr eaLnBrk="1" hangingPunct="1">
              <a:lnSpc>
                <a:spcPct val="90000"/>
              </a:lnSpc>
              <a:buFontTx/>
              <a:buNone/>
            </a:pPr>
            <a:r>
              <a:rPr lang="en-US" altLang="zh-CN" sz="2400" b="1"/>
              <a:t>   sockfd=socket(AF_INET,SOCK_DGRAM,0);</a:t>
            </a:r>
            <a:endParaRPr lang="en-US" altLang="zh-CN" sz="2400" b="1"/>
          </a:p>
          <a:p>
            <a:pPr eaLnBrk="1" hangingPunct="1">
              <a:lnSpc>
                <a:spcPct val="90000"/>
              </a:lnSpc>
              <a:buFontTx/>
              <a:buNone/>
            </a:pPr>
            <a:r>
              <a:rPr lang="en-US" altLang="zh-CN" sz="2400" b="1"/>
              <a:t>   if(sockfd&lt;0){</a:t>
            </a:r>
            <a:endParaRPr lang="en-US" altLang="zh-CN" sz="2400" b="1"/>
          </a:p>
          <a:p>
            <a:pPr eaLnBrk="1" hangingPunct="1">
              <a:lnSpc>
                <a:spcPct val="90000"/>
              </a:lnSpc>
              <a:buFontTx/>
              <a:buNone/>
            </a:pPr>
            <a:r>
              <a:rPr lang="en-US" altLang="zh-CN" sz="2400" b="1"/>
              <a:t>      fprintf(stderr,"socket creating error in udptalk.c\n");</a:t>
            </a:r>
            <a:endParaRPr lang="en-US" altLang="zh-CN" sz="2400" b="1"/>
          </a:p>
          <a:p>
            <a:pPr eaLnBrk="1" hangingPunct="1">
              <a:lnSpc>
                <a:spcPct val="90000"/>
              </a:lnSpc>
              <a:buFontTx/>
              <a:buNone/>
            </a:pPr>
            <a:r>
              <a:rPr lang="en-US" altLang="zh-CN" sz="2400" b="1"/>
              <a:t>      exit(1);</a:t>
            </a:r>
            <a:endParaRPr lang="en-US" altLang="zh-CN" sz="2400" b="1"/>
          </a:p>
          <a:p>
            <a:pPr eaLnBrk="1" hangingPunct="1">
              <a:lnSpc>
                <a:spcPct val="90000"/>
              </a:lnSpc>
              <a:buFontTx/>
              <a:buNone/>
            </a:pPr>
            <a:r>
              <a:rPr lang="en-US" altLang="zh-CN" sz="2400" b="1"/>
              <a:t>   }</a:t>
            </a:r>
            <a:endParaRPr lang="en-US" altLang="zh-CN" sz="2400" b="1"/>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3"/>
          <p:cNvSpPr>
            <a:spLocks noGrp="1" noChangeArrowheads="1"/>
          </p:cNvSpPr>
          <p:nvPr>
            <p:ph idx="1"/>
          </p:nvPr>
        </p:nvSpPr>
        <p:spPr>
          <a:xfrm>
            <a:off x="250825" y="71438"/>
            <a:ext cx="8642350" cy="6597650"/>
          </a:xfrm>
        </p:spPr>
        <p:txBody>
          <a:bodyPr/>
          <a:lstStyle/>
          <a:p>
            <a:pPr eaLnBrk="1" hangingPunct="1">
              <a:lnSpc>
                <a:spcPct val="80000"/>
              </a:lnSpc>
              <a:buFontTx/>
              <a:buNone/>
            </a:pPr>
            <a:r>
              <a:rPr lang="en-US" altLang="zh-CN" sz="2400" b="1"/>
              <a:t> socklen=sizeof(struct sockaddr_in);</a:t>
            </a:r>
            <a:endParaRPr lang="en-US" altLang="zh-CN" sz="2400" b="1"/>
          </a:p>
          <a:p>
            <a:pPr eaLnBrk="1" hangingPunct="1">
              <a:lnSpc>
                <a:spcPct val="80000"/>
              </a:lnSpc>
              <a:buFontTx/>
              <a:buNone/>
            </a:pPr>
            <a:r>
              <a:rPr lang="en-US" altLang="zh-CN" sz="2400" b="1"/>
              <a:t>   memset(&amp;peeraddr,0,socklen);</a:t>
            </a:r>
            <a:endParaRPr lang="en-US" altLang="zh-CN" sz="2400" b="1"/>
          </a:p>
          <a:p>
            <a:pPr eaLnBrk="1" hangingPunct="1">
              <a:lnSpc>
                <a:spcPct val="80000"/>
              </a:lnSpc>
              <a:buFontTx/>
              <a:buNone/>
            </a:pPr>
            <a:r>
              <a:rPr lang="en-US" altLang="zh-CN" sz="2400" b="1"/>
              <a:t>   peeraddr.sin_family=AF_INET;</a:t>
            </a:r>
            <a:endParaRPr lang="en-US" altLang="zh-CN" sz="2400" b="1"/>
          </a:p>
          <a:p>
            <a:pPr eaLnBrk="1" hangingPunct="1">
              <a:lnSpc>
                <a:spcPct val="80000"/>
              </a:lnSpc>
              <a:buFontTx/>
              <a:buNone/>
            </a:pPr>
            <a:r>
              <a:rPr lang="en-US" altLang="zh-CN" sz="2400" b="1"/>
              <a:t>   peeraddr.sin_port=htons(atoi(argv[2]));</a:t>
            </a:r>
            <a:endParaRPr lang="en-US" altLang="zh-CN" sz="2400" b="1"/>
          </a:p>
          <a:p>
            <a:pPr eaLnBrk="1" hangingPunct="1">
              <a:lnSpc>
                <a:spcPct val="80000"/>
              </a:lnSpc>
              <a:buFontTx/>
              <a:buNone/>
            </a:pPr>
            <a:r>
              <a:rPr lang="en-US" altLang="zh-CN" sz="2400" b="1"/>
              <a:t>   if(inet_pton(AF_INET,argv[1],&amp;peeraddr.sin_addr)&lt;=0){</a:t>
            </a:r>
            <a:endParaRPr lang="en-US" altLang="zh-CN" sz="2400" b="1"/>
          </a:p>
          <a:p>
            <a:pPr eaLnBrk="1" hangingPunct="1">
              <a:lnSpc>
                <a:spcPct val="80000"/>
              </a:lnSpc>
              <a:buFontTx/>
              <a:buNone/>
            </a:pPr>
            <a:r>
              <a:rPr lang="en-US" altLang="zh-CN" sz="2400" b="1"/>
              <a:t>     printf("wrong dest ip address\n");</a:t>
            </a:r>
            <a:endParaRPr lang="en-US" altLang="zh-CN" sz="2400" b="1"/>
          </a:p>
          <a:p>
            <a:pPr eaLnBrk="1" hangingPunct="1">
              <a:lnSpc>
                <a:spcPct val="80000"/>
              </a:lnSpc>
              <a:buFontTx/>
              <a:buNone/>
            </a:pPr>
            <a:r>
              <a:rPr lang="en-US" altLang="zh-CN" sz="2400" b="1"/>
              <a:t>     exit(0);</a:t>
            </a:r>
            <a:endParaRPr lang="en-US" altLang="zh-CN" sz="2400" b="1"/>
          </a:p>
          <a:p>
            <a:pPr eaLnBrk="1" hangingPunct="1">
              <a:lnSpc>
                <a:spcPct val="80000"/>
              </a:lnSpc>
              <a:buFontTx/>
              <a:buNone/>
            </a:pPr>
            <a:r>
              <a:rPr lang="en-US" altLang="zh-CN" sz="2400" b="1"/>
              <a:t>   }</a:t>
            </a:r>
            <a:endParaRPr lang="en-US" altLang="zh-CN" sz="2400" b="1"/>
          </a:p>
          <a:p>
            <a:pPr eaLnBrk="1" hangingPunct="1">
              <a:lnSpc>
                <a:spcPct val="80000"/>
              </a:lnSpc>
              <a:buFontTx/>
              <a:buNone/>
            </a:pPr>
            <a:r>
              <a:rPr lang="en-US" altLang="zh-CN" sz="2400" b="1"/>
              <a:t>   memset(&amp;localaddr,0,socklen);</a:t>
            </a:r>
            <a:endParaRPr lang="en-US" altLang="zh-CN" sz="2400" b="1"/>
          </a:p>
          <a:p>
            <a:pPr eaLnBrk="1" hangingPunct="1">
              <a:lnSpc>
                <a:spcPct val="80000"/>
              </a:lnSpc>
              <a:buFontTx/>
              <a:buNone/>
            </a:pPr>
            <a:r>
              <a:rPr lang="en-US" altLang="zh-CN" sz="2400" b="1"/>
              <a:t>   localaddr.sin_family=AF_INET;</a:t>
            </a:r>
            <a:endParaRPr lang="en-US" altLang="zh-CN" sz="2400" b="1"/>
          </a:p>
          <a:p>
            <a:pPr eaLnBrk="1" hangingPunct="1">
              <a:lnSpc>
                <a:spcPct val="80000"/>
              </a:lnSpc>
              <a:buFontTx/>
              <a:buNone/>
            </a:pPr>
            <a:r>
              <a:rPr lang="en-US" altLang="zh-CN" sz="2400" b="1"/>
              <a:t>   if(inet_pton(AF_INET,argv[3],&amp;localaddr.sin_addr)&lt;=0){</a:t>
            </a:r>
            <a:endParaRPr lang="en-US" altLang="zh-CN" sz="2400" b="1"/>
          </a:p>
          <a:p>
            <a:pPr eaLnBrk="1" hangingPunct="1">
              <a:lnSpc>
                <a:spcPct val="80000"/>
              </a:lnSpc>
              <a:buFontTx/>
              <a:buNone/>
            </a:pPr>
            <a:r>
              <a:rPr lang="en-US" altLang="zh-CN" sz="2400" b="1"/>
              <a:t>      printf("Wrong source IP address\n");</a:t>
            </a:r>
            <a:endParaRPr lang="en-US" altLang="zh-CN" sz="2400" b="1"/>
          </a:p>
          <a:p>
            <a:pPr eaLnBrk="1" hangingPunct="1">
              <a:lnSpc>
                <a:spcPct val="80000"/>
              </a:lnSpc>
              <a:buFontTx/>
              <a:buNone/>
            </a:pPr>
            <a:r>
              <a:rPr lang="en-US" altLang="zh-CN" sz="2400" b="1"/>
              <a:t>      exit(0);</a:t>
            </a:r>
            <a:endParaRPr lang="en-US" altLang="zh-CN" sz="2400" b="1"/>
          </a:p>
          <a:p>
            <a:pPr eaLnBrk="1" hangingPunct="1">
              <a:lnSpc>
                <a:spcPct val="80000"/>
              </a:lnSpc>
              <a:buFontTx/>
              <a:buNone/>
            </a:pPr>
            <a:r>
              <a:rPr lang="en-US" altLang="zh-CN" sz="2400" b="1"/>
              <a:t>   }</a:t>
            </a:r>
            <a:endParaRPr lang="en-US" altLang="zh-CN" sz="2400" b="1"/>
          </a:p>
          <a:p>
            <a:pPr eaLnBrk="1" hangingPunct="1">
              <a:lnSpc>
                <a:spcPct val="80000"/>
              </a:lnSpc>
              <a:buFontTx/>
              <a:buNone/>
            </a:pPr>
            <a:r>
              <a:rPr lang="en-US" altLang="zh-CN" sz="2400" b="1"/>
              <a:t>   localaddr.sin_port=htons(atoi(argv[4]));</a:t>
            </a:r>
            <a:endParaRPr lang="en-US" altLang="zh-CN" sz="2400" b="1"/>
          </a:p>
          <a:p>
            <a:pPr eaLnBrk="1" hangingPunct="1">
              <a:lnSpc>
                <a:spcPct val="80000"/>
              </a:lnSpc>
              <a:buFontTx/>
              <a:buNone/>
            </a:pPr>
            <a:r>
              <a:rPr lang="en-US" altLang="zh-CN" sz="2400" b="1"/>
              <a:t>   if(bind(sockfd,(struct sockaddr *)&amp;localaddr,socklen)&lt;0){</a:t>
            </a:r>
            <a:endParaRPr lang="en-US" altLang="zh-CN" sz="2400" b="1"/>
          </a:p>
          <a:p>
            <a:pPr eaLnBrk="1" hangingPunct="1">
              <a:lnSpc>
                <a:spcPct val="80000"/>
              </a:lnSpc>
              <a:buFontTx/>
              <a:buNone/>
            </a:pPr>
            <a:r>
              <a:rPr lang="en-US" altLang="zh-CN" sz="2400" b="1"/>
              <a:t>      fprintf(stderr,"bind local address error in udptalk.c\n");</a:t>
            </a:r>
            <a:endParaRPr lang="en-US" altLang="zh-CN" sz="2400" b="1"/>
          </a:p>
          <a:p>
            <a:pPr eaLnBrk="1" hangingPunct="1">
              <a:lnSpc>
                <a:spcPct val="80000"/>
              </a:lnSpc>
              <a:buFontTx/>
              <a:buNone/>
            </a:pPr>
            <a:r>
              <a:rPr lang="en-US" altLang="zh-CN" sz="2400" b="1"/>
              <a:t>      exit(2);   }</a:t>
            </a:r>
            <a:endParaRPr lang="en-US" altLang="zh-CN" sz="24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3"/>
          <p:cNvSpPr>
            <a:spLocks noGrp="1" noChangeArrowheads="1"/>
          </p:cNvSpPr>
          <p:nvPr>
            <p:ph idx="1"/>
          </p:nvPr>
        </p:nvSpPr>
        <p:spPr>
          <a:xfrm>
            <a:off x="457200" y="-100013"/>
            <a:ext cx="7772400" cy="6858001"/>
          </a:xfrm>
        </p:spPr>
        <p:txBody>
          <a:bodyPr/>
          <a:lstStyle/>
          <a:p>
            <a:pPr eaLnBrk="1" hangingPunct="1">
              <a:lnSpc>
                <a:spcPct val="90000"/>
              </a:lnSpc>
              <a:buFontTx/>
              <a:buNone/>
            </a:pPr>
            <a:r>
              <a:rPr lang="en-US" altLang="zh-CN" sz="1800" b="1"/>
              <a:t> connect(sockfd,(struct sockaddr*)&amp;peeraddr,socklen);</a:t>
            </a:r>
            <a:endParaRPr lang="en-US" altLang="zh-CN" sz="1800" b="1"/>
          </a:p>
          <a:p>
            <a:pPr eaLnBrk="1" hangingPunct="1">
              <a:lnSpc>
                <a:spcPct val="90000"/>
              </a:lnSpc>
              <a:buFontTx/>
              <a:buNone/>
            </a:pPr>
            <a:r>
              <a:rPr lang="en-US" altLang="zh-CN" sz="1800" b="1"/>
              <a:t>stdinfd=fileno(stdin);</a:t>
            </a:r>
            <a:endParaRPr lang="en-US" altLang="zh-CN" sz="1800" b="1"/>
          </a:p>
          <a:p>
            <a:pPr eaLnBrk="1" hangingPunct="1">
              <a:lnSpc>
                <a:spcPct val="90000"/>
              </a:lnSpc>
              <a:buFontTx/>
              <a:buNone/>
            </a:pPr>
            <a:r>
              <a:rPr lang="en-US" altLang="zh-CN" sz="1800" b="1">
                <a:solidFill>
                  <a:srgbClr val="FF0000"/>
                </a:solidFill>
              </a:rPr>
              <a:t>signal(SIGIO,ioaction);</a:t>
            </a:r>
            <a:endParaRPr lang="en-US" altLang="zh-CN" sz="1800" b="1">
              <a:solidFill>
                <a:srgbClr val="FF0000"/>
              </a:solidFill>
            </a:endParaRPr>
          </a:p>
          <a:p>
            <a:pPr eaLnBrk="1" hangingPunct="1">
              <a:lnSpc>
                <a:spcPct val="90000"/>
              </a:lnSpc>
              <a:buFontTx/>
              <a:buNone/>
            </a:pPr>
            <a:r>
              <a:rPr lang="en-US" altLang="zh-CN" sz="1800" b="1">
                <a:solidFill>
                  <a:srgbClr val="FF0000"/>
                </a:solidFill>
              </a:rPr>
              <a:t>fcntl(sockfd,F_SETOWN,getpid());</a:t>
            </a:r>
            <a:endParaRPr lang="en-US" altLang="zh-CN" sz="1800" b="1">
              <a:solidFill>
                <a:srgbClr val="FF0000"/>
              </a:solidFill>
            </a:endParaRPr>
          </a:p>
          <a:p>
            <a:pPr eaLnBrk="1" hangingPunct="1">
              <a:lnSpc>
                <a:spcPct val="90000"/>
              </a:lnSpc>
              <a:buFontTx/>
              <a:buNone/>
            </a:pPr>
            <a:r>
              <a:rPr lang="en-US" altLang="zh-CN" sz="1800" b="1">
                <a:solidFill>
                  <a:srgbClr val="FF0000"/>
                </a:solidFill>
              </a:rPr>
              <a:t>int on=1;</a:t>
            </a:r>
            <a:endParaRPr lang="en-US" altLang="zh-CN" sz="1800" b="1">
              <a:solidFill>
                <a:srgbClr val="FF0000"/>
              </a:solidFill>
            </a:endParaRPr>
          </a:p>
          <a:p>
            <a:pPr eaLnBrk="1" hangingPunct="1">
              <a:lnSpc>
                <a:spcPct val="90000"/>
              </a:lnSpc>
              <a:buFontTx/>
              <a:buNone/>
            </a:pPr>
            <a:r>
              <a:rPr lang="en-US" altLang="zh-CN" sz="1800" b="1">
                <a:solidFill>
                  <a:srgbClr val="FF0000"/>
                </a:solidFill>
              </a:rPr>
              <a:t>ioctl(sockfd,FIOASYNC,&amp;on);</a:t>
            </a:r>
            <a:endParaRPr lang="en-US" altLang="zh-CN" sz="1800" b="1">
              <a:solidFill>
                <a:srgbClr val="FF0000"/>
              </a:solidFill>
            </a:endParaRPr>
          </a:p>
          <a:p>
            <a:pPr eaLnBrk="1" hangingPunct="1">
              <a:lnSpc>
                <a:spcPct val="90000"/>
              </a:lnSpc>
              <a:buFontTx/>
              <a:buNone/>
            </a:pPr>
            <a:r>
              <a:rPr lang="en-US" altLang="zh-CN" sz="1800" b="1"/>
              <a:t>   for(;;)</a:t>
            </a:r>
            <a:endParaRPr lang="en-US" altLang="zh-CN" sz="1800" b="1"/>
          </a:p>
          <a:p>
            <a:pPr eaLnBrk="1" hangingPunct="1">
              <a:lnSpc>
                <a:spcPct val="90000"/>
              </a:lnSpc>
              <a:buFontTx/>
              <a:buNone/>
            </a:pPr>
            <a:r>
              <a:rPr lang="en-US" altLang="zh-CN" sz="1800" b="1"/>
              <a:t>   {</a:t>
            </a:r>
            <a:endParaRPr lang="en-US" altLang="zh-CN" sz="1800" b="1"/>
          </a:p>
          <a:p>
            <a:pPr eaLnBrk="1" hangingPunct="1">
              <a:lnSpc>
                <a:spcPct val="90000"/>
              </a:lnSpc>
              <a:buFontTx/>
              <a:buNone/>
            </a:pPr>
            <a:r>
              <a:rPr lang="en-US" altLang="zh-CN" sz="1800" b="1"/>
              <a:t>      n=read(stdinfd,msg,BUFLEN);</a:t>
            </a:r>
            <a:endParaRPr lang="en-US" altLang="zh-CN" sz="1800" b="1"/>
          </a:p>
          <a:p>
            <a:pPr eaLnBrk="1" hangingPunct="1">
              <a:lnSpc>
                <a:spcPct val="90000"/>
              </a:lnSpc>
              <a:buFontTx/>
              <a:buNone/>
            </a:pPr>
            <a:r>
              <a:rPr lang="en-US" altLang="zh-CN" sz="1800" b="1"/>
              <a:t>      switch(n){</a:t>
            </a:r>
            <a:endParaRPr lang="en-US" altLang="zh-CN" sz="1800" b="1"/>
          </a:p>
          <a:p>
            <a:pPr eaLnBrk="1" hangingPunct="1">
              <a:lnSpc>
                <a:spcPct val="90000"/>
              </a:lnSpc>
              <a:buFontTx/>
              <a:buNone/>
            </a:pPr>
            <a:r>
              <a:rPr lang="en-US" altLang="zh-CN" sz="1800" b="1"/>
              <a:t>        case -1:</a:t>
            </a:r>
            <a:endParaRPr lang="en-US" altLang="zh-CN" sz="1800" b="1"/>
          </a:p>
          <a:p>
            <a:pPr eaLnBrk="1" hangingPunct="1">
              <a:lnSpc>
                <a:spcPct val="90000"/>
              </a:lnSpc>
              <a:buFontTx/>
              <a:buNone/>
            </a:pPr>
            <a:r>
              <a:rPr lang="en-US" altLang="zh-CN" sz="1800" b="1"/>
              <a:t>           if(errno!=EINTR){</a:t>
            </a:r>
            <a:endParaRPr lang="en-US" altLang="zh-CN" sz="1800" b="1"/>
          </a:p>
          <a:p>
            <a:pPr eaLnBrk="1" hangingPunct="1">
              <a:lnSpc>
                <a:spcPct val="90000"/>
              </a:lnSpc>
              <a:buFontTx/>
              <a:buNone/>
            </a:pPr>
            <a:r>
              <a:rPr lang="en-US" altLang="zh-CN" sz="1800" b="1"/>
              <a:t>            fprintf(stderr,"stdin error\n");</a:t>
            </a:r>
            <a:endParaRPr lang="en-US" altLang="zh-CN" sz="1800" b="1"/>
          </a:p>
          <a:p>
            <a:pPr eaLnBrk="1" hangingPunct="1">
              <a:lnSpc>
                <a:spcPct val="90000"/>
              </a:lnSpc>
              <a:buFontTx/>
              <a:buNone/>
            </a:pPr>
            <a:r>
              <a:rPr lang="en-US" altLang="zh-CN" sz="1800" b="1"/>
              <a:t>            exit(4);</a:t>
            </a:r>
            <a:endParaRPr lang="en-US" altLang="zh-CN" sz="1800" b="1"/>
          </a:p>
          <a:p>
            <a:pPr eaLnBrk="1" hangingPunct="1">
              <a:lnSpc>
                <a:spcPct val="90000"/>
              </a:lnSpc>
              <a:buFontTx/>
              <a:buNone/>
            </a:pPr>
            <a:r>
              <a:rPr lang="en-US" altLang="zh-CN" sz="1800" b="1"/>
              <a:t>           }</a:t>
            </a:r>
            <a:endParaRPr lang="en-US" altLang="zh-CN" sz="1800" b="1"/>
          </a:p>
          <a:p>
            <a:pPr eaLnBrk="1" hangingPunct="1">
              <a:lnSpc>
                <a:spcPct val="90000"/>
              </a:lnSpc>
              <a:buFontTx/>
              <a:buNone/>
            </a:pPr>
            <a:r>
              <a:rPr lang="en-US" altLang="zh-CN" sz="1800" b="1"/>
              <a:t>           break;</a:t>
            </a:r>
            <a:endParaRPr lang="en-US" altLang="zh-CN" sz="1800" b="1"/>
          </a:p>
          <a:p>
            <a:pPr eaLnBrk="1" hangingPunct="1">
              <a:lnSpc>
                <a:spcPct val="90000"/>
              </a:lnSpc>
              <a:buFontTx/>
              <a:buNone/>
            </a:pPr>
            <a:r>
              <a:rPr lang="en-US" altLang="zh-CN" sz="1800" b="1"/>
              <a:t>        case 0:</a:t>
            </a:r>
            <a:endParaRPr lang="en-US" altLang="zh-CN" sz="1800" b="1"/>
          </a:p>
          <a:p>
            <a:pPr eaLnBrk="1" hangingPunct="1">
              <a:lnSpc>
                <a:spcPct val="90000"/>
              </a:lnSpc>
              <a:buFontTx/>
              <a:buNone/>
            </a:pPr>
            <a:r>
              <a:rPr lang="en-US" altLang="zh-CN" sz="1800" b="1"/>
              <a:t>           printf("talk over!\n");</a:t>
            </a:r>
            <a:endParaRPr lang="en-US" altLang="zh-CN" sz="1800" b="1"/>
          </a:p>
          <a:p>
            <a:pPr eaLnBrk="1" hangingPunct="1">
              <a:lnSpc>
                <a:spcPct val="90000"/>
              </a:lnSpc>
              <a:buFontTx/>
              <a:buNone/>
            </a:pPr>
            <a:r>
              <a:rPr lang="en-US" altLang="zh-CN" sz="1800" b="1"/>
              <a:t>          exit(0);</a:t>
            </a:r>
            <a:endParaRPr lang="en-US" altLang="zh-CN" sz="1800" b="1"/>
          </a:p>
          <a:p>
            <a:pPr eaLnBrk="1" hangingPunct="1">
              <a:lnSpc>
                <a:spcPct val="90000"/>
              </a:lnSpc>
              <a:buFontTx/>
              <a:buNone/>
            </a:pPr>
            <a:r>
              <a:rPr lang="en-US" altLang="zh-CN" sz="1800" b="1"/>
              <a:t>       default:</a:t>
            </a:r>
            <a:endParaRPr lang="en-US" altLang="zh-CN" sz="1800" b="1"/>
          </a:p>
          <a:p>
            <a:pPr eaLnBrk="1" hangingPunct="1">
              <a:lnSpc>
                <a:spcPct val="90000"/>
              </a:lnSpc>
              <a:buFontTx/>
              <a:buNone/>
            </a:pPr>
            <a:r>
              <a:rPr lang="en-US" altLang="zh-CN" sz="1800" b="1"/>
              <a:t>          write(sockfd,msg,n);</a:t>
            </a:r>
            <a:endParaRPr lang="en-US" altLang="zh-CN" sz="1800" b="1"/>
          </a:p>
          <a:p>
            <a:pPr eaLnBrk="1" hangingPunct="1">
              <a:lnSpc>
                <a:spcPct val="90000"/>
              </a:lnSpc>
              <a:buFontTx/>
              <a:buNone/>
            </a:pPr>
            <a:r>
              <a:rPr lang="en-US" altLang="zh-CN" sz="1800" b="1"/>
              <a:t>          msg[n]=‘\0’;</a:t>
            </a:r>
            <a:endParaRPr lang="en-US" altLang="zh-CN" sz="1800" b="1"/>
          </a:p>
          <a:p>
            <a:pPr eaLnBrk="1" hangingPunct="1">
              <a:lnSpc>
                <a:spcPct val="90000"/>
              </a:lnSpc>
              <a:buFontTx/>
              <a:buNone/>
            </a:pPr>
            <a:r>
              <a:rPr lang="en-US" altLang="zh-CN" sz="1800" b="1"/>
              <a:t>          printf("sent:%s",msg);}}}</a:t>
            </a:r>
            <a:endParaRPr lang="en-US" altLang="zh-CN" sz="1800" b="1"/>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3"/>
          <p:cNvSpPr>
            <a:spLocks noGrp="1" noChangeArrowheads="1"/>
          </p:cNvSpPr>
          <p:nvPr>
            <p:ph idx="1"/>
          </p:nvPr>
        </p:nvSpPr>
        <p:spPr>
          <a:xfrm>
            <a:off x="685800" y="-26988"/>
            <a:ext cx="7772400" cy="6786563"/>
          </a:xfrm>
        </p:spPr>
        <p:txBody>
          <a:bodyPr/>
          <a:lstStyle/>
          <a:p>
            <a:pPr eaLnBrk="1" hangingPunct="1">
              <a:lnSpc>
                <a:spcPct val="90000"/>
              </a:lnSpc>
              <a:buFontTx/>
              <a:buNone/>
            </a:pPr>
            <a:r>
              <a:rPr lang="en-US" altLang="zh-CN" sz="1800" b="1">
                <a:solidFill>
                  <a:srgbClr val="FF0000"/>
                </a:solidFill>
              </a:rPr>
              <a:t>void ioaction(int signo)</a:t>
            </a:r>
            <a:endParaRPr lang="en-US" altLang="zh-CN" sz="1800" b="1">
              <a:solidFill>
                <a:srgbClr val="FF0000"/>
              </a:solidFill>
            </a:endParaRPr>
          </a:p>
          <a:p>
            <a:pPr eaLnBrk="1" hangingPunct="1">
              <a:lnSpc>
                <a:spcPct val="90000"/>
              </a:lnSpc>
              <a:buFontTx/>
              <a:buNone/>
            </a:pPr>
            <a:r>
              <a:rPr lang="en-US" altLang="zh-CN" sz="1800" b="1"/>
              <a:t>{</a:t>
            </a:r>
            <a:endParaRPr lang="en-US" altLang="zh-CN" sz="1800" b="1"/>
          </a:p>
          <a:p>
            <a:pPr eaLnBrk="1" hangingPunct="1">
              <a:lnSpc>
                <a:spcPct val="90000"/>
              </a:lnSpc>
              <a:buFontTx/>
              <a:buNone/>
            </a:pPr>
            <a:r>
              <a:rPr lang="en-US" altLang="zh-CN" sz="1800" b="1"/>
              <a:t>  int n;</a:t>
            </a:r>
            <a:endParaRPr lang="en-US" altLang="zh-CN" sz="1800" b="1"/>
          </a:p>
          <a:p>
            <a:pPr eaLnBrk="1" hangingPunct="1">
              <a:lnSpc>
                <a:spcPct val="90000"/>
              </a:lnSpc>
              <a:buFontTx/>
              <a:buNone/>
            </a:pPr>
            <a:r>
              <a:rPr lang="en-US" altLang="zh-CN" sz="1800" b="1"/>
              <a:t>  char msg[BUFLEN+1];</a:t>
            </a:r>
            <a:endParaRPr lang="en-US" altLang="zh-CN" sz="1800" b="1"/>
          </a:p>
          <a:p>
            <a:pPr eaLnBrk="1" hangingPunct="1">
              <a:lnSpc>
                <a:spcPct val="90000"/>
              </a:lnSpc>
              <a:buFontTx/>
              <a:buNone/>
            </a:pPr>
            <a:r>
              <a:rPr lang="en-US" altLang="zh-CN" sz="1800" b="1"/>
              <a:t>  fd_set readset;</a:t>
            </a:r>
            <a:endParaRPr lang="en-US" altLang="zh-CN" sz="1800" b="1"/>
          </a:p>
          <a:p>
            <a:pPr eaLnBrk="1" hangingPunct="1">
              <a:lnSpc>
                <a:spcPct val="90000"/>
              </a:lnSpc>
              <a:buFontTx/>
              <a:buNone/>
            </a:pPr>
            <a:r>
              <a:rPr lang="en-US" altLang="zh-CN" sz="1800" b="1"/>
              <a:t>  struct timeval zerotime;</a:t>
            </a:r>
            <a:endParaRPr lang="en-US" altLang="zh-CN" sz="1800" b="1"/>
          </a:p>
          <a:p>
            <a:pPr eaLnBrk="1" hangingPunct="1">
              <a:lnSpc>
                <a:spcPct val="90000"/>
              </a:lnSpc>
              <a:buFontTx/>
              <a:buNone/>
            </a:pPr>
            <a:r>
              <a:rPr lang="en-US" altLang="zh-CN" sz="1800" b="1"/>
              <a:t>  zerotime.tv_sec=0;</a:t>
            </a:r>
            <a:endParaRPr lang="en-US" altLang="zh-CN" sz="1800" b="1"/>
          </a:p>
          <a:p>
            <a:pPr eaLnBrk="1" hangingPunct="1">
              <a:lnSpc>
                <a:spcPct val="90000"/>
              </a:lnSpc>
              <a:buFontTx/>
              <a:buNone/>
            </a:pPr>
            <a:r>
              <a:rPr lang="en-US" altLang="zh-CN" sz="1800" b="1"/>
              <a:t>  zerotime.tv_usec=0;</a:t>
            </a:r>
            <a:endParaRPr lang="en-US" altLang="zh-CN" sz="1800" b="1"/>
          </a:p>
          <a:p>
            <a:pPr eaLnBrk="1" hangingPunct="1">
              <a:lnSpc>
                <a:spcPct val="90000"/>
              </a:lnSpc>
              <a:buFontTx/>
              <a:buNone/>
            </a:pPr>
            <a:r>
              <a:rPr lang="en-US" altLang="zh-CN" sz="1800" b="1"/>
              <a:t>  FD_ZERO(&amp;readset);</a:t>
            </a:r>
            <a:endParaRPr lang="en-US" altLang="zh-CN" sz="1800" b="1"/>
          </a:p>
          <a:p>
            <a:pPr eaLnBrk="1" hangingPunct="1">
              <a:lnSpc>
                <a:spcPct val="90000"/>
              </a:lnSpc>
              <a:buFontTx/>
              <a:buNone/>
            </a:pPr>
            <a:r>
              <a:rPr lang="en-US" altLang="zh-CN" sz="1800" b="1"/>
              <a:t>  FD_SET(sockfd,&amp;readset);</a:t>
            </a:r>
            <a:endParaRPr lang="en-US" altLang="zh-CN" sz="1800" b="1"/>
          </a:p>
          <a:p>
            <a:pPr eaLnBrk="1" hangingPunct="1">
              <a:lnSpc>
                <a:spcPct val="90000"/>
              </a:lnSpc>
              <a:buFontTx/>
              <a:buNone/>
            </a:pPr>
            <a:r>
              <a:rPr lang="en-US" altLang="zh-CN" sz="1800" b="1"/>
              <a:t>  select(sockfd+1,&amp;readset,NULL,NULL,&amp;zerotime);</a:t>
            </a:r>
            <a:endParaRPr lang="en-US" altLang="zh-CN" sz="1800" b="1"/>
          </a:p>
          <a:p>
            <a:pPr eaLnBrk="1" hangingPunct="1">
              <a:lnSpc>
                <a:spcPct val="90000"/>
              </a:lnSpc>
              <a:buFontTx/>
              <a:buNone/>
            </a:pPr>
            <a:r>
              <a:rPr lang="en-US" altLang="zh-CN" sz="1800" b="1"/>
              <a:t>  if(FD_ISSET(sockfd,&amp;readset)){</a:t>
            </a:r>
            <a:endParaRPr lang="en-US" altLang="zh-CN" sz="1800" b="1"/>
          </a:p>
          <a:p>
            <a:pPr eaLnBrk="1" hangingPunct="1">
              <a:lnSpc>
                <a:spcPct val="90000"/>
              </a:lnSpc>
              <a:buFontTx/>
              <a:buNone/>
            </a:pPr>
            <a:r>
              <a:rPr lang="en-US" altLang="zh-CN" sz="1800" b="1"/>
              <a:t>       n=read(sockfd,msg,BUFLEN);</a:t>
            </a:r>
            <a:endParaRPr lang="en-US" altLang="zh-CN" sz="1800" b="1"/>
          </a:p>
          <a:p>
            <a:pPr eaLnBrk="1" hangingPunct="1">
              <a:lnSpc>
                <a:spcPct val="90000"/>
              </a:lnSpc>
              <a:buFontTx/>
              <a:buNone/>
            </a:pPr>
            <a:r>
              <a:rPr lang="en-US" altLang="zh-CN" sz="1800" b="1"/>
              <a:t>       if(n==-1){</a:t>
            </a:r>
            <a:endParaRPr lang="en-US" altLang="zh-CN" sz="1800" b="1"/>
          </a:p>
          <a:p>
            <a:pPr eaLnBrk="1" hangingPunct="1">
              <a:lnSpc>
                <a:spcPct val="90000"/>
              </a:lnSpc>
              <a:buFontTx/>
              <a:buNone/>
            </a:pPr>
            <a:r>
              <a:rPr lang="en-US" altLang="zh-CN" sz="1800" b="1"/>
              <a:t>             printf("talk closed by peer\n");</a:t>
            </a:r>
            <a:endParaRPr lang="en-US" altLang="zh-CN" sz="1800" b="1"/>
          </a:p>
          <a:p>
            <a:pPr eaLnBrk="1" hangingPunct="1">
              <a:lnSpc>
                <a:spcPct val="90000"/>
              </a:lnSpc>
              <a:buFontTx/>
              <a:buNone/>
            </a:pPr>
            <a:r>
              <a:rPr lang="en-US" altLang="zh-CN" sz="1800" b="1"/>
              <a:t>             exit(2);</a:t>
            </a:r>
            <a:endParaRPr lang="en-US" altLang="zh-CN" sz="1800" b="1"/>
          </a:p>
          <a:p>
            <a:pPr eaLnBrk="1" hangingPunct="1">
              <a:lnSpc>
                <a:spcPct val="90000"/>
              </a:lnSpc>
              <a:buFontTx/>
              <a:buNone/>
            </a:pPr>
            <a:r>
              <a:rPr lang="en-US" altLang="zh-CN" sz="1800" b="1"/>
              <a:t>        }</a:t>
            </a:r>
            <a:endParaRPr lang="en-US" altLang="zh-CN" sz="1800" b="1"/>
          </a:p>
          <a:p>
            <a:pPr eaLnBrk="1" hangingPunct="1">
              <a:lnSpc>
                <a:spcPct val="90000"/>
              </a:lnSpc>
              <a:buFontTx/>
              <a:buNone/>
            </a:pPr>
            <a:r>
              <a:rPr lang="en-US" altLang="zh-CN" sz="1800" b="1"/>
              <a:t>       else{   </a:t>
            </a:r>
            <a:endParaRPr lang="en-US" altLang="zh-CN" sz="1800" b="1"/>
          </a:p>
          <a:p>
            <a:pPr eaLnBrk="1" hangingPunct="1">
              <a:lnSpc>
                <a:spcPct val="90000"/>
              </a:lnSpc>
              <a:buFontTx/>
              <a:buNone/>
            </a:pPr>
            <a:r>
              <a:rPr lang="en-US" altLang="zh-CN" sz="1800" b="1"/>
              <a:t>            msg[n]=‘\0’;</a:t>
            </a:r>
            <a:endParaRPr lang="en-US" altLang="zh-CN" sz="1800" b="1"/>
          </a:p>
          <a:p>
            <a:pPr eaLnBrk="1" hangingPunct="1">
              <a:lnSpc>
                <a:spcPct val="90000"/>
              </a:lnSpc>
              <a:buFontTx/>
              <a:buNone/>
            </a:pPr>
            <a:r>
              <a:rPr lang="en-US" altLang="zh-CN" sz="1800" b="1"/>
              <a:t>           printf("peer:%s",msg);</a:t>
            </a:r>
            <a:endParaRPr lang="en-US" altLang="zh-CN" sz="1800" b="1"/>
          </a:p>
          <a:p>
            <a:pPr eaLnBrk="1" hangingPunct="1">
              <a:lnSpc>
                <a:spcPct val="90000"/>
              </a:lnSpc>
              <a:buFontTx/>
              <a:buNone/>
            </a:pPr>
            <a:r>
              <a:rPr lang="en-US" altLang="zh-CN" sz="1800" b="1"/>
              <a:t>        }</a:t>
            </a:r>
            <a:endParaRPr lang="en-US" altLang="zh-CN" sz="1800" b="1"/>
          </a:p>
          <a:p>
            <a:pPr eaLnBrk="1" hangingPunct="1">
              <a:lnSpc>
                <a:spcPct val="90000"/>
              </a:lnSpc>
              <a:buFontTx/>
              <a:buNone/>
            </a:pPr>
            <a:r>
              <a:rPr lang="en-US" altLang="zh-CN" sz="1800" b="1"/>
              <a:t>  }</a:t>
            </a:r>
            <a:endParaRPr lang="en-US" altLang="zh-CN" sz="1800" b="1"/>
          </a:p>
          <a:p>
            <a:pPr eaLnBrk="1" hangingPunct="1">
              <a:lnSpc>
                <a:spcPct val="90000"/>
              </a:lnSpc>
              <a:buFontTx/>
              <a:buNone/>
            </a:pPr>
            <a:r>
              <a:rPr lang="en-US" altLang="zh-CN" sz="1800" b="1"/>
              <a:t>}</a:t>
            </a:r>
            <a:endParaRPr lang="en-US" altLang="zh-CN" sz="1800" b="1"/>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1" name="Object 2"/>
          <p:cNvGraphicFramePr>
            <a:graphicFrameLocks noChangeAspect="1"/>
          </p:cNvGraphicFramePr>
          <p:nvPr/>
        </p:nvGraphicFramePr>
        <p:xfrm>
          <a:off x="838200" y="1143000"/>
          <a:ext cx="7543800" cy="4846638"/>
        </p:xfrm>
        <a:graphic>
          <a:graphicData uri="http://schemas.openxmlformats.org/presentationml/2006/ole">
            <mc:AlternateContent xmlns:mc="http://schemas.openxmlformats.org/markup-compatibility/2006">
              <mc:Choice xmlns:v="urn:schemas-microsoft-com:vml" Requires="v">
                <p:oleObj spid="_x0000_s4116" name="" r:id="rId1" imgW="5219700" imgH="3352800" progId="Paint.Picture">
                  <p:embed/>
                </p:oleObj>
              </mc:Choice>
              <mc:Fallback>
                <p:oleObj name="" r:id="rId1" imgW="5219700" imgH="3352800"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143000"/>
                        <a:ext cx="7543800" cy="484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042" name="Text Box 3"/>
          <p:cNvSpPr txBox="1">
            <a:spLocks noChangeArrowheads="1"/>
          </p:cNvSpPr>
          <p:nvPr/>
        </p:nvSpPr>
        <p:spPr bwMode="auto">
          <a:xfrm>
            <a:off x="2057400" y="457200"/>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t>信号驱动</a:t>
            </a:r>
            <a:r>
              <a:rPr lang="en-US" altLang="zh-CN" sz="2400" b="1"/>
              <a:t>I/O </a:t>
            </a:r>
            <a:r>
              <a:rPr lang="zh-CN" altLang="en-US" sz="2400" b="1"/>
              <a:t>运行结果</a:t>
            </a:r>
            <a:endParaRPr lang="zh-CN" altLang="en-US" sz="2400" b="1"/>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ChangeArrowheads="1"/>
          </p:cNvSpPr>
          <p:nvPr>
            <p:ph type="title"/>
          </p:nvPr>
        </p:nvSpPr>
        <p:spPr>
          <a:xfrm>
            <a:off x="685800" y="609600"/>
            <a:ext cx="7772400" cy="685800"/>
          </a:xfrm>
        </p:spPr>
        <p:txBody>
          <a:bodyPr/>
          <a:lstStyle/>
          <a:p>
            <a:pPr eaLnBrk="1" hangingPunct="1"/>
            <a:r>
              <a:rPr lang="zh-CN" altLang="en-US"/>
              <a:t>套接字选项概述</a:t>
            </a:r>
            <a:endParaRPr lang="zh-CN" altLang="en-US"/>
          </a:p>
        </p:txBody>
      </p:sp>
      <p:sp>
        <p:nvSpPr>
          <p:cNvPr id="88066" name="Rectangle 3"/>
          <p:cNvSpPr>
            <a:spLocks noGrp="1" noChangeArrowheads="1"/>
          </p:cNvSpPr>
          <p:nvPr>
            <p:ph idx="1"/>
          </p:nvPr>
        </p:nvSpPr>
        <p:spPr>
          <a:xfrm>
            <a:off x="685800" y="1447800"/>
            <a:ext cx="7772400" cy="4648200"/>
          </a:xfrm>
        </p:spPr>
        <p:txBody>
          <a:bodyPr/>
          <a:lstStyle/>
          <a:p>
            <a:pPr eaLnBrk="1" hangingPunct="1"/>
            <a:r>
              <a:rPr lang="zh-CN" altLang="en-US"/>
              <a:t>所谓套接字选项是指对套接字设置某些参数，以影响将来对套接字的读写操作。</a:t>
            </a:r>
            <a:endParaRPr lang="zh-CN" altLang="en-US"/>
          </a:p>
          <a:p>
            <a:pPr eaLnBrk="1" hangingPunct="1"/>
            <a:r>
              <a:rPr lang="zh-CN" altLang="en-US"/>
              <a:t>获取和设置套接字选项的方法主要有：</a:t>
            </a:r>
            <a:endParaRPr lang="zh-CN" altLang="en-US"/>
          </a:p>
          <a:p>
            <a:pPr lvl="1" eaLnBrk="1" hangingPunct="1"/>
            <a:r>
              <a:rPr lang="zh-CN" altLang="en-US" sz="3200"/>
              <a:t>函数</a:t>
            </a:r>
            <a:r>
              <a:rPr lang="en-US" altLang="zh-CN" sz="3200"/>
              <a:t>getsockopt</a:t>
            </a:r>
            <a:r>
              <a:rPr lang="zh-CN" altLang="en-US" sz="3200"/>
              <a:t>和</a:t>
            </a:r>
            <a:r>
              <a:rPr lang="en-US" altLang="zh-CN" sz="3200"/>
              <a:t>setsockopt;</a:t>
            </a:r>
            <a:endParaRPr lang="en-US" altLang="zh-CN" sz="3200"/>
          </a:p>
          <a:p>
            <a:pPr lvl="1" eaLnBrk="1" hangingPunct="1"/>
            <a:r>
              <a:rPr lang="zh-CN" altLang="en-US" sz="3200"/>
              <a:t>函数</a:t>
            </a:r>
            <a:r>
              <a:rPr lang="en-US" altLang="zh-CN" sz="3200"/>
              <a:t>fcntl</a:t>
            </a:r>
            <a:endParaRPr lang="en-US" altLang="zh-CN" sz="3200"/>
          </a:p>
          <a:p>
            <a:pPr lvl="1" eaLnBrk="1" hangingPunct="1"/>
            <a:r>
              <a:rPr lang="zh-CN" altLang="en-US" sz="3200"/>
              <a:t>函数</a:t>
            </a:r>
            <a:r>
              <a:rPr lang="en-US" altLang="zh-CN" sz="3200"/>
              <a:t>ioctl</a:t>
            </a:r>
            <a:endParaRPr lang="en-US" altLang="zh-CN" sz="3200"/>
          </a:p>
        </p:txBody>
      </p:sp>
    </p:spTree>
  </p:cSld>
  <p:clrMapOvr>
    <a:masterClrMapping/>
  </p:clrMapOvr>
  <p:transition spd="slow">
    <p:wipe dir="r"/>
    <p:sndAc>
      <p:endSnd/>
    </p:sndAc>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noChangeArrowheads="1"/>
          </p:cNvSpPr>
          <p:nvPr>
            <p:ph type="title"/>
          </p:nvPr>
        </p:nvSpPr>
        <p:spPr>
          <a:xfrm>
            <a:off x="762000" y="304800"/>
            <a:ext cx="7772400" cy="762000"/>
          </a:xfrm>
        </p:spPr>
        <p:txBody>
          <a:bodyPr/>
          <a:lstStyle/>
          <a:p>
            <a:pPr eaLnBrk="1" hangingPunct="1"/>
            <a:r>
              <a:rPr lang="en-US" altLang="zh-CN" b="1"/>
              <a:t>getsockopt</a:t>
            </a:r>
            <a:r>
              <a:rPr lang="zh-CN" altLang="en-US" b="1"/>
              <a:t>和</a:t>
            </a:r>
            <a:r>
              <a:rPr lang="en-US" altLang="zh-CN" b="1"/>
              <a:t>setsockopt</a:t>
            </a:r>
            <a:r>
              <a:rPr lang="zh-CN" altLang="en-US" b="1"/>
              <a:t>函数</a:t>
            </a:r>
            <a:endParaRPr lang="zh-CN" altLang="en-US" b="1"/>
          </a:p>
        </p:txBody>
      </p:sp>
      <p:sp>
        <p:nvSpPr>
          <p:cNvPr id="89090" name="Rectangle 3"/>
          <p:cNvSpPr>
            <a:spLocks noGrp="1" noChangeArrowheads="1"/>
          </p:cNvSpPr>
          <p:nvPr>
            <p:ph idx="1"/>
          </p:nvPr>
        </p:nvSpPr>
        <p:spPr>
          <a:xfrm>
            <a:off x="304800" y="1066800"/>
            <a:ext cx="8540750" cy="5386388"/>
          </a:xfrm>
        </p:spPr>
        <p:txBody>
          <a:bodyPr/>
          <a:lstStyle/>
          <a:p>
            <a:pPr eaLnBrk="1" hangingPunct="1">
              <a:lnSpc>
                <a:spcPct val="90000"/>
              </a:lnSpc>
              <a:buFontTx/>
              <a:buNone/>
            </a:pPr>
            <a:r>
              <a:rPr lang="en-US" altLang="zh-CN" sz="2000" b="1"/>
              <a:t>#include &lt;sys/socktet.h&gt;</a:t>
            </a:r>
            <a:endParaRPr lang="en-US" altLang="zh-CN" sz="2000" b="1"/>
          </a:p>
          <a:p>
            <a:pPr eaLnBrk="1" hangingPunct="1">
              <a:lnSpc>
                <a:spcPct val="90000"/>
              </a:lnSpc>
              <a:buFontTx/>
              <a:buNone/>
            </a:pPr>
            <a:r>
              <a:rPr lang="en-US" altLang="zh-CN" sz="2000" b="1"/>
              <a:t>int getsockopt(int sockfd, int level, int optname, void *optval, socklen_t *optlen);</a:t>
            </a:r>
            <a:endParaRPr lang="en-US" altLang="zh-CN" sz="2000" b="1"/>
          </a:p>
          <a:p>
            <a:pPr eaLnBrk="1" hangingPunct="1">
              <a:lnSpc>
                <a:spcPct val="90000"/>
              </a:lnSpc>
              <a:buFontTx/>
              <a:buNone/>
            </a:pPr>
            <a:r>
              <a:rPr lang="en-US" altLang="zh-CN" sz="2000" b="1"/>
              <a:t>int setsockopt(int sockfd, int level, int optname, const void *optval, socklen_t *optlen);</a:t>
            </a:r>
            <a:endParaRPr lang="en-US" altLang="zh-CN" sz="2000" b="1"/>
          </a:p>
          <a:p>
            <a:pPr eaLnBrk="1" hangingPunct="1">
              <a:lnSpc>
                <a:spcPct val="90000"/>
              </a:lnSpc>
              <a:buFontTx/>
              <a:buNone/>
            </a:pPr>
            <a:r>
              <a:rPr lang="en-US" altLang="zh-CN" sz="2000" b="1"/>
              <a:t>                                  </a:t>
            </a:r>
            <a:r>
              <a:rPr lang="zh-CN" altLang="en-US" sz="2000" b="1"/>
              <a:t>返回：</a:t>
            </a:r>
            <a:r>
              <a:rPr lang="en-US" altLang="zh-CN" sz="2000" b="1"/>
              <a:t>0</a:t>
            </a:r>
            <a:r>
              <a:rPr lang="zh-CN" altLang="en-US" sz="2000" b="1"/>
              <a:t>－</a:t>
            </a:r>
            <a:r>
              <a:rPr lang="en-US" altLang="zh-CN" sz="2000" b="1"/>
              <a:t>OK</a:t>
            </a:r>
            <a:r>
              <a:rPr lang="zh-CN" altLang="en-US" sz="2000" b="1"/>
              <a:t>；</a:t>
            </a:r>
            <a:r>
              <a:rPr lang="en-US" altLang="zh-CN" sz="2000" b="1"/>
              <a:t>-1</a:t>
            </a:r>
            <a:r>
              <a:rPr lang="zh-CN" altLang="en-US" sz="2000" b="1"/>
              <a:t>－出错。</a:t>
            </a:r>
            <a:endParaRPr lang="zh-CN" altLang="en-US" sz="2000" b="1"/>
          </a:p>
          <a:p>
            <a:pPr eaLnBrk="1" hangingPunct="1">
              <a:lnSpc>
                <a:spcPct val="90000"/>
              </a:lnSpc>
            </a:pPr>
            <a:r>
              <a:rPr lang="en-US" altLang="zh-CN" sz="2800" b="1"/>
              <a:t>sockfd</a:t>
            </a:r>
            <a:r>
              <a:rPr lang="zh-CN" altLang="en-US" sz="2800" b="1"/>
              <a:t>必须指向一个打开的套接字描述字。</a:t>
            </a:r>
            <a:endParaRPr lang="zh-CN" altLang="en-US" sz="2800" b="1"/>
          </a:p>
          <a:p>
            <a:pPr eaLnBrk="1" hangingPunct="1">
              <a:lnSpc>
                <a:spcPct val="90000"/>
              </a:lnSpc>
            </a:pPr>
            <a:r>
              <a:rPr lang="en-US" altLang="zh-CN" sz="2800" b="1"/>
              <a:t>Level</a:t>
            </a:r>
            <a:r>
              <a:rPr lang="zh-CN" altLang="en-US" sz="2800" b="1"/>
              <a:t>是选项所在的层及协议，有如下值</a:t>
            </a:r>
            <a:r>
              <a:rPr lang="en-US" altLang="zh-CN" sz="2800" b="1"/>
              <a:t>:</a:t>
            </a:r>
            <a:endParaRPr lang="en-US" altLang="zh-CN" sz="2800" b="1"/>
          </a:p>
          <a:p>
            <a:pPr eaLnBrk="1" hangingPunct="1">
              <a:lnSpc>
                <a:spcPct val="90000"/>
              </a:lnSpc>
              <a:buFontTx/>
              <a:buNone/>
            </a:pPr>
            <a:r>
              <a:rPr lang="en-US" altLang="zh-CN" sz="2800" b="1"/>
              <a:t>    SOL_SOCKET (</a:t>
            </a:r>
            <a:r>
              <a:rPr lang="zh-CN" altLang="en-US" sz="2800" b="1"/>
              <a:t>应用层</a:t>
            </a:r>
            <a:r>
              <a:rPr lang="en-US" altLang="zh-CN" sz="2800" b="1"/>
              <a:t>)</a:t>
            </a:r>
            <a:endParaRPr lang="en-US" altLang="zh-CN" sz="2800" b="1"/>
          </a:p>
          <a:p>
            <a:pPr eaLnBrk="1" hangingPunct="1">
              <a:lnSpc>
                <a:spcPct val="90000"/>
              </a:lnSpc>
              <a:buFontTx/>
              <a:buNone/>
            </a:pPr>
            <a:r>
              <a:rPr lang="en-US" altLang="zh-CN" sz="2800" b="1"/>
              <a:t>    IPPROTO_TCP(</a:t>
            </a:r>
            <a:r>
              <a:rPr lang="zh-CN" altLang="en-US" sz="2800" b="1"/>
              <a:t>传输层，</a:t>
            </a:r>
            <a:r>
              <a:rPr lang="en-US" altLang="zh-CN" sz="2800" b="1"/>
              <a:t>TCP</a:t>
            </a:r>
            <a:r>
              <a:rPr lang="zh-CN" altLang="en-US" sz="2800" b="1"/>
              <a:t>协议</a:t>
            </a:r>
            <a:r>
              <a:rPr lang="en-US" altLang="zh-CN" sz="2800" b="1"/>
              <a:t>)</a:t>
            </a:r>
            <a:endParaRPr lang="en-US" altLang="zh-CN" sz="2800" b="1"/>
          </a:p>
          <a:p>
            <a:pPr eaLnBrk="1" hangingPunct="1">
              <a:lnSpc>
                <a:spcPct val="90000"/>
              </a:lnSpc>
              <a:buFontTx/>
              <a:buNone/>
            </a:pPr>
            <a:r>
              <a:rPr lang="en-US" altLang="zh-CN" sz="2800" b="1"/>
              <a:t>    IPPROTO_IP(</a:t>
            </a:r>
            <a:r>
              <a:rPr lang="zh-CN" altLang="en-US" sz="2800" b="1"/>
              <a:t>网际层，</a:t>
            </a:r>
            <a:r>
              <a:rPr lang="en-US" altLang="zh-CN" sz="2800" b="1"/>
              <a:t>IP</a:t>
            </a:r>
            <a:r>
              <a:rPr lang="zh-CN" altLang="en-US" sz="2800" b="1"/>
              <a:t>协议</a:t>
            </a:r>
            <a:r>
              <a:rPr lang="en-US" altLang="zh-CN" sz="2800" b="1"/>
              <a:t>)</a:t>
            </a:r>
            <a:endParaRPr lang="en-US" altLang="zh-CN" sz="2800" b="1"/>
          </a:p>
          <a:p>
            <a:pPr eaLnBrk="1" hangingPunct="1">
              <a:lnSpc>
                <a:spcPct val="90000"/>
              </a:lnSpc>
            </a:pPr>
            <a:r>
              <a:rPr lang="en-US" altLang="zh-CN" sz="2800" b="1"/>
              <a:t>Optname</a:t>
            </a:r>
            <a:r>
              <a:rPr lang="zh-CN" altLang="en-US" sz="2800" b="1"/>
              <a:t>是所要操作的选项名。</a:t>
            </a:r>
            <a:r>
              <a:rPr lang="en-US" altLang="zh-CN" sz="2800" b="1"/>
              <a:t>(SO_</a:t>
            </a:r>
            <a:r>
              <a:rPr lang="zh-CN" altLang="en-US" sz="2800" b="1"/>
              <a:t>、</a:t>
            </a:r>
            <a:r>
              <a:rPr lang="en-US" altLang="zh-CN" sz="2800" b="1"/>
              <a:t>IP_</a:t>
            </a:r>
            <a:r>
              <a:rPr lang="zh-CN" altLang="en-US" sz="2800" b="1"/>
              <a:t>、</a:t>
            </a:r>
            <a:r>
              <a:rPr lang="en-US" altLang="zh-CN" sz="2800" b="1"/>
              <a:t>TCP_</a:t>
            </a:r>
            <a:r>
              <a:rPr lang="zh-CN" altLang="en-US" sz="2800" b="1"/>
              <a:t>是选项名的前缀，不同的</a:t>
            </a:r>
            <a:r>
              <a:rPr lang="en-US" altLang="zh-CN" sz="2800" b="1"/>
              <a:t>level</a:t>
            </a:r>
            <a:r>
              <a:rPr lang="zh-CN" altLang="en-US" sz="2800" b="1"/>
              <a:t>有不同的前缀。</a:t>
            </a:r>
            <a:r>
              <a:rPr lang="en-US" altLang="zh-CN" sz="2800" b="1"/>
              <a:t>)</a:t>
            </a:r>
            <a:endParaRPr lang="en-US" altLang="zh-CN" sz="2800" b="1"/>
          </a:p>
        </p:txBody>
      </p:sp>
    </p:spTree>
  </p:cSld>
  <p:clrMapOvr>
    <a:masterClrMapping/>
  </p:clrMapOvr>
  <p:transition spd="slow">
    <p:wipe dir="r"/>
    <p:sndAc>
      <p:endSnd/>
    </p:sndAc>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ext Box 2"/>
          <p:cNvSpPr txBox="1">
            <a:spLocks noChangeArrowheads="1"/>
          </p:cNvSpPr>
          <p:nvPr/>
        </p:nvSpPr>
        <p:spPr bwMode="auto">
          <a:xfrm>
            <a:off x="457200" y="381000"/>
            <a:ext cx="8382000" cy="389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spcBef>
                <a:spcPct val="20000"/>
              </a:spcBef>
              <a:buFontTx/>
              <a:buChar char="•"/>
            </a:pPr>
            <a:r>
              <a:rPr lang="en-US" altLang="zh-CN" sz="2800" b="1"/>
              <a:t>optval</a:t>
            </a:r>
            <a:r>
              <a:rPr lang="zh-CN" altLang="en-US" sz="2800" b="1"/>
              <a:t>是一个指向变量的指针，通过它，或由</a:t>
            </a:r>
            <a:r>
              <a:rPr lang="en-US" altLang="zh-CN" sz="2800" b="1"/>
              <a:t>setsockopt</a:t>
            </a:r>
            <a:r>
              <a:rPr lang="zh-CN" altLang="en-US" sz="2800" b="1"/>
              <a:t>设置选项的新值，或由</a:t>
            </a:r>
            <a:r>
              <a:rPr lang="en-US" altLang="zh-CN" sz="2800" b="1"/>
              <a:t>getsockopt</a:t>
            </a:r>
            <a:r>
              <a:rPr lang="zh-CN" altLang="en-US" sz="2800" b="1"/>
              <a:t>存储选项的当前值。此变量的大小由最后一个参数指定，它对于</a:t>
            </a:r>
            <a:r>
              <a:rPr lang="en-US" altLang="zh-CN" sz="2800" b="1"/>
              <a:t>setsockopt</a:t>
            </a:r>
            <a:r>
              <a:rPr lang="zh-CN" altLang="en-US" sz="2800" b="1"/>
              <a:t>是一个值，对于</a:t>
            </a:r>
            <a:r>
              <a:rPr lang="en-US" altLang="zh-CN" sz="2800" b="1"/>
              <a:t>getsockopt</a:t>
            </a:r>
            <a:r>
              <a:rPr lang="zh-CN" altLang="en-US" sz="2800" b="1"/>
              <a:t>是一个“值－结果”参数。</a:t>
            </a:r>
            <a:endParaRPr lang="zh-CN" altLang="en-US" sz="2800" b="1"/>
          </a:p>
          <a:p>
            <a:pPr>
              <a:lnSpc>
                <a:spcPct val="90000"/>
              </a:lnSpc>
              <a:spcBef>
                <a:spcPct val="20000"/>
              </a:spcBef>
              <a:buFontTx/>
              <a:buChar char="•"/>
            </a:pPr>
            <a:r>
              <a:rPr lang="zh-CN" altLang="en-US" sz="2800" b="1"/>
              <a:t>由</a:t>
            </a:r>
            <a:r>
              <a:rPr lang="en-US" altLang="zh-CN" sz="2800" b="1"/>
              <a:t>setsockopt</a:t>
            </a:r>
            <a:r>
              <a:rPr lang="zh-CN" altLang="en-US" sz="2800" b="1"/>
              <a:t>设置选项的新值，允许某个选项，则将</a:t>
            </a:r>
            <a:r>
              <a:rPr lang="en-US" altLang="zh-CN" sz="2800" b="1"/>
              <a:t>optval</a:t>
            </a:r>
            <a:r>
              <a:rPr lang="zh-CN" altLang="en-US" sz="2800" b="1"/>
              <a:t>指向非零整形数；禁止某个选项，则将</a:t>
            </a:r>
            <a:r>
              <a:rPr lang="en-US" altLang="zh-CN" sz="2800" b="1"/>
              <a:t>optval</a:t>
            </a:r>
            <a:r>
              <a:rPr lang="zh-CN" altLang="en-US" sz="2800" b="1"/>
              <a:t>指向一个等于零的整形数 </a:t>
            </a:r>
            <a:endParaRPr lang="zh-CN" altLang="en-US" sz="2800" b="1"/>
          </a:p>
          <a:p>
            <a:pPr>
              <a:spcBef>
                <a:spcPct val="50000"/>
              </a:spcBef>
            </a:pPr>
            <a:endParaRPr lang="en-US" altLang="zh-CN" sz="2800" b="1"/>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ChangeArrowheads="1"/>
          </p:cNvSpPr>
          <p:nvPr>
            <p:ph type="title"/>
          </p:nvPr>
        </p:nvSpPr>
        <p:spPr>
          <a:xfrm>
            <a:off x="762000" y="304800"/>
            <a:ext cx="7772400" cy="685800"/>
          </a:xfrm>
        </p:spPr>
        <p:txBody>
          <a:bodyPr/>
          <a:lstStyle/>
          <a:p>
            <a:pPr eaLnBrk="1" hangingPunct="1"/>
            <a:r>
              <a:rPr lang="zh-CN" altLang="en-US" b="1"/>
              <a:t>部分选项</a:t>
            </a:r>
            <a:endParaRPr lang="zh-CN" altLang="en-US" b="1"/>
          </a:p>
        </p:txBody>
      </p:sp>
      <p:sp>
        <p:nvSpPr>
          <p:cNvPr id="91138" name="Rectangle 3"/>
          <p:cNvSpPr>
            <a:spLocks noGrp="1" noChangeArrowheads="1"/>
          </p:cNvSpPr>
          <p:nvPr>
            <p:ph idx="1"/>
          </p:nvPr>
        </p:nvSpPr>
        <p:spPr>
          <a:xfrm>
            <a:off x="179388" y="1211263"/>
            <a:ext cx="8839200" cy="5241925"/>
          </a:xfrm>
        </p:spPr>
        <p:txBody>
          <a:bodyPr/>
          <a:lstStyle/>
          <a:p>
            <a:pPr eaLnBrk="1" hangingPunct="1">
              <a:lnSpc>
                <a:spcPct val="90000"/>
              </a:lnSpc>
            </a:pPr>
            <a:r>
              <a:rPr lang="zh-CN" altLang="en-US" sz="2400" b="1"/>
              <a:t>套接字的选项有很多，读者可参考</a:t>
            </a:r>
            <a:r>
              <a:rPr lang="en-US" altLang="zh-CN" sz="2400" b="1"/>
              <a:t>《unix network programming》p.152</a:t>
            </a:r>
            <a:r>
              <a:rPr lang="zh-CN" altLang="en-US" sz="2400" b="1"/>
              <a:t>。常见的有：</a:t>
            </a:r>
            <a:endParaRPr lang="zh-CN" altLang="en-US" sz="2400" b="1"/>
          </a:p>
          <a:p>
            <a:pPr lvl="1" eaLnBrk="1" hangingPunct="1">
              <a:lnSpc>
                <a:spcPct val="90000"/>
              </a:lnSpc>
              <a:buFontTx/>
              <a:buNone/>
            </a:pPr>
            <a:r>
              <a:rPr lang="en-US" altLang="zh-CN" sz="2000" b="1"/>
              <a:t>Level            optnanme                    </a:t>
            </a:r>
            <a:r>
              <a:rPr lang="zh-CN" altLang="en-US" sz="2000" b="1"/>
              <a:t>数据类型     说明</a:t>
            </a:r>
            <a:endParaRPr lang="zh-CN" altLang="en-US" sz="2000" b="1"/>
          </a:p>
          <a:p>
            <a:pPr eaLnBrk="1" hangingPunct="1">
              <a:lnSpc>
                <a:spcPct val="90000"/>
              </a:lnSpc>
              <a:buFontTx/>
              <a:buNone/>
            </a:pPr>
            <a:r>
              <a:rPr lang="en-US" altLang="zh-CN" sz="2000" b="1"/>
              <a:t>SOL_SOCKET	SO_DONTROUTE	int	</a:t>
            </a:r>
            <a:r>
              <a:rPr lang="zh-CN" altLang="en-US" sz="2000" b="1"/>
              <a:t>旁路路由表查询</a:t>
            </a:r>
            <a:endParaRPr lang="zh-CN" altLang="en-US" sz="2000" b="1"/>
          </a:p>
          <a:p>
            <a:pPr eaLnBrk="1" hangingPunct="1">
              <a:lnSpc>
                <a:spcPct val="90000"/>
              </a:lnSpc>
              <a:buFontTx/>
              <a:buNone/>
            </a:pPr>
            <a:r>
              <a:rPr lang="zh-CN" altLang="en-US" sz="2000" b="1"/>
              <a:t>			</a:t>
            </a:r>
            <a:r>
              <a:rPr lang="en-US" altLang="zh-CN" sz="2000" b="1"/>
              <a:t>SO_KEEPALIVE	int	</a:t>
            </a:r>
            <a:r>
              <a:rPr lang="zh-CN" altLang="en-US" sz="2000" b="1"/>
              <a:t>周期性地测试连接是否存活</a:t>
            </a:r>
            <a:endParaRPr lang="zh-CN" altLang="en-US" sz="2000" b="1"/>
          </a:p>
          <a:p>
            <a:pPr eaLnBrk="1" hangingPunct="1">
              <a:lnSpc>
                <a:spcPct val="90000"/>
              </a:lnSpc>
              <a:buFontTx/>
              <a:buNone/>
            </a:pPr>
            <a:r>
              <a:rPr lang="zh-CN" altLang="en-US" sz="2000" b="1"/>
              <a:t>			</a:t>
            </a:r>
            <a:r>
              <a:rPr lang="en-US" altLang="zh-CN" sz="2000" b="1"/>
              <a:t>SO_RCVBUF		int	</a:t>
            </a:r>
            <a:r>
              <a:rPr lang="zh-CN" altLang="en-US" sz="2000" b="1"/>
              <a:t>接收缓冲区大小</a:t>
            </a:r>
            <a:endParaRPr lang="zh-CN" altLang="en-US" sz="2000" b="1"/>
          </a:p>
          <a:p>
            <a:pPr eaLnBrk="1" hangingPunct="1">
              <a:lnSpc>
                <a:spcPct val="90000"/>
              </a:lnSpc>
              <a:buFontTx/>
              <a:buNone/>
            </a:pPr>
            <a:r>
              <a:rPr lang="zh-CN" altLang="en-US" sz="2000" b="1"/>
              <a:t>			</a:t>
            </a:r>
            <a:r>
              <a:rPr lang="en-US" altLang="zh-CN" sz="2000" b="1"/>
              <a:t>SO_SNDBUF		int	</a:t>
            </a:r>
            <a:r>
              <a:rPr lang="zh-CN" altLang="en-US" sz="2000" b="1"/>
              <a:t>发送缓冲区大小</a:t>
            </a:r>
            <a:endParaRPr lang="zh-CN" altLang="en-US" sz="2000" b="1"/>
          </a:p>
          <a:p>
            <a:pPr eaLnBrk="1" hangingPunct="1">
              <a:lnSpc>
                <a:spcPct val="90000"/>
              </a:lnSpc>
              <a:buFontTx/>
              <a:buNone/>
            </a:pPr>
            <a:r>
              <a:rPr lang="zh-CN" altLang="en-US" sz="2000" b="1"/>
              <a:t>			</a:t>
            </a:r>
            <a:r>
              <a:rPr lang="en-US" altLang="zh-CN" sz="2000" b="1"/>
              <a:t>SO_REUSEADDR	int	</a:t>
            </a:r>
            <a:r>
              <a:rPr lang="zh-CN" altLang="en-US" sz="2000" b="1"/>
              <a:t>允许重用本地地址</a:t>
            </a:r>
            <a:endParaRPr lang="zh-CN" altLang="en-US" sz="2000" b="1"/>
          </a:p>
          <a:p>
            <a:pPr eaLnBrk="1" hangingPunct="1">
              <a:lnSpc>
                <a:spcPct val="90000"/>
              </a:lnSpc>
              <a:buFontTx/>
              <a:buNone/>
            </a:pPr>
            <a:r>
              <a:rPr lang="zh-CN" altLang="en-US" sz="2000" b="1"/>
              <a:t>			</a:t>
            </a:r>
            <a:r>
              <a:rPr lang="en-US" altLang="zh-CN" sz="2000" b="1"/>
              <a:t>SO_REUSEPORT	int	</a:t>
            </a:r>
            <a:r>
              <a:rPr lang="zh-CN" altLang="en-US" sz="2000" b="1"/>
              <a:t>允许重用本地端口</a:t>
            </a:r>
            <a:endParaRPr lang="zh-CN" altLang="en-US" sz="2000" b="1"/>
          </a:p>
          <a:p>
            <a:pPr eaLnBrk="1" hangingPunct="1">
              <a:lnSpc>
                <a:spcPct val="90000"/>
              </a:lnSpc>
              <a:buFontTx/>
              <a:buNone/>
            </a:pPr>
            <a:r>
              <a:rPr lang="en-US" altLang="zh-CN" sz="2000" b="1"/>
              <a:t>IPPROTO_TCP	TCP_MAXRT		int	tcp</a:t>
            </a:r>
            <a:r>
              <a:rPr lang="zh-CN" altLang="en-US" sz="2000" b="1"/>
              <a:t>最大重传时间</a:t>
            </a:r>
            <a:endParaRPr lang="zh-CN" altLang="en-US" sz="2000" b="1"/>
          </a:p>
          <a:p>
            <a:pPr eaLnBrk="1" hangingPunct="1">
              <a:lnSpc>
                <a:spcPct val="90000"/>
              </a:lnSpc>
              <a:buFontTx/>
              <a:buNone/>
            </a:pPr>
            <a:r>
              <a:rPr lang="zh-CN" altLang="en-US" sz="2000" b="1"/>
              <a:t>			</a:t>
            </a:r>
            <a:r>
              <a:rPr lang="en-US" altLang="zh-CN" sz="2000" b="1"/>
              <a:t>TCP_MAXSEG		int	tcp</a:t>
            </a:r>
            <a:r>
              <a:rPr lang="zh-CN" altLang="en-US" sz="2000" b="1"/>
              <a:t>最大分节大小</a:t>
            </a:r>
            <a:endParaRPr lang="zh-CN" altLang="en-US" sz="2000" b="1"/>
          </a:p>
          <a:p>
            <a:pPr eaLnBrk="1" hangingPunct="1">
              <a:lnSpc>
                <a:spcPct val="90000"/>
              </a:lnSpc>
              <a:buFontTx/>
              <a:buNone/>
            </a:pPr>
            <a:r>
              <a:rPr lang="zh-CN" altLang="en-US" sz="2000" b="1"/>
              <a:t>如：</a:t>
            </a:r>
            <a:endParaRPr lang="zh-CN" altLang="en-US" sz="2000" b="1"/>
          </a:p>
          <a:p>
            <a:pPr eaLnBrk="1" hangingPunct="1">
              <a:lnSpc>
                <a:spcPct val="90000"/>
              </a:lnSpc>
              <a:buFontTx/>
              <a:buNone/>
            </a:pPr>
            <a:r>
              <a:rPr lang="en-US" altLang="zh-CN" sz="2000" b="1"/>
              <a:t>int opt = 1;</a:t>
            </a:r>
            <a:endParaRPr lang="en-US" altLang="zh-CN" sz="2000" b="1"/>
          </a:p>
          <a:p>
            <a:pPr eaLnBrk="1" hangingPunct="1">
              <a:lnSpc>
                <a:spcPct val="90000"/>
              </a:lnSpc>
              <a:buFontTx/>
              <a:buNone/>
            </a:pPr>
            <a:r>
              <a:rPr lang="en-US" altLang="zh-CN" sz="2000" b="1"/>
              <a:t>setsockopt(listenfd, SOL_SOCKET, SO_REUSERADDR, &amp;opt, sizeof(opt));</a:t>
            </a:r>
            <a:endParaRPr lang="en-US" altLang="zh-CN" sz="2000" b="1"/>
          </a:p>
        </p:txBody>
      </p:sp>
    </p:spTree>
  </p:cSld>
  <p:clrMapOvr>
    <a:masterClrMapping/>
  </p:clrMapOvr>
  <p:transition spd="slow">
    <p:wipe dir="r"/>
    <p:sndAc>
      <p:endSnd/>
    </p:sndAc>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a:spLocks noGrp="1" noChangeArrowheads="1"/>
          </p:cNvSpPr>
          <p:nvPr>
            <p:ph type="title"/>
          </p:nvPr>
        </p:nvSpPr>
        <p:spPr>
          <a:xfrm>
            <a:off x="762000" y="228600"/>
            <a:ext cx="7772400" cy="762000"/>
          </a:xfrm>
        </p:spPr>
        <p:txBody>
          <a:bodyPr/>
          <a:lstStyle/>
          <a:p>
            <a:pPr eaLnBrk="1" hangingPunct="1"/>
            <a:r>
              <a:rPr lang="en-US" altLang="zh-CN" i="1"/>
              <a:t>SO_KEEPALIVE</a:t>
            </a:r>
            <a:r>
              <a:rPr lang="zh-CN" altLang="en-US" i="1"/>
              <a:t>选项（</a:t>
            </a:r>
            <a:r>
              <a:rPr lang="en-US" altLang="zh-CN" i="1"/>
              <a:t>tcp</a:t>
            </a:r>
            <a:r>
              <a:rPr lang="zh-CN" altLang="en-US" i="1"/>
              <a:t>）</a:t>
            </a:r>
            <a:endParaRPr lang="zh-CN" altLang="en-US" i="1"/>
          </a:p>
        </p:txBody>
      </p:sp>
      <p:sp>
        <p:nvSpPr>
          <p:cNvPr id="92162" name="Rectangle 3"/>
          <p:cNvSpPr>
            <a:spLocks noGrp="1" noChangeArrowheads="1"/>
          </p:cNvSpPr>
          <p:nvPr>
            <p:ph idx="1"/>
          </p:nvPr>
        </p:nvSpPr>
        <p:spPr>
          <a:xfrm>
            <a:off x="684213" y="1052513"/>
            <a:ext cx="7772400" cy="5638800"/>
          </a:xfrm>
        </p:spPr>
        <p:txBody>
          <a:bodyPr/>
          <a:lstStyle/>
          <a:p>
            <a:pPr eaLnBrk="1" hangingPunct="1">
              <a:lnSpc>
                <a:spcPct val="90000"/>
              </a:lnSpc>
            </a:pPr>
            <a:r>
              <a:rPr lang="zh-CN" altLang="en-US" sz="2400" b="1"/>
              <a:t>这个选项的目的是检测对方主机（或进程是否崩溃）。缺省情况下，如果</a:t>
            </a:r>
            <a:r>
              <a:rPr lang="en-US" altLang="zh-CN" sz="2400" b="1"/>
              <a:t>2</a:t>
            </a:r>
            <a:r>
              <a:rPr lang="zh-CN" altLang="en-US" sz="2400" b="1"/>
              <a:t>小时内在此套接字上的任一方向都没有数据交换，</a:t>
            </a:r>
            <a:r>
              <a:rPr lang="en-US" altLang="zh-CN" sz="2400" b="1"/>
              <a:t>tcp</a:t>
            </a:r>
            <a:r>
              <a:rPr lang="zh-CN" altLang="en-US" sz="2400" b="1"/>
              <a:t>就自动给对方发一个“保持存活”探测分节，这是一个对方必须响应的</a:t>
            </a:r>
            <a:r>
              <a:rPr lang="en-US" altLang="zh-CN" sz="2400" b="1"/>
              <a:t>tcp</a:t>
            </a:r>
            <a:r>
              <a:rPr lang="zh-CN" altLang="en-US" sz="2400" b="1"/>
              <a:t>分节：会导致三种情况：</a:t>
            </a:r>
            <a:endParaRPr lang="zh-CN" altLang="en-US" sz="2400" b="1"/>
          </a:p>
          <a:p>
            <a:pPr lvl="1" eaLnBrk="1" hangingPunct="1">
              <a:lnSpc>
                <a:spcPct val="90000"/>
              </a:lnSpc>
            </a:pPr>
            <a:r>
              <a:rPr lang="zh-CN" altLang="en-US" sz="2600" b="1"/>
              <a:t>对方以期望的</a:t>
            </a:r>
            <a:r>
              <a:rPr lang="en-US" altLang="zh-CN" sz="2600" b="1"/>
              <a:t>ACK</a:t>
            </a:r>
            <a:r>
              <a:rPr lang="zh-CN" altLang="en-US" sz="2600" b="1"/>
              <a:t>响应。应用进程不会得到通知（因为一切正常）。</a:t>
            </a:r>
            <a:endParaRPr lang="zh-CN" altLang="en-US" sz="2600" b="1"/>
          </a:p>
          <a:p>
            <a:pPr lvl="1" eaLnBrk="1" hangingPunct="1">
              <a:lnSpc>
                <a:spcPct val="90000"/>
              </a:lnSpc>
            </a:pPr>
            <a:r>
              <a:rPr lang="zh-CN" altLang="en-US" sz="2600" b="1"/>
              <a:t>对方以</a:t>
            </a:r>
            <a:r>
              <a:rPr lang="en-US" altLang="zh-CN" sz="2600" b="1"/>
              <a:t>RST</a:t>
            </a:r>
            <a:r>
              <a:rPr lang="zh-CN" altLang="en-US" sz="2600" b="1"/>
              <a:t>响应，说明对方已崩溃且已重新启动（对方已无连接套接字信息）。此时，套接字错误被置为</a:t>
            </a:r>
            <a:r>
              <a:rPr lang="en-US" altLang="zh-CN" sz="2600" b="1"/>
              <a:t>ECONNRESET</a:t>
            </a:r>
            <a:r>
              <a:rPr lang="zh-CN" altLang="en-US" sz="2600" b="1"/>
              <a:t>，套接字本身被关闭；</a:t>
            </a:r>
            <a:endParaRPr lang="zh-CN" altLang="en-US" sz="2600" b="1"/>
          </a:p>
          <a:p>
            <a:pPr lvl="1" eaLnBrk="1" hangingPunct="1">
              <a:lnSpc>
                <a:spcPct val="90000"/>
              </a:lnSpc>
            </a:pPr>
            <a:r>
              <a:rPr lang="zh-CN" altLang="en-US" sz="2600" b="1"/>
              <a:t>对方对保持存活探测分节无任何响应，如果连续发送</a:t>
            </a:r>
            <a:r>
              <a:rPr lang="en-US" altLang="zh-CN" sz="2600" b="1"/>
              <a:t>9</a:t>
            </a:r>
            <a:r>
              <a:rPr lang="zh-CN" altLang="en-US" sz="2600" b="1"/>
              <a:t>个探测分节（每</a:t>
            </a:r>
            <a:r>
              <a:rPr lang="en-US" altLang="zh-CN" sz="2600" b="1"/>
              <a:t>75s</a:t>
            </a:r>
            <a:r>
              <a:rPr lang="zh-CN" altLang="en-US" sz="2600" b="1"/>
              <a:t>一个）无响应，则套接字错误为</a:t>
            </a:r>
            <a:r>
              <a:rPr lang="en-US" altLang="zh-CN" sz="2600" b="1"/>
              <a:t>ETIMEDOUT</a:t>
            </a:r>
            <a:r>
              <a:rPr lang="zh-CN" altLang="en-US" sz="2600" b="1"/>
              <a:t>，如果收到</a:t>
            </a:r>
            <a:r>
              <a:rPr lang="en-US" altLang="zh-CN" sz="2600" b="1"/>
              <a:t>ICMP</a:t>
            </a:r>
            <a:r>
              <a:rPr lang="zh-CN" altLang="en-US" sz="2600" b="1"/>
              <a:t>错误消息，则返回</a:t>
            </a:r>
            <a:r>
              <a:rPr lang="en-US" altLang="zh-CN" sz="2600" b="1"/>
              <a:t>EHOSTUNREACH</a:t>
            </a:r>
            <a:r>
              <a:rPr lang="zh-CN" altLang="en-US" sz="2600" b="1"/>
              <a:t>。</a:t>
            </a:r>
            <a:endParaRPr lang="zh-CN" altLang="en-US" b="1"/>
          </a:p>
        </p:txBody>
      </p:sp>
    </p:spTree>
  </p:cSld>
  <p:clrMapOvr>
    <a:masterClrMapping/>
  </p:clrMapOvr>
  <p:transition spd="slow">
    <p:wipe dir="r"/>
    <p:sndAc>
      <p:endSnd/>
    </p:sndAc>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p:nvPr>
        </p:nvSpPr>
        <p:spPr>
          <a:xfrm>
            <a:off x="685800" y="304800"/>
            <a:ext cx="7772400" cy="533400"/>
          </a:xfrm>
        </p:spPr>
        <p:txBody>
          <a:bodyPr/>
          <a:lstStyle/>
          <a:p>
            <a:pPr eaLnBrk="1" hangingPunct="1"/>
            <a:r>
              <a:rPr lang="en-US" altLang="zh-CN" b="1"/>
              <a:t>SO_KEEPALIVE</a:t>
            </a:r>
            <a:r>
              <a:rPr lang="zh-CN" altLang="en-US" b="1"/>
              <a:t>选项（续）</a:t>
            </a:r>
            <a:endParaRPr lang="zh-CN" altLang="en-US" b="1"/>
          </a:p>
        </p:txBody>
      </p:sp>
      <p:sp>
        <p:nvSpPr>
          <p:cNvPr id="93186" name="Rectangle 3"/>
          <p:cNvSpPr>
            <a:spLocks noGrp="1" noChangeArrowheads="1"/>
          </p:cNvSpPr>
          <p:nvPr>
            <p:ph idx="1"/>
          </p:nvPr>
        </p:nvSpPr>
        <p:spPr>
          <a:xfrm>
            <a:off x="381000" y="1143000"/>
            <a:ext cx="8382000" cy="5105400"/>
          </a:xfrm>
        </p:spPr>
        <p:txBody>
          <a:bodyPr/>
          <a:lstStyle/>
          <a:p>
            <a:pPr eaLnBrk="1" hangingPunct="1">
              <a:lnSpc>
                <a:spcPct val="90000"/>
              </a:lnSpc>
            </a:pPr>
            <a:r>
              <a:rPr lang="zh-CN" altLang="en-US" sz="2800" b="1"/>
              <a:t>存活探测分节的间隔时间可以更改</a:t>
            </a:r>
            <a:r>
              <a:rPr lang="en-US" altLang="zh-CN" sz="2800" b="1"/>
              <a:t>(proc/sys/net/ipv4/) </a:t>
            </a:r>
            <a:r>
              <a:rPr lang="zh-CN" altLang="en-US" sz="2800" b="1"/>
              <a:t>。但必须注意，大多数内核是以整个内核为基维护这些时间参数的，而不是以每个套接字为基来维护的，因此，如果将无活动周期从</a:t>
            </a:r>
            <a:r>
              <a:rPr lang="en-US" altLang="zh-CN" sz="2800" b="1"/>
              <a:t>2</a:t>
            </a:r>
            <a:r>
              <a:rPr lang="zh-CN" altLang="en-US" sz="2800" b="1"/>
              <a:t>小时改为</a:t>
            </a:r>
            <a:r>
              <a:rPr lang="en-US" altLang="zh-CN" sz="2800" b="1"/>
              <a:t>15</a:t>
            </a:r>
            <a:r>
              <a:rPr lang="zh-CN" altLang="en-US" sz="2800" b="1"/>
              <a:t>分钟，则将影响到主机上所有打开了此选项的套接字。</a:t>
            </a:r>
            <a:endParaRPr lang="zh-CN" altLang="en-US" sz="2800" b="1"/>
          </a:p>
          <a:p>
            <a:pPr eaLnBrk="1" hangingPunct="1">
              <a:lnSpc>
                <a:spcPct val="90000"/>
              </a:lnSpc>
            </a:pPr>
            <a:r>
              <a:rPr lang="zh-CN" altLang="en-US" sz="2800" b="1"/>
              <a:t>此选项一般由服务器使用。服务器使用此选项是因为它们需要知道无数据交换的客户是否还存活。否则，如果客户主机崩溃，服务器进程阻塞于等待对方</a:t>
            </a:r>
            <a:r>
              <a:rPr lang="en-US" altLang="zh-CN" sz="2800" b="1"/>
              <a:t>tcp</a:t>
            </a:r>
            <a:r>
              <a:rPr lang="zh-CN" altLang="en-US" sz="2800" b="1"/>
              <a:t>的客户请求，而不知道，并将继续等待永远不会到达的请求，这称为半开连接。保持存活选项将检测出这些半开连接并终止它们；</a:t>
            </a:r>
            <a:endParaRPr lang="zh-CN" altLang="en-US" sz="2800" b="1"/>
          </a:p>
        </p:txBody>
      </p:sp>
    </p:spTree>
  </p:cSld>
  <p:clrMapOvr>
    <a:masterClrMapping/>
  </p:clrMapOvr>
  <p:transition spd="slow">
    <p:wipe dir="r"/>
    <p:sndAc>
      <p:endSnd/>
    </p:sndAc>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ChangeArrowheads="1"/>
          </p:cNvSpPr>
          <p:nvPr>
            <p:ph type="title"/>
          </p:nvPr>
        </p:nvSpPr>
        <p:spPr>
          <a:xfrm>
            <a:off x="762000" y="304800"/>
            <a:ext cx="7772400" cy="762000"/>
          </a:xfrm>
        </p:spPr>
        <p:txBody>
          <a:bodyPr/>
          <a:lstStyle/>
          <a:p>
            <a:pPr eaLnBrk="1" hangingPunct="1"/>
            <a:r>
              <a:rPr lang="zh-CN" altLang="en-US"/>
              <a:t>检测各种</a:t>
            </a:r>
            <a:r>
              <a:rPr lang="en-US" altLang="zh-CN"/>
              <a:t>TCP</a:t>
            </a:r>
            <a:r>
              <a:rPr lang="zh-CN" altLang="en-US"/>
              <a:t>条件的方法</a:t>
            </a:r>
            <a:endParaRPr lang="zh-CN" altLang="en-US"/>
          </a:p>
        </p:txBody>
      </p:sp>
      <p:graphicFrame>
        <p:nvGraphicFramePr>
          <p:cNvPr id="45096" name="Group 40"/>
          <p:cNvGraphicFramePr>
            <a:graphicFrameLocks noGrp="1"/>
          </p:cNvGraphicFramePr>
          <p:nvPr>
            <p:ph idx="4294967295"/>
          </p:nvPr>
        </p:nvGraphicFramePr>
        <p:xfrm>
          <a:off x="179388" y="1268413"/>
          <a:ext cx="8785225" cy="5233988"/>
        </p:xfrm>
        <a:graphic>
          <a:graphicData uri="http://schemas.openxmlformats.org/drawingml/2006/table">
            <a:tbl>
              <a:tblPr/>
              <a:tblGrid>
                <a:gridCol w="1512887"/>
                <a:gridCol w="3095625"/>
                <a:gridCol w="2089150"/>
                <a:gridCol w="2087563"/>
              </a:tblGrid>
              <a:tr h="4079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情形</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对方进程崩溃</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对方主机崩溃</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对方主机不可达</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24037">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本地</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正主动发送数据</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对方</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发送一个</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FIN,</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我们通过使用</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select</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可立即检测出来。如果本地</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发送另外一个分节，对方</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以</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RST</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响应。如果再发送另外一个分节，本地</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就给我们一个</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SIGPIPE</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信号</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告诉进程连接已经断开，不要再写了。</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本地</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将超时，且套接字的待处理错误被设置为</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ETIMEDOUT</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本地</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将超时，且套接字的待处理错误被设置为</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EHOSTUNRACH</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296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本地</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正主动接收数据</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对方</a:t>
                      </a:r>
                      <a:r>
                        <a:rPr kumimoji="1" lang="en-US" altLang="zh-CN" sz="16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tcp</a:t>
                      </a:r>
                      <a:r>
                        <a:rPr kumimoji="1" lang="zh-CN" altLang="en-US" sz="16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发送一个</a:t>
                      </a:r>
                      <a:r>
                        <a:rPr kumimoji="1" lang="en-US" altLang="zh-CN" sz="16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FIN</a:t>
                      </a:r>
                      <a:r>
                        <a:rPr kumimoji="1" lang="zh-CN" altLang="en-US" sz="16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，我们将把它作为一个（可能是过早的）文件结束符读入</a:t>
                      </a:r>
                      <a:endParaRPr kumimoji="1" lang="zh-CN" altLang="en-US" sz="16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我们将停止接收数据</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我们将停止接收数据</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1064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连接空闲，保持存活选项已设置</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对方</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发送一个</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FIN</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，我们通过使用</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select</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判断可读条件立即能检测出来</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在毫无动静</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小时后，发送</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个存活探测分节，然后套接字的待处理错误被设置为</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etimedout</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在毫无动静</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小时后，发送</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个存活探测分节，然后套接字的待处理错误被设置为</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ehostunreach</a:t>
                      </a:r>
                      <a:endPar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6836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连接空闲，保持存活选项未设置</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对方</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发送一个</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FIN</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，我们通过使用</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select</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判判断可读条件立即能检测出来</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wipe dir="r"/>
    <p:sndAc>
      <p:endSnd/>
    </p:sndAc>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noChangeArrowheads="1"/>
          </p:cNvSpPr>
          <p:nvPr>
            <p:ph type="title"/>
          </p:nvPr>
        </p:nvSpPr>
        <p:spPr>
          <a:xfrm>
            <a:off x="762000" y="304800"/>
            <a:ext cx="7772400" cy="685800"/>
          </a:xfrm>
        </p:spPr>
        <p:txBody>
          <a:bodyPr/>
          <a:lstStyle/>
          <a:p>
            <a:pPr eaLnBrk="1" hangingPunct="1"/>
            <a:r>
              <a:rPr lang="en-US" altLang="zh-CN"/>
              <a:t>SO_LINGER</a:t>
            </a:r>
            <a:r>
              <a:rPr lang="zh-CN" altLang="en-US"/>
              <a:t>选项</a:t>
            </a:r>
            <a:endParaRPr lang="zh-CN" altLang="en-US"/>
          </a:p>
        </p:txBody>
      </p:sp>
      <p:sp>
        <p:nvSpPr>
          <p:cNvPr id="46083" name="Rectangle 3"/>
          <p:cNvSpPr>
            <a:spLocks noGrp="1" noChangeArrowheads="1"/>
          </p:cNvSpPr>
          <p:nvPr>
            <p:ph idx="1"/>
          </p:nvPr>
        </p:nvSpPr>
        <p:spPr>
          <a:xfrm>
            <a:off x="685800" y="1219200"/>
            <a:ext cx="7772400" cy="4876800"/>
          </a:xfrm>
        </p:spPr>
        <p:txBody>
          <a:bodyPr/>
          <a:lstStyle/>
          <a:p>
            <a:pPr eaLnBrk="1" hangingPunct="1">
              <a:lnSpc>
                <a:spcPct val="90000"/>
              </a:lnSpc>
              <a:defRPr/>
            </a:pPr>
            <a:r>
              <a:rPr kumimoji="1" lang="zh-CN" altLang="en-US" sz="2800" b="1" dirty="0"/>
              <a:t>函数</a:t>
            </a:r>
            <a:r>
              <a:rPr kumimoji="1" lang="en-US" altLang="zh-CN" sz="2800" b="1" dirty="0"/>
              <a:t>close</a:t>
            </a:r>
            <a:r>
              <a:rPr kumimoji="1" lang="zh-CN" altLang="en-US" sz="2800" b="1" dirty="0">
                <a:solidFill>
                  <a:srgbClr val="FF0000"/>
                </a:solidFill>
              </a:rPr>
              <a:t>缺省操作是立即返回，但如果有数据残留在套接字发送缓冲区，系统将试着将这些数据发送给对方</a:t>
            </a:r>
            <a:r>
              <a:rPr kumimoji="1" lang="zh-CN" altLang="en-US" sz="2800" b="1" dirty="0"/>
              <a:t>；</a:t>
            </a:r>
            <a:r>
              <a:rPr kumimoji="1" lang="en-US" altLang="zh-CN" sz="2800" b="1" dirty="0">
                <a:solidFill>
                  <a:srgbClr val="FF0000"/>
                </a:solidFill>
                <a:effectLst>
                  <a:outerShdw blurRad="38100" dist="38100" dir="2700000" algn="tl">
                    <a:srgbClr val="000000"/>
                  </a:outerShdw>
                </a:effectLst>
              </a:rPr>
              <a:t>SO_LINGER</a:t>
            </a:r>
            <a:r>
              <a:rPr kumimoji="1" lang="zh-CN" altLang="en-US" sz="2800" b="1" dirty="0">
                <a:solidFill>
                  <a:srgbClr val="FF0000"/>
                </a:solidFill>
                <a:effectLst>
                  <a:outerShdw blurRad="38100" dist="38100" dir="2700000" algn="tl">
                    <a:srgbClr val="000000"/>
                  </a:outerShdw>
                </a:effectLst>
              </a:rPr>
              <a:t>（</a:t>
            </a:r>
            <a:r>
              <a:rPr kumimoji="1" lang="en-US" altLang="zh-CN" sz="2800" b="1" dirty="0">
                <a:solidFill>
                  <a:srgbClr val="FF0000"/>
                </a:solidFill>
                <a:effectLst>
                  <a:outerShdw blurRad="38100" dist="38100" dir="2700000" algn="tl">
                    <a:srgbClr val="000000"/>
                  </a:outerShdw>
                </a:effectLst>
              </a:rPr>
              <a:t>level: SOL_SOCKET</a:t>
            </a:r>
            <a:r>
              <a:rPr kumimoji="1" lang="zh-CN" altLang="en-US" sz="2800" b="1" dirty="0">
                <a:solidFill>
                  <a:srgbClr val="FF0000"/>
                </a:solidFill>
                <a:effectLst>
                  <a:outerShdw blurRad="38100" dist="38100" dir="2700000" algn="tl">
                    <a:srgbClr val="000000"/>
                  </a:outerShdw>
                </a:effectLst>
              </a:rPr>
              <a:t>）选项将改变</a:t>
            </a:r>
            <a:r>
              <a:rPr kumimoji="1" lang="en-US" altLang="zh-CN" sz="2800" b="1" dirty="0" err="1">
                <a:solidFill>
                  <a:srgbClr val="FF0000"/>
                </a:solidFill>
                <a:effectLst>
                  <a:outerShdw blurRad="38100" dist="38100" dir="2700000" algn="tl">
                    <a:srgbClr val="000000"/>
                  </a:outerShdw>
                </a:effectLst>
              </a:rPr>
              <a:t>tcp</a:t>
            </a:r>
            <a:r>
              <a:rPr kumimoji="1" lang="zh-CN" altLang="en-US" sz="2800" b="1" dirty="0">
                <a:solidFill>
                  <a:srgbClr val="FF0000"/>
                </a:solidFill>
                <a:effectLst>
                  <a:outerShdw blurRad="38100" dist="38100" dir="2700000" algn="tl">
                    <a:srgbClr val="000000"/>
                  </a:outerShdw>
                </a:effectLst>
              </a:rPr>
              <a:t>套接字关闭时的缺省行为</a:t>
            </a:r>
            <a:r>
              <a:rPr kumimoji="1" lang="zh-CN" altLang="en-US" sz="2800" b="1" dirty="0">
                <a:solidFill>
                  <a:srgbClr val="FF0000"/>
                </a:solidFill>
              </a:rPr>
              <a:t>。</a:t>
            </a:r>
            <a:endParaRPr kumimoji="1" lang="zh-CN" altLang="en-US" sz="2800" b="1" dirty="0">
              <a:solidFill>
                <a:srgbClr val="FF0000"/>
              </a:solidFill>
            </a:endParaRPr>
          </a:p>
          <a:p>
            <a:pPr eaLnBrk="1" hangingPunct="1">
              <a:lnSpc>
                <a:spcPct val="90000"/>
              </a:lnSpc>
              <a:defRPr/>
            </a:pPr>
            <a:r>
              <a:rPr kumimoji="1" lang="zh-CN" altLang="en-US" sz="2800" b="1" dirty="0"/>
              <a:t>此选项要求在用户进程与内核间传递如下结构：</a:t>
            </a:r>
            <a:endParaRPr kumimoji="1" lang="zh-CN" altLang="en-US" sz="2800" b="1" dirty="0"/>
          </a:p>
          <a:p>
            <a:pPr eaLnBrk="1" hangingPunct="1">
              <a:lnSpc>
                <a:spcPct val="90000"/>
              </a:lnSpc>
              <a:buFontTx/>
              <a:buNone/>
              <a:defRPr/>
            </a:pPr>
            <a:endParaRPr kumimoji="1" lang="zh-CN" altLang="en-US" sz="1800" b="1" dirty="0"/>
          </a:p>
          <a:p>
            <a:pPr eaLnBrk="1" hangingPunct="1">
              <a:lnSpc>
                <a:spcPct val="90000"/>
              </a:lnSpc>
              <a:buFontTx/>
              <a:buNone/>
              <a:defRPr/>
            </a:pPr>
            <a:r>
              <a:rPr kumimoji="1" lang="en-US" altLang="zh-CN" sz="2000" b="1" dirty="0"/>
              <a:t>#include &lt;sys/</a:t>
            </a:r>
            <a:r>
              <a:rPr kumimoji="1" lang="en-US" altLang="zh-CN" sz="2000" b="1" dirty="0" err="1"/>
              <a:t>socket.h</a:t>
            </a:r>
            <a:r>
              <a:rPr kumimoji="1" lang="en-US" altLang="zh-CN" sz="2000" b="1" dirty="0"/>
              <a:t>&gt;</a:t>
            </a:r>
            <a:endParaRPr kumimoji="1" lang="en-US" altLang="zh-CN" sz="2000" b="1" dirty="0"/>
          </a:p>
          <a:p>
            <a:pPr eaLnBrk="1" hangingPunct="1">
              <a:lnSpc>
                <a:spcPct val="90000"/>
              </a:lnSpc>
              <a:buFontTx/>
              <a:buNone/>
              <a:defRPr/>
            </a:pPr>
            <a:r>
              <a:rPr kumimoji="1" lang="en-US" altLang="zh-CN" sz="2000" b="1" dirty="0" err="1"/>
              <a:t>struct</a:t>
            </a:r>
            <a:r>
              <a:rPr kumimoji="1" lang="en-US" altLang="zh-CN" sz="2000" b="1" dirty="0"/>
              <a:t> linger {</a:t>
            </a:r>
            <a:endParaRPr kumimoji="1" lang="en-US" altLang="zh-CN" sz="2000" b="1" dirty="0"/>
          </a:p>
          <a:p>
            <a:pPr eaLnBrk="1" hangingPunct="1">
              <a:lnSpc>
                <a:spcPct val="90000"/>
              </a:lnSpc>
              <a:buFontTx/>
              <a:buNone/>
              <a:defRPr/>
            </a:pPr>
            <a:r>
              <a:rPr kumimoji="1" lang="en-US" altLang="zh-CN" sz="2000" b="1" dirty="0"/>
              <a:t>	</a:t>
            </a:r>
            <a:r>
              <a:rPr kumimoji="1" lang="en-US" altLang="zh-CN" sz="2000" b="1" dirty="0" err="1"/>
              <a:t>int</a:t>
            </a:r>
            <a:r>
              <a:rPr kumimoji="1" lang="en-US" altLang="zh-CN" sz="2000" b="1" dirty="0"/>
              <a:t>	</a:t>
            </a:r>
            <a:r>
              <a:rPr kumimoji="1" lang="en-US" altLang="zh-CN" sz="2000" b="1" dirty="0" err="1"/>
              <a:t>l_onoff</a:t>
            </a:r>
            <a:r>
              <a:rPr kumimoji="1" lang="en-US" altLang="zh-CN" sz="2000" b="1" dirty="0"/>
              <a:t>;	     /* 0 = off,  nonzero = on */	</a:t>
            </a:r>
            <a:endParaRPr kumimoji="1" lang="en-US" altLang="zh-CN" sz="2000" b="1" dirty="0"/>
          </a:p>
          <a:p>
            <a:pPr eaLnBrk="1" hangingPunct="1">
              <a:lnSpc>
                <a:spcPct val="90000"/>
              </a:lnSpc>
              <a:buFontTx/>
              <a:buNone/>
              <a:defRPr/>
            </a:pPr>
            <a:r>
              <a:rPr kumimoji="1" lang="en-US" altLang="zh-CN" sz="2000" b="1" dirty="0"/>
              <a:t>	</a:t>
            </a:r>
            <a:r>
              <a:rPr kumimoji="1" lang="en-US" altLang="zh-CN" sz="2000" b="1" dirty="0" err="1"/>
              <a:t>int</a:t>
            </a:r>
            <a:r>
              <a:rPr kumimoji="1" lang="en-US" altLang="zh-CN" sz="2000" b="1" dirty="0"/>
              <a:t> 	</a:t>
            </a:r>
            <a:r>
              <a:rPr kumimoji="1" lang="en-US" altLang="zh-CN" sz="2000" b="1" dirty="0" err="1"/>
              <a:t>l_linger</a:t>
            </a:r>
            <a:r>
              <a:rPr kumimoji="1" lang="en-US" altLang="zh-CN" sz="2000" b="1" dirty="0"/>
              <a:t>;	     /* linger time, posix.1g specifies units as seconds */</a:t>
            </a:r>
            <a:endParaRPr kumimoji="1" lang="en-US" altLang="zh-CN" sz="2000" b="1" dirty="0"/>
          </a:p>
          <a:p>
            <a:pPr eaLnBrk="1" hangingPunct="1">
              <a:lnSpc>
                <a:spcPct val="90000"/>
              </a:lnSpc>
              <a:buFontTx/>
              <a:buNone/>
              <a:defRPr/>
            </a:pPr>
            <a:r>
              <a:rPr kumimoji="1" lang="en-US" altLang="zh-CN" sz="2000" b="1" dirty="0"/>
              <a:t>}</a:t>
            </a:r>
            <a:endParaRPr kumimoji="1" lang="en-US" altLang="zh-CN" sz="2000" b="1" dirty="0"/>
          </a:p>
        </p:txBody>
      </p:sp>
    </p:spTree>
  </p:cSld>
  <p:clrMapOvr>
    <a:masterClrMapping/>
  </p:clrMapOvr>
  <p:transition spd="slow">
    <p:wipe dir="r"/>
    <p:sndAc>
      <p:endSnd/>
    </p:sndAc>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p:cNvSpPr>
            <a:spLocks noGrp="1" noChangeArrowheads="1"/>
          </p:cNvSpPr>
          <p:nvPr>
            <p:ph type="title"/>
          </p:nvPr>
        </p:nvSpPr>
        <p:spPr>
          <a:xfrm>
            <a:off x="687388" y="222250"/>
            <a:ext cx="7772400" cy="685800"/>
          </a:xfrm>
        </p:spPr>
        <p:txBody>
          <a:bodyPr/>
          <a:lstStyle/>
          <a:p>
            <a:pPr eaLnBrk="1" hangingPunct="1"/>
            <a:r>
              <a:rPr lang="en-US" altLang="zh-CN"/>
              <a:t>SO_LINGER</a:t>
            </a:r>
            <a:r>
              <a:rPr lang="zh-CN" altLang="en-US"/>
              <a:t>选项（续）</a:t>
            </a:r>
            <a:endParaRPr lang="zh-CN" altLang="en-US"/>
          </a:p>
        </p:txBody>
      </p:sp>
      <p:sp>
        <p:nvSpPr>
          <p:cNvPr id="96258" name="Rectangle 3"/>
          <p:cNvSpPr>
            <a:spLocks noGrp="1" noChangeArrowheads="1"/>
          </p:cNvSpPr>
          <p:nvPr>
            <p:ph idx="1"/>
          </p:nvPr>
        </p:nvSpPr>
        <p:spPr>
          <a:xfrm>
            <a:off x="179388" y="1341438"/>
            <a:ext cx="8839200" cy="4926012"/>
          </a:xfrm>
        </p:spPr>
        <p:txBody>
          <a:bodyPr/>
          <a:lstStyle/>
          <a:p>
            <a:pPr eaLnBrk="1" hangingPunct="1">
              <a:lnSpc>
                <a:spcPct val="90000"/>
              </a:lnSpc>
            </a:pPr>
            <a:r>
              <a:rPr lang="zh-CN" altLang="en-US" sz="2800" b="1"/>
              <a:t>如果</a:t>
            </a:r>
            <a:r>
              <a:rPr lang="en-US" altLang="zh-CN" sz="2800" b="1"/>
              <a:t>l_onff</a:t>
            </a:r>
            <a:r>
              <a:rPr lang="zh-CN" altLang="en-US" sz="2800" b="1"/>
              <a:t>为</a:t>
            </a:r>
            <a:r>
              <a:rPr lang="en-US" altLang="zh-CN" sz="2800" b="1"/>
              <a:t>0</a:t>
            </a:r>
            <a:r>
              <a:rPr lang="zh-CN" altLang="en-US" sz="2800" b="1"/>
              <a:t>，则选项关闭，</a:t>
            </a:r>
            <a:r>
              <a:rPr lang="en-US" altLang="zh-CN" sz="2800" b="1"/>
              <a:t>l_linger</a:t>
            </a:r>
            <a:r>
              <a:rPr lang="zh-CN" altLang="en-US" sz="2800" b="1"/>
              <a:t>的值将被忽略。</a:t>
            </a:r>
            <a:endParaRPr lang="zh-CN" altLang="en-US" sz="2800" b="1"/>
          </a:p>
          <a:p>
            <a:pPr eaLnBrk="1" hangingPunct="1">
              <a:lnSpc>
                <a:spcPct val="90000"/>
              </a:lnSpc>
            </a:pPr>
            <a:r>
              <a:rPr lang="zh-CN" altLang="en-US" sz="2800" b="1"/>
              <a:t>如果</a:t>
            </a:r>
            <a:r>
              <a:rPr lang="en-US" altLang="zh-CN" sz="2800" b="1"/>
              <a:t>l_onff</a:t>
            </a:r>
            <a:r>
              <a:rPr lang="zh-CN" altLang="en-US" sz="2800" b="1"/>
              <a:t>为非</a:t>
            </a:r>
            <a:r>
              <a:rPr lang="en-US" altLang="zh-CN" sz="2800" b="1"/>
              <a:t>0</a:t>
            </a:r>
            <a:r>
              <a:rPr lang="zh-CN" altLang="en-US" sz="2800" b="1"/>
              <a:t>，且</a:t>
            </a:r>
            <a:r>
              <a:rPr lang="en-US" altLang="zh-CN" sz="2800" b="1"/>
              <a:t>l_linger</a:t>
            </a:r>
            <a:r>
              <a:rPr lang="zh-CN" altLang="en-US" sz="2800" b="1"/>
              <a:t>为</a:t>
            </a:r>
            <a:r>
              <a:rPr lang="en-US" altLang="zh-CN" sz="2800" b="1"/>
              <a:t>0</a:t>
            </a:r>
            <a:r>
              <a:rPr lang="zh-CN" altLang="en-US" sz="2800" b="1"/>
              <a:t>，那么当套接字关闭时。</a:t>
            </a:r>
            <a:r>
              <a:rPr lang="en-US" altLang="zh-CN" sz="2800" b="1"/>
              <a:t>tcp</a:t>
            </a:r>
            <a:r>
              <a:rPr lang="zh-CN" altLang="en-US" sz="2800" b="1"/>
              <a:t>将丢弃保留在套接字发送缓冲区中的任何数据并发送一个</a:t>
            </a:r>
            <a:r>
              <a:rPr lang="en-US" altLang="zh-CN" sz="2800" b="1"/>
              <a:t>RST</a:t>
            </a:r>
            <a:r>
              <a:rPr lang="zh-CN" altLang="en-US" sz="2800" b="1"/>
              <a:t>给对方，而不是通常的四分节终止连接序列。（这避免了</a:t>
            </a:r>
            <a:r>
              <a:rPr lang="en-US" altLang="zh-CN" sz="2800" b="1"/>
              <a:t>tcp</a:t>
            </a:r>
            <a:r>
              <a:rPr lang="zh-CN" altLang="en-US" sz="2800" b="1"/>
              <a:t>的</a:t>
            </a:r>
            <a:r>
              <a:rPr lang="en-US" altLang="zh-CN" sz="2800" b="1"/>
              <a:t>TIME_WAIT</a:t>
            </a:r>
            <a:r>
              <a:rPr lang="zh-CN" altLang="en-US" sz="2800" b="1"/>
              <a:t>状态）</a:t>
            </a:r>
            <a:endParaRPr lang="zh-CN" altLang="en-US" sz="2800" b="1"/>
          </a:p>
          <a:p>
            <a:pPr eaLnBrk="1" hangingPunct="1">
              <a:lnSpc>
                <a:spcPct val="90000"/>
              </a:lnSpc>
            </a:pPr>
            <a:r>
              <a:rPr lang="zh-CN" altLang="en-US" sz="2800" b="1"/>
              <a:t>如果</a:t>
            </a:r>
            <a:r>
              <a:rPr lang="en-US" altLang="zh-CN" sz="2800" b="1"/>
              <a:t>l_onoff</a:t>
            </a:r>
            <a:r>
              <a:rPr lang="zh-CN" altLang="en-US" sz="2800" b="1"/>
              <a:t>为非</a:t>
            </a:r>
            <a:r>
              <a:rPr lang="en-US" altLang="zh-CN" sz="2800" b="1"/>
              <a:t>0</a:t>
            </a:r>
            <a:r>
              <a:rPr lang="zh-CN" altLang="en-US" sz="2800" b="1"/>
              <a:t>，且</a:t>
            </a:r>
            <a:r>
              <a:rPr lang="en-US" altLang="zh-CN" sz="2800" b="1"/>
              <a:t>l_linger</a:t>
            </a:r>
            <a:r>
              <a:rPr lang="zh-CN" altLang="en-US" sz="2800" b="1"/>
              <a:t>也为非</a:t>
            </a:r>
            <a:r>
              <a:rPr lang="en-US" altLang="zh-CN" sz="2800" b="1"/>
              <a:t>0</a:t>
            </a:r>
            <a:r>
              <a:rPr lang="zh-CN" altLang="en-US" sz="2800" b="1"/>
              <a:t>，那么当套接字关闭时内核将拖延一段时间。也就是说，如果在套接字发送缓冲区中仍残留有数据，进程将处于睡眠状态，一直到（</a:t>
            </a:r>
            <a:r>
              <a:rPr lang="en-US" altLang="zh-CN" sz="2800" b="1"/>
              <a:t>a</a:t>
            </a:r>
            <a:r>
              <a:rPr lang="zh-CN" altLang="en-US" sz="2800" b="1"/>
              <a:t>）所有数据都已发送完且均被对方确认或（</a:t>
            </a:r>
            <a:r>
              <a:rPr lang="en-US" altLang="zh-CN" sz="2800" b="1"/>
              <a:t>b</a:t>
            </a:r>
            <a:r>
              <a:rPr lang="zh-CN" altLang="en-US" sz="2800" b="1"/>
              <a:t>）延滞时间到。如果在数据发送完但在被确认前延滞时间到，</a:t>
            </a:r>
            <a:r>
              <a:rPr lang="en-US" altLang="zh-CN" sz="2800" b="1"/>
              <a:t>close</a:t>
            </a:r>
            <a:r>
              <a:rPr lang="zh-CN" altLang="en-US" sz="2800" b="1"/>
              <a:t>将返回</a:t>
            </a:r>
            <a:r>
              <a:rPr lang="en-US" altLang="zh-CN" sz="2800" b="1"/>
              <a:t>EWOULDBLOCK</a:t>
            </a:r>
            <a:r>
              <a:rPr lang="zh-CN" altLang="en-US" sz="2800" b="1"/>
              <a:t>错误且发送缓冲区中的数据丢弃。</a:t>
            </a:r>
            <a:endParaRPr lang="zh-CN" altLang="en-US" sz="2800" b="1"/>
          </a:p>
        </p:txBody>
      </p:sp>
    </p:spTree>
  </p:cSld>
  <p:clrMapOvr>
    <a:masterClrMapping/>
  </p:clrMapOvr>
  <p:transition spd="slow">
    <p:wipe dir="r"/>
    <p:sndAc>
      <p:endSnd/>
    </p:sndAc>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title"/>
          </p:nvPr>
        </p:nvSpPr>
        <p:spPr>
          <a:xfrm>
            <a:off x="609600" y="304800"/>
            <a:ext cx="7772400" cy="685800"/>
          </a:xfrm>
        </p:spPr>
        <p:txBody>
          <a:bodyPr/>
          <a:lstStyle/>
          <a:p>
            <a:pPr eaLnBrk="1" hangingPunct="1"/>
            <a:r>
              <a:rPr lang="en-US" altLang="zh-CN" b="1"/>
              <a:t>SO_LINGER</a:t>
            </a:r>
            <a:r>
              <a:rPr lang="zh-CN" altLang="en-US" b="1"/>
              <a:t>选项（续）</a:t>
            </a:r>
            <a:endParaRPr lang="zh-CN" altLang="en-US" b="1"/>
          </a:p>
        </p:txBody>
      </p:sp>
      <p:sp>
        <p:nvSpPr>
          <p:cNvPr id="97282" name="Rectangle 3"/>
          <p:cNvSpPr>
            <a:spLocks noGrp="1" noChangeArrowheads="1"/>
          </p:cNvSpPr>
          <p:nvPr>
            <p:ph idx="1"/>
          </p:nvPr>
        </p:nvSpPr>
        <p:spPr>
          <a:xfrm>
            <a:off x="304800" y="1066800"/>
            <a:ext cx="8540750" cy="5457825"/>
          </a:xfrm>
        </p:spPr>
        <p:txBody>
          <a:bodyPr/>
          <a:lstStyle/>
          <a:p>
            <a:pPr eaLnBrk="1" hangingPunct="1">
              <a:buFontTx/>
              <a:buNone/>
            </a:pPr>
            <a:r>
              <a:rPr lang="en-US" altLang="zh-CN" sz="2800" b="1"/>
              <a:t>    </a:t>
            </a:r>
            <a:r>
              <a:rPr lang="zh-CN" altLang="en-US" sz="2800" b="1"/>
              <a:t>当然，如果套接字被设置为非阻塞型，它将不等待</a:t>
            </a:r>
            <a:r>
              <a:rPr lang="en-US" altLang="zh-CN" sz="2800" b="1"/>
              <a:t>close</a:t>
            </a:r>
            <a:r>
              <a:rPr lang="zh-CN" altLang="en-US" sz="2800" b="1"/>
              <a:t>完成，即使延滞时间为非</a:t>
            </a:r>
            <a:r>
              <a:rPr lang="en-US" altLang="zh-CN" sz="2800" b="1"/>
              <a:t>0</a:t>
            </a:r>
            <a:r>
              <a:rPr lang="zh-CN" altLang="en-US" sz="2800" b="1"/>
              <a:t>也是如此。</a:t>
            </a:r>
            <a:endParaRPr lang="zh-CN" altLang="en-US" sz="2800" b="1"/>
          </a:p>
          <a:p>
            <a:pPr eaLnBrk="1" hangingPunct="1"/>
            <a:r>
              <a:rPr lang="zh-CN" altLang="en-US" sz="2800" b="1"/>
              <a:t>这里有个基本原则：</a:t>
            </a:r>
            <a:r>
              <a:rPr lang="zh-CN" altLang="en-US" sz="2800" b="1">
                <a:solidFill>
                  <a:srgbClr val="FF0000"/>
                </a:solidFill>
              </a:rPr>
              <a:t>设置</a:t>
            </a:r>
            <a:r>
              <a:rPr lang="en-US" altLang="zh-CN" sz="2800" b="1">
                <a:solidFill>
                  <a:srgbClr val="FF0000"/>
                </a:solidFill>
              </a:rPr>
              <a:t>SO_LINGER</a:t>
            </a:r>
            <a:r>
              <a:rPr lang="zh-CN" altLang="en-US" sz="2800" b="1">
                <a:solidFill>
                  <a:srgbClr val="FF0000"/>
                </a:solidFill>
              </a:rPr>
              <a:t>套接字选项后，</a:t>
            </a:r>
            <a:r>
              <a:rPr lang="en-US" altLang="zh-CN" sz="2800" b="1">
                <a:solidFill>
                  <a:srgbClr val="FF0000"/>
                </a:solidFill>
              </a:rPr>
              <a:t>close</a:t>
            </a:r>
            <a:r>
              <a:rPr lang="zh-CN" altLang="en-US" sz="2800" b="1">
                <a:solidFill>
                  <a:srgbClr val="FF0000"/>
                </a:solidFill>
              </a:rPr>
              <a:t>成功返回仅告诉我们发送的数据（和</a:t>
            </a:r>
            <a:r>
              <a:rPr lang="en-US" altLang="zh-CN" sz="2800" b="1">
                <a:solidFill>
                  <a:srgbClr val="FF0000"/>
                </a:solidFill>
              </a:rPr>
              <a:t>FIN</a:t>
            </a:r>
            <a:r>
              <a:rPr lang="zh-CN" altLang="en-US" sz="2800" b="1">
                <a:solidFill>
                  <a:srgbClr val="FF0000"/>
                </a:solidFill>
              </a:rPr>
              <a:t>）已由对方</a:t>
            </a:r>
            <a:r>
              <a:rPr lang="en-US" altLang="zh-CN" sz="2800" b="1">
                <a:solidFill>
                  <a:srgbClr val="FF0000"/>
                </a:solidFill>
              </a:rPr>
              <a:t>tcp</a:t>
            </a:r>
            <a:r>
              <a:rPr lang="zh-CN" altLang="en-US" sz="2800" b="1">
                <a:solidFill>
                  <a:srgbClr val="FF0000"/>
                </a:solidFill>
              </a:rPr>
              <a:t>确认，它并不能告诉我们对方应用进程是否已经读取了数据，</a:t>
            </a:r>
            <a:r>
              <a:rPr lang="zh-CN" altLang="en-US" sz="2800" b="1"/>
              <a:t>如果不设置该选项，我们连对方</a:t>
            </a:r>
            <a:r>
              <a:rPr lang="en-US" altLang="zh-CN" sz="2800" b="1"/>
              <a:t>tcp</a:t>
            </a:r>
            <a:r>
              <a:rPr lang="zh-CN" altLang="en-US" sz="2800" b="1"/>
              <a:t>是否确认都不知道；</a:t>
            </a:r>
            <a:endParaRPr lang="zh-CN" altLang="en-US" sz="2800" b="1"/>
          </a:p>
          <a:p>
            <a:pPr eaLnBrk="1" hangingPunct="1"/>
            <a:r>
              <a:rPr lang="zh-CN" altLang="en-US" sz="2800" b="1"/>
              <a:t>让客户知道服务器已读其数据的一个方法是：调用</a:t>
            </a:r>
            <a:r>
              <a:rPr lang="en-US" altLang="zh-CN" sz="2800" b="1"/>
              <a:t>shutdown</a:t>
            </a:r>
            <a:r>
              <a:rPr lang="zh-CN" altLang="en-US" sz="2800" b="1"/>
              <a:t>（第二个参数为</a:t>
            </a:r>
            <a:r>
              <a:rPr lang="en-US" altLang="zh-CN" sz="2800" b="1"/>
              <a:t>SHUT_WR</a:t>
            </a:r>
            <a:r>
              <a:rPr lang="zh-CN" altLang="en-US" sz="2800" b="1"/>
              <a:t>）而不是调用</a:t>
            </a:r>
            <a:r>
              <a:rPr lang="en-US" altLang="zh-CN" sz="2800" b="1"/>
              <a:t>close</a:t>
            </a:r>
            <a:r>
              <a:rPr lang="zh-CN" altLang="en-US" sz="2800" b="1"/>
              <a:t>，并等待对方</a:t>
            </a:r>
            <a:r>
              <a:rPr lang="en-US" altLang="zh-CN" sz="2800" b="1"/>
              <a:t>close</a:t>
            </a:r>
            <a:r>
              <a:rPr lang="zh-CN" altLang="en-US" sz="2800" b="1"/>
              <a:t>连接的本地（服务器）端。</a:t>
            </a:r>
            <a:endParaRPr lang="zh-CN" altLang="en-US" sz="2800" b="1"/>
          </a:p>
        </p:txBody>
      </p:sp>
    </p:spTree>
  </p:cSld>
  <p:clrMapOvr>
    <a:masterClrMapping/>
  </p:clrMapOvr>
  <p:transition spd="slow">
    <p:wipe dir="r"/>
    <p:sndAc>
      <p:endSnd/>
    </p:sndAc>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noChangeArrowheads="1"/>
          </p:cNvSpPr>
          <p:nvPr>
            <p:ph type="title"/>
          </p:nvPr>
        </p:nvSpPr>
        <p:spPr>
          <a:xfrm>
            <a:off x="684213" y="188913"/>
            <a:ext cx="7772400" cy="1143000"/>
          </a:xfrm>
        </p:spPr>
        <p:txBody>
          <a:bodyPr/>
          <a:lstStyle/>
          <a:p>
            <a:pPr eaLnBrk="1" hangingPunct="1"/>
            <a:r>
              <a:rPr lang="en-US" altLang="zh-CN"/>
              <a:t>SO_LINGER</a:t>
            </a:r>
            <a:r>
              <a:rPr lang="zh-CN" altLang="en-US"/>
              <a:t>图示</a:t>
            </a:r>
            <a:endParaRPr lang="zh-CN" altLang="en-US"/>
          </a:p>
        </p:txBody>
      </p:sp>
      <p:grpSp>
        <p:nvGrpSpPr>
          <p:cNvPr id="98306" name="Group 43"/>
          <p:cNvGrpSpPr/>
          <p:nvPr/>
        </p:nvGrpSpPr>
        <p:grpSpPr bwMode="auto">
          <a:xfrm>
            <a:off x="209550" y="1425575"/>
            <a:ext cx="8181975" cy="4775200"/>
            <a:chOff x="132" y="898"/>
            <a:chExt cx="5154" cy="3008"/>
          </a:xfrm>
        </p:grpSpPr>
        <p:grpSp>
          <p:nvGrpSpPr>
            <p:cNvPr id="98307" name="Group 3"/>
            <p:cNvGrpSpPr/>
            <p:nvPr/>
          </p:nvGrpSpPr>
          <p:grpSpPr bwMode="auto">
            <a:xfrm>
              <a:off x="132" y="898"/>
              <a:ext cx="2340" cy="2132"/>
              <a:chOff x="239" y="898"/>
              <a:chExt cx="1995" cy="2132"/>
            </a:xfrm>
          </p:grpSpPr>
          <p:sp>
            <p:nvSpPr>
              <p:cNvPr id="98308" name="Line 4"/>
              <p:cNvSpPr>
                <a:spLocks noChangeShapeType="1"/>
              </p:cNvSpPr>
              <p:nvPr/>
            </p:nvSpPr>
            <p:spPr bwMode="auto">
              <a:xfrm>
                <a:off x="691" y="1170"/>
                <a:ext cx="0" cy="186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09" name="Line 5"/>
              <p:cNvSpPr>
                <a:spLocks noChangeShapeType="1"/>
              </p:cNvSpPr>
              <p:nvPr/>
            </p:nvSpPr>
            <p:spPr bwMode="auto">
              <a:xfrm>
                <a:off x="1689" y="1170"/>
                <a:ext cx="0" cy="186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10" name="Line 6"/>
              <p:cNvSpPr>
                <a:spLocks noChangeShapeType="1"/>
              </p:cNvSpPr>
              <p:nvPr/>
            </p:nvSpPr>
            <p:spPr bwMode="auto">
              <a:xfrm>
                <a:off x="691" y="1306"/>
                <a:ext cx="998" cy="27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11" name="Line 7"/>
              <p:cNvSpPr>
                <a:spLocks noChangeShapeType="1"/>
              </p:cNvSpPr>
              <p:nvPr/>
            </p:nvSpPr>
            <p:spPr bwMode="auto">
              <a:xfrm>
                <a:off x="691" y="1533"/>
                <a:ext cx="998"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12" name="Line 8"/>
              <p:cNvSpPr>
                <a:spLocks noChangeShapeType="1"/>
              </p:cNvSpPr>
              <p:nvPr/>
            </p:nvSpPr>
            <p:spPr bwMode="auto">
              <a:xfrm>
                <a:off x="691" y="2395"/>
                <a:ext cx="998"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13" name="Line 9"/>
              <p:cNvSpPr>
                <a:spLocks noChangeShapeType="1"/>
              </p:cNvSpPr>
              <p:nvPr/>
            </p:nvSpPr>
            <p:spPr bwMode="auto">
              <a:xfrm flipV="1">
                <a:off x="691" y="1896"/>
                <a:ext cx="998" cy="227"/>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14" name="Line 10"/>
              <p:cNvSpPr>
                <a:spLocks noChangeShapeType="1"/>
              </p:cNvSpPr>
              <p:nvPr/>
            </p:nvSpPr>
            <p:spPr bwMode="auto">
              <a:xfrm flipV="1">
                <a:off x="691" y="2077"/>
                <a:ext cx="998" cy="227"/>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15" name="Text Box 11"/>
              <p:cNvSpPr txBox="1">
                <a:spLocks noChangeArrowheads="1"/>
              </p:cNvSpPr>
              <p:nvPr/>
            </p:nvSpPr>
            <p:spPr bwMode="auto">
              <a:xfrm>
                <a:off x="510" y="917"/>
                <a:ext cx="34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a:latin typeface="Arial" panose="020B0604020202020204" pitchFamily="34" charset="0"/>
                    <a:ea typeface="华文新魏" panose="02010800040101010101" pitchFamily="2" charset="-122"/>
                  </a:rPr>
                  <a:t>客户</a:t>
                </a:r>
                <a:endParaRPr lang="zh-CN" altLang="en-US" sz="1800">
                  <a:latin typeface="Arial" panose="020B0604020202020204" pitchFamily="34" charset="0"/>
                  <a:ea typeface="华文新魏" panose="02010800040101010101" pitchFamily="2" charset="-122"/>
                </a:endParaRPr>
              </a:p>
            </p:txBody>
          </p:sp>
          <p:sp>
            <p:nvSpPr>
              <p:cNvPr id="98316" name="Text Box 12"/>
              <p:cNvSpPr txBox="1">
                <a:spLocks noChangeArrowheads="1"/>
              </p:cNvSpPr>
              <p:nvPr/>
            </p:nvSpPr>
            <p:spPr bwMode="auto">
              <a:xfrm>
                <a:off x="1417" y="898"/>
                <a:ext cx="46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a:latin typeface="Arial" panose="020B0604020202020204" pitchFamily="34" charset="0"/>
                    <a:ea typeface="华文新魏" panose="02010800040101010101" pitchFamily="2" charset="-122"/>
                  </a:rPr>
                  <a:t>服务器</a:t>
                </a:r>
                <a:endParaRPr lang="zh-CN" altLang="en-US" sz="1800">
                  <a:latin typeface="Arial" panose="020B0604020202020204" pitchFamily="34" charset="0"/>
                  <a:ea typeface="华文新魏" panose="02010800040101010101" pitchFamily="2" charset="-122"/>
                </a:endParaRPr>
              </a:p>
            </p:txBody>
          </p:sp>
          <p:sp>
            <p:nvSpPr>
              <p:cNvPr id="98317" name="Text Box 13"/>
              <p:cNvSpPr txBox="1">
                <a:spLocks noChangeArrowheads="1"/>
              </p:cNvSpPr>
              <p:nvPr/>
            </p:nvSpPr>
            <p:spPr bwMode="auto">
              <a:xfrm>
                <a:off x="270" y="1137"/>
                <a:ext cx="35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write</a:t>
                </a:r>
                <a:endParaRPr lang="en-US" altLang="zh-CN" sz="1800">
                  <a:latin typeface="Arial" panose="020B0604020202020204" pitchFamily="34" charset="0"/>
                  <a:ea typeface="华文新魏" panose="02010800040101010101" pitchFamily="2" charset="-122"/>
                </a:endParaRPr>
              </a:p>
            </p:txBody>
          </p:sp>
          <p:sp>
            <p:nvSpPr>
              <p:cNvPr id="98318" name="Text Box 14"/>
              <p:cNvSpPr txBox="1">
                <a:spLocks noChangeArrowheads="1"/>
              </p:cNvSpPr>
              <p:nvPr/>
            </p:nvSpPr>
            <p:spPr bwMode="auto">
              <a:xfrm>
                <a:off x="239" y="1397"/>
                <a:ext cx="38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close</a:t>
                </a:r>
                <a:endParaRPr lang="en-US" altLang="zh-CN" sz="1800">
                  <a:latin typeface="Arial" panose="020B0604020202020204" pitchFamily="34" charset="0"/>
                  <a:ea typeface="华文新魏" panose="02010800040101010101" pitchFamily="2" charset="-122"/>
                </a:endParaRPr>
              </a:p>
              <a:p>
                <a:r>
                  <a:rPr lang="zh-CN" altLang="en-US" sz="1800">
                    <a:latin typeface="Arial" panose="020B0604020202020204" pitchFamily="34" charset="0"/>
                    <a:ea typeface="华文新魏" panose="02010800040101010101" pitchFamily="2" charset="-122"/>
                  </a:rPr>
                  <a:t>返回</a:t>
                </a:r>
                <a:endParaRPr lang="zh-CN" altLang="en-US" sz="1800">
                  <a:latin typeface="Arial" panose="020B0604020202020204" pitchFamily="34" charset="0"/>
                  <a:ea typeface="华文新魏" panose="02010800040101010101" pitchFamily="2" charset="-122"/>
                </a:endParaRPr>
              </a:p>
            </p:txBody>
          </p:sp>
          <p:sp>
            <p:nvSpPr>
              <p:cNvPr id="98319" name="Text Box 15"/>
              <p:cNvSpPr txBox="1">
                <a:spLocks noChangeArrowheads="1"/>
              </p:cNvSpPr>
              <p:nvPr/>
            </p:nvSpPr>
            <p:spPr bwMode="auto">
              <a:xfrm rot="1302593">
                <a:off x="1043" y="1222"/>
                <a:ext cx="3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a:latin typeface="Arial" panose="020B0604020202020204" pitchFamily="34" charset="0"/>
                    <a:ea typeface="华文新魏" panose="02010800040101010101" pitchFamily="2" charset="-122"/>
                  </a:rPr>
                  <a:t>数据</a:t>
                </a:r>
                <a:endParaRPr lang="zh-CN" altLang="en-US" sz="1800">
                  <a:latin typeface="Arial" panose="020B0604020202020204" pitchFamily="34" charset="0"/>
                  <a:ea typeface="华文新魏" panose="02010800040101010101" pitchFamily="2" charset="-122"/>
                </a:endParaRPr>
              </a:p>
            </p:txBody>
          </p:sp>
          <p:sp>
            <p:nvSpPr>
              <p:cNvPr id="98320" name="Text Box 16"/>
              <p:cNvSpPr txBox="1">
                <a:spLocks noChangeArrowheads="1"/>
              </p:cNvSpPr>
              <p:nvPr/>
            </p:nvSpPr>
            <p:spPr bwMode="auto">
              <a:xfrm rot="928280">
                <a:off x="1009" y="1430"/>
                <a:ext cx="29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FIN</a:t>
                </a:r>
                <a:endParaRPr lang="en-US" altLang="zh-CN" sz="1800">
                  <a:latin typeface="Arial" panose="020B0604020202020204" pitchFamily="34" charset="0"/>
                  <a:ea typeface="华文新魏" panose="02010800040101010101" pitchFamily="2" charset="-122"/>
                </a:endParaRPr>
              </a:p>
            </p:txBody>
          </p:sp>
          <p:sp>
            <p:nvSpPr>
              <p:cNvPr id="98321" name="Text Box 17"/>
              <p:cNvSpPr txBox="1">
                <a:spLocks noChangeArrowheads="1"/>
              </p:cNvSpPr>
              <p:nvPr/>
            </p:nvSpPr>
            <p:spPr bwMode="auto">
              <a:xfrm rot="-784905">
                <a:off x="698" y="1830"/>
                <a:ext cx="8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400">
                    <a:latin typeface="Arial" panose="020B0604020202020204" pitchFamily="34" charset="0"/>
                    <a:ea typeface="华文新魏" panose="02010800040101010101" pitchFamily="2" charset="-122"/>
                  </a:rPr>
                  <a:t>数据和</a:t>
                </a:r>
                <a:r>
                  <a:rPr lang="en-US" altLang="zh-CN" sz="1400">
                    <a:latin typeface="Arial" panose="020B0604020202020204" pitchFamily="34" charset="0"/>
                    <a:ea typeface="华文新魏" panose="02010800040101010101" pitchFamily="2" charset="-122"/>
                  </a:rPr>
                  <a:t>FIN</a:t>
                </a:r>
                <a:r>
                  <a:rPr lang="zh-CN" altLang="en-US" sz="1400">
                    <a:latin typeface="Arial" panose="020B0604020202020204" pitchFamily="34" charset="0"/>
                    <a:ea typeface="华文新魏" panose="02010800040101010101" pitchFamily="2" charset="-122"/>
                  </a:rPr>
                  <a:t>的确认</a:t>
                </a:r>
                <a:endParaRPr lang="zh-CN" altLang="en-US" sz="1400">
                  <a:latin typeface="Arial" panose="020B0604020202020204" pitchFamily="34" charset="0"/>
                  <a:ea typeface="华文新魏" panose="02010800040101010101" pitchFamily="2" charset="-122"/>
                </a:endParaRPr>
              </a:p>
            </p:txBody>
          </p:sp>
          <p:sp>
            <p:nvSpPr>
              <p:cNvPr id="98322" name="Text Box 18"/>
              <p:cNvSpPr txBox="1">
                <a:spLocks noChangeArrowheads="1"/>
              </p:cNvSpPr>
              <p:nvPr/>
            </p:nvSpPr>
            <p:spPr bwMode="auto">
              <a:xfrm rot="-863616">
                <a:off x="1055" y="1994"/>
                <a:ext cx="29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FIN</a:t>
                </a:r>
                <a:endParaRPr lang="en-US" altLang="zh-CN" sz="1800">
                  <a:latin typeface="Arial" panose="020B0604020202020204" pitchFamily="34" charset="0"/>
                  <a:ea typeface="华文新魏" panose="02010800040101010101" pitchFamily="2" charset="-122"/>
                </a:endParaRPr>
              </a:p>
            </p:txBody>
          </p:sp>
          <p:sp>
            <p:nvSpPr>
              <p:cNvPr id="98323" name="Text Box 19"/>
              <p:cNvSpPr txBox="1">
                <a:spLocks noChangeArrowheads="1"/>
              </p:cNvSpPr>
              <p:nvPr/>
            </p:nvSpPr>
            <p:spPr bwMode="auto">
              <a:xfrm rot="888931">
                <a:off x="814" y="2363"/>
                <a:ext cx="8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400">
                    <a:latin typeface="Arial" panose="020B0604020202020204" pitchFamily="34" charset="0"/>
                    <a:ea typeface="华文新魏" panose="02010800040101010101" pitchFamily="2" charset="-122"/>
                  </a:rPr>
                  <a:t>数据和</a:t>
                </a:r>
                <a:r>
                  <a:rPr lang="en-US" altLang="zh-CN" sz="1400">
                    <a:latin typeface="Arial" panose="020B0604020202020204" pitchFamily="34" charset="0"/>
                    <a:ea typeface="华文新魏" panose="02010800040101010101" pitchFamily="2" charset="-122"/>
                  </a:rPr>
                  <a:t>FIN</a:t>
                </a:r>
                <a:r>
                  <a:rPr lang="zh-CN" altLang="en-US" sz="1400">
                    <a:latin typeface="Arial" panose="020B0604020202020204" pitchFamily="34" charset="0"/>
                    <a:ea typeface="华文新魏" panose="02010800040101010101" pitchFamily="2" charset="-122"/>
                  </a:rPr>
                  <a:t>的确认</a:t>
                </a:r>
                <a:endParaRPr lang="zh-CN" altLang="en-US" sz="1400">
                  <a:latin typeface="Arial" panose="020B0604020202020204" pitchFamily="34" charset="0"/>
                  <a:ea typeface="华文新魏" panose="02010800040101010101" pitchFamily="2" charset="-122"/>
                </a:endParaRPr>
              </a:p>
            </p:txBody>
          </p:sp>
          <p:sp>
            <p:nvSpPr>
              <p:cNvPr id="98324" name="Text Box 20"/>
              <p:cNvSpPr txBox="1">
                <a:spLocks noChangeArrowheads="1"/>
              </p:cNvSpPr>
              <p:nvPr/>
            </p:nvSpPr>
            <p:spPr bwMode="auto">
              <a:xfrm>
                <a:off x="1644" y="1352"/>
                <a:ext cx="59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a:latin typeface="Arial" panose="020B0604020202020204" pitchFamily="34" charset="0"/>
                    <a:ea typeface="华文新魏" panose="02010800040101010101" pitchFamily="2" charset="-122"/>
                  </a:rPr>
                  <a:t>由</a:t>
                </a:r>
                <a:r>
                  <a:rPr lang="en-US" altLang="zh-CN" sz="1800">
                    <a:latin typeface="Arial" panose="020B0604020202020204" pitchFamily="34" charset="0"/>
                    <a:ea typeface="华文新魏" panose="02010800040101010101" pitchFamily="2" charset="-122"/>
                  </a:rPr>
                  <a:t>TCP</a:t>
                </a:r>
                <a:endParaRPr lang="en-US" altLang="zh-CN" sz="1800">
                  <a:latin typeface="Arial" panose="020B0604020202020204" pitchFamily="34" charset="0"/>
                  <a:ea typeface="华文新魏" panose="02010800040101010101" pitchFamily="2" charset="-122"/>
                </a:endParaRPr>
              </a:p>
              <a:p>
                <a:r>
                  <a:rPr lang="zh-CN" altLang="en-US" sz="1800">
                    <a:latin typeface="Arial" panose="020B0604020202020204" pitchFamily="34" charset="0"/>
                    <a:ea typeface="华文新魏" panose="02010800040101010101" pitchFamily="2" charset="-122"/>
                  </a:rPr>
                  <a:t>排队数据</a:t>
                </a:r>
                <a:endParaRPr lang="zh-CN" altLang="en-US" sz="1800">
                  <a:latin typeface="Arial" panose="020B0604020202020204" pitchFamily="34" charset="0"/>
                  <a:ea typeface="华文新魏" panose="02010800040101010101" pitchFamily="2" charset="-122"/>
                </a:endParaRPr>
              </a:p>
            </p:txBody>
          </p:sp>
          <p:sp>
            <p:nvSpPr>
              <p:cNvPr id="98325" name="Text Box 21"/>
              <p:cNvSpPr txBox="1">
                <a:spLocks noChangeArrowheads="1"/>
              </p:cNvSpPr>
              <p:nvPr/>
            </p:nvSpPr>
            <p:spPr bwMode="auto">
              <a:xfrm>
                <a:off x="1689" y="1982"/>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close</a:t>
                </a:r>
                <a:endParaRPr lang="en-US" altLang="zh-CN" sz="1800">
                  <a:latin typeface="Arial" panose="020B0604020202020204" pitchFamily="34" charset="0"/>
                  <a:ea typeface="华文新魏" panose="02010800040101010101" pitchFamily="2" charset="-122"/>
                </a:endParaRPr>
              </a:p>
            </p:txBody>
          </p:sp>
        </p:grpSp>
        <p:sp>
          <p:nvSpPr>
            <p:cNvPr id="98326" name="Line 22"/>
            <p:cNvSpPr>
              <a:spLocks noChangeShapeType="1"/>
            </p:cNvSpPr>
            <p:nvPr/>
          </p:nvSpPr>
          <p:spPr bwMode="auto">
            <a:xfrm>
              <a:off x="3452" y="1188"/>
              <a:ext cx="0" cy="186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27" name="Line 23"/>
            <p:cNvSpPr>
              <a:spLocks noChangeShapeType="1"/>
            </p:cNvSpPr>
            <p:nvPr/>
          </p:nvSpPr>
          <p:spPr bwMode="auto">
            <a:xfrm>
              <a:off x="4648" y="1188"/>
              <a:ext cx="0" cy="186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28" name="Line 24"/>
            <p:cNvSpPr>
              <a:spLocks noChangeShapeType="1"/>
            </p:cNvSpPr>
            <p:nvPr/>
          </p:nvSpPr>
          <p:spPr bwMode="auto">
            <a:xfrm>
              <a:off x="3452" y="1324"/>
              <a:ext cx="1196" cy="27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29" name="Line 25"/>
            <p:cNvSpPr>
              <a:spLocks noChangeShapeType="1"/>
            </p:cNvSpPr>
            <p:nvPr/>
          </p:nvSpPr>
          <p:spPr bwMode="auto">
            <a:xfrm>
              <a:off x="3452" y="1551"/>
              <a:ext cx="1196"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30" name="Line 26"/>
            <p:cNvSpPr>
              <a:spLocks noChangeShapeType="1"/>
            </p:cNvSpPr>
            <p:nvPr/>
          </p:nvSpPr>
          <p:spPr bwMode="auto">
            <a:xfrm>
              <a:off x="3452" y="2413"/>
              <a:ext cx="1196"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31" name="Line 27"/>
            <p:cNvSpPr>
              <a:spLocks noChangeShapeType="1"/>
            </p:cNvSpPr>
            <p:nvPr/>
          </p:nvSpPr>
          <p:spPr bwMode="auto">
            <a:xfrm flipV="1">
              <a:off x="3452" y="1914"/>
              <a:ext cx="1196" cy="227"/>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32" name="Line 28"/>
            <p:cNvSpPr>
              <a:spLocks noChangeShapeType="1"/>
            </p:cNvSpPr>
            <p:nvPr/>
          </p:nvSpPr>
          <p:spPr bwMode="auto">
            <a:xfrm flipV="1">
              <a:off x="3452" y="2095"/>
              <a:ext cx="1196" cy="227"/>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333" name="Text Box 29"/>
            <p:cNvSpPr txBox="1">
              <a:spLocks noChangeArrowheads="1"/>
            </p:cNvSpPr>
            <p:nvPr/>
          </p:nvSpPr>
          <p:spPr bwMode="auto">
            <a:xfrm>
              <a:off x="3235" y="935"/>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a:latin typeface="Arial" panose="020B0604020202020204" pitchFamily="34" charset="0"/>
                  <a:ea typeface="华文新魏" panose="02010800040101010101" pitchFamily="2" charset="-122"/>
                </a:rPr>
                <a:t>客户</a:t>
              </a:r>
              <a:endParaRPr lang="zh-CN" altLang="en-US" sz="1800">
                <a:latin typeface="Arial" panose="020B0604020202020204" pitchFamily="34" charset="0"/>
                <a:ea typeface="华文新魏" panose="02010800040101010101" pitchFamily="2" charset="-122"/>
              </a:endParaRPr>
            </a:p>
          </p:txBody>
        </p:sp>
        <p:sp>
          <p:nvSpPr>
            <p:cNvPr id="98334" name="Text Box 30"/>
            <p:cNvSpPr txBox="1">
              <a:spLocks noChangeArrowheads="1"/>
            </p:cNvSpPr>
            <p:nvPr/>
          </p:nvSpPr>
          <p:spPr bwMode="auto">
            <a:xfrm>
              <a:off x="4322" y="916"/>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a:latin typeface="Arial" panose="020B0604020202020204" pitchFamily="34" charset="0"/>
                  <a:ea typeface="华文新魏" panose="02010800040101010101" pitchFamily="2" charset="-122"/>
                </a:rPr>
                <a:t>服务器</a:t>
              </a:r>
              <a:endParaRPr lang="zh-CN" altLang="en-US" sz="1800">
                <a:latin typeface="Arial" panose="020B0604020202020204" pitchFamily="34" charset="0"/>
                <a:ea typeface="华文新魏" panose="02010800040101010101" pitchFamily="2" charset="-122"/>
              </a:endParaRPr>
            </a:p>
          </p:txBody>
        </p:sp>
        <p:sp>
          <p:nvSpPr>
            <p:cNvPr id="98335" name="Text Box 31"/>
            <p:cNvSpPr txBox="1">
              <a:spLocks noChangeArrowheads="1"/>
            </p:cNvSpPr>
            <p:nvPr/>
          </p:nvSpPr>
          <p:spPr bwMode="auto">
            <a:xfrm>
              <a:off x="2947" y="1155"/>
              <a:ext cx="41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write</a:t>
              </a:r>
              <a:endParaRPr lang="en-US" altLang="zh-CN" sz="1800">
                <a:latin typeface="Arial" panose="020B0604020202020204" pitchFamily="34" charset="0"/>
                <a:ea typeface="华文新魏" panose="02010800040101010101" pitchFamily="2" charset="-122"/>
              </a:endParaRPr>
            </a:p>
          </p:txBody>
        </p:sp>
        <p:sp>
          <p:nvSpPr>
            <p:cNvPr id="98336" name="Text Box 32"/>
            <p:cNvSpPr txBox="1">
              <a:spLocks noChangeArrowheads="1"/>
            </p:cNvSpPr>
            <p:nvPr/>
          </p:nvSpPr>
          <p:spPr bwMode="auto">
            <a:xfrm>
              <a:off x="2910" y="1415"/>
              <a:ext cx="4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close</a:t>
              </a:r>
              <a:endParaRPr lang="en-US" altLang="zh-CN" sz="1800">
                <a:latin typeface="Arial" panose="020B0604020202020204" pitchFamily="34" charset="0"/>
                <a:ea typeface="华文新魏" panose="02010800040101010101" pitchFamily="2" charset="-122"/>
              </a:endParaRPr>
            </a:p>
          </p:txBody>
        </p:sp>
        <p:sp>
          <p:nvSpPr>
            <p:cNvPr id="98337" name="Text Box 33"/>
            <p:cNvSpPr txBox="1">
              <a:spLocks noChangeArrowheads="1"/>
            </p:cNvSpPr>
            <p:nvPr/>
          </p:nvSpPr>
          <p:spPr bwMode="auto">
            <a:xfrm rot="1302593">
              <a:off x="3874" y="1239"/>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a:latin typeface="Arial" panose="020B0604020202020204" pitchFamily="34" charset="0"/>
                  <a:ea typeface="华文新魏" panose="02010800040101010101" pitchFamily="2" charset="-122"/>
                </a:rPr>
                <a:t>数据</a:t>
              </a:r>
              <a:endParaRPr lang="zh-CN" altLang="en-US" sz="1800">
                <a:latin typeface="Arial" panose="020B0604020202020204" pitchFamily="34" charset="0"/>
                <a:ea typeface="华文新魏" panose="02010800040101010101" pitchFamily="2" charset="-122"/>
              </a:endParaRPr>
            </a:p>
          </p:txBody>
        </p:sp>
        <p:sp>
          <p:nvSpPr>
            <p:cNvPr id="98338" name="Text Box 34"/>
            <p:cNvSpPr txBox="1">
              <a:spLocks noChangeArrowheads="1"/>
            </p:cNvSpPr>
            <p:nvPr/>
          </p:nvSpPr>
          <p:spPr bwMode="auto">
            <a:xfrm rot="928280">
              <a:off x="3833" y="1447"/>
              <a:ext cx="3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FIN</a:t>
              </a:r>
              <a:endParaRPr lang="en-US" altLang="zh-CN" sz="1800">
                <a:latin typeface="Arial" panose="020B0604020202020204" pitchFamily="34" charset="0"/>
                <a:ea typeface="华文新魏" panose="02010800040101010101" pitchFamily="2" charset="-122"/>
              </a:endParaRPr>
            </a:p>
          </p:txBody>
        </p:sp>
        <p:sp>
          <p:nvSpPr>
            <p:cNvPr id="98339" name="Text Box 35"/>
            <p:cNvSpPr txBox="1">
              <a:spLocks noChangeArrowheads="1"/>
            </p:cNvSpPr>
            <p:nvPr/>
          </p:nvSpPr>
          <p:spPr bwMode="auto">
            <a:xfrm rot="-784905">
              <a:off x="3459" y="1851"/>
              <a:ext cx="96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400">
                  <a:latin typeface="Arial" panose="020B0604020202020204" pitchFamily="34" charset="0"/>
                  <a:ea typeface="华文新魏" panose="02010800040101010101" pitchFamily="2" charset="-122"/>
                </a:rPr>
                <a:t>数据和</a:t>
              </a:r>
              <a:r>
                <a:rPr lang="en-US" altLang="zh-CN" sz="1400">
                  <a:latin typeface="Arial" panose="020B0604020202020204" pitchFamily="34" charset="0"/>
                  <a:ea typeface="华文新魏" panose="02010800040101010101" pitchFamily="2" charset="-122"/>
                </a:rPr>
                <a:t>FIN</a:t>
              </a:r>
              <a:r>
                <a:rPr lang="zh-CN" altLang="en-US" sz="1400">
                  <a:latin typeface="Arial" panose="020B0604020202020204" pitchFamily="34" charset="0"/>
                  <a:ea typeface="华文新魏" panose="02010800040101010101" pitchFamily="2" charset="-122"/>
                </a:rPr>
                <a:t>的确认</a:t>
              </a:r>
              <a:endParaRPr lang="zh-CN" altLang="en-US" sz="1400">
                <a:latin typeface="Arial" panose="020B0604020202020204" pitchFamily="34" charset="0"/>
                <a:ea typeface="华文新魏" panose="02010800040101010101" pitchFamily="2" charset="-122"/>
              </a:endParaRPr>
            </a:p>
          </p:txBody>
        </p:sp>
        <p:sp>
          <p:nvSpPr>
            <p:cNvPr id="98340" name="Text Box 36"/>
            <p:cNvSpPr txBox="1">
              <a:spLocks noChangeArrowheads="1"/>
            </p:cNvSpPr>
            <p:nvPr/>
          </p:nvSpPr>
          <p:spPr bwMode="auto">
            <a:xfrm rot="-863616">
              <a:off x="3888" y="2012"/>
              <a:ext cx="3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FIN</a:t>
              </a:r>
              <a:endParaRPr lang="en-US" altLang="zh-CN" sz="1800">
                <a:latin typeface="Arial" panose="020B0604020202020204" pitchFamily="34" charset="0"/>
                <a:ea typeface="华文新魏" panose="02010800040101010101" pitchFamily="2" charset="-122"/>
              </a:endParaRPr>
            </a:p>
          </p:txBody>
        </p:sp>
        <p:sp>
          <p:nvSpPr>
            <p:cNvPr id="98341" name="Text Box 37"/>
            <p:cNvSpPr txBox="1">
              <a:spLocks noChangeArrowheads="1"/>
            </p:cNvSpPr>
            <p:nvPr/>
          </p:nvSpPr>
          <p:spPr bwMode="auto">
            <a:xfrm rot="888931">
              <a:off x="3601" y="2378"/>
              <a:ext cx="9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400">
                  <a:latin typeface="Arial" panose="020B0604020202020204" pitchFamily="34" charset="0"/>
                  <a:ea typeface="华文新魏" panose="02010800040101010101" pitchFamily="2" charset="-122"/>
                </a:rPr>
                <a:t>数据和</a:t>
              </a:r>
              <a:r>
                <a:rPr lang="en-US" altLang="zh-CN" sz="1400">
                  <a:latin typeface="Arial" panose="020B0604020202020204" pitchFamily="34" charset="0"/>
                  <a:ea typeface="华文新魏" panose="02010800040101010101" pitchFamily="2" charset="-122"/>
                </a:rPr>
                <a:t>FIN</a:t>
              </a:r>
              <a:r>
                <a:rPr lang="zh-CN" altLang="en-US" sz="1400">
                  <a:latin typeface="Arial" panose="020B0604020202020204" pitchFamily="34" charset="0"/>
                  <a:ea typeface="华文新魏" panose="02010800040101010101" pitchFamily="2" charset="-122"/>
                </a:rPr>
                <a:t>的确认</a:t>
              </a:r>
              <a:endParaRPr lang="zh-CN" altLang="en-US" sz="1400">
                <a:latin typeface="Arial" panose="020B0604020202020204" pitchFamily="34" charset="0"/>
                <a:ea typeface="华文新魏" panose="02010800040101010101" pitchFamily="2" charset="-122"/>
              </a:endParaRPr>
            </a:p>
          </p:txBody>
        </p:sp>
        <p:sp>
          <p:nvSpPr>
            <p:cNvPr id="98342" name="Text Box 38"/>
            <p:cNvSpPr txBox="1">
              <a:spLocks noChangeArrowheads="1"/>
            </p:cNvSpPr>
            <p:nvPr/>
          </p:nvSpPr>
          <p:spPr bwMode="auto">
            <a:xfrm>
              <a:off x="4594" y="1370"/>
              <a:ext cx="69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a:latin typeface="Arial" panose="020B0604020202020204" pitchFamily="34" charset="0"/>
                  <a:ea typeface="华文新魏" panose="02010800040101010101" pitchFamily="2" charset="-122"/>
                </a:rPr>
                <a:t>由</a:t>
              </a:r>
              <a:r>
                <a:rPr lang="en-US" altLang="zh-CN" sz="1800">
                  <a:latin typeface="Arial" panose="020B0604020202020204" pitchFamily="34" charset="0"/>
                  <a:ea typeface="华文新魏" panose="02010800040101010101" pitchFamily="2" charset="-122"/>
                </a:rPr>
                <a:t>TCP</a:t>
              </a:r>
              <a:endParaRPr lang="en-US" altLang="zh-CN" sz="1800">
                <a:latin typeface="Arial" panose="020B0604020202020204" pitchFamily="34" charset="0"/>
                <a:ea typeface="华文新魏" panose="02010800040101010101" pitchFamily="2" charset="-122"/>
              </a:endParaRPr>
            </a:p>
            <a:p>
              <a:r>
                <a:rPr lang="zh-CN" altLang="en-US" sz="1800">
                  <a:latin typeface="Arial" panose="020B0604020202020204" pitchFamily="34" charset="0"/>
                  <a:ea typeface="华文新魏" panose="02010800040101010101" pitchFamily="2" charset="-122"/>
                </a:rPr>
                <a:t>排队数据</a:t>
              </a:r>
              <a:endParaRPr lang="zh-CN" altLang="en-US" sz="1800">
                <a:latin typeface="Arial" panose="020B0604020202020204" pitchFamily="34" charset="0"/>
                <a:ea typeface="华文新魏" panose="02010800040101010101" pitchFamily="2" charset="-122"/>
              </a:endParaRPr>
            </a:p>
          </p:txBody>
        </p:sp>
        <p:sp>
          <p:nvSpPr>
            <p:cNvPr id="98343" name="Text Box 39"/>
            <p:cNvSpPr txBox="1">
              <a:spLocks noChangeArrowheads="1"/>
            </p:cNvSpPr>
            <p:nvPr/>
          </p:nvSpPr>
          <p:spPr bwMode="auto">
            <a:xfrm>
              <a:off x="4648" y="2000"/>
              <a:ext cx="4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close</a:t>
              </a:r>
              <a:endParaRPr lang="en-US" altLang="zh-CN" sz="1800">
                <a:latin typeface="Arial" panose="020B0604020202020204" pitchFamily="34" charset="0"/>
                <a:ea typeface="华文新魏" panose="02010800040101010101" pitchFamily="2" charset="-122"/>
              </a:endParaRPr>
            </a:p>
          </p:txBody>
        </p:sp>
        <p:sp>
          <p:nvSpPr>
            <p:cNvPr id="98344" name="Text Box 40"/>
            <p:cNvSpPr txBox="1">
              <a:spLocks noChangeArrowheads="1"/>
            </p:cNvSpPr>
            <p:nvPr/>
          </p:nvSpPr>
          <p:spPr bwMode="auto">
            <a:xfrm>
              <a:off x="2699" y="2024"/>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latin typeface="Arial" panose="020B0604020202020204" pitchFamily="34" charset="0"/>
                  <a:ea typeface="华文新魏" panose="02010800040101010101" pitchFamily="2" charset="-122"/>
                </a:rPr>
                <a:t>close</a:t>
              </a:r>
              <a:r>
                <a:rPr lang="zh-CN" altLang="en-US" sz="1800">
                  <a:latin typeface="Arial" panose="020B0604020202020204" pitchFamily="34" charset="0"/>
                  <a:ea typeface="华文新魏" panose="02010800040101010101" pitchFamily="2" charset="-122"/>
                </a:rPr>
                <a:t>返回</a:t>
              </a:r>
              <a:endParaRPr lang="zh-CN" altLang="en-US" sz="1800">
                <a:latin typeface="Arial" panose="020B0604020202020204" pitchFamily="34" charset="0"/>
                <a:ea typeface="华文新魏" panose="02010800040101010101" pitchFamily="2" charset="-122"/>
              </a:endParaRPr>
            </a:p>
          </p:txBody>
        </p:sp>
        <p:sp>
          <p:nvSpPr>
            <p:cNvPr id="98345" name="Text Box 41"/>
            <p:cNvSpPr txBox="1">
              <a:spLocks noChangeArrowheads="1"/>
            </p:cNvSpPr>
            <p:nvPr/>
          </p:nvSpPr>
          <p:spPr bwMode="auto">
            <a:xfrm>
              <a:off x="678" y="3187"/>
              <a:ext cx="148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latin typeface="华文新魏" panose="02010800040101010101" pitchFamily="2" charset="-122"/>
                  <a:ea typeface="华文新魏" panose="02010800040101010101" pitchFamily="2" charset="-122"/>
                </a:rPr>
                <a:t>close</a:t>
              </a:r>
              <a:r>
                <a:rPr lang="zh-CN" altLang="en-US" sz="2400">
                  <a:latin typeface="华文新魏" panose="02010800040101010101" pitchFamily="2" charset="-122"/>
                  <a:ea typeface="华文新魏" panose="02010800040101010101" pitchFamily="2" charset="-122"/>
                </a:rPr>
                <a:t>的缺省操作</a:t>
              </a:r>
              <a:endParaRPr lang="zh-CN" altLang="en-US" sz="2400">
                <a:latin typeface="华文新魏" panose="02010800040101010101" pitchFamily="2" charset="-122"/>
                <a:ea typeface="华文新魏" panose="02010800040101010101" pitchFamily="2" charset="-122"/>
              </a:endParaRPr>
            </a:p>
          </p:txBody>
        </p:sp>
        <p:sp>
          <p:nvSpPr>
            <p:cNvPr id="98346" name="Text Box 42"/>
            <p:cNvSpPr txBox="1">
              <a:spLocks noChangeArrowheads="1"/>
            </p:cNvSpPr>
            <p:nvPr/>
          </p:nvSpPr>
          <p:spPr bwMode="auto">
            <a:xfrm>
              <a:off x="3107" y="3158"/>
              <a:ext cx="2086"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a:latin typeface="华文新魏" panose="02010800040101010101" pitchFamily="2" charset="-122"/>
                  <a:ea typeface="华文新魏" panose="02010800040101010101" pitchFamily="2" charset="-122"/>
                </a:rPr>
                <a:t>设置</a:t>
              </a:r>
              <a:r>
                <a:rPr lang="en-US" altLang="zh-CN" sz="2400">
                  <a:latin typeface="华文新魏" panose="02010800040101010101" pitchFamily="2" charset="-122"/>
                  <a:ea typeface="华文新魏" panose="02010800040101010101" pitchFamily="2" charset="-122"/>
                </a:rPr>
                <a:t>SO_LINGER,</a:t>
              </a:r>
              <a:r>
                <a:rPr lang="zh-CN" altLang="en-US" sz="2400">
                  <a:latin typeface="华文新魏" panose="02010800040101010101" pitchFamily="2" charset="-122"/>
                  <a:ea typeface="华文新魏" panose="02010800040101010101" pitchFamily="2" charset="-122"/>
                </a:rPr>
                <a:t>且</a:t>
              </a:r>
              <a:r>
                <a:rPr lang="en-US" altLang="zh-CN" sz="2400">
                  <a:latin typeface="华文新魏" panose="02010800040101010101" pitchFamily="2" charset="-122"/>
                  <a:ea typeface="华文新魏" panose="02010800040101010101" pitchFamily="2" charset="-122"/>
                </a:rPr>
                <a:t>l_linger</a:t>
              </a:r>
              <a:r>
                <a:rPr lang="zh-CN" altLang="en-US" sz="2400">
                  <a:latin typeface="华文新魏" panose="02010800040101010101" pitchFamily="2" charset="-122"/>
                  <a:ea typeface="华文新魏" panose="02010800040101010101" pitchFamily="2" charset="-122"/>
                </a:rPr>
                <a:t>为正值时的</a:t>
              </a:r>
              <a:r>
                <a:rPr lang="en-US" altLang="zh-CN" sz="2400">
                  <a:latin typeface="华文新魏" panose="02010800040101010101" pitchFamily="2" charset="-122"/>
                  <a:ea typeface="华文新魏" panose="02010800040101010101" pitchFamily="2" charset="-122"/>
                </a:rPr>
                <a:t>close</a:t>
              </a:r>
              <a:endParaRPr lang="en-US" altLang="zh-CN" sz="2400">
                <a:latin typeface="华文新魏" panose="02010800040101010101" pitchFamily="2" charset="-122"/>
                <a:ea typeface="华文新魏" panose="02010800040101010101" pitchFamily="2" charset="-122"/>
              </a:endParaRPr>
            </a:p>
          </p:txBody>
        </p:sp>
      </p:grpSp>
    </p:spTree>
  </p:cSld>
  <p:clrMapOvr>
    <a:masterClrMapping/>
  </p:clrMapOvr>
  <p:transition spd="slow">
    <p:wipe dir="r"/>
    <p:sndAc>
      <p:endSnd/>
    </p:sndAc>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ChangeArrowheads="1"/>
          </p:cNvSpPr>
          <p:nvPr>
            <p:ph type="title"/>
          </p:nvPr>
        </p:nvSpPr>
        <p:spPr>
          <a:xfrm>
            <a:off x="684213" y="260350"/>
            <a:ext cx="7772400" cy="1143000"/>
          </a:xfrm>
        </p:spPr>
        <p:txBody>
          <a:bodyPr/>
          <a:lstStyle/>
          <a:p>
            <a:pPr eaLnBrk="1" hangingPunct="1"/>
            <a:r>
              <a:rPr lang="en-US" altLang="zh-CN"/>
              <a:t>shutdown</a:t>
            </a:r>
            <a:r>
              <a:rPr lang="zh-CN" altLang="en-US"/>
              <a:t>和应用</a:t>
            </a:r>
            <a:r>
              <a:rPr lang="en-US" altLang="zh-CN"/>
              <a:t>ACK</a:t>
            </a:r>
            <a:endParaRPr lang="en-US" altLang="zh-CN"/>
          </a:p>
        </p:txBody>
      </p:sp>
      <p:sp>
        <p:nvSpPr>
          <p:cNvPr id="99330" name="Text Box 21"/>
          <p:cNvSpPr txBox="1">
            <a:spLocks noChangeArrowheads="1"/>
          </p:cNvSpPr>
          <p:nvPr/>
        </p:nvSpPr>
        <p:spPr bwMode="auto">
          <a:xfrm>
            <a:off x="2268538" y="6400800"/>
            <a:ext cx="4859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latin typeface="华文新魏" panose="02010800040101010101" pitchFamily="2" charset="-122"/>
                <a:ea typeface="华文新魏" panose="02010800040101010101" pitchFamily="2" charset="-122"/>
              </a:rPr>
              <a:t>用</a:t>
            </a:r>
            <a:r>
              <a:rPr lang="en-US" altLang="zh-CN" sz="2400">
                <a:latin typeface="华文新魏" panose="02010800040101010101" pitchFamily="2" charset="-122"/>
                <a:ea typeface="华文新魏" panose="02010800040101010101" pitchFamily="2" charset="-122"/>
              </a:rPr>
              <a:t>shutdown</a:t>
            </a:r>
            <a:r>
              <a:rPr lang="zh-CN" altLang="en-US" sz="2400">
                <a:latin typeface="华文新魏" panose="02010800040101010101" pitchFamily="2" charset="-122"/>
                <a:ea typeface="华文新魏" panose="02010800040101010101" pitchFamily="2" charset="-122"/>
              </a:rPr>
              <a:t>来获知对方已接收数据</a:t>
            </a:r>
            <a:endParaRPr lang="zh-CN" altLang="en-US" sz="2400">
              <a:latin typeface="华文新魏" panose="02010800040101010101" pitchFamily="2" charset="-122"/>
              <a:ea typeface="华文新魏" panose="02010800040101010101" pitchFamily="2" charset="-122"/>
            </a:endParaRPr>
          </a:p>
        </p:txBody>
      </p:sp>
      <p:grpSp>
        <p:nvGrpSpPr>
          <p:cNvPr id="99331" name="Group 48"/>
          <p:cNvGrpSpPr/>
          <p:nvPr/>
        </p:nvGrpSpPr>
        <p:grpSpPr bwMode="auto">
          <a:xfrm>
            <a:off x="1547813" y="1196975"/>
            <a:ext cx="6911975" cy="5256213"/>
            <a:chOff x="-23" y="1034"/>
            <a:chExt cx="3084" cy="2132"/>
          </a:xfrm>
        </p:grpSpPr>
        <p:sp>
          <p:nvSpPr>
            <p:cNvPr id="99332" name="Line 3"/>
            <p:cNvSpPr>
              <a:spLocks noChangeShapeType="1"/>
            </p:cNvSpPr>
            <p:nvPr/>
          </p:nvSpPr>
          <p:spPr bwMode="auto">
            <a:xfrm>
              <a:off x="719" y="1306"/>
              <a:ext cx="0" cy="186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3" name="Line 4"/>
            <p:cNvSpPr>
              <a:spLocks noChangeShapeType="1"/>
            </p:cNvSpPr>
            <p:nvPr/>
          </p:nvSpPr>
          <p:spPr bwMode="auto">
            <a:xfrm>
              <a:off x="1828" y="1306"/>
              <a:ext cx="0" cy="186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4" name="Line 5"/>
            <p:cNvSpPr>
              <a:spLocks noChangeShapeType="1"/>
            </p:cNvSpPr>
            <p:nvPr/>
          </p:nvSpPr>
          <p:spPr bwMode="auto">
            <a:xfrm>
              <a:off x="719" y="1442"/>
              <a:ext cx="1109" cy="27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5" name="Line 6"/>
            <p:cNvSpPr>
              <a:spLocks noChangeShapeType="1"/>
            </p:cNvSpPr>
            <p:nvPr/>
          </p:nvSpPr>
          <p:spPr bwMode="auto">
            <a:xfrm>
              <a:off x="719" y="1669"/>
              <a:ext cx="1109"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6" name="Line 7"/>
            <p:cNvSpPr>
              <a:spLocks noChangeShapeType="1"/>
            </p:cNvSpPr>
            <p:nvPr/>
          </p:nvSpPr>
          <p:spPr bwMode="auto">
            <a:xfrm>
              <a:off x="719" y="2531"/>
              <a:ext cx="1109" cy="2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7" name="Line 8"/>
            <p:cNvSpPr>
              <a:spLocks noChangeShapeType="1"/>
            </p:cNvSpPr>
            <p:nvPr/>
          </p:nvSpPr>
          <p:spPr bwMode="auto">
            <a:xfrm flipV="1">
              <a:off x="719" y="2032"/>
              <a:ext cx="1109" cy="227"/>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8" name="Line 9"/>
            <p:cNvSpPr>
              <a:spLocks noChangeShapeType="1"/>
            </p:cNvSpPr>
            <p:nvPr/>
          </p:nvSpPr>
          <p:spPr bwMode="auto">
            <a:xfrm flipV="1">
              <a:off x="719" y="2213"/>
              <a:ext cx="1109" cy="227"/>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9" name="Text Box 10"/>
            <p:cNvSpPr txBox="1">
              <a:spLocks noChangeArrowheads="1"/>
            </p:cNvSpPr>
            <p:nvPr/>
          </p:nvSpPr>
          <p:spPr bwMode="auto">
            <a:xfrm>
              <a:off x="518" y="1053"/>
              <a:ext cx="286"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a:latin typeface="Arial" panose="020B0604020202020204" pitchFamily="34" charset="0"/>
                  <a:ea typeface="华文新魏" panose="02010800040101010101" pitchFamily="2" charset="-122"/>
                </a:rPr>
                <a:t>客户</a:t>
              </a:r>
              <a:endParaRPr lang="zh-CN" altLang="en-US" sz="1800">
                <a:latin typeface="Arial" panose="020B0604020202020204" pitchFamily="34" charset="0"/>
                <a:ea typeface="华文新魏" panose="02010800040101010101" pitchFamily="2" charset="-122"/>
              </a:endParaRPr>
            </a:p>
          </p:txBody>
        </p:sp>
        <p:sp>
          <p:nvSpPr>
            <p:cNvPr id="99340" name="Text Box 11"/>
            <p:cNvSpPr txBox="1">
              <a:spLocks noChangeArrowheads="1"/>
            </p:cNvSpPr>
            <p:nvPr/>
          </p:nvSpPr>
          <p:spPr bwMode="auto">
            <a:xfrm>
              <a:off x="1525" y="1034"/>
              <a:ext cx="388"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a:latin typeface="Arial" panose="020B0604020202020204" pitchFamily="34" charset="0"/>
                  <a:ea typeface="华文新魏" panose="02010800040101010101" pitchFamily="2" charset="-122"/>
                </a:rPr>
                <a:t>服务器</a:t>
              </a:r>
              <a:endParaRPr lang="zh-CN" altLang="en-US" sz="1800">
                <a:latin typeface="Arial" panose="020B0604020202020204" pitchFamily="34" charset="0"/>
                <a:ea typeface="华文新魏" panose="02010800040101010101" pitchFamily="2" charset="-122"/>
              </a:endParaRPr>
            </a:p>
          </p:txBody>
        </p:sp>
        <p:sp>
          <p:nvSpPr>
            <p:cNvPr id="99341" name="Text Box 12"/>
            <p:cNvSpPr txBox="1">
              <a:spLocks noChangeArrowheads="1"/>
            </p:cNvSpPr>
            <p:nvPr/>
          </p:nvSpPr>
          <p:spPr bwMode="auto">
            <a:xfrm>
              <a:off x="252" y="1273"/>
              <a:ext cx="297"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write</a:t>
              </a:r>
              <a:endParaRPr lang="en-US" altLang="zh-CN" sz="1800">
                <a:latin typeface="Arial" panose="020B0604020202020204" pitchFamily="34" charset="0"/>
                <a:ea typeface="华文新魏" panose="02010800040101010101" pitchFamily="2" charset="-122"/>
              </a:endParaRPr>
            </a:p>
          </p:txBody>
        </p:sp>
        <p:sp>
          <p:nvSpPr>
            <p:cNvPr id="99342" name="Text Box 13"/>
            <p:cNvSpPr txBox="1">
              <a:spLocks noChangeArrowheads="1"/>
            </p:cNvSpPr>
            <p:nvPr/>
          </p:nvSpPr>
          <p:spPr bwMode="auto">
            <a:xfrm>
              <a:off x="22" y="1533"/>
              <a:ext cx="519"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shutdown</a:t>
              </a:r>
              <a:endParaRPr lang="en-US" altLang="zh-CN" sz="1800">
                <a:latin typeface="Arial" panose="020B0604020202020204" pitchFamily="34" charset="0"/>
                <a:ea typeface="华文新魏" panose="02010800040101010101" pitchFamily="2" charset="-122"/>
              </a:endParaRPr>
            </a:p>
            <a:p>
              <a:r>
                <a:rPr lang="en-US" altLang="zh-CN" sz="1800">
                  <a:latin typeface="Arial" panose="020B0604020202020204" pitchFamily="34" charset="0"/>
                  <a:ea typeface="华文新魏" panose="02010800040101010101" pitchFamily="2" charset="-122"/>
                </a:rPr>
                <a:t>read</a:t>
              </a:r>
              <a:r>
                <a:rPr lang="zh-CN" altLang="en-US" sz="1800">
                  <a:latin typeface="Arial" panose="020B0604020202020204" pitchFamily="34" charset="0"/>
                  <a:ea typeface="华文新魏" panose="02010800040101010101" pitchFamily="2" charset="-122"/>
                </a:rPr>
                <a:t>阻塞</a:t>
              </a:r>
              <a:endParaRPr lang="zh-CN" altLang="en-US" sz="1800">
                <a:latin typeface="Arial" panose="020B0604020202020204" pitchFamily="34" charset="0"/>
                <a:ea typeface="华文新魏" panose="02010800040101010101" pitchFamily="2" charset="-122"/>
              </a:endParaRPr>
            </a:p>
          </p:txBody>
        </p:sp>
        <p:sp>
          <p:nvSpPr>
            <p:cNvPr id="99343" name="Text Box 14"/>
            <p:cNvSpPr txBox="1">
              <a:spLocks noChangeArrowheads="1"/>
            </p:cNvSpPr>
            <p:nvPr/>
          </p:nvSpPr>
          <p:spPr bwMode="auto">
            <a:xfrm rot="798059">
              <a:off x="1118" y="1348"/>
              <a:ext cx="286"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a:latin typeface="Arial" panose="020B0604020202020204" pitchFamily="34" charset="0"/>
                  <a:ea typeface="华文新魏" panose="02010800040101010101" pitchFamily="2" charset="-122"/>
                </a:rPr>
                <a:t>数据</a:t>
              </a:r>
              <a:endParaRPr lang="zh-CN" altLang="en-US" sz="1800">
                <a:latin typeface="Arial" panose="020B0604020202020204" pitchFamily="34" charset="0"/>
                <a:ea typeface="华文新魏" panose="02010800040101010101" pitchFamily="2" charset="-122"/>
              </a:endParaRPr>
            </a:p>
          </p:txBody>
        </p:sp>
        <p:sp>
          <p:nvSpPr>
            <p:cNvPr id="99344" name="Text Box 15"/>
            <p:cNvSpPr txBox="1">
              <a:spLocks noChangeArrowheads="1"/>
            </p:cNvSpPr>
            <p:nvPr/>
          </p:nvSpPr>
          <p:spPr bwMode="auto">
            <a:xfrm rot="928280">
              <a:off x="1086" y="1556"/>
              <a:ext cx="246"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FIN</a:t>
              </a:r>
              <a:endParaRPr lang="en-US" altLang="zh-CN" sz="1800">
                <a:latin typeface="Arial" panose="020B0604020202020204" pitchFamily="34" charset="0"/>
                <a:ea typeface="华文新魏" panose="02010800040101010101" pitchFamily="2" charset="-122"/>
              </a:endParaRPr>
            </a:p>
          </p:txBody>
        </p:sp>
        <p:sp>
          <p:nvSpPr>
            <p:cNvPr id="99345" name="Text Box 16"/>
            <p:cNvSpPr txBox="1">
              <a:spLocks noChangeArrowheads="1"/>
            </p:cNvSpPr>
            <p:nvPr/>
          </p:nvSpPr>
          <p:spPr bwMode="auto">
            <a:xfrm rot="-784905">
              <a:off x="721" y="1995"/>
              <a:ext cx="686"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400">
                  <a:latin typeface="Arial" panose="020B0604020202020204" pitchFamily="34" charset="0"/>
                  <a:ea typeface="华文新魏" panose="02010800040101010101" pitchFamily="2" charset="-122"/>
                </a:rPr>
                <a:t>数据和</a:t>
              </a:r>
              <a:r>
                <a:rPr lang="en-US" altLang="zh-CN" sz="1400">
                  <a:latin typeface="Arial" panose="020B0604020202020204" pitchFamily="34" charset="0"/>
                  <a:ea typeface="华文新魏" panose="02010800040101010101" pitchFamily="2" charset="-122"/>
                </a:rPr>
                <a:t>FIN</a:t>
              </a:r>
              <a:r>
                <a:rPr lang="zh-CN" altLang="en-US" sz="1400">
                  <a:latin typeface="Arial" panose="020B0604020202020204" pitchFamily="34" charset="0"/>
                  <a:ea typeface="华文新魏" panose="02010800040101010101" pitchFamily="2" charset="-122"/>
                </a:rPr>
                <a:t>的确认</a:t>
              </a:r>
              <a:endParaRPr lang="zh-CN" altLang="en-US" sz="1400">
                <a:latin typeface="Arial" panose="020B0604020202020204" pitchFamily="34" charset="0"/>
                <a:ea typeface="华文新魏" panose="02010800040101010101" pitchFamily="2" charset="-122"/>
              </a:endParaRPr>
            </a:p>
          </p:txBody>
        </p:sp>
        <p:sp>
          <p:nvSpPr>
            <p:cNvPr id="99346" name="Text Box 17"/>
            <p:cNvSpPr txBox="1">
              <a:spLocks noChangeArrowheads="1"/>
            </p:cNvSpPr>
            <p:nvPr/>
          </p:nvSpPr>
          <p:spPr bwMode="auto">
            <a:xfrm rot="-863616">
              <a:off x="1114" y="2142"/>
              <a:ext cx="246"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FIN</a:t>
              </a:r>
              <a:endParaRPr lang="en-US" altLang="zh-CN" sz="1800">
                <a:latin typeface="Arial" panose="020B0604020202020204" pitchFamily="34" charset="0"/>
                <a:ea typeface="华文新魏" panose="02010800040101010101" pitchFamily="2" charset="-122"/>
              </a:endParaRPr>
            </a:p>
          </p:txBody>
        </p:sp>
        <p:sp>
          <p:nvSpPr>
            <p:cNvPr id="99347" name="Text Box 18"/>
            <p:cNvSpPr txBox="1">
              <a:spLocks noChangeArrowheads="1"/>
            </p:cNvSpPr>
            <p:nvPr/>
          </p:nvSpPr>
          <p:spPr bwMode="auto">
            <a:xfrm rot="888931">
              <a:off x="867" y="2464"/>
              <a:ext cx="68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400">
                  <a:latin typeface="Arial" panose="020B0604020202020204" pitchFamily="34" charset="0"/>
                  <a:ea typeface="华文新魏" panose="02010800040101010101" pitchFamily="2" charset="-122"/>
                </a:rPr>
                <a:t>数据和</a:t>
              </a:r>
              <a:r>
                <a:rPr lang="en-US" altLang="zh-CN" sz="1400">
                  <a:latin typeface="Arial" panose="020B0604020202020204" pitchFamily="34" charset="0"/>
                  <a:ea typeface="华文新魏" panose="02010800040101010101" pitchFamily="2" charset="-122"/>
                </a:rPr>
                <a:t>FIN</a:t>
              </a:r>
              <a:r>
                <a:rPr lang="zh-CN" altLang="en-US" sz="1400">
                  <a:latin typeface="Arial" panose="020B0604020202020204" pitchFamily="34" charset="0"/>
                  <a:ea typeface="华文新魏" panose="02010800040101010101" pitchFamily="2" charset="-122"/>
                </a:rPr>
                <a:t>的确认</a:t>
              </a:r>
              <a:endParaRPr lang="zh-CN" altLang="en-US" sz="1400">
                <a:latin typeface="Arial" panose="020B0604020202020204" pitchFamily="34" charset="0"/>
                <a:ea typeface="华文新魏" panose="02010800040101010101" pitchFamily="2" charset="-122"/>
              </a:endParaRPr>
            </a:p>
          </p:txBody>
        </p:sp>
        <p:sp>
          <p:nvSpPr>
            <p:cNvPr id="99348" name="Text Box 19"/>
            <p:cNvSpPr txBox="1">
              <a:spLocks noChangeArrowheads="1"/>
            </p:cNvSpPr>
            <p:nvPr/>
          </p:nvSpPr>
          <p:spPr bwMode="auto">
            <a:xfrm>
              <a:off x="1778" y="1488"/>
              <a:ext cx="1283"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latin typeface="Arial" panose="020B0604020202020204" pitchFamily="34" charset="0"/>
                  <a:ea typeface="华文新魏" panose="02010800040101010101" pitchFamily="2" charset="-122"/>
                </a:rPr>
                <a:t>由</a:t>
              </a:r>
              <a:r>
                <a:rPr lang="en-US" altLang="zh-CN" sz="1800">
                  <a:latin typeface="Arial" panose="020B0604020202020204" pitchFamily="34" charset="0"/>
                  <a:ea typeface="华文新魏" panose="02010800040101010101" pitchFamily="2" charset="-122"/>
                </a:rPr>
                <a:t>TCP</a:t>
              </a:r>
              <a:r>
                <a:rPr lang="zh-CN" altLang="en-US" sz="1800">
                  <a:latin typeface="Arial" panose="020B0604020202020204" pitchFamily="34" charset="0"/>
                  <a:ea typeface="华文新魏" panose="02010800040101010101" pitchFamily="2" charset="-122"/>
                </a:rPr>
                <a:t>排队数据</a:t>
              </a:r>
              <a:endParaRPr lang="zh-CN" altLang="en-US" sz="1800">
                <a:latin typeface="Arial" panose="020B0604020202020204" pitchFamily="34" charset="0"/>
                <a:ea typeface="华文新魏" panose="02010800040101010101" pitchFamily="2" charset="-122"/>
              </a:endParaRPr>
            </a:p>
          </p:txBody>
        </p:sp>
        <p:sp>
          <p:nvSpPr>
            <p:cNvPr id="99349" name="Text Box 20"/>
            <p:cNvSpPr txBox="1">
              <a:spLocks noChangeArrowheads="1"/>
            </p:cNvSpPr>
            <p:nvPr/>
          </p:nvSpPr>
          <p:spPr bwMode="auto">
            <a:xfrm>
              <a:off x="1828" y="2201"/>
              <a:ext cx="32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close</a:t>
              </a:r>
              <a:endParaRPr lang="en-US" altLang="zh-CN" sz="1800">
                <a:latin typeface="Arial" panose="020B0604020202020204" pitchFamily="34" charset="0"/>
                <a:ea typeface="华文新魏" panose="02010800040101010101" pitchFamily="2" charset="-122"/>
              </a:endParaRPr>
            </a:p>
          </p:txBody>
        </p:sp>
        <p:sp>
          <p:nvSpPr>
            <p:cNvPr id="99350" name="Text Box 22"/>
            <p:cNvSpPr txBox="1">
              <a:spLocks noChangeArrowheads="1"/>
            </p:cNvSpPr>
            <p:nvPr/>
          </p:nvSpPr>
          <p:spPr bwMode="auto">
            <a:xfrm>
              <a:off x="1779" y="1752"/>
              <a:ext cx="796"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800">
                  <a:latin typeface="Arial" panose="020B0604020202020204" pitchFamily="34" charset="0"/>
                  <a:ea typeface="华文新魏" panose="02010800040101010101" pitchFamily="2" charset="-122"/>
                </a:rPr>
                <a:t>应用进程读排队</a:t>
              </a:r>
              <a:endParaRPr lang="zh-CN" altLang="en-US" sz="1800">
                <a:latin typeface="Arial" panose="020B0604020202020204" pitchFamily="34" charset="0"/>
                <a:ea typeface="华文新魏" panose="02010800040101010101" pitchFamily="2" charset="-122"/>
              </a:endParaRPr>
            </a:p>
            <a:p>
              <a:r>
                <a:rPr lang="zh-CN" altLang="en-US" sz="1800">
                  <a:latin typeface="Arial" panose="020B0604020202020204" pitchFamily="34" charset="0"/>
                  <a:ea typeface="华文新魏" panose="02010800040101010101" pitchFamily="2" charset="-122"/>
                </a:rPr>
                <a:t>数据和</a:t>
              </a:r>
              <a:r>
                <a:rPr lang="en-US" altLang="zh-CN" sz="1800">
                  <a:latin typeface="Arial" panose="020B0604020202020204" pitchFamily="34" charset="0"/>
                  <a:ea typeface="华文新魏" panose="02010800040101010101" pitchFamily="2" charset="-122"/>
                </a:rPr>
                <a:t>FIN</a:t>
              </a:r>
              <a:endParaRPr lang="en-US" altLang="zh-CN" sz="1800">
                <a:latin typeface="Arial" panose="020B0604020202020204" pitchFamily="34" charset="0"/>
                <a:ea typeface="华文新魏" panose="02010800040101010101" pitchFamily="2" charset="-122"/>
              </a:endParaRPr>
            </a:p>
          </p:txBody>
        </p:sp>
        <p:sp>
          <p:nvSpPr>
            <p:cNvPr id="99351" name="Text Box 23"/>
            <p:cNvSpPr txBox="1">
              <a:spLocks noChangeArrowheads="1"/>
            </p:cNvSpPr>
            <p:nvPr/>
          </p:nvSpPr>
          <p:spPr bwMode="auto">
            <a:xfrm>
              <a:off x="-23" y="2296"/>
              <a:ext cx="547"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800">
                  <a:latin typeface="Arial" panose="020B0604020202020204" pitchFamily="34" charset="0"/>
                  <a:ea typeface="华文新魏" panose="02010800040101010101" pitchFamily="2" charset="-122"/>
                </a:rPr>
                <a:t>read</a:t>
              </a:r>
              <a:r>
                <a:rPr lang="zh-CN" altLang="en-US" sz="1800">
                  <a:latin typeface="Arial" panose="020B0604020202020204" pitchFamily="34" charset="0"/>
                  <a:ea typeface="华文新魏" panose="02010800040101010101" pitchFamily="2" charset="-122"/>
                </a:rPr>
                <a:t>返回</a:t>
              </a:r>
              <a:r>
                <a:rPr lang="en-US" altLang="zh-CN" sz="1800">
                  <a:latin typeface="Arial" panose="020B0604020202020204" pitchFamily="34" charset="0"/>
                  <a:ea typeface="华文新魏" panose="02010800040101010101" pitchFamily="2" charset="-122"/>
                </a:rPr>
                <a:t>0</a:t>
              </a:r>
              <a:endParaRPr lang="en-US" altLang="zh-CN" sz="1800">
                <a:latin typeface="Arial" panose="020B0604020202020204" pitchFamily="34" charset="0"/>
                <a:ea typeface="华文新魏" panose="02010800040101010101" pitchFamily="2" charset="-122"/>
              </a:endParaRPr>
            </a:p>
          </p:txBody>
        </p:sp>
      </p:grpSp>
    </p:spTree>
  </p:cSld>
  <p:clrMapOvr>
    <a:masterClrMapping/>
  </p:clrMapOvr>
  <p:transition spd="slow">
    <p:wipe dir="r"/>
    <p:sndAc>
      <p:endSnd/>
    </p:sndAc>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7" name="Group 27"/>
          <p:cNvGraphicFramePr>
            <a:graphicFrameLocks noGrp="1"/>
          </p:cNvGraphicFramePr>
          <p:nvPr>
            <p:ph idx="4294967295"/>
          </p:nvPr>
        </p:nvGraphicFramePr>
        <p:xfrm>
          <a:off x="179388" y="188913"/>
          <a:ext cx="8666162" cy="5856288"/>
        </p:xfrm>
        <a:graphic>
          <a:graphicData uri="http://schemas.openxmlformats.org/drawingml/2006/table">
            <a:tbl>
              <a:tblPr/>
              <a:tblGrid>
                <a:gridCol w="2232025"/>
                <a:gridCol w="6434137"/>
              </a:tblGrid>
              <a:tr h="39623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函数</a:t>
                      </a:r>
                      <a:endPar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说明</a:t>
                      </a:r>
                      <a:endPar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r>
              <a:tr h="100322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Shutdown,</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SHUT_RD</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在套接口上不能再发出接收请求，进程仍然可往套接口上发送；套接口接收缓冲区中所有数据被丢弃；再接收的任何数据都由</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丢弃；对套接口发送缓冲区无任何影响；</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7986">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Shutdown, </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SHUT_WR</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66"/>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在套接口上不能再发出发送请求；进程仍然可从套接口接收；套接口发送缓冲区中内容被发往另一端，后跟正常的</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连接终止序列（</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FIN</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），对套接口接收缓冲区无任何影响；</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66"/>
                      </a:solidFill>
                      <a:prstDash val="solid"/>
                      <a:round/>
                      <a:headEnd type="none" w="med" len="med"/>
                      <a:tailEnd type="none" w="med" len="med"/>
                    </a:lnB>
                    <a:lnTlToBr>
                      <a:noFill/>
                    </a:lnTlToBr>
                    <a:lnBlToTr>
                      <a:noFill/>
                    </a:lnBlToTr>
                    <a:noFill/>
                  </a:tcPr>
                </a:tc>
              </a:tr>
              <a:tr h="1007986">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close, l_onoff = 0</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缺省情况</a:t>
                      </a:r>
                      <a:endParaRPr kumimoji="1"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66"/>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在套接口上不能发出发送或接收请求；套接口发送缓冲区中的内容被发往另一端，如果描述字访问计数变为</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，在发完数据后发出正常的</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终止序列，接收缓冲区内容被丢弃；</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FF0066"/>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close, l_onoff = 1</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l_linger = 0</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不能再发出发送或接收请求；如果描述字访问计数变为</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RST</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被发往另一端，连接状态被置为</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CLOSED</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TIME_WAIT</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状态）。缓冲区数据被丢弃；</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63034">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close, l_onoff = 1</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l_linger != 0</a:t>
                      </a: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Tx/>
                        <a:buFontTx/>
                        <a:buNone/>
                      </a:pPr>
                      <a:endParaRPr kumimoji="1"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在套接口上不能再发出发送或接收请求；套接口发送缓冲区中的数据被发往另一端。如果描述字访问计数变为</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：在发完发送缓冲区中的数据后，发出正常的</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tcp</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连接终止序列（</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FIN</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），接收缓冲区中的数据被丢弃，如果在连接变为</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CLOSED</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前延滞时间到，则</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close</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返回</a:t>
                      </a: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EWOULDBLOCK</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错误。</a:t>
                      </a:r>
                      <a:endPar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1225" name="Text Box 25"/>
          <p:cNvSpPr txBox="1">
            <a:spLocks noChangeArrowheads="1"/>
          </p:cNvSpPr>
          <p:nvPr/>
        </p:nvSpPr>
        <p:spPr bwMode="auto">
          <a:xfrm>
            <a:off x="1023938" y="6213475"/>
            <a:ext cx="71485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4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rPr>
              <a:t>Shutdown</a:t>
            </a:r>
            <a:r>
              <a:rPr lang="zh-CN" altLang="en-US" sz="24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rPr>
              <a:t>和</a:t>
            </a:r>
            <a:r>
              <a:rPr lang="en-US" altLang="zh-CN" sz="24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rPr>
              <a:t>close(SO</a:t>
            </a:r>
            <a:r>
              <a:rPr lang="en-US" altLang="zh-CN" sz="2400">
                <a:solidFill>
                  <a:srgbClr val="FF0000"/>
                </a:solidFill>
                <a:effectLst>
                  <a:outerShdw blurRad="38100" dist="38100" dir="2700000" algn="tl">
                    <a:srgbClr val="000000"/>
                  </a:outerShdw>
                </a:effectLst>
                <a:latin typeface="Comic Sans MS" panose="030F0702030302020204" pitchFamily="66" charset="0"/>
                <a:ea typeface="华文新魏" panose="02010800040101010101" pitchFamily="2" charset="-122"/>
              </a:rPr>
              <a:t>—</a:t>
            </a:r>
            <a:r>
              <a:rPr lang="en-US" altLang="zh-CN" sz="24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rPr>
              <a:t>LINGER</a:t>
            </a:r>
            <a:r>
              <a:rPr lang="zh-CN" altLang="en-US" sz="24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rPr>
              <a:t>选项</a:t>
            </a:r>
            <a:r>
              <a:rPr lang="en-US" altLang="zh-CN" sz="24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rPr>
              <a:t>)</a:t>
            </a:r>
            <a:r>
              <a:rPr lang="zh-CN" altLang="en-US" sz="24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rPr>
              <a:t>各种情况的总结</a:t>
            </a:r>
            <a:endParaRPr lang="zh-CN" altLang="en-US" sz="240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endParaRPr>
          </a:p>
        </p:txBody>
      </p:sp>
    </p:spTree>
  </p:cSld>
  <p:clrMapOvr>
    <a:masterClrMapping/>
  </p:clrMapOvr>
  <p:transition spd="slow">
    <p:wipe dir="r"/>
    <p:sndAc>
      <p:endSnd/>
    </p:sndAc>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a:xfrm>
            <a:off x="762000" y="0"/>
            <a:ext cx="7772400" cy="762000"/>
          </a:xfrm>
        </p:spPr>
        <p:txBody>
          <a:bodyPr/>
          <a:lstStyle/>
          <a:p>
            <a:pPr eaLnBrk="1" hangingPunct="1"/>
            <a:r>
              <a:rPr lang="en-US" altLang="zh-CN" sz="4000"/>
              <a:t>SO_RCVBUF</a:t>
            </a:r>
            <a:r>
              <a:rPr lang="zh-CN" altLang="en-US" sz="4000"/>
              <a:t>和</a:t>
            </a:r>
            <a:r>
              <a:rPr lang="en-US" altLang="zh-CN" sz="4000"/>
              <a:t>SO_SNDBUF</a:t>
            </a:r>
            <a:endParaRPr lang="en-US" altLang="zh-CN" sz="4000"/>
          </a:p>
        </p:txBody>
      </p:sp>
      <p:sp>
        <p:nvSpPr>
          <p:cNvPr id="52227" name="Rectangle 3"/>
          <p:cNvSpPr>
            <a:spLocks noGrp="1" noChangeArrowheads="1"/>
          </p:cNvSpPr>
          <p:nvPr>
            <p:ph idx="1"/>
          </p:nvPr>
        </p:nvSpPr>
        <p:spPr>
          <a:xfrm>
            <a:off x="838200" y="762000"/>
            <a:ext cx="7924800" cy="6096000"/>
          </a:xfrm>
        </p:spPr>
        <p:txBody>
          <a:bodyPr/>
          <a:lstStyle/>
          <a:p>
            <a:pPr eaLnBrk="1" hangingPunct="1">
              <a:lnSpc>
                <a:spcPct val="90000"/>
              </a:lnSpc>
              <a:defRPr/>
            </a:pPr>
            <a:r>
              <a:rPr kumimoji="1" lang="zh-CN" altLang="en-US" sz="2800"/>
              <a:t>每个套接字都有一个发送缓冲区和一个接收缓冲区。接收缓冲区被</a:t>
            </a:r>
            <a:r>
              <a:rPr kumimoji="1" lang="en-US" altLang="zh-CN" sz="2800"/>
              <a:t>tcp</a:t>
            </a:r>
            <a:r>
              <a:rPr kumimoji="1" lang="zh-CN" altLang="en-US" sz="2800"/>
              <a:t>和</a:t>
            </a:r>
            <a:r>
              <a:rPr kumimoji="1" lang="en-US" altLang="zh-CN" sz="2800"/>
              <a:t>udp</a:t>
            </a:r>
            <a:r>
              <a:rPr kumimoji="1" lang="zh-CN" altLang="en-US" sz="2800"/>
              <a:t>用来将接收到的数据一直保存到应用进程来读。因为</a:t>
            </a:r>
            <a:r>
              <a:rPr kumimoji="1" lang="en-US" altLang="zh-CN" sz="2800"/>
              <a:t>tcp</a:t>
            </a:r>
            <a:r>
              <a:rPr kumimoji="1" lang="zh-CN" altLang="en-US" sz="2800"/>
              <a:t>套接字接收缓冲区中可用空间就是</a:t>
            </a:r>
            <a:r>
              <a:rPr kumimoji="1" lang="en-US" altLang="zh-CN" sz="2800"/>
              <a:t>tcp</a:t>
            </a:r>
            <a:r>
              <a:rPr kumimoji="1" lang="zh-CN" altLang="en-US" sz="2800"/>
              <a:t>通告给对方的窗口大小，因此</a:t>
            </a:r>
            <a:r>
              <a:rPr kumimoji="1" lang="en-US" altLang="zh-CN" sz="2800"/>
              <a:t>tcp</a:t>
            </a:r>
            <a:r>
              <a:rPr kumimoji="1" lang="zh-CN" altLang="en-US" sz="2800"/>
              <a:t>套接字接收缓冲区不会溢出。</a:t>
            </a:r>
            <a:endParaRPr kumimoji="1" lang="zh-CN" altLang="en-US" sz="2800"/>
          </a:p>
          <a:p>
            <a:pPr eaLnBrk="1" hangingPunct="1">
              <a:lnSpc>
                <a:spcPct val="90000"/>
              </a:lnSpc>
              <a:defRPr/>
            </a:pPr>
            <a:r>
              <a:rPr kumimoji="1" lang="zh-CN" altLang="en-US" sz="2800"/>
              <a:t>上述两个选项使我们可以改变缺省的缓冲区大小。当设置</a:t>
            </a:r>
            <a:r>
              <a:rPr kumimoji="1" lang="en-US" altLang="zh-CN" sz="2800"/>
              <a:t>tcp</a:t>
            </a:r>
            <a:r>
              <a:rPr kumimoji="1" lang="zh-CN" altLang="en-US" sz="2800"/>
              <a:t>套接字接收缓冲区的大小时，</a:t>
            </a:r>
            <a:r>
              <a:rPr kumimoji="1" lang="zh-CN" altLang="en-US" sz="2800" b="1">
                <a:solidFill>
                  <a:srgbClr val="FF0000"/>
                </a:solidFill>
                <a:effectLst>
                  <a:outerShdw blurRad="38100" dist="38100" dir="2700000" algn="tl">
                    <a:srgbClr val="000000"/>
                  </a:outerShdw>
                </a:effectLst>
              </a:rPr>
              <a:t>函数调用顺序是很重要</a:t>
            </a:r>
            <a:r>
              <a:rPr kumimoji="1" lang="zh-CN" altLang="en-US" sz="2800"/>
              <a:t>的，这是因为</a:t>
            </a:r>
            <a:r>
              <a:rPr kumimoji="1" lang="en-US" altLang="zh-CN" sz="2800"/>
              <a:t>tcp</a:t>
            </a:r>
            <a:r>
              <a:rPr kumimoji="1" lang="zh-CN" altLang="en-US" sz="2800"/>
              <a:t>的窗口规模是在建立连接时用</a:t>
            </a:r>
            <a:r>
              <a:rPr kumimoji="1" lang="en-US" altLang="zh-CN" sz="2800"/>
              <a:t>SYN</a:t>
            </a:r>
            <a:r>
              <a:rPr kumimoji="1" lang="zh-CN" altLang="en-US" sz="2800"/>
              <a:t>与对方互换得来的。对于一个客户，这意味着</a:t>
            </a:r>
            <a:r>
              <a:rPr kumimoji="1" lang="en-US" altLang="zh-CN" sz="2800"/>
              <a:t>SO_RCVBUF</a:t>
            </a:r>
            <a:r>
              <a:rPr kumimoji="1" lang="zh-CN" altLang="en-US" sz="2800"/>
              <a:t>选项必须在调用</a:t>
            </a:r>
            <a:r>
              <a:rPr kumimoji="1" lang="en-US" altLang="zh-CN" sz="2800"/>
              <a:t>connect</a:t>
            </a:r>
            <a:r>
              <a:rPr kumimoji="1" lang="zh-CN" altLang="en-US" sz="2800"/>
              <a:t>之前设置；对于一个服务器，这意味着在调用</a:t>
            </a:r>
            <a:r>
              <a:rPr kumimoji="1" lang="en-US" altLang="zh-CN" sz="2800"/>
              <a:t>listen</a:t>
            </a:r>
            <a:r>
              <a:rPr kumimoji="1" lang="zh-CN" altLang="en-US" sz="2800"/>
              <a:t>之前必须给监听套接字设置这个选项（这是因为连接套接字的接收缓冲区是从监听套接字的接收缓冲区继承而来。）</a:t>
            </a:r>
            <a:endParaRPr kumimoji="1" lang="zh-CN" altLang="en-US" sz="2800"/>
          </a:p>
        </p:txBody>
      </p:sp>
    </p:spTree>
  </p:cSld>
  <p:clrMapOvr>
    <a:masterClrMapping/>
  </p:clrMapOvr>
  <p:transition spd="slow">
    <p:wipe dir="r"/>
    <p:sndAc>
      <p:endSnd/>
    </p:sndAc>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ChangeArrowheads="1"/>
          </p:cNvSpPr>
          <p:nvPr>
            <p:ph type="title"/>
          </p:nvPr>
        </p:nvSpPr>
        <p:spPr>
          <a:xfrm>
            <a:off x="755650" y="333375"/>
            <a:ext cx="7772400" cy="1143000"/>
          </a:xfrm>
        </p:spPr>
        <p:txBody>
          <a:bodyPr/>
          <a:lstStyle/>
          <a:p>
            <a:pPr eaLnBrk="1" hangingPunct="1"/>
            <a:r>
              <a:rPr lang="en-US" altLang="zh-CN" sz="3600"/>
              <a:t>SO_RCVLOWAT</a:t>
            </a:r>
            <a:r>
              <a:rPr lang="zh-CN" altLang="en-US" sz="3600"/>
              <a:t>和</a:t>
            </a:r>
            <a:r>
              <a:rPr lang="en-US" altLang="zh-CN" sz="3600"/>
              <a:t>SO_SNDLOWAT</a:t>
            </a:r>
            <a:endParaRPr lang="en-US" altLang="zh-CN" sz="3600"/>
          </a:p>
        </p:txBody>
      </p:sp>
      <p:sp>
        <p:nvSpPr>
          <p:cNvPr id="53251" name="Rectangle 3"/>
          <p:cNvSpPr>
            <a:spLocks noGrp="1" noChangeArrowheads="1"/>
          </p:cNvSpPr>
          <p:nvPr>
            <p:ph idx="1"/>
          </p:nvPr>
        </p:nvSpPr>
        <p:spPr>
          <a:xfrm>
            <a:off x="323850" y="1341438"/>
            <a:ext cx="8540750" cy="5256212"/>
          </a:xfrm>
        </p:spPr>
        <p:txBody>
          <a:bodyPr/>
          <a:lstStyle/>
          <a:p>
            <a:pPr eaLnBrk="1" hangingPunct="1">
              <a:lnSpc>
                <a:spcPct val="90000"/>
              </a:lnSpc>
              <a:defRPr/>
            </a:pPr>
            <a:r>
              <a:rPr kumimoji="1" lang="zh-CN" altLang="en-US" sz="3000"/>
              <a:t>每个套接字也都有一个接收低潮限度和一个发送低潮限度</a:t>
            </a:r>
            <a:r>
              <a:rPr kumimoji="1" lang="en-US" altLang="zh-CN" sz="3000"/>
              <a:t>.</a:t>
            </a:r>
            <a:r>
              <a:rPr kumimoji="1" lang="zh-CN" altLang="en-US" sz="3000"/>
              <a:t>它们是函数</a:t>
            </a:r>
            <a:r>
              <a:rPr kumimoji="1" lang="en-US" altLang="zh-CN" sz="3000"/>
              <a:t>select</a:t>
            </a:r>
            <a:r>
              <a:rPr kumimoji="1" lang="zh-CN" altLang="en-US" sz="3000"/>
              <a:t>使用的。这两个选项使我们可以修改这两个低潮限度。</a:t>
            </a:r>
            <a:endParaRPr kumimoji="1" lang="zh-CN" altLang="en-US" sz="3000"/>
          </a:p>
          <a:p>
            <a:pPr eaLnBrk="1" hangingPunct="1">
              <a:lnSpc>
                <a:spcPct val="90000"/>
              </a:lnSpc>
              <a:defRPr/>
            </a:pPr>
            <a:r>
              <a:rPr kumimoji="1" lang="zh-CN" altLang="en-US" sz="3000"/>
              <a:t>接收低潮是让</a:t>
            </a:r>
            <a:r>
              <a:rPr kumimoji="1" lang="en-US" altLang="zh-CN" sz="3000"/>
              <a:t>select</a:t>
            </a:r>
            <a:r>
              <a:rPr kumimoji="1" lang="zh-CN" altLang="en-US" sz="3000"/>
              <a:t>返回“可读”而在套接字接收缓冲区中必须有的数据总量。对于</a:t>
            </a:r>
            <a:r>
              <a:rPr kumimoji="1" lang="en-US" altLang="zh-CN" sz="3000"/>
              <a:t>tcp</a:t>
            </a:r>
            <a:r>
              <a:rPr kumimoji="1" lang="zh-CN" altLang="en-US" sz="3000"/>
              <a:t>或</a:t>
            </a:r>
            <a:r>
              <a:rPr kumimoji="1" lang="en-US" altLang="zh-CN" sz="3000"/>
              <a:t>udp</a:t>
            </a:r>
            <a:r>
              <a:rPr kumimoji="1" lang="zh-CN" altLang="en-US" sz="3000"/>
              <a:t>套接字，此缺省值为</a:t>
            </a:r>
            <a:r>
              <a:rPr kumimoji="1" lang="en-US" altLang="zh-CN" sz="3000"/>
              <a:t>1</a:t>
            </a:r>
            <a:r>
              <a:rPr kumimoji="1" lang="zh-CN" altLang="en-US" sz="3000"/>
              <a:t>。</a:t>
            </a:r>
            <a:endParaRPr kumimoji="1" lang="zh-CN" altLang="en-US" sz="3000"/>
          </a:p>
          <a:p>
            <a:pPr eaLnBrk="1" hangingPunct="1">
              <a:lnSpc>
                <a:spcPct val="90000"/>
              </a:lnSpc>
              <a:defRPr/>
            </a:pPr>
            <a:r>
              <a:rPr kumimoji="1" lang="zh-CN" altLang="en-US" sz="3000"/>
              <a:t>发送低潮限度是让</a:t>
            </a:r>
            <a:r>
              <a:rPr kumimoji="1" lang="en-US" altLang="zh-CN" sz="3000"/>
              <a:t>select</a:t>
            </a:r>
            <a:r>
              <a:rPr kumimoji="1" lang="zh-CN" altLang="en-US" sz="3000"/>
              <a:t>返回“可写”而在套接字发送缓冲区中必须有的可用空间。对于</a:t>
            </a:r>
            <a:r>
              <a:rPr kumimoji="1" lang="en-US" altLang="zh-CN" sz="3000"/>
              <a:t>tcp</a:t>
            </a:r>
            <a:r>
              <a:rPr kumimoji="1" lang="zh-CN" altLang="en-US" sz="3000"/>
              <a:t>套接字，此值常缺省为</a:t>
            </a:r>
            <a:r>
              <a:rPr kumimoji="1" lang="en-US" altLang="zh-CN" sz="3000"/>
              <a:t>2048</a:t>
            </a:r>
            <a:r>
              <a:rPr kumimoji="1" lang="zh-CN" altLang="en-US" sz="3000"/>
              <a:t>。</a:t>
            </a:r>
            <a:r>
              <a:rPr kumimoji="1" lang="zh-CN" altLang="en-US" sz="3000" b="1">
                <a:solidFill>
                  <a:srgbClr val="FF0000"/>
                </a:solidFill>
                <a:effectLst>
                  <a:outerShdw blurRad="38100" dist="38100" dir="2700000" algn="tl">
                    <a:srgbClr val="000000"/>
                  </a:outerShdw>
                </a:effectLst>
              </a:rPr>
              <a:t>对于</a:t>
            </a:r>
            <a:r>
              <a:rPr kumimoji="1" lang="en-US" altLang="zh-CN" sz="3000" b="1">
                <a:solidFill>
                  <a:srgbClr val="FF0000"/>
                </a:solidFill>
                <a:effectLst>
                  <a:outerShdw blurRad="38100" dist="38100" dir="2700000" algn="tl">
                    <a:srgbClr val="000000"/>
                  </a:outerShdw>
                </a:effectLst>
              </a:rPr>
              <a:t>udp</a:t>
            </a:r>
            <a:r>
              <a:rPr kumimoji="1" lang="zh-CN" altLang="en-US" sz="3000" b="1">
                <a:solidFill>
                  <a:srgbClr val="FF0000"/>
                </a:solidFill>
                <a:effectLst>
                  <a:outerShdw blurRad="38100" dist="38100" dir="2700000" algn="tl">
                    <a:srgbClr val="000000"/>
                  </a:outerShdw>
                </a:effectLst>
              </a:rPr>
              <a:t>使用低潮限度，由于发送缓冲区中的可用空间字节数从不变化的</a:t>
            </a:r>
            <a:r>
              <a:rPr kumimoji="1" lang="zh-CN" altLang="en-US" sz="3000"/>
              <a:t>，因此只要</a:t>
            </a:r>
            <a:r>
              <a:rPr kumimoji="1" lang="en-US" altLang="zh-CN" sz="3000"/>
              <a:t>udp</a:t>
            </a:r>
            <a:r>
              <a:rPr kumimoji="1" lang="zh-CN" altLang="en-US" sz="3000"/>
              <a:t>套接字发送缓冲区大小大于低潮限度，这样</a:t>
            </a:r>
            <a:r>
              <a:rPr kumimoji="1" lang="en-US" altLang="zh-CN" sz="3000"/>
              <a:t>udp</a:t>
            </a:r>
            <a:r>
              <a:rPr kumimoji="1" lang="zh-CN" altLang="en-US" sz="3000"/>
              <a:t>套接字就总是可写的。</a:t>
            </a:r>
            <a:endParaRPr kumimoji="1" lang="zh-CN" altLang="en-US" sz="3000"/>
          </a:p>
        </p:txBody>
      </p:sp>
    </p:spTree>
  </p:cSld>
  <p:clrMapOvr>
    <a:masterClrMapping/>
  </p:clrMapOvr>
  <p:transition spd="slow">
    <p:wipe dir="r"/>
    <p:sndAc>
      <p:endSnd/>
    </p:sndAc>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3"/>
          <p:cNvSpPr>
            <a:spLocks noGrp="1" noChangeArrowheads="1"/>
          </p:cNvSpPr>
          <p:nvPr>
            <p:ph idx="1"/>
          </p:nvPr>
        </p:nvSpPr>
        <p:spPr>
          <a:xfrm>
            <a:off x="762000" y="0"/>
            <a:ext cx="7772400" cy="6553200"/>
          </a:xfrm>
        </p:spPr>
        <p:txBody>
          <a:bodyPr/>
          <a:lstStyle/>
          <a:p>
            <a:pPr eaLnBrk="1" hangingPunct="1">
              <a:lnSpc>
                <a:spcPct val="75000"/>
              </a:lnSpc>
              <a:buFontTx/>
              <a:buNone/>
            </a:pPr>
            <a:r>
              <a:rPr lang="zh-CN" altLang="en-US" sz="1800"/>
              <a:t>源程序：</a:t>
            </a:r>
            <a:endParaRPr lang="zh-CN" altLang="en-US" sz="1800"/>
          </a:p>
          <a:p>
            <a:pPr eaLnBrk="1" hangingPunct="1">
              <a:lnSpc>
                <a:spcPct val="75000"/>
              </a:lnSpc>
              <a:buFontTx/>
              <a:buNone/>
            </a:pPr>
            <a:r>
              <a:rPr lang="en-US" altLang="zh-CN" sz="1800"/>
              <a:t>#include &lt;sys/socket.h&gt;</a:t>
            </a:r>
            <a:endParaRPr lang="en-US" altLang="zh-CN" sz="1800"/>
          </a:p>
          <a:p>
            <a:pPr eaLnBrk="1" hangingPunct="1">
              <a:lnSpc>
                <a:spcPct val="75000"/>
              </a:lnSpc>
              <a:buFontTx/>
              <a:buNone/>
            </a:pPr>
            <a:r>
              <a:rPr lang="en-US" altLang="zh-CN" sz="1800"/>
              <a:t>#include &lt;stdio.h&gt;</a:t>
            </a:r>
            <a:endParaRPr lang="en-US" altLang="zh-CN" sz="1800"/>
          </a:p>
          <a:p>
            <a:pPr eaLnBrk="1" hangingPunct="1">
              <a:lnSpc>
                <a:spcPct val="75000"/>
              </a:lnSpc>
              <a:buFontTx/>
              <a:buNone/>
            </a:pPr>
            <a:r>
              <a:rPr lang="en-US" altLang="zh-CN" sz="1800"/>
              <a:t>int main(void)</a:t>
            </a:r>
            <a:endParaRPr lang="en-US" altLang="zh-CN" sz="1800"/>
          </a:p>
          <a:p>
            <a:pPr eaLnBrk="1" hangingPunct="1">
              <a:lnSpc>
                <a:spcPct val="75000"/>
              </a:lnSpc>
              <a:buFontTx/>
              <a:buNone/>
            </a:pPr>
            <a:r>
              <a:rPr lang="en-US" altLang="zh-CN" sz="1800"/>
              <a:t>{</a:t>
            </a:r>
            <a:endParaRPr lang="en-US" altLang="zh-CN" sz="1800"/>
          </a:p>
          <a:p>
            <a:pPr eaLnBrk="1" hangingPunct="1">
              <a:lnSpc>
                <a:spcPct val="75000"/>
              </a:lnSpc>
              <a:buFontTx/>
              <a:buNone/>
            </a:pPr>
            <a:r>
              <a:rPr lang="en-US" altLang="zh-CN" sz="1800"/>
              <a:t>        int listenfd ;</a:t>
            </a:r>
            <a:endParaRPr lang="en-US" altLang="zh-CN" sz="1800"/>
          </a:p>
          <a:p>
            <a:pPr eaLnBrk="1" hangingPunct="1">
              <a:lnSpc>
                <a:spcPct val="75000"/>
              </a:lnSpc>
              <a:buFontTx/>
              <a:buNone/>
            </a:pPr>
            <a:r>
              <a:rPr lang="en-US" altLang="zh-CN" sz="1800"/>
              <a:t>        if((listenfd=socket(AF_INET, SOCK_STREAM, 0))==-1)</a:t>
            </a:r>
            <a:endParaRPr lang="en-US" altLang="zh-CN" sz="1800"/>
          </a:p>
          <a:p>
            <a:pPr eaLnBrk="1" hangingPunct="1">
              <a:lnSpc>
                <a:spcPct val="75000"/>
              </a:lnSpc>
              <a:buFontTx/>
              <a:buNone/>
            </a:pPr>
            <a:r>
              <a:rPr lang="en-US" altLang="zh-CN" sz="1800"/>
              <a:t>        {</a:t>
            </a:r>
            <a:endParaRPr lang="en-US" altLang="zh-CN" sz="1800"/>
          </a:p>
          <a:p>
            <a:pPr eaLnBrk="1" hangingPunct="1">
              <a:lnSpc>
                <a:spcPct val="75000"/>
              </a:lnSpc>
              <a:buFontTx/>
              <a:buNone/>
            </a:pPr>
            <a:r>
              <a:rPr lang="en-US" altLang="zh-CN" sz="1800"/>
              <a:t>                perror("Create socket failed");</a:t>
            </a:r>
            <a:endParaRPr lang="en-US" altLang="zh-CN" sz="1800"/>
          </a:p>
          <a:p>
            <a:pPr eaLnBrk="1" hangingPunct="1">
              <a:lnSpc>
                <a:spcPct val="75000"/>
              </a:lnSpc>
              <a:buFontTx/>
              <a:buNone/>
            </a:pPr>
            <a:r>
              <a:rPr lang="en-US" altLang="zh-CN" sz="1800"/>
              <a:t>                exit(-1);</a:t>
            </a:r>
            <a:endParaRPr lang="en-US" altLang="zh-CN" sz="1800"/>
          </a:p>
          <a:p>
            <a:pPr eaLnBrk="1" hangingPunct="1">
              <a:lnSpc>
                <a:spcPct val="75000"/>
              </a:lnSpc>
              <a:buFontTx/>
              <a:buNone/>
            </a:pPr>
            <a:r>
              <a:rPr lang="en-US" altLang="zh-CN" sz="1800"/>
              <a:t>        }</a:t>
            </a:r>
            <a:endParaRPr lang="en-US" altLang="zh-CN" sz="1800"/>
          </a:p>
          <a:p>
            <a:pPr eaLnBrk="1" hangingPunct="1">
              <a:lnSpc>
                <a:spcPct val="75000"/>
              </a:lnSpc>
              <a:buFontTx/>
              <a:buNone/>
            </a:pPr>
            <a:r>
              <a:rPr lang="en-US" altLang="zh-CN" sz="1800"/>
              <a:t>        int opt = 1;</a:t>
            </a:r>
            <a:endParaRPr lang="en-US" altLang="zh-CN" sz="1800"/>
          </a:p>
          <a:p>
            <a:pPr eaLnBrk="1" hangingPunct="1">
              <a:lnSpc>
                <a:spcPct val="75000"/>
              </a:lnSpc>
              <a:buFontTx/>
              <a:buNone/>
            </a:pPr>
            <a:r>
              <a:rPr lang="en-US" altLang="zh-CN" sz="1800"/>
              <a:t>        setsockopt(listenfd, SOL_SOCKET, SO_REUSEADDR, &amp;opt, sizeof(opt));</a:t>
            </a:r>
            <a:endParaRPr lang="en-US" altLang="zh-CN" sz="1800"/>
          </a:p>
          <a:p>
            <a:pPr eaLnBrk="1" hangingPunct="1">
              <a:lnSpc>
                <a:spcPct val="75000"/>
              </a:lnSpc>
              <a:buFontTx/>
              <a:buNone/>
            </a:pPr>
            <a:r>
              <a:rPr lang="en-US" altLang="zh-CN" sz="1800"/>
              <a:t>        int aa=sizeof(int);</a:t>
            </a:r>
            <a:endParaRPr lang="en-US" altLang="zh-CN" sz="1800"/>
          </a:p>
          <a:p>
            <a:pPr eaLnBrk="1" hangingPunct="1">
              <a:lnSpc>
                <a:spcPct val="75000"/>
              </a:lnSpc>
              <a:buFontTx/>
              <a:buNone/>
            </a:pPr>
            <a:r>
              <a:rPr lang="en-US" altLang="zh-CN" sz="1800"/>
              <a:t>        getsockopt(listenfd,SOL_SOCKET,SO_RCVBUF,&amp;opt,&amp;aa);</a:t>
            </a:r>
            <a:endParaRPr lang="en-US" altLang="zh-CN" sz="1800"/>
          </a:p>
          <a:p>
            <a:pPr eaLnBrk="1" hangingPunct="1">
              <a:lnSpc>
                <a:spcPct val="75000"/>
              </a:lnSpc>
              <a:buFontTx/>
              <a:buNone/>
            </a:pPr>
            <a:r>
              <a:rPr lang="en-US" altLang="zh-CN" sz="1800"/>
              <a:t>        printf("RCVBUF=%d\n",opt);</a:t>
            </a:r>
            <a:endParaRPr lang="en-US" altLang="zh-CN" sz="1800"/>
          </a:p>
          <a:p>
            <a:pPr eaLnBrk="1" hangingPunct="1">
              <a:lnSpc>
                <a:spcPct val="75000"/>
              </a:lnSpc>
              <a:buFontTx/>
              <a:buNone/>
            </a:pPr>
            <a:r>
              <a:rPr lang="en-US" altLang="zh-CN" sz="1800"/>
              <a:t>        getsockopt(listenfd,SOL_SOCKET,SO_SNDBUF,&amp;opt,&amp;aa);</a:t>
            </a:r>
            <a:endParaRPr lang="en-US" altLang="zh-CN" sz="1800"/>
          </a:p>
          <a:p>
            <a:pPr eaLnBrk="1" hangingPunct="1">
              <a:lnSpc>
                <a:spcPct val="75000"/>
              </a:lnSpc>
              <a:buFontTx/>
              <a:buNone/>
            </a:pPr>
            <a:r>
              <a:rPr lang="en-US" altLang="zh-CN" sz="1800"/>
              <a:t>        printf("SNDBUF=%d\n",opt);</a:t>
            </a:r>
            <a:endParaRPr lang="en-US" altLang="zh-CN" sz="1800"/>
          </a:p>
          <a:p>
            <a:pPr eaLnBrk="1" hangingPunct="1">
              <a:lnSpc>
                <a:spcPct val="75000"/>
              </a:lnSpc>
              <a:buFontTx/>
              <a:buNone/>
            </a:pPr>
            <a:r>
              <a:rPr lang="en-US" altLang="zh-CN" sz="1800"/>
              <a:t>        getsockopt(listenfd,SOL_SOCKET,SO_RCVLOWAT,&amp;opt,&amp;aa);</a:t>
            </a:r>
            <a:endParaRPr lang="en-US" altLang="zh-CN" sz="1800"/>
          </a:p>
          <a:p>
            <a:pPr eaLnBrk="1" hangingPunct="1">
              <a:lnSpc>
                <a:spcPct val="75000"/>
              </a:lnSpc>
              <a:buFontTx/>
              <a:buNone/>
            </a:pPr>
            <a:r>
              <a:rPr lang="en-US" altLang="zh-CN" sz="1800"/>
              <a:t>        printf("RCVLOWAT=%d\n",opt);</a:t>
            </a:r>
            <a:endParaRPr lang="en-US" altLang="zh-CN" sz="1800"/>
          </a:p>
          <a:p>
            <a:pPr eaLnBrk="1" hangingPunct="1">
              <a:lnSpc>
                <a:spcPct val="75000"/>
              </a:lnSpc>
              <a:buFontTx/>
              <a:buNone/>
            </a:pPr>
            <a:r>
              <a:rPr lang="en-US" altLang="zh-CN" sz="1800"/>
              <a:t>        getsockopt(listenfd,SOL_SOCKET,SO_SNDLOWAT,&amp;opt,&amp;aa);</a:t>
            </a:r>
            <a:endParaRPr lang="en-US" altLang="zh-CN" sz="1800"/>
          </a:p>
          <a:p>
            <a:pPr eaLnBrk="1" hangingPunct="1">
              <a:lnSpc>
                <a:spcPct val="75000"/>
              </a:lnSpc>
              <a:buFontTx/>
              <a:buNone/>
            </a:pPr>
            <a:r>
              <a:rPr lang="en-US" altLang="zh-CN" sz="1800"/>
              <a:t>        printf("SNDLOWAT=%d\n",opt);</a:t>
            </a:r>
            <a:endParaRPr lang="en-US" altLang="zh-CN" sz="1800"/>
          </a:p>
          <a:p>
            <a:pPr eaLnBrk="1" hangingPunct="1">
              <a:lnSpc>
                <a:spcPct val="75000"/>
              </a:lnSpc>
              <a:buFontTx/>
              <a:buNone/>
            </a:pPr>
            <a:r>
              <a:rPr lang="en-US" altLang="zh-CN" sz="1800"/>
              <a:t>        fflush(stdout);</a:t>
            </a:r>
            <a:endParaRPr lang="en-US" altLang="zh-CN" sz="1800"/>
          </a:p>
          <a:p>
            <a:pPr eaLnBrk="1" hangingPunct="1">
              <a:lnSpc>
                <a:spcPct val="75000"/>
              </a:lnSpc>
              <a:buFontTx/>
              <a:buNone/>
            </a:pPr>
            <a:r>
              <a:rPr lang="en-US" altLang="zh-CN" sz="1800"/>
              <a:t>        close(listenfd);</a:t>
            </a:r>
            <a:endParaRPr lang="en-US" altLang="zh-CN" sz="1800"/>
          </a:p>
          <a:p>
            <a:pPr eaLnBrk="1" hangingPunct="1">
              <a:lnSpc>
                <a:spcPct val="75000"/>
              </a:lnSpc>
              <a:buFontTx/>
              <a:buNone/>
            </a:pPr>
            <a:r>
              <a:rPr lang="en-US" altLang="zh-CN" sz="1800"/>
              <a:t>}</a:t>
            </a:r>
            <a:endParaRPr lang="en-US" altLang="zh-CN" sz="18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449" name="Object 6"/>
          <p:cNvGraphicFramePr>
            <a:graphicFrameLocks noChangeAspect="1"/>
          </p:cNvGraphicFramePr>
          <p:nvPr/>
        </p:nvGraphicFramePr>
        <p:xfrm>
          <a:off x="1066800" y="312738"/>
          <a:ext cx="7467600" cy="4340225"/>
        </p:xfrm>
        <a:graphic>
          <a:graphicData uri="http://schemas.openxmlformats.org/presentationml/2006/ole">
            <mc:AlternateContent xmlns:mc="http://schemas.openxmlformats.org/markup-compatibility/2006">
              <mc:Choice xmlns:v="urn:schemas-microsoft-com:vml" Requires="v">
                <p:oleObj spid="_x0000_s5140" name="" r:id="rId1" imgW="3981450" imgH="2314575" progId="Paint.Picture">
                  <p:embed/>
                </p:oleObj>
              </mc:Choice>
              <mc:Fallback>
                <p:oleObj name="" r:id="rId1" imgW="3981450" imgH="2314575" progId="Paint.Picture">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12738"/>
                        <a:ext cx="7467600"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wipe dir="r"/>
    <p:sndAc>
      <p:endSnd/>
    </p:sndAc>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noChangeArrowheads="1"/>
          </p:cNvSpPr>
          <p:nvPr>
            <p:ph type="title"/>
          </p:nvPr>
        </p:nvSpPr>
        <p:spPr>
          <a:xfrm>
            <a:off x="611188" y="188913"/>
            <a:ext cx="7772400" cy="1143000"/>
          </a:xfrm>
        </p:spPr>
        <p:txBody>
          <a:bodyPr/>
          <a:lstStyle/>
          <a:p>
            <a:pPr eaLnBrk="1" hangingPunct="1"/>
            <a:r>
              <a:rPr lang="en-US" altLang="zh-CN" sz="3600"/>
              <a:t>SO_RCVTIMEO vs. SO_SNDTIMEO</a:t>
            </a:r>
            <a:endParaRPr lang="en-US" altLang="zh-CN" sz="3600"/>
          </a:p>
        </p:txBody>
      </p:sp>
      <p:sp>
        <p:nvSpPr>
          <p:cNvPr id="55299" name="Rectangle 3"/>
          <p:cNvSpPr>
            <a:spLocks noGrp="1" noChangeArrowheads="1"/>
          </p:cNvSpPr>
          <p:nvPr>
            <p:ph idx="1"/>
          </p:nvPr>
        </p:nvSpPr>
        <p:spPr>
          <a:xfrm>
            <a:off x="323850" y="1196975"/>
            <a:ext cx="8540750" cy="5040313"/>
          </a:xfrm>
        </p:spPr>
        <p:txBody>
          <a:bodyPr/>
          <a:lstStyle/>
          <a:p>
            <a:pPr eaLnBrk="1" hangingPunct="1">
              <a:lnSpc>
                <a:spcPct val="90000"/>
              </a:lnSpc>
              <a:defRPr/>
            </a:pPr>
            <a:r>
              <a:rPr kumimoji="1" lang="zh-CN" altLang="en-US" sz="3000"/>
              <a:t>这两个选项使得我们可以给套接字设置一个接收和发送超时。访问它们的两个</a:t>
            </a:r>
            <a:r>
              <a:rPr kumimoji="1" lang="en-US" altLang="zh-CN" sz="3000"/>
              <a:t>sockopt</a:t>
            </a:r>
            <a:r>
              <a:rPr kumimoji="1" lang="zh-CN" altLang="en-US" sz="3000"/>
              <a:t>函数的参数是指向</a:t>
            </a:r>
            <a:r>
              <a:rPr kumimoji="1" lang="en-US" altLang="zh-CN" sz="3000"/>
              <a:t>timeval</a:t>
            </a:r>
            <a:r>
              <a:rPr kumimoji="1" lang="zh-CN" altLang="en-US" sz="3000"/>
              <a:t>结构的指针，与</a:t>
            </a:r>
            <a:r>
              <a:rPr kumimoji="1" lang="en-US" altLang="zh-CN" sz="3000"/>
              <a:t>select</a:t>
            </a:r>
            <a:r>
              <a:rPr kumimoji="1" lang="zh-CN" altLang="en-US" sz="3000"/>
              <a:t>所用的参数相同，这可以让我们用秒数和微秒来规定超时。我们可以通过设置其值为</a:t>
            </a:r>
            <a:r>
              <a:rPr kumimoji="1" lang="en-US" altLang="zh-CN" sz="3000"/>
              <a:t>0</a:t>
            </a:r>
            <a:r>
              <a:rPr kumimoji="1" lang="zh-CN" altLang="en-US" sz="3000"/>
              <a:t>秒和</a:t>
            </a:r>
            <a:r>
              <a:rPr kumimoji="1" lang="en-US" altLang="zh-CN" sz="3000"/>
              <a:t>0</a:t>
            </a:r>
            <a:r>
              <a:rPr kumimoji="1" lang="zh-CN" altLang="en-US" sz="3000"/>
              <a:t>微秒来禁止超时。缺省是两个超时都是禁止的。</a:t>
            </a:r>
            <a:endParaRPr kumimoji="1" lang="zh-CN" altLang="en-US" sz="3000"/>
          </a:p>
          <a:p>
            <a:pPr eaLnBrk="1" hangingPunct="1">
              <a:lnSpc>
                <a:spcPct val="90000"/>
              </a:lnSpc>
              <a:defRPr/>
            </a:pPr>
            <a:r>
              <a:rPr kumimoji="1" lang="zh-CN" altLang="en-US" sz="3000"/>
              <a:t>接收超时影响五个输入函数</a:t>
            </a:r>
            <a:r>
              <a:rPr kumimoji="1" lang="en-US" altLang="zh-CN" sz="3000"/>
              <a:t>read</a:t>
            </a:r>
            <a:r>
              <a:rPr kumimoji="1" lang="zh-CN" altLang="en-US" sz="3000"/>
              <a:t>、</a:t>
            </a:r>
            <a:r>
              <a:rPr kumimoji="1" lang="en-US" altLang="zh-CN" sz="3000"/>
              <a:t>readv</a:t>
            </a:r>
            <a:r>
              <a:rPr kumimoji="1" lang="zh-CN" altLang="en-US" sz="3000"/>
              <a:t>、</a:t>
            </a:r>
            <a:r>
              <a:rPr kumimoji="1" lang="en-US" altLang="zh-CN" sz="3000"/>
              <a:t>recv</a:t>
            </a:r>
            <a:r>
              <a:rPr kumimoji="1" lang="zh-CN" altLang="en-US" sz="3000"/>
              <a:t>、</a:t>
            </a:r>
            <a:r>
              <a:rPr kumimoji="1" lang="en-US" altLang="zh-CN" sz="3000"/>
              <a:t>recvfrom</a:t>
            </a:r>
            <a:r>
              <a:rPr kumimoji="1" lang="zh-CN" altLang="en-US" sz="3000"/>
              <a:t>和</a:t>
            </a:r>
            <a:r>
              <a:rPr kumimoji="1" lang="en-US" altLang="zh-CN" sz="3000"/>
              <a:t>recvmsg</a:t>
            </a:r>
            <a:r>
              <a:rPr kumimoji="1" lang="zh-CN" altLang="en-US" sz="3000"/>
              <a:t>、</a:t>
            </a:r>
            <a:r>
              <a:rPr kumimoji="1" lang="en-US" altLang="zh-CN" sz="3000"/>
              <a:t>accept</a:t>
            </a:r>
            <a:r>
              <a:rPr kumimoji="1" lang="zh-CN" altLang="en-US" sz="3000"/>
              <a:t>；发送超时影响五个输出函数</a:t>
            </a:r>
            <a:r>
              <a:rPr kumimoji="1" lang="en-US" altLang="zh-CN" sz="3000"/>
              <a:t>write</a:t>
            </a:r>
            <a:r>
              <a:rPr kumimoji="1" lang="zh-CN" altLang="en-US" sz="3000"/>
              <a:t>、</a:t>
            </a:r>
            <a:r>
              <a:rPr kumimoji="1" lang="en-US" altLang="zh-CN" sz="3000"/>
              <a:t>writev</a:t>
            </a:r>
            <a:r>
              <a:rPr kumimoji="1" lang="zh-CN" altLang="en-US" sz="3000"/>
              <a:t>、</a:t>
            </a:r>
            <a:r>
              <a:rPr kumimoji="1" lang="en-US" altLang="zh-CN" sz="3000"/>
              <a:t>send</a:t>
            </a:r>
            <a:r>
              <a:rPr kumimoji="1" lang="zh-CN" altLang="en-US" sz="3000"/>
              <a:t>、</a:t>
            </a:r>
            <a:r>
              <a:rPr kumimoji="1" lang="en-US" altLang="zh-CN" sz="3000"/>
              <a:t>sendto</a:t>
            </a:r>
            <a:r>
              <a:rPr kumimoji="1" lang="zh-CN" altLang="en-US" sz="3000"/>
              <a:t>和</a:t>
            </a:r>
            <a:r>
              <a:rPr kumimoji="1" lang="en-US" altLang="zh-CN" sz="3000"/>
              <a:t>sendmsg</a:t>
            </a:r>
            <a:r>
              <a:rPr kumimoji="1" lang="zh-CN" altLang="en-US" sz="3000"/>
              <a:t>。</a:t>
            </a:r>
            <a:endParaRPr kumimoji="1" lang="zh-CN" altLang="en-US" sz="3000"/>
          </a:p>
          <a:p>
            <a:pPr eaLnBrk="1" hangingPunct="1">
              <a:lnSpc>
                <a:spcPct val="90000"/>
              </a:lnSpc>
              <a:defRPr/>
            </a:pPr>
            <a:r>
              <a:rPr kumimoji="1" lang="zh-CN" altLang="en-US" sz="3000">
                <a:solidFill>
                  <a:srgbClr val="FF0066"/>
                </a:solidFill>
                <a:effectLst>
                  <a:outerShdw blurRad="38100" dist="38100" dir="2700000" algn="tl">
                    <a:srgbClr val="000000"/>
                  </a:outerShdw>
                </a:effectLst>
              </a:rPr>
              <a:t>例外的情况是</a:t>
            </a:r>
            <a:r>
              <a:rPr kumimoji="1" lang="zh-CN" altLang="en-US" sz="3000"/>
              <a:t>：如果套接字设置为非阻塞模式，所有的读写操作将直接返回，而不论缓冲区是否有数据（或有空间）。</a:t>
            </a:r>
            <a:endParaRPr kumimoji="1" lang="zh-CN" altLang="en-US" sz="3000"/>
          </a:p>
        </p:txBody>
      </p:sp>
    </p:spTree>
  </p:cSld>
  <p:clrMapOvr>
    <a:masterClrMapping/>
  </p:clrMapOvr>
  <p:transition spd="slow">
    <p:wipe dir="r"/>
    <p:sndAc>
      <p:endSnd/>
    </p:sndAc>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ChangeArrowheads="1"/>
          </p:cNvSpPr>
          <p:nvPr>
            <p:ph type="title"/>
          </p:nvPr>
        </p:nvSpPr>
        <p:spPr>
          <a:xfrm>
            <a:off x="685800" y="0"/>
            <a:ext cx="7772400" cy="762000"/>
          </a:xfrm>
        </p:spPr>
        <p:txBody>
          <a:bodyPr/>
          <a:lstStyle/>
          <a:p>
            <a:pPr eaLnBrk="1" hangingPunct="1"/>
            <a:r>
              <a:rPr lang="zh-CN" altLang="en-US"/>
              <a:t>接收数据超时例子</a:t>
            </a:r>
            <a:endParaRPr lang="zh-CN" altLang="en-US"/>
          </a:p>
        </p:txBody>
      </p:sp>
      <p:graphicFrame>
        <p:nvGraphicFramePr>
          <p:cNvPr id="106498" name="Object 5"/>
          <p:cNvGraphicFramePr>
            <a:graphicFrameLocks noChangeAspect="1"/>
          </p:cNvGraphicFramePr>
          <p:nvPr/>
        </p:nvGraphicFramePr>
        <p:xfrm>
          <a:off x="838200" y="762000"/>
          <a:ext cx="7086600" cy="4102100"/>
        </p:xfrm>
        <a:graphic>
          <a:graphicData uri="http://schemas.openxmlformats.org/presentationml/2006/ole">
            <mc:AlternateContent xmlns:mc="http://schemas.openxmlformats.org/markup-compatibility/2006">
              <mc:Choice xmlns:v="urn:schemas-microsoft-com:vml" Requires="v">
                <p:oleObj spid="_x0000_s6164" name="" r:id="rId1" imgW="3981450" imgH="2305050" progId="Paint.Picture">
                  <p:embed/>
                </p:oleObj>
              </mc:Choice>
              <mc:Fallback>
                <p:oleObj name="" r:id="rId1" imgW="3981450" imgH="2305050" progId="Paint.Picture">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762000"/>
                        <a:ext cx="7086600" cy="410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6499" name="Text Box 6"/>
          <p:cNvSpPr txBox="1">
            <a:spLocks noChangeArrowheads="1"/>
          </p:cNvSpPr>
          <p:nvPr/>
        </p:nvSpPr>
        <p:spPr bwMode="auto">
          <a:xfrm>
            <a:off x="762000" y="5105400"/>
            <a:ext cx="8077200"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60000"/>
              </a:lnSpc>
              <a:spcBef>
                <a:spcPct val="50000"/>
              </a:spcBef>
            </a:pPr>
            <a:r>
              <a:rPr lang="en-US" altLang="zh-CN" sz="2400" b="1"/>
              <a:t>struct timeval t;</a:t>
            </a:r>
            <a:endParaRPr lang="en-US" altLang="zh-CN" sz="2400" b="1"/>
          </a:p>
          <a:p>
            <a:pPr>
              <a:lnSpc>
                <a:spcPct val="60000"/>
              </a:lnSpc>
              <a:spcBef>
                <a:spcPct val="50000"/>
              </a:spcBef>
            </a:pPr>
            <a:r>
              <a:rPr lang="en-US" altLang="zh-CN" sz="2400" b="1"/>
              <a:t>t.tv_sec=5;</a:t>
            </a:r>
            <a:endParaRPr lang="en-US" altLang="zh-CN" sz="2400" b="1"/>
          </a:p>
          <a:p>
            <a:pPr>
              <a:lnSpc>
                <a:spcPct val="60000"/>
              </a:lnSpc>
              <a:spcBef>
                <a:spcPct val="50000"/>
              </a:spcBef>
            </a:pPr>
            <a:r>
              <a:rPr lang="en-US" altLang="zh-CN" sz="2400" b="1"/>
              <a:t>t.tv_usec=0;</a:t>
            </a:r>
            <a:endParaRPr lang="en-US" altLang="zh-CN" sz="2400" b="1"/>
          </a:p>
          <a:p>
            <a:pPr>
              <a:lnSpc>
                <a:spcPct val="60000"/>
              </a:lnSpc>
              <a:spcBef>
                <a:spcPct val="50000"/>
              </a:spcBef>
            </a:pPr>
            <a:r>
              <a:rPr lang="en-US" altLang="zh-CN" sz="2400" b="1"/>
              <a:t>setsockopt(fd,SOL_SOCKET,SO_RCVTIMEO,&amp;t,sizeof(t));</a:t>
            </a:r>
            <a:endParaRPr lang="en-US" altLang="zh-CN" sz="2400" b="1"/>
          </a:p>
        </p:txBody>
      </p:sp>
      <p:sp>
        <p:nvSpPr>
          <p:cNvPr id="106500" name="Text Box 7"/>
          <p:cNvSpPr txBox="1">
            <a:spLocks noChangeArrowheads="1"/>
          </p:cNvSpPr>
          <p:nvPr/>
        </p:nvSpPr>
        <p:spPr bwMode="auto">
          <a:xfrm>
            <a:off x="4876800" y="4953000"/>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a:t> </a:t>
            </a:r>
            <a:r>
              <a:rPr lang="zh-CN" altLang="en-US" sz="2400"/>
              <a:t>服务器程序</a:t>
            </a:r>
            <a:r>
              <a:rPr lang="en-US" altLang="zh-CN" sz="2400"/>
              <a:t>:timeo_server.c</a:t>
            </a:r>
            <a:endParaRPr lang="en-US" altLang="zh-CN" sz="2400"/>
          </a:p>
        </p:txBody>
      </p:sp>
    </p:spTree>
  </p:cSld>
  <p:clrMapOvr>
    <a:masterClrMapping/>
  </p:clrMapOvr>
  <p:transition spd="slow">
    <p:wipe dir="r"/>
    <p:sndAc>
      <p:endSnd/>
    </p:sndAc>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a:spLocks noGrp="1" noChangeArrowheads="1"/>
          </p:cNvSpPr>
          <p:nvPr>
            <p:ph type="title"/>
          </p:nvPr>
        </p:nvSpPr>
        <p:spPr>
          <a:xfrm>
            <a:off x="685800" y="44450"/>
            <a:ext cx="7772400" cy="1143000"/>
          </a:xfrm>
        </p:spPr>
        <p:txBody>
          <a:bodyPr/>
          <a:lstStyle/>
          <a:p>
            <a:pPr eaLnBrk="1" hangingPunct="1"/>
            <a:r>
              <a:rPr lang="en-US" altLang="zh-CN"/>
              <a:t>SO_REUSEADDR</a:t>
            </a:r>
            <a:r>
              <a:rPr lang="zh-CN" altLang="en-US"/>
              <a:t>选项</a:t>
            </a:r>
            <a:endParaRPr lang="zh-CN" altLang="en-US"/>
          </a:p>
        </p:txBody>
      </p:sp>
      <p:sp>
        <p:nvSpPr>
          <p:cNvPr id="107522" name="Rectangle 3"/>
          <p:cNvSpPr>
            <a:spLocks noGrp="1" noChangeArrowheads="1"/>
          </p:cNvSpPr>
          <p:nvPr>
            <p:ph idx="1"/>
          </p:nvPr>
        </p:nvSpPr>
        <p:spPr>
          <a:xfrm>
            <a:off x="395288" y="908050"/>
            <a:ext cx="8424862" cy="5949950"/>
          </a:xfrm>
        </p:spPr>
        <p:txBody>
          <a:bodyPr/>
          <a:lstStyle/>
          <a:p>
            <a:pPr eaLnBrk="1" hangingPunct="1"/>
            <a:r>
              <a:rPr lang="zh-CN" altLang="en-US" sz="2400"/>
              <a:t>一般来说，一个端口释放后会等待两分钟之后才能再被使用，</a:t>
            </a:r>
            <a:r>
              <a:rPr lang="en-US" altLang="zh-CN" sz="2400"/>
              <a:t>SO_REUSEADDR</a:t>
            </a:r>
            <a:r>
              <a:rPr lang="zh-CN" altLang="en-US" sz="2400"/>
              <a:t>是让端口释放后立即就可以被再次使用</a:t>
            </a:r>
            <a:r>
              <a:rPr lang="en-US" altLang="zh-CN" sz="2400"/>
              <a:t>.</a:t>
            </a:r>
            <a:endParaRPr lang="en-US" altLang="zh-CN" sz="2400"/>
          </a:p>
          <a:p>
            <a:pPr eaLnBrk="1" hangingPunct="1"/>
            <a:r>
              <a:rPr lang="zh-CN" altLang="en-US" sz="2400"/>
              <a:t>这个套接字选项通知内核，如果端口忙，但</a:t>
            </a:r>
            <a:r>
              <a:rPr lang="en-US" altLang="zh-CN" sz="2400"/>
              <a:t>TCP</a:t>
            </a:r>
            <a:r>
              <a:rPr lang="zh-CN" altLang="en-US" sz="2400"/>
              <a:t>状态位于 </a:t>
            </a:r>
            <a:r>
              <a:rPr lang="en-US" altLang="zh-CN" sz="2400"/>
              <a:t>TIME_WAIT </a:t>
            </a:r>
            <a:r>
              <a:rPr lang="zh-CN" altLang="en-US" sz="2400"/>
              <a:t>，可以重用端口。如果端口忙，而</a:t>
            </a:r>
            <a:r>
              <a:rPr lang="en-US" altLang="zh-CN" sz="2400"/>
              <a:t>TCP</a:t>
            </a:r>
            <a:r>
              <a:rPr lang="zh-CN" altLang="en-US" sz="2400"/>
              <a:t>状态位于其他状态，重用端口时依旧得到一个错误信息，指明“地址已经使用中”。</a:t>
            </a:r>
            <a:endParaRPr lang="zh-CN" altLang="en-US" sz="2400"/>
          </a:p>
          <a:p>
            <a:pPr eaLnBrk="1" hangingPunct="1"/>
            <a:r>
              <a:rPr lang="zh-CN" altLang="en-US" sz="2400"/>
              <a:t>该选项允许启动一个监听服务器并捆绑其众所周知端口，即使以前建立的连接将此端口用作他们的本地端口的连接仍然存在。</a:t>
            </a:r>
            <a:r>
              <a:rPr lang="zh-CN" altLang="en-US" sz="2400">
                <a:solidFill>
                  <a:srgbClr val="FF0000"/>
                </a:solidFill>
              </a:rPr>
              <a:t>例如：</a:t>
            </a:r>
            <a:r>
              <a:rPr lang="zh-CN" altLang="en-US" sz="2400"/>
              <a:t>如果监听服务进程终止，但子进程继续为现有连接上的客户服务，此时可重启监听服务器。缺省情况下，当</a:t>
            </a:r>
            <a:r>
              <a:rPr lang="en-US" altLang="zh-CN" sz="2400"/>
              <a:t>bind</a:t>
            </a:r>
            <a:r>
              <a:rPr lang="zh-CN" altLang="en-US" sz="2400"/>
              <a:t>时就会出错；</a:t>
            </a:r>
            <a:endParaRPr lang="zh-CN" altLang="en-US" sz="2400"/>
          </a:p>
          <a:p>
            <a:pPr eaLnBrk="1" hangingPunct="1"/>
            <a:r>
              <a:rPr lang="zh-CN" altLang="en-US" sz="2400"/>
              <a:t>如果你的服务程序停止后想立即重启，而新套接字依旧使用同一端口，此时</a:t>
            </a:r>
            <a:r>
              <a:rPr lang="en-US" altLang="zh-CN" sz="2400" b="1"/>
              <a:t>SO_</a:t>
            </a:r>
            <a:r>
              <a:rPr lang="en-US" altLang="zh-CN" sz="2400"/>
              <a:t>REUSEADDR </a:t>
            </a:r>
            <a:r>
              <a:rPr lang="zh-CN" altLang="en-US" sz="2400"/>
              <a:t>选项非常有用。 </a:t>
            </a:r>
            <a:endParaRPr lang="zh-CN" altLang="en-US" sz="240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ChangeArrowheads="1"/>
          </p:cNvSpPr>
          <p:nvPr>
            <p:ph type="title"/>
          </p:nvPr>
        </p:nvSpPr>
        <p:spPr>
          <a:xfrm>
            <a:off x="685800" y="0"/>
            <a:ext cx="7772400" cy="685800"/>
          </a:xfrm>
        </p:spPr>
        <p:txBody>
          <a:bodyPr/>
          <a:lstStyle/>
          <a:p>
            <a:pPr eaLnBrk="1" hangingPunct="1"/>
            <a:r>
              <a:rPr lang="en-US" altLang="zh-CN"/>
              <a:t>SO_REUSEADDR</a:t>
            </a:r>
            <a:r>
              <a:rPr lang="zh-CN" altLang="en-US"/>
              <a:t>选项</a:t>
            </a:r>
            <a:endParaRPr lang="zh-CN" altLang="en-US"/>
          </a:p>
        </p:txBody>
      </p:sp>
      <p:sp>
        <p:nvSpPr>
          <p:cNvPr id="108546" name="Rectangle 3"/>
          <p:cNvSpPr>
            <a:spLocks noGrp="1" noChangeArrowheads="1"/>
          </p:cNvSpPr>
          <p:nvPr>
            <p:ph idx="1"/>
          </p:nvPr>
        </p:nvSpPr>
        <p:spPr>
          <a:xfrm>
            <a:off x="304800" y="862013"/>
            <a:ext cx="8588375" cy="6096000"/>
          </a:xfrm>
        </p:spPr>
        <p:txBody>
          <a:bodyPr/>
          <a:lstStyle/>
          <a:p>
            <a:pPr eaLnBrk="1" hangingPunct="1"/>
            <a:r>
              <a:rPr lang="zh-CN" altLang="en-US" sz="2800"/>
              <a:t>当有一个有相同本地地址和端口的</a:t>
            </a:r>
            <a:r>
              <a:rPr lang="en-US" altLang="zh-CN" sz="2800"/>
              <a:t>socket1</a:t>
            </a:r>
            <a:r>
              <a:rPr lang="zh-CN" altLang="en-US" sz="2800"/>
              <a:t>处于</a:t>
            </a:r>
            <a:r>
              <a:rPr lang="en-US" altLang="zh-CN" sz="2800"/>
              <a:t>TIME_WAIT</a:t>
            </a:r>
            <a:r>
              <a:rPr lang="zh-CN" altLang="en-US" sz="2800"/>
              <a:t>状态时，而你启动的程序的</a:t>
            </a:r>
            <a:r>
              <a:rPr lang="en-US" altLang="zh-CN" sz="2800"/>
              <a:t>socket2</a:t>
            </a:r>
            <a:r>
              <a:rPr lang="zh-CN" altLang="en-US" sz="2800"/>
              <a:t>要占用该地址和端口。就要启动该选项的设置。</a:t>
            </a:r>
            <a:endParaRPr lang="zh-CN" altLang="en-US" sz="2800"/>
          </a:p>
          <a:p>
            <a:pPr eaLnBrk="1" hangingPunct="1"/>
            <a:r>
              <a:rPr lang="zh-CN" altLang="en-US" sz="2800"/>
              <a:t>该选项允许同一端口上启动服务器的多个进程，只要每个进程捆绑一个不同的本地</a:t>
            </a:r>
            <a:r>
              <a:rPr lang="en-US" altLang="zh-CN" sz="2800"/>
              <a:t>IP</a:t>
            </a:r>
            <a:r>
              <a:rPr lang="zh-CN" altLang="en-US" sz="2800"/>
              <a:t>地址即可，对于</a:t>
            </a:r>
            <a:r>
              <a:rPr lang="en-US" altLang="zh-CN" sz="2800"/>
              <a:t>tcp</a:t>
            </a:r>
            <a:r>
              <a:rPr lang="zh-CN" altLang="en-US" sz="2800"/>
              <a:t>，不能启动捆绑相同</a:t>
            </a:r>
            <a:r>
              <a:rPr lang="en-US" altLang="zh-CN" sz="2800"/>
              <a:t>IP</a:t>
            </a:r>
            <a:r>
              <a:rPr lang="zh-CN" altLang="en-US" sz="2800"/>
              <a:t>地址和相同端口号的多个服务器，这是完全重复的捆绑；（有多快网卡）</a:t>
            </a:r>
            <a:endParaRPr lang="zh-CN" altLang="en-US" sz="2800"/>
          </a:p>
          <a:p>
            <a:pPr eaLnBrk="1" hangingPunct="1"/>
            <a:r>
              <a:rPr lang="zh-CN" altLang="en-US" sz="2800"/>
              <a:t>该选项允许单个进程捆绑同一端口到多个套接字上，只要每个捆绑指定不同的本地</a:t>
            </a:r>
            <a:r>
              <a:rPr lang="en-US" altLang="zh-CN" sz="2800"/>
              <a:t>IP</a:t>
            </a:r>
            <a:r>
              <a:rPr lang="zh-CN" altLang="en-US" sz="2800"/>
              <a:t>地址即可，和上述类似。</a:t>
            </a:r>
            <a:endParaRPr lang="zh-CN" altLang="en-US" sz="2800"/>
          </a:p>
          <a:p>
            <a:pPr eaLnBrk="1" hangingPunct="1"/>
            <a:r>
              <a:rPr lang="zh-CN" altLang="en-US" sz="2800"/>
              <a:t>该选项允许完全重复的捆绑：同一个</a:t>
            </a:r>
            <a:r>
              <a:rPr lang="en-US" altLang="zh-CN" sz="2800"/>
              <a:t>IP</a:t>
            </a:r>
            <a:r>
              <a:rPr lang="zh-CN" altLang="en-US" sz="2800"/>
              <a:t>地址和端口号绑定到多个套接字上（允许</a:t>
            </a:r>
            <a:r>
              <a:rPr lang="en-US" altLang="zh-CN" sz="2800"/>
              <a:t>UDP</a:t>
            </a:r>
            <a:r>
              <a:rPr lang="zh-CN" altLang="en-US" sz="2800"/>
              <a:t>多播，不用于</a:t>
            </a:r>
            <a:r>
              <a:rPr lang="en-US" altLang="zh-CN" sz="2800"/>
              <a:t>TCP</a:t>
            </a:r>
            <a:r>
              <a:rPr lang="zh-CN" altLang="en-US" sz="2800"/>
              <a:t>）</a:t>
            </a:r>
            <a:endParaRPr lang="zh-CN" altLang="en-US" sz="2800"/>
          </a:p>
        </p:txBody>
      </p:sp>
    </p:spTree>
  </p:cSld>
  <p:clrMapOvr>
    <a:masterClrMapping/>
  </p:clrMapOvr>
  <p:transition spd="slow">
    <p:wipe dir="r"/>
    <p:sndAc>
      <p:endSnd/>
    </p:sndAc>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noChangeArrowheads="1"/>
          </p:cNvSpPr>
          <p:nvPr>
            <p:ph type="title"/>
          </p:nvPr>
        </p:nvSpPr>
        <p:spPr>
          <a:xfrm>
            <a:off x="762000" y="304800"/>
            <a:ext cx="7772400" cy="609600"/>
          </a:xfrm>
        </p:spPr>
        <p:txBody>
          <a:bodyPr/>
          <a:lstStyle/>
          <a:p>
            <a:pPr eaLnBrk="1" hangingPunct="1"/>
            <a:r>
              <a:rPr lang="en-US" altLang="zh-CN"/>
              <a:t>SO_ERROR</a:t>
            </a:r>
            <a:r>
              <a:rPr lang="zh-CN" altLang="en-US"/>
              <a:t>选项</a:t>
            </a:r>
            <a:endParaRPr lang="zh-CN" altLang="en-US"/>
          </a:p>
        </p:txBody>
      </p:sp>
      <p:sp>
        <p:nvSpPr>
          <p:cNvPr id="109570" name="Rectangle 3"/>
          <p:cNvSpPr>
            <a:spLocks noGrp="1" noChangeArrowheads="1"/>
          </p:cNvSpPr>
          <p:nvPr>
            <p:ph idx="1"/>
          </p:nvPr>
        </p:nvSpPr>
        <p:spPr>
          <a:xfrm>
            <a:off x="304800" y="1066800"/>
            <a:ext cx="8540750" cy="5457825"/>
          </a:xfrm>
        </p:spPr>
        <p:txBody>
          <a:bodyPr/>
          <a:lstStyle/>
          <a:p>
            <a:pPr eaLnBrk="1" hangingPunct="1">
              <a:lnSpc>
                <a:spcPct val="90000"/>
              </a:lnSpc>
            </a:pPr>
            <a:r>
              <a:rPr lang="zh-CN" altLang="en-US" sz="2800"/>
              <a:t>当套接口上发生错误时，</a:t>
            </a:r>
            <a:r>
              <a:rPr lang="en-US" altLang="zh-CN" sz="2800"/>
              <a:t>BSD</a:t>
            </a:r>
            <a:r>
              <a:rPr lang="zh-CN" altLang="en-US" sz="2800"/>
              <a:t>的内核中协议模块将此套接口的名为</a:t>
            </a:r>
            <a:r>
              <a:rPr lang="en-US" altLang="zh-CN" sz="2800"/>
              <a:t>so_error</a:t>
            </a:r>
            <a:r>
              <a:rPr lang="zh-CN" altLang="en-US" sz="2800"/>
              <a:t>的变量设置为标准的</a:t>
            </a:r>
            <a:r>
              <a:rPr lang="en-US" altLang="zh-CN" sz="2800"/>
              <a:t>Unix Exxx</a:t>
            </a:r>
            <a:r>
              <a:rPr lang="zh-CN" altLang="en-US" sz="2800"/>
              <a:t>错误，称为此套接口的待处理错误。内核可立即以下面的两种方式通知进程：</a:t>
            </a:r>
            <a:endParaRPr lang="zh-CN" altLang="en-US" sz="2800"/>
          </a:p>
          <a:p>
            <a:pPr lvl="1" eaLnBrk="1" hangingPunct="1">
              <a:lnSpc>
                <a:spcPct val="90000"/>
              </a:lnSpc>
            </a:pPr>
            <a:r>
              <a:rPr lang="zh-CN" altLang="en-US"/>
              <a:t>如果进程阻塞于对此套接口的</a:t>
            </a:r>
            <a:r>
              <a:rPr lang="en-US" altLang="zh-CN"/>
              <a:t>select</a:t>
            </a:r>
            <a:r>
              <a:rPr lang="zh-CN" altLang="en-US"/>
              <a:t>，则无论是检查可读条件还是可写条件，</a:t>
            </a:r>
            <a:r>
              <a:rPr lang="en-US" altLang="zh-CN"/>
              <a:t>select</a:t>
            </a:r>
            <a:r>
              <a:rPr lang="zh-CN" altLang="en-US"/>
              <a:t>均返回并设置其中的一个或两个条件；</a:t>
            </a:r>
            <a:endParaRPr lang="zh-CN" altLang="en-US"/>
          </a:p>
          <a:p>
            <a:pPr lvl="1" eaLnBrk="1" hangingPunct="1">
              <a:lnSpc>
                <a:spcPct val="90000"/>
              </a:lnSpc>
            </a:pPr>
            <a:r>
              <a:rPr lang="zh-CN" altLang="en-US"/>
              <a:t>如果进程使用信号驱动模型，则给进程或进程组生成信号</a:t>
            </a:r>
            <a:r>
              <a:rPr lang="en-US" altLang="zh-CN"/>
              <a:t>SIGIO</a:t>
            </a:r>
            <a:r>
              <a:rPr lang="zh-CN" altLang="en-US"/>
              <a:t>。</a:t>
            </a:r>
            <a:endParaRPr lang="zh-CN" altLang="en-US"/>
          </a:p>
          <a:p>
            <a:pPr eaLnBrk="1" hangingPunct="1">
              <a:lnSpc>
                <a:spcPct val="90000"/>
              </a:lnSpc>
            </a:pPr>
            <a:r>
              <a:rPr lang="zh-CN" altLang="en-US" sz="2800"/>
              <a:t>进程可以通过</a:t>
            </a:r>
            <a:r>
              <a:rPr lang="en-US" altLang="zh-CN" sz="2800"/>
              <a:t>getsockopt</a:t>
            </a:r>
            <a:r>
              <a:rPr lang="zh-CN" altLang="en-US" sz="2800"/>
              <a:t>函数和</a:t>
            </a:r>
            <a:r>
              <a:rPr lang="en-US" altLang="zh-CN" sz="2800"/>
              <a:t>SO_ERROR</a:t>
            </a:r>
            <a:r>
              <a:rPr lang="zh-CN" altLang="en-US" sz="2800"/>
              <a:t>选项来获取该套接口的待处理错误。</a:t>
            </a:r>
            <a:r>
              <a:rPr lang="en-US" altLang="zh-CN" sz="2800"/>
              <a:t>so_error</a:t>
            </a:r>
            <a:r>
              <a:rPr lang="zh-CN" altLang="en-US" sz="2800"/>
              <a:t>随后由内核复位为</a:t>
            </a:r>
            <a:r>
              <a:rPr lang="en-US" altLang="zh-CN" sz="2800"/>
              <a:t>0</a:t>
            </a:r>
            <a:r>
              <a:rPr lang="zh-CN" altLang="en-US" sz="2800"/>
              <a:t>；</a:t>
            </a:r>
            <a:endParaRPr lang="zh-CN" altLang="en-US" sz="2800"/>
          </a:p>
        </p:txBody>
      </p:sp>
    </p:spTree>
  </p:cSld>
  <p:clrMapOvr>
    <a:masterClrMapping/>
  </p:clrMapOvr>
  <p:transition spd="slow">
    <p:wipe dir="r"/>
    <p:sndAc>
      <p:endSnd/>
    </p:sndAc>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noChangeArrowheads="1"/>
          </p:cNvSpPr>
          <p:nvPr>
            <p:ph type="title"/>
          </p:nvPr>
        </p:nvSpPr>
        <p:spPr/>
        <p:txBody>
          <a:bodyPr/>
          <a:lstStyle/>
          <a:p>
            <a:pPr eaLnBrk="1" hangingPunct="1"/>
            <a:r>
              <a:rPr lang="en-US" altLang="zh-CN"/>
              <a:t>IPv4</a:t>
            </a:r>
            <a:r>
              <a:rPr lang="zh-CN" altLang="en-US"/>
              <a:t>选项：</a:t>
            </a:r>
            <a:r>
              <a:rPr lang="en-US" altLang="zh-CN"/>
              <a:t>IP_HDRINCL</a:t>
            </a:r>
            <a:r>
              <a:rPr lang="zh-CN" altLang="en-US"/>
              <a:t>选项</a:t>
            </a:r>
            <a:endParaRPr lang="zh-CN" altLang="en-US"/>
          </a:p>
        </p:txBody>
      </p:sp>
      <p:sp>
        <p:nvSpPr>
          <p:cNvPr id="110594" name="Rectangle 3"/>
          <p:cNvSpPr>
            <a:spLocks noGrp="1" noChangeArrowheads="1"/>
          </p:cNvSpPr>
          <p:nvPr>
            <p:ph idx="1"/>
          </p:nvPr>
        </p:nvSpPr>
        <p:spPr>
          <a:xfrm>
            <a:off x="685800" y="1981200"/>
            <a:ext cx="7772400" cy="2306638"/>
          </a:xfrm>
        </p:spPr>
        <p:txBody>
          <a:bodyPr/>
          <a:lstStyle/>
          <a:p>
            <a:pPr eaLnBrk="1" hangingPunct="1"/>
            <a:r>
              <a:rPr lang="zh-CN" altLang="en-US"/>
              <a:t>如果套接口类型为原始套接口，则用户程序必须为所有通过该套接口发送的数据报构造自己的</a:t>
            </a:r>
            <a:r>
              <a:rPr lang="en-US" altLang="zh-CN"/>
              <a:t>IP</a:t>
            </a:r>
            <a:r>
              <a:rPr lang="zh-CN" altLang="en-US"/>
              <a:t>头部；前提条件是给该套接口设置</a:t>
            </a:r>
            <a:r>
              <a:rPr lang="en-US" altLang="zh-CN"/>
              <a:t>IP_HDRINCL</a:t>
            </a:r>
            <a:r>
              <a:rPr lang="zh-CN" altLang="en-US"/>
              <a:t>选项；</a:t>
            </a:r>
            <a:endParaRPr lang="zh-CN" altLang="en-US"/>
          </a:p>
        </p:txBody>
      </p:sp>
    </p:spTree>
  </p:cSld>
  <p:clrMapOvr>
    <a:masterClrMapping/>
  </p:clrMapOvr>
  <p:transition spd="slow">
    <p:wipe dir="r"/>
    <p:sndAc>
      <p:endSnd/>
    </p:sndAc>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ChangeArrowheads="1"/>
          </p:cNvSpPr>
          <p:nvPr>
            <p:ph type="title"/>
          </p:nvPr>
        </p:nvSpPr>
        <p:spPr>
          <a:xfrm>
            <a:off x="533400" y="457200"/>
            <a:ext cx="7772400" cy="762000"/>
          </a:xfrm>
        </p:spPr>
        <p:txBody>
          <a:bodyPr/>
          <a:lstStyle/>
          <a:p>
            <a:pPr eaLnBrk="1" hangingPunct="1"/>
            <a:r>
              <a:rPr lang="zh-CN" altLang="en-US"/>
              <a:t>测试本机支持的选项</a:t>
            </a:r>
            <a:endParaRPr lang="zh-CN" altLang="en-US"/>
          </a:p>
        </p:txBody>
      </p:sp>
      <p:sp>
        <p:nvSpPr>
          <p:cNvPr id="112642" name="Rectangle 3"/>
          <p:cNvSpPr>
            <a:spLocks noGrp="1" noChangeArrowheads="1"/>
          </p:cNvSpPr>
          <p:nvPr>
            <p:ph idx="1"/>
          </p:nvPr>
        </p:nvSpPr>
        <p:spPr>
          <a:xfrm>
            <a:off x="685800" y="1371600"/>
            <a:ext cx="7772400" cy="4724400"/>
          </a:xfrm>
        </p:spPr>
        <p:txBody>
          <a:bodyPr/>
          <a:lstStyle/>
          <a:p>
            <a:pPr eaLnBrk="1" hangingPunct="1">
              <a:lnSpc>
                <a:spcPct val="90000"/>
              </a:lnSpc>
              <a:buFontTx/>
              <a:buNone/>
            </a:pPr>
            <a:r>
              <a:rPr lang="en-US" altLang="zh-CN" sz="2000"/>
              <a:t>#include	&lt;netinet/tcp.h&gt;		/* for TCP_xxx defines */</a:t>
            </a:r>
            <a:endParaRPr lang="en-US" altLang="zh-CN" sz="2000"/>
          </a:p>
          <a:p>
            <a:pPr eaLnBrk="1" hangingPunct="1">
              <a:lnSpc>
                <a:spcPct val="90000"/>
              </a:lnSpc>
              <a:buFontTx/>
              <a:buNone/>
            </a:pPr>
            <a:r>
              <a:rPr lang="en-US" altLang="zh-CN" sz="2000"/>
              <a:t>union val {</a:t>
            </a:r>
            <a:endParaRPr lang="en-US" altLang="zh-CN" sz="2000"/>
          </a:p>
          <a:p>
            <a:pPr eaLnBrk="1" hangingPunct="1">
              <a:lnSpc>
                <a:spcPct val="90000"/>
              </a:lnSpc>
              <a:buFontTx/>
              <a:buNone/>
            </a:pPr>
            <a:r>
              <a:rPr lang="en-US" altLang="zh-CN" sz="2000"/>
              <a:t>  	int			i_val;</a:t>
            </a:r>
            <a:endParaRPr lang="en-US" altLang="zh-CN" sz="2000"/>
          </a:p>
          <a:p>
            <a:pPr eaLnBrk="1" hangingPunct="1">
              <a:lnSpc>
                <a:spcPct val="90000"/>
              </a:lnSpc>
              <a:buFontTx/>
              <a:buNone/>
            </a:pPr>
            <a:r>
              <a:rPr lang="en-US" altLang="zh-CN" sz="2000"/>
              <a:t>  	long			l_val;</a:t>
            </a:r>
            <a:endParaRPr lang="en-US" altLang="zh-CN" sz="2000"/>
          </a:p>
          <a:p>
            <a:pPr eaLnBrk="1" hangingPunct="1">
              <a:lnSpc>
                <a:spcPct val="90000"/>
              </a:lnSpc>
              <a:buFontTx/>
              <a:buNone/>
            </a:pPr>
            <a:r>
              <a:rPr lang="en-US" altLang="zh-CN" sz="2000"/>
              <a:t> 	char			c_val[10];</a:t>
            </a:r>
            <a:endParaRPr lang="en-US" altLang="zh-CN" sz="2000"/>
          </a:p>
          <a:p>
            <a:pPr eaLnBrk="1" hangingPunct="1">
              <a:lnSpc>
                <a:spcPct val="90000"/>
              </a:lnSpc>
              <a:buFontTx/>
              <a:buNone/>
            </a:pPr>
            <a:r>
              <a:rPr lang="en-US" altLang="zh-CN" sz="2000"/>
              <a:t>  	struct linger		linger_val;</a:t>
            </a:r>
            <a:endParaRPr lang="en-US" altLang="zh-CN" sz="2000"/>
          </a:p>
          <a:p>
            <a:pPr eaLnBrk="1" hangingPunct="1">
              <a:lnSpc>
                <a:spcPct val="90000"/>
              </a:lnSpc>
              <a:buFontTx/>
              <a:buNone/>
            </a:pPr>
            <a:r>
              <a:rPr lang="en-US" altLang="zh-CN" sz="2000"/>
              <a:t>  	struct timeval	              timeval_val;</a:t>
            </a:r>
            <a:endParaRPr lang="en-US" altLang="zh-CN" sz="2000"/>
          </a:p>
          <a:p>
            <a:pPr eaLnBrk="1" hangingPunct="1">
              <a:lnSpc>
                <a:spcPct val="90000"/>
              </a:lnSpc>
              <a:buFontTx/>
              <a:buNone/>
            </a:pPr>
            <a:r>
              <a:rPr lang="en-US" altLang="zh-CN" sz="2000"/>
              <a:t>} val;</a:t>
            </a:r>
            <a:endParaRPr lang="en-US" altLang="zh-CN" sz="2000"/>
          </a:p>
          <a:p>
            <a:pPr eaLnBrk="1" hangingPunct="1">
              <a:lnSpc>
                <a:spcPct val="90000"/>
              </a:lnSpc>
              <a:buFontTx/>
              <a:buNone/>
            </a:pPr>
            <a:endParaRPr lang="en-US" altLang="zh-CN" sz="2000"/>
          </a:p>
          <a:p>
            <a:pPr eaLnBrk="1" hangingPunct="1">
              <a:lnSpc>
                <a:spcPct val="90000"/>
              </a:lnSpc>
              <a:buFontTx/>
              <a:buNone/>
            </a:pPr>
            <a:r>
              <a:rPr lang="en-US" altLang="zh-CN" sz="2000"/>
              <a:t>static char	*sock_str_flag(union val *, int);</a:t>
            </a:r>
            <a:endParaRPr lang="en-US" altLang="zh-CN" sz="2000"/>
          </a:p>
          <a:p>
            <a:pPr eaLnBrk="1" hangingPunct="1">
              <a:lnSpc>
                <a:spcPct val="90000"/>
              </a:lnSpc>
              <a:buFontTx/>
              <a:buNone/>
            </a:pPr>
            <a:r>
              <a:rPr lang="en-US" altLang="zh-CN" sz="2000"/>
              <a:t>static char	*sock_str_int(union val *, int);</a:t>
            </a:r>
            <a:endParaRPr lang="en-US" altLang="zh-CN" sz="2000"/>
          </a:p>
          <a:p>
            <a:pPr eaLnBrk="1" hangingPunct="1">
              <a:lnSpc>
                <a:spcPct val="90000"/>
              </a:lnSpc>
              <a:buFontTx/>
              <a:buNone/>
            </a:pPr>
            <a:r>
              <a:rPr lang="en-US" altLang="zh-CN" sz="2000"/>
              <a:t>static char	*sock_str_linger(union val *, int);</a:t>
            </a:r>
            <a:endParaRPr lang="en-US" altLang="zh-CN" sz="2000"/>
          </a:p>
          <a:p>
            <a:pPr eaLnBrk="1" hangingPunct="1">
              <a:lnSpc>
                <a:spcPct val="90000"/>
              </a:lnSpc>
              <a:buFontTx/>
              <a:buNone/>
            </a:pPr>
            <a:r>
              <a:rPr lang="en-US" altLang="zh-CN" sz="2000"/>
              <a:t>static char	*sock_str_timeval(union val *, int);</a:t>
            </a:r>
            <a:endParaRPr lang="en-US" altLang="zh-CN" sz="2000"/>
          </a:p>
          <a:p>
            <a:pPr eaLnBrk="1" hangingPunct="1">
              <a:lnSpc>
                <a:spcPct val="90000"/>
              </a:lnSpc>
              <a:buFontTx/>
              <a:buNone/>
            </a:pPr>
            <a:endParaRPr lang="en-US" altLang="zh-CN" sz="2000"/>
          </a:p>
        </p:txBody>
      </p:sp>
    </p:spTree>
  </p:cSld>
  <p:clrMapOvr>
    <a:masterClrMapping/>
  </p:clrMapOvr>
  <p:transition spd="slow">
    <p:wipe dir="r"/>
    <p:sndAc>
      <p:endSnd/>
    </p:sndAc>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ChangeArrowheads="1"/>
          </p:cNvSpPr>
          <p:nvPr>
            <p:ph type="title"/>
          </p:nvPr>
        </p:nvSpPr>
        <p:spPr>
          <a:xfrm>
            <a:off x="685800" y="304800"/>
            <a:ext cx="7772400" cy="609600"/>
          </a:xfrm>
        </p:spPr>
        <p:txBody>
          <a:bodyPr/>
          <a:lstStyle/>
          <a:p>
            <a:pPr eaLnBrk="1" hangingPunct="1"/>
            <a:r>
              <a:rPr lang="zh-CN" altLang="en-US"/>
              <a:t>测试本机支持的选项（续）</a:t>
            </a:r>
            <a:endParaRPr lang="zh-CN" altLang="en-US"/>
          </a:p>
        </p:txBody>
      </p:sp>
      <p:sp>
        <p:nvSpPr>
          <p:cNvPr id="113666" name="Rectangle 3"/>
          <p:cNvSpPr>
            <a:spLocks noGrp="1" noChangeArrowheads="1"/>
          </p:cNvSpPr>
          <p:nvPr>
            <p:ph idx="1"/>
          </p:nvPr>
        </p:nvSpPr>
        <p:spPr>
          <a:xfrm>
            <a:off x="179388" y="1341438"/>
            <a:ext cx="8785225" cy="4967287"/>
          </a:xfrm>
        </p:spPr>
        <p:txBody>
          <a:bodyPr/>
          <a:lstStyle/>
          <a:p>
            <a:pPr eaLnBrk="1" hangingPunct="1">
              <a:lnSpc>
                <a:spcPct val="90000"/>
              </a:lnSpc>
              <a:buFontTx/>
              <a:buNone/>
            </a:pPr>
            <a:r>
              <a:rPr lang="en-US" altLang="zh-CN" sz="1800"/>
              <a:t>struct sock_opts {</a:t>
            </a:r>
            <a:endParaRPr lang="en-US" altLang="zh-CN" sz="1800"/>
          </a:p>
          <a:p>
            <a:pPr eaLnBrk="1" hangingPunct="1">
              <a:lnSpc>
                <a:spcPct val="90000"/>
              </a:lnSpc>
              <a:buFontTx/>
              <a:buNone/>
            </a:pPr>
            <a:r>
              <a:rPr lang="en-US" altLang="zh-CN" sz="1800"/>
              <a:t>  char	   	*opt_str;</a:t>
            </a:r>
            <a:endParaRPr lang="en-US" altLang="zh-CN" sz="1800"/>
          </a:p>
          <a:p>
            <a:pPr eaLnBrk="1" hangingPunct="1">
              <a:lnSpc>
                <a:spcPct val="90000"/>
              </a:lnSpc>
              <a:buFontTx/>
              <a:buNone/>
            </a:pPr>
            <a:r>
              <a:rPr lang="en-US" altLang="zh-CN" sz="1800"/>
              <a:t>  int		opt_level;</a:t>
            </a:r>
            <a:endParaRPr lang="en-US" altLang="zh-CN" sz="1800"/>
          </a:p>
          <a:p>
            <a:pPr eaLnBrk="1" hangingPunct="1">
              <a:lnSpc>
                <a:spcPct val="90000"/>
              </a:lnSpc>
              <a:buFontTx/>
              <a:buNone/>
            </a:pPr>
            <a:r>
              <a:rPr lang="en-US" altLang="zh-CN" sz="1800"/>
              <a:t>  int		opt_name;</a:t>
            </a:r>
            <a:endParaRPr lang="en-US" altLang="zh-CN" sz="1800"/>
          </a:p>
          <a:p>
            <a:pPr eaLnBrk="1" hangingPunct="1">
              <a:lnSpc>
                <a:spcPct val="90000"/>
              </a:lnSpc>
              <a:buFontTx/>
              <a:buNone/>
            </a:pPr>
            <a:r>
              <a:rPr lang="en-US" altLang="zh-CN" sz="1800"/>
              <a:t>  char   		*(*opt_val_str)(union val *, int);</a:t>
            </a:r>
            <a:endParaRPr lang="en-US" altLang="zh-CN" sz="1800"/>
          </a:p>
          <a:p>
            <a:pPr eaLnBrk="1" hangingPunct="1">
              <a:lnSpc>
                <a:spcPct val="90000"/>
              </a:lnSpc>
              <a:buFontTx/>
              <a:buNone/>
            </a:pPr>
            <a:r>
              <a:rPr lang="en-US" altLang="zh-CN" sz="1800"/>
              <a:t>} sock_opts[] = {</a:t>
            </a:r>
            <a:endParaRPr lang="en-US" altLang="zh-CN" sz="1800"/>
          </a:p>
          <a:p>
            <a:pPr eaLnBrk="1" hangingPunct="1">
              <a:lnSpc>
                <a:spcPct val="90000"/>
              </a:lnSpc>
              <a:buFontTx/>
              <a:buNone/>
            </a:pPr>
            <a:r>
              <a:rPr lang="en-US" altLang="zh-CN" sz="1800"/>
              <a:t>	"SO_BROADCAST",	SOL_SOCKET,	SO_BROADCAST,  sock_str_flag,</a:t>
            </a:r>
            <a:endParaRPr lang="en-US" altLang="zh-CN" sz="1800"/>
          </a:p>
          <a:p>
            <a:pPr eaLnBrk="1" hangingPunct="1">
              <a:lnSpc>
                <a:spcPct val="90000"/>
              </a:lnSpc>
              <a:buFontTx/>
              <a:buNone/>
            </a:pPr>
            <a:r>
              <a:rPr lang="en-US" altLang="zh-CN" sz="1800"/>
              <a:t>	"SO_DEBUG",	SOL_SOCKET,	SO_DEBUG,	    sock_str_flag,</a:t>
            </a:r>
            <a:endParaRPr lang="en-US" altLang="zh-CN" sz="1800"/>
          </a:p>
          <a:p>
            <a:pPr eaLnBrk="1" hangingPunct="1">
              <a:lnSpc>
                <a:spcPct val="90000"/>
              </a:lnSpc>
              <a:buFontTx/>
              <a:buNone/>
            </a:pPr>
            <a:r>
              <a:rPr lang="en-US" altLang="zh-CN" sz="1800"/>
              <a:t>	"SO_DONTROUTE",	SOL_SOCKET,	SO_DONTROUTE, sock_str_flag,</a:t>
            </a:r>
            <a:endParaRPr lang="en-US" altLang="zh-CN" sz="1800"/>
          </a:p>
          <a:p>
            <a:pPr eaLnBrk="1" hangingPunct="1">
              <a:lnSpc>
                <a:spcPct val="90000"/>
              </a:lnSpc>
              <a:buFontTx/>
              <a:buNone/>
            </a:pPr>
            <a:r>
              <a:rPr lang="en-US" altLang="zh-CN" sz="1800"/>
              <a:t>	"SO_ERROR",	SOL_SOCKET,	SO_ERROR,	    sock_str_int,</a:t>
            </a:r>
            <a:endParaRPr lang="en-US" altLang="zh-CN" sz="1800"/>
          </a:p>
          <a:p>
            <a:pPr eaLnBrk="1" hangingPunct="1">
              <a:lnSpc>
                <a:spcPct val="90000"/>
              </a:lnSpc>
              <a:buFontTx/>
              <a:buNone/>
            </a:pPr>
            <a:r>
              <a:rPr lang="en-US" altLang="zh-CN" sz="1800"/>
              <a:t>	"SO_KEEPALIVE",	SOL_SOCKET,	SO_KEEPALIVE,	    sock_str_flag,</a:t>
            </a:r>
            <a:endParaRPr lang="en-US" altLang="zh-CN" sz="1800"/>
          </a:p>
          <a:p>
            <a:pPr eaLnBrk="1" hangingPunct="1">
              <a:lnSpc>
                <a:spcPct val="90000"/>
              </a:lnSpc>
              <a:buFontTx/>
              <a:buNone/>
            </a:pPr>
            <a:r>
              <a:rPr lang="en-US" altLang="zh-CN" sz="1800"/>
              <a:t>	"SO_LINGER",	SOL_SOCKET,	SO_LINGER,	    sock_str_linger,</a:t>
            </a:r>
            <a:endParaRPr lang="en-US" altLang="zh-CN" sz="1800"/>
          </a:p>
          <a:p>
            <a:pPr eaLnBrk="1" hangingPunct="1">
              <a:lnSpc>
                <a:spcPct val="90000"/>
              </a:lnSpc>
              <a:buFontTx/>
              <a:buNone/>
            </a:pPr>
            <a:r>
              <a:rPr lang="en-US" altLang="zh-CN" sz="1800"/>
              <a:t>	"SO_OOBINLINE",	SOL_SOCKET,	SO_OOBINLINE,  sock_str_flag,</a:t>
            </a:r>
            <a:endParaRPr lang="en-US" altLang="zh-CN" sz="1800"/>
          </a:p>
          <a:p>
            <a:pPr eaLnBrk="1" hangingPunct="1">
              <a:lnSpc>
                <a:spcPct val="90000"/>
              </a:lnSpc>
              <a:buFontTx/>
              <a:buNone/>
            </a:pPr>
            <a:r>
              <a:rPr lang="en-US" altLang="zh-CN" sz="1800"/>
              <a:t>	"SO_RCVBUF",	SOL_SOCKET,	SO_RCVBUF,	    sock_str_int,</a:t>
            </a:r>
            <a:endParaRPr lang="en-US" altLang="zh-CN" sz="1800"/>
          </a:p>
        </p:txBody>
      </p:sp>
    </p:spTree>
  </p:cSld>
  <p:clrMapOvr>
    <a:masterClrMapping/>
  </p:clrMapOvr>
  <p:transition spd="slow">
    <p:wipe dir="r"/>
    <p:sndAc>
      <p:endSnd/>
    </p:sndAc>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noChangeArrowheads="1"/>
          </p:cNvSpPr>
          <p:nvPr>
            <p:ph type="title"/>
          </p:nvPr>
        </p:nvSpPr>
        <p:spPr/>
        <p:txBody>
          <a:bodyPr/>
          <a:lstStyle/>
          <a:p>
            <a:pPr eaLnBrk="1" hangingPunct="1"/>
            <a:r>
              <a:rPr lang="zh-CN" altLang="en-US"/>
              <a:t>测试本机支持的选项（续）</a:t>
            </a:r>
            <a:endParaRPr lang="zh-CN" altLang="en-US"/>
          </a:p>
        </p:txBody>
      </p:sp>
      <p:sp>
        <p:nvSpPr>
          <p:cNvPr id="114690" name="Rectangle 3"/>
          <p:cNvSpPr>
            <a:spLocks noGrp="1" noChangeArrowheads="1"/>
          </p:cNvSpPr>
          <p:nvPr>
            <p:ph idx="1"/>
          </p:nvPr>
        </p:nvSpPr>
        <p:spPr/>
        <p:txBody>
          <a:bodyPr/>
          <a:lstStyle/>
          <a:p>
            <a:pPr eaLnBrk="1" hangingPunct="1">
              <a:buFontTx/>
              <a:buNone/>
            </a:pPr>
            <a:r>
              <a:rPr lang="en-US" altLang="zh-CN" sz="1600"/>
              <a:t>	"SO_SNDBUF",	SOL_SOCKET,	SO_SNDBUF,	    sock_str_int,</a:t>
            </a:r>
            <a:endParaRPr lang="en-US" altLang="zh-CN" sz="1600"/>
          </a:p>
          <a:p>
            <a:pPr eaLnBrk="1" hangingPunct="1">
              <a:buFontTx/>
              <a:buNone/>
            </a:pPr>
            <a:r>
              <a:rPr lang="en-US" altLang="zh-CN" sz="1600"/>
              <a:t>	"SO_RCVLOWAT",	SOL_SOCKET,	SO_RCVLOWAT,    sock_str_int,</a:t>
            </a:r>
            <a:endParaRPr lang="en-US" altLang="zh-CN" sz="1600"/>
          </a:p>
          <a:p>
            <a:pPr eaLnBrk="1" hangingPunct="1">
              <a:buFontTx/>
              <a:buNone/>
            </a:pPr>
            <a:r>
              <a:rPr lang="en-US" altLang="zh-CN" sz="1600"/>
              <a:t>	"SO_SNDLOWAT",	SOL_SOCKET,	SO_SNDLOWAT,   sock_str_int,</a:t>
            </a:r>
            <a:endParaRPr lang="en-US" altLang="zh-CN" sz="1600"/>
          </a:p>
          <a:p>
            <a:pPr eaLnBrk="1" hangingPunct="1">
              <a:buFontTx/>
              <a:buNone/>
            </a:pPr>
            <a:r>
              <a:rPr lang="en-US" altLang="zh-CN" sz="1600"/>
              <a:t>	"SO_RCVTIMEO",	SOL_SOCKET,	SO_RCVTIMEO,	sock_str_timeval,</a:t>
            </a:r>
            <a:endParaRPr lang="en-US" altLang="zh-CN" sz="1600"/>
          </a:p>
          <a:p>
            <a:pPr eaLnBrk="1" hangingPunct="1">
              <a:buFontTx/>
              <a:buNone/>
            </a:pPr>
            <a:r>
              <a:rPr lang="en-US" altLang="zh-CN" sz="1600"/>
              <a:t>	"SO_SNDTIMEO",	SOL_SOCKET,	SO_SNDTIMEO,sock_str_timeval,</a:t>
            </a:r>
            <a:endParaRPr lang="en-US" altLang="zh-CN" sz="1600"/>
          </a:p>
          <a:p>
            <a:pPr eaLnBrk="1" hangingPunct="1">
              <a:buFontTx/>
              <a:buNone/>
            </a:pPr>
            <a:r>
              <a:rPr lang="en-US" altLang="zh-CN" sz="1600"/>
              <a:t>	“SO_REUSEADDR”,	SOL_SOCKET,	SO_REUSEADDR,   sock_str_flag,</a:t>
            </a:r>
            <a:endParaRPr lang="en-US" altLang="zh-CN" sz="1600"/>
          </a:p>
          <a:p>
            <a:pPr eaLnBrk="1" hangingPunct="1">
              <a:buFontTx/>
              <a:buNone/>
            </a:pPr>
            <a:r>
              <a:rPr lang="en-US" altLang="zh-CN" sz="1600"/>
              <a:t>#ifdef	SO_REUSEPORT</a:t>
            </a:r>
            <a:endParaRPr lang="en-US" altLang="zh-CN" sz="1600"/>
          </a:p>
          <a:p>
            <a:pPr eaLnBrk="1" hangingPunct="1">
              <a:buFontTx/>
              <a:buNone/>
            </a:pPr>
            <a:r>
              <a:rPr lang="en-US" altLang="zh-CN" sz="1600"/>
              <a:t>	"SO_REUSEPORT",	SOL_SOCKET,	SO_REUSEPORT,   sock_str_flag,</a:t>
            </a:r>
            <a:endParaRPr lang="en-US" altLang="zh-CN" sz="1600"/>
          </a:p>
          <a:p>
            <a:pPr eaLnBrk="1" hangingPunct="1">
              <a:buFontTx/>
              <a:buNone/>
            </a:pPr>
            <a:r>
              <a:rPr lang="en-US" altLang="zh-CN" sz="1600"/>
              <a:t>#else</a:t>
            </a:r>
            <a:endParaRPr lang="en-US" altLang="zh-CN" sz="1600"/>
          </a:p>
          <a:p>
            <a:pPr eaLnBrk="1" hangingPunct="1">
              <a:buFontTx/>
              <a:buNone/>
            </a:pPr>
            <a:r>
              <a:rPr lang="en-US" altLang="zh-CN" sz="1600"/>
              <a:t>	"SO_REUSEPORT",	0,		0, 		    NULL,</a:t>
            </a:r>
            <a:endParaRPr lang="en-US" altLang="zh-CN" sz="1600"/>
          </a:p>
          <a:p>
            <a:pPr eaLnBrk="1" hangingPunct="1">
              <a:buFontTx/>
              <a:buNone/>
            </a:pPr>
            <a:r>
              <a:rPr lang="en-US" altLang="zh-CN" sz="1600"/>
              <a:t>#endif</a:t>
            </a:r>
            <a:endParaRPr lang="en-US" altLang="zh-CN" sz="1600"/>
          </a:p>
          <a:p>
            <a:pPr eaLnBrk="1" hangingPunct="1">
              <a:buFontTx/>
              <a:buNone/>
            </a:pPr>
            <a:r>
              <a:rPr lang="en-US" altLang="zh-CN" sz="1600"/>
              <a:t>//</a:t>
            </a:r>
            <a:r>
              <a:rPr lang="zh-CN" altLang="en-US" sz="1600"/>
              <a:t>以下都要用</a:t>
            </a:r>
            <a:r>
              <a:rPr lang="en-US" altLang="zh-CN" sz="1600"/>
              <a:t>ifdef</a:t>
            </a:r>
            <a:endParaRPr lang="en-US" altLang="zh-CN" sz="1600"/>
          </a:p>
        </p:txBody>
      </p:sp>
    </p:spTree>
  </p:cSld>
  <p:clrMapOvr>
    <a:masterClrMapping/>
  </p:clrMapOvr>
  <p:transition spd="slow">
    <p:wipe dir="r"/>
    <p:sndAc>
      <p:endSnd/>
    </p:sndAc>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a:spLocks noGrp="1" noChangeArrowheads="1"/>
          </p:cNvSpPr>
          <p:nvPr>
            <p:ph type="title"/>
          </p:nvPr>
        </p:nvSpPr>
        <p:spPr/>
        <p:txBody>
          <a:bodyPr/>
          <a:lstStyle/>
          <a:p>
            <a:pPr eaLnBrk="1" hangingPunct="1"/>
            <a:r>
              <a:rPr lang="zh-CN" altLang="en-US"/>
              <a:t>测试本机支持的选项（续）</a:t>
            </a:r>
            <a:endParaRPr lang="zh-CN" altLang="en-US"/>
          </a:p>
        </p:txBody>
      </p:sp>
      <p:sp>
        <p:nvSpPr>
          <p:cNvPr id="115714" name="Rectangle 3"/>
          <p:cNvSpPr>
            <a:spLocks noGrp="1" noChangeArrowheads="1"/>
          </p:cNvSpPr>
          <p:nvPr>
            <p:ph idx="1"/>
          </p:nvPr>
        </p:nvSpPr>
        <p:spPr>
          <a:xfrm>
            <a:off x="304800" y="1905000"/>
            <a:ext cx="8540750" cy="3392488"/>
          </a:xfrm>
        </p:spPr>
        <p:txBody>
          <a:bodyPr/>
          <a:lstStyle/>
          <a:p>
            <a:pPr eaLnBrk="1" hangingPunct="1">
              <a:buFontTx/>
              <a:buNone/>
            </a:pPr>
            <a:r>
              <a:rPr lang="en-US" altLang="zh-CN" sz="1800"/>
              <a:t>	"SO_TYPE",		SOL_SOCKET,	SO_TYPE,	sock_str_int,</a:t>
            </a:r>
            <a:endParaRPr lang="en-US" altLang="zh-CN" sz="1800"/>
          </a:p>
          <a:p>
            <a:pPr eaLnBrk="1" hangingPunct="1">
              <a:buFontTx/>
              <a:buNone/>
            </a:pPr>
            <a:r>
              <a:rPr lang="en-US" altLang="zh-CN" sz="1800"/>
              <a:t>	"SO_USELOOPBACK",SOL_SOCKET,	SO_USELOOPBACK,	sock_str_flag,</a:t>
            </a:r>
            <a:endParaRPr lang="en-US" altLang="zh-CN" sz="1800"/>
          </a:p>
          <a:p>
            <a:pPr eaLnBrk="1" hangingPunct="1">
              <a:buFontTx/>
              <a:buNone/>
            </a:pPr>
            <a:r>
              <a:rPr lang="en-US" altLang="zh-CN" sz="1800"/>
              <a:t>	"IP_TOS",		IPPROTO_IP,	IP_TOS,	 sock_str_int,</a:t>
            </a:r>
            <a:endParaRPr lang="en-US" altLang="zh-CN" sz="1800"/>
          </a:p>
          <a:p>
            <a:pPr eaLnBrk="1" hangingPunct="1">
              <a:buFontTx/>
              <a:buNone/>
            </a:pPr>
            <a:r>
              <a:rPr lang="en-US" altLang="zh-CN" sz="1800"/>
              <a:t>	"IP_TTL",		IPPROTO_IP,	IP_TTL,	 	 sock_str_int,</a:t>
            </a:r>
            <a:endParaRPr lang="en-US" altLang="zh-CN" sz="1800"/>
          </a:p>
          <a:p>
            <a:pPr eaLnBrk="1" hangingPunct="1">
              <a:buFontTx/>
              <a:buNone/>
            </a:pPr>
            <a:r>
              <a:rPr lang="en-US" altLang="zh-CN" sz="1800"/>
              <a:t>	"TCP_MAXSEG",	IPPROTO_TCP,TCP_MAXSEG,	 sock_str_int,</a:t>
            </a:r>
            <a:endParaRPr lang="en-US" altLang="zh-CN" sz="1800"/>
          </a:p>
          <a:p>
            <a:pPr eaLnBrk="1" hangingPunct="1">
              <a:buFontTx/>
              <a:buNone/>
            </a:pPr>
            <a:r>
              <a:rPr lang="en-US" altLang="zh-CN" sz="1800"/>
              <a:t>	“TCP_NODELAY”,	IPPROTO_TCP,TCP_NODELAY,	 sock_str_flag,</a:t>
            </a:r>
            <a:endParaRPr lang="en-US" altLang="zh-CN" sz="1800"/>
          </a:p>
          <a:p>
            <a:pPr eaLnBrk="1" hangingPunct="1">
              <a:buFontTx/>
              <a:buNone/>
            </a:pPr>
            <a:r>
              <a:rPr lang="en-US" altLang="zh-CN" sz="1800"/>
              <a:t>	NULL,		0,		0,		 NULL</a:t>
            </a:r>
            <a:endParaRPr lang="en-US" altLang="zh-CN" sz="1800"/>
          </a:p>
          <a:p>
            <a:pPr eaLnBrk="1" hangingPunct="1">
              <a:buFontTx/>
              <a:buNone/>
            </a:pPr>
            <a:r>
              <a:rPr lang="en-US" altLang="zh-CN" sz="1800"/>
              <a:t>};</a:t>
            </a:r>
            <a:endParaRPr lang="en-US" altLang="zh-CN" sz="1800"/>
          </a:p>
          <a:p>
            <a:pPr eaLnBrk="1" hangingPunct="1"/>
            <a:endParaRPr lang="en-US" altLang="zh-CN" sz="1800"/>
          </a:p>
        </p:txBody>
      </p:sp>
    </p:spTree>
  </p:cSld>
  <p:clrMapOvr>
    <a:masterClrMapping/>
  </p:clrMapOvr>
  <p:transition spd="slow">
    <p:wipe dir="r"/>
    <p:sndAc>
      <p:endSnd/>
    </p:sndAc>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p:cNvSpPr>
            <a:spLocks noGrp="1" noChangeArrowheads="1"/>
          </p:cNvSpPr>
          <p:nvPr>
            <p:ph type="title"/>
          </p:nvPr>
        </p:nvSpPr>
        <p:spPr>
          <a:xfrm>
            <a:off x="684213" y="115888"/>
            <a:ext cx="7772400" cy="685800"/>
          </a:xfrm>
        </p:spPr>
        <p:txBody>
          <a:bodyPr/>
          <a:lstStyle/>
          <a:p>
            <a:pPr eaLnBrk="1" hangingPunct="1"/>
            <a:r>
              <a:rPr lang="zh-CN" altLang="en-US"/>
              <a:t>测试本机支持的选项（续）</a:t>
            </a:r>
            <a:endParaRPr lang="zh-CN" altLang="en-US"/>
          </a:p>
        </p:txBody>
      </p:sp>
      <p:sp>
        <p:nvSpPr>
          <p:cNvPr id="116738" name="Rectangle 3"/>
          <p:cNvSpPr>
            <a:spLocks noGrp="1" noChangeArrowheads="1"/>
          </p:cNvSpPr>
          <p:nvPr>
            <p:ph idx="1"/>
          </p:nvPr>
        </p:nvSpPr>
        <p:spPr>
          <a:xfrm>
            <a:off x="323850" y="1009650"/>
            <a:ext cx="8588375" cy="5732463"/>
          </a:xfrm>
        </p:spPr>
        <p:txBody>
          <a:bodyPr/>
          <a:lstStyle/>
          <a:p>
            <a:pPr eaLnBrk="1" hangingPunct="1">
              <a:lnSpc>
                <a:spcPct val="80000"/>
              </a:lnSpc>
              <a:buFontTx/>
              <a:buNone/>
            </a:pPr>
            <a:r>
              <a:rPr lang="en-US" altLang="zh-CN" sz="2000"/>
              <a:t>int main(int argc, char **argv)  {</a:t>
            </a:r>
            <a:endParaRPr lang="en-US" altLang="zh-CN" sz="2000"/>
          </a:p>
          <a:p>
            <a:pPr eaLnBrk="1" hangingPunct="1">
              <a:lnSpc>
                <a:spcPct val="80000"/>
              </a:lnSpc>
              <a:buFontTx/>
              <a:buNone/>
            </a:pPr>
            <a:r>
              <a:rPr lang="en-US" altLang="zh-CN" sz="2000"/>
              <a:t>	int			fd, len;</a:t>
            </a:r>
            <a:endParaRPr lang="en-US" altLang="zh-CN" sz="2000"/>
          </a:p>
          <a:p>
            <a:pPr eaLnBrk="1" hangingPunct="1">
              <a:lnSpc>
                <a:spcPct val="80000"/>
              </a:lnSpc>
              <a:buFontTx/>
              <a:buNone/>
            </a:pPr>
            <a:r>
              <a:rPr lang="en-US" altLang="zh-CN" sz="2000"/>
              <a:t>	struct sock_opts	*ptr;</a:t>
            </a:r>
            <a:endParaRPr lang="en-US" altLang="zh-CN" sz="2000"/>
          </a:p>
          <a:p>
            <a:pPr eaLnBrk="1" hangingPunct="1">
              <a:lnSpc>
                <a:spcPct val="80000"/>
              </a:lnSpc>
              <a:buFontTx/>
              <a:buNone/>
            </a:pPr>
            <a:r>
              <a:rPr lang="en-US" altLang="zh-CN" sz="2000"/>
              <a:t>	fd = Socket(AF_INET, SOCK_STREAM, 0);</a:t>
            </a:r>
            <a:endParaRPr lang="en-US" altLang="zh-CN" sz="2000"/>
          </a:p>
          <a:p>
            <a:pPr eaLnBrk="1" hangingPunct="1">
              <a:lnSpc>
                <a:spcPct val="80000"/>
              </a:lnSpc>
              <a:buFontTx/>
              <a:buNone/>
            </a:pPr>
            <a:r>
              <a:rPr lang="en-US" altLang="zh-CN" sz="2000"/>
              <a:t>	for (ptr = sock_opts; ptr-&gt;opt_str != NULL; ptr++) {</a:t>
            </a:r>
            <a:endParaRPr lang="en-US" altLang="zh-CN" sz="2000"/>
          </a:p>
          <a:p>
            <a:pPr eaLnBrk="1" hangingPunct="1">
              <a:lnSpc>
                <a:spcPct val="80000"/>
              </a:lnSpc>
              <a:buFontTx/>
              <a:buNone/>
            </a:pPr>
            <a:r>
              <a:rPr lang="en-US" altLang="zh-CN" sz="2000"/>
              <a:t>		printf("%s: ", ptr-&gt;opt_str);</a:t>
            </a:r>
            <a:endParaRPr lang="en-US" altLang="zh-CN" sz="2000"/>
          </a:p>
          <a:p>
            <a:pPr eaLnBrk="1" hangingPunct="1">
              <a:lnSpc>
                <a:spcPct val="80000"/>
              </a:lnSpc>
              <a:buFontTx/>
              <a:buNone/>
            </a:pPr>
            <a:r>
              <a:rPr lang="en-US" altLang="zh-CN" sz="2000"/>
              <a:t>		if (ptr-&gt;opt_val_str == NULL)</a:t>
            </a:r>
            <a:endParaRPr lang="en-US" altLang="zh-CN" sz="2000"/>
          </a:p>
          <a:p>
            <a:pPr eaLnBrk="1" hangingPunct="1">
              <a:lnSpc>
                <a:spcPct val="80000"/>
              </a:lnSpc>
              <a:buFontTx/>
              <a:buNone/>
            </a:pPr>
            <a:r>
              <a:rPr lang="en-US" altLang="zh-CN" sz="2000"/>
              <a:t>			printf("(undefined)\n");</a:t>
            </a:r>
            <a:endParaRPr lang="en-US" altLang="zh-CN" sz="2000"/>
          </a:p>
          <a:p>
            <a:pPr eaLnBrk="1" hangingPunct="1">
              <a:lnSpc>
                <a:spcPct val="80000"/>
              </a:lnSpc>
              <a:buFontTx/>
              <a:buNone/>
            </a:pPr>
            <a:r>
              <a:rPr lang="en-US" altLang="zh-CN" sz="2000"/>
              <a:t>		else {</a:t>
            </a:r>
            <a:endParaRPr lang="en-US" altLang="zh-CN" sz="2000"/>
          </a:p>
          <a:p>
            <a:pPr eaLnBrk="1" hangingPunct="1">
              <a:lnSpc>
                <a:spcPct val="80000"/>
              </a:lnSpc>
              <a:buFontTx/>
              <a:buNone/>
            </a:pPr>
            <a:r>
              <a:rPr lang="en-US" altLang="zh-CN" sz="2000"/>
              <a:t>			len = sizeof(val);</a:t>
            </a:r>
            <a:endParaRPr lang="en-US" altLang="zh-CN" sz="2000"/>
          </a:p>
          <a:p>
            <a:pPr eaLnBrk="1" hangingPunct="1">
              <a:lnSpc>
                <a:spcPct val="80000"/>
              </a:lnSpc>
              <a:buFontTx/>
              <a:buNone/>
            </a:pPr>
            <a:r>
              <a:rPr lang="en-US" altLang="zh-CN" sz="2000"/>
              <a:t>			if (getsockopt(fd, ptr-&gt;opt_level, ptr-&gt;opt_name,</a:t>
            </a:r>
            <a:endParaRPr lang="en-US" altLang="zh-CN" sz="2000"/>
          </a:p>
          <a:p>
            <a:pPr eaLnBrk="1" hangingPunct="1">
              <a:lnSpc>
                <a:spcPct val="80000"/>
              </a:lnSpc>
              <a:buFontTx/>
              <a:buNone/>
            </a:pPr>
            <a:r>
              <a:rPr lang="en-US" altLang="zh-CN" sz="2000"/>
              <a:t>						   &amp;val, &amp;len) == -1) {</a:t>
            </a:r>
            <a:endParaRPr lang="en-US" altLang="zh-CN" sz="2000"/>
          </a:p>
          <a:p>
            <a:pPr eaLnBrk="1" hangingPunct="1">
              <a:lnSpc>
                <a:spcPct val="80000"/>
              </a:lnSpc>
              <a:buFontTx/>
              <a:buNone/>
            </a:pPr>
            <a:r>
              <a:rPr lang="en-US" altLang="zh-CN" sz="2000"/>
              <a:t>				err_ret("getsockopt error"); } </a:t>
            </a:r>
            <a:endParaRPr lang="en-US" altLang="zh-CN" sz="2000"/>
          </a:p>
          <a:p>
            <a:pPr eaLnBrk="1" hangingPunct="1">
              <a:lnSpc>
                <a:spcPct val="80000"/>
              </a:lnSpc>
              <a:buFontTx/>
              <a:buNone/>
            </a:pPr>
            <a:r>
              <a:rPr lang="en-US" altLang="zh-CN" sz="2000"/>
              <a:t>                            else {</a:t>
            </a:r>
            <a:endParaRPr lang="en-US" altLang="zh-CN" sz="2000"/>
          </a:p>
          <a:p>
            <a:pPr eaLnBrk="1" hangingPunct="1">
              <a:lnSpc>
                <a:spcPct val="80000"/>
              </a:lnSpc>
              <a:buFontTx/>
              <a:buNone/>
            </a:pPr>
            <a:r>
              <a:rPr lang="en-US" altLang="zh-CN" sz="2000"/>
              <a:t>                                            printf("default = %s\n", (*ptr-&gt;opt_val_str)(&amp;val,len));</a:t>
            </a:r>
            <a:endParaRPr lang="en-US" altLang="zh-CN" sz="2000"/>
          </a:p>
          <a:p>
            <a:pPr eaLnBrk="1" hangingPunct="1">
              <a:lnSpc>
                <a:spcPct val="80000"/>
              </a:lnSpc>
              <a:buFontTx/>
              <a:buNone/>
            </a:pPr>
            <a:r>
              <a:rPr lang="en-US" altLang="zh-CN" sz="2000"/>
              <a:t>			}</a:t>
            </a:r>
            <a:endParaRPr lang="en-US" altLang="zh-CN" sz="2000"/>
          </a:p>
          <a:p>
            <a:pPr eaLnBrk="1" hangingPunct="1">
              <a:lnSpc>
                <a:spcPct val="80000"/>
              </a:lnSpc>
              <a:buFontTx/>
              <a:buNone/>
            </a:pPr>
            <a:r>
              <a:rPr lang="en-US" altLang="zh-CN" sz="2000"/>
              <a:t>		}}exit(0);}</a:t>
            </a:r>
            <a:endParaRPr lang="en-US" altLang="zh-CN" sz="2000"/>
          </a:p>
          <a:p>
            <a:pPr eaLnBrk="1" hangingPunct="1">
              <a:lnSpc>
                <a:spcPct val="80000"/>
              </a:lnSpc>
              <a:buFontTx/>
              <a:buNone/>
            </a:pPr>
            <a:endParaRPr lang="en-US" altLang="zh-CN" sz="2000"/>
          </a:p>
        </p:txBody>
      </p:sp>
    </p:spTree>
  </p:cSld>
  <p:clrMapOvr>
    <a:masterClrMapping/>
  </p:clrMapOvr>
  <p:transition spd="slow">
    <p:wipe dir="r"/>
    <p:sndAc>
      <p:endSnd/>
    </p:sndAc>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p:cNvSpPr>
            <a:spLocks noGrp="1" noChangeArrowheads="1"/>
          </p:cNvSpPr>
          <p:nvPr>
            <p:ph type="title"/>
          </p:nvPr>
        </p:nvSpPr>
        <p:spPr>
          <a:xfrm>
            <a:off x="685800" y="304800"/>
            <a:ext cx="7772400" cy="609600"/>
          </a:xfrm>
        </p:spPr>
        <p:txBody>
          <a:bodyPr/>
          <a:lstStyle/>
          <a:p>
            <a:pPr eaLnBrk="1" hangingPunct="1"/>
            <a:r>
              <a:rPr lang="zh-CN" altLang="en-US"/>
              <a:t>测试本机支持的选项（续）</a:t>
            </a:r>
            <a:endParaRPr lang="zh-CN" altLang="en-US"/>
          </a:p>
        </p:txBody>
      </p:sp>
      <p:sp>
        <p:nvSpPr>
          <p:cNvPr id="117762" name="Rectangle 3"/>
          <p:cNvSpPr>
            <a:spLocks noGrp="1" noChangeArrowheads="1"/>
          </p:cNvSpPr>
          <p:nvPr>
            <p:ph idx="1"/>
          </p:nvPr>
        </p:nvSpPr>
        <p:spPr>
          <a:xfrm>
            <a:off x="304800" y="1268413"/>
            <a:ext cx="8540750" cy="5040312"/>
          </a:xfrm>
        </p:spPr>
        <p:txBody>
          <a:bodyPr/>
          <a:lstStyle/>
          <a:p>
            <a:pPr eaLnBrk="1" hangingPunct="1">
              <a:buFontTx/>
              <a:buNone/>
            </a:pPr>
            <a:r>
              <a:rPr lang="en-US" altLang="zh-CN" sz="2000"/>
              <a:t>static char	strres[128];</a:t>
            </a:r>
            <a:endParaRPr lang="en-US" altLang="zh-CN" sz="2000"/>
          </a:p>
          <a:p>
            <a:pPr eaLnBrk="1" hangingPunct="1">
              <a:buFontTx/>
              <a:buNone/>
            </a:pPr>
            <a:endParaRPr lang="en-US" altLang="zh-CN" sz="2000"/>
          </a:p>
          <a:p>
            <a:pPr eaLnBrk="1" hangingPunct="1">
              <a:buFontTx/>
              <a:buNone/>
            </a:pPr>
            <a:r>
              <a:rPr lang="en-US" altLang="zh-CN" sz="2000"/>
              <a:t>static char	*sock_str_flag(union val *ptr, int len)</a:t>
            </a:r>
            <a:endParaRPr lang="en-US" altLang="zh-CN" sz="2000"/>
          </a:p>
          <a:p>
            <a:pPr eaLnBrk="1" hangingPunct="1">
              <a:buFontTx/>
              <a:buNone/>
            </a:pPr>
            <a:r>
              <a:rPr lang="en-US" altLang="zh-CN" sz="2000"/>
              <a:t>{</a:t>
            </a:r>
            <a:endParaRPr lang="en-US" altLang="zh-CN" sz="2000"/>
          </a:p>
          <a:p>
            <a:pPr eaLnBrk="1" hangingPunct="1">
              <a:buFontTx/>
              <a:buNone/>
            </a:pPr>
            <a:r>
              <a:rPr lang="en-US" altLang="zh-CN" sz="2000"/>
              <a:t>/* *INDENT-OFF* */</a:t>
            </a:r>
            <a:endParaRPr lang="en-US" altLang="zh-CN" sz="2000"/>
          </a:p>
          <a:p>
            <a:pPr eaLnBrk="1" hangingPunct="1">
              <a:buFontTx/>
              <a:buNone/>
            </a:pPr>
            <a:r>
              <a:rPr lang="en-US" altLang="zh-CN" sz="2000"/>
              <a:t>	if (len != sizeof(int))</a:t>
            </a:r>
            <a:endParaRPr lang="en-US" altLang="zh-CN" sz="2000"/>
          </a:p>
          <a:p>
            <a:pPr eaLnBrk="1" hangingPunct="1">
              <a:buFontTx/>
              <a:buNone/>
            </a:pPr>
            <a:r>
              <a:rPr lang="en-US" altLang="zh-CN" sz="2000"/>
              <a:t>		snprintf(strres, sizeof(strres), "size (%d) not sizeof(int)", len);</a:t>
            </a:r>
            <a:endParaRPr lang="en-US" altLang="zh-CN" sz="2000"/>
          </a:p>
          <a:p>
            <a:pPr eaLnBrk="1" hangingPunct="1">
              <a:buFontTx/>
              <a:buNone/>
            </a:pPr>
            <a:r>
              <a:rPr lang="en-US" altLang="zh-CN" sz="2000"/>
              <a:t>	else</a:t>
            </a:r>
            <a:endParaRPr lang="en-US" altLang="zh-CN" sz="2000"/>
          </a:p>
          <a:p>
            <a:pPr eaLnBrk="1" hangingPunct="1">
              <a:buFontTx/>
              <a:buNone/>
            </a:pPr>
            <a:r>
              <a:rPr lang="en-US" altLang="zh-CN" sz="2000"/>
              <a:t>		snprintf(strres, sizeof(strres),</a:t>
            </a:r>
            <a:endParaRPr lang="en-US" altLang="zh-CN" sz="2000"/>
          </a:p>
          <a:p>
            <a:pPr eaLnBrk="1" hangingPunct="1">
              <a:buFontTx/>
              <a:buNone/>
            </a:pPr>
            <a:r>
              <a:rPr lang="en-US" altLang="zh-CN" sz="2000"/>
              <a:t>				 "%s", (ptr-&gt;i_val == 0) ? "off" : "on");</a:t>
            </a:r>
            <a:endParaRPr lang="en-US" altLang="zh-CN" sz="2000"/>
          </a:p>
          <a:p>
            <a:pPr eaLnBrk="1" hangingPunct="1">
              <a:buFontTx/>
              <a:buNone/>
            </a:pPr>
            <a:r>
              <a:rPr lang="en-US" altLang="zh-CN" sz="2000"/>
              <a:t>	return(strres);</a:t>
            </a:r>
            <a:endParaRPr lang="en-US" altLang="zh-CN" sz="2000"/>
          </a:p>
          <a:p>
            <a:pPr eaLnBrk="1" hangingPunct="1">
              <a:buFontTx/>
              <a:buNone/>
            </a:pPr>
            <a:r>
              <a:rPr lang="en-US" altLang="zh-CN" sz="2000"/>
              <a:t>/* *INDENT-ON* */</a:t>
            </a:r>
            <a:endParaRPr lang="en-US" altLang="zh-CN" sz="2000"/>
          </a:p>
          <a:p>
            <a:pPr eaLnBrk="1" hangingPunct="1">
              <a:buFontTx/>
              <a:buNone/>
            </a:pPr>
            <a:r>
              <a:rPr lang="en-US" altLang="zh-CN" sz="2000"/>
              <a:t>}</a:t>
            </a:r>
            <a:endParaRPr lang="en-US" altLang="zh-CN" sz="2000"/>
          </a:p>
        </p:txBody>
      </p:sp>
    </p:spTree>
  </p:cSld>
  <p:clrMapOvr>
    <a:masterClrMapping/>
  </p:clrMapOvr>
  <p:transition spd="slow">
    <p:wipe dir="r"/>
    <p:sndAc>
      <p:endSnd/>
    </p:sndAc>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p:cNvSpPr>
            <a:spLocks noGrp="1" noChangeArrowheads="1"/>
          </p:cNvSpPr>
          <p:nvPr>
            <p:ph type="title"/>
          </p:nvPr>
        </p:nvSpPr>
        <p:spPr>
          <a:xfrm>
            <a:off x="685800" y="609600"/>
            <a:ext cx="7772400" cy="838200"/>
          </a:xfrm>
        </p:spPr>
        <p:txBody>
          <a:bodyPr/>
          <a:lstStyle/>
          <a:p>
            <a:pPr eaLnBrk="1" hangingPunct="1"/>
            <a:r>
              <a:rPr lang="zh-CN" altLang="en-US"/>
              <a:t>测试本机支持的选项（续）</a:t>
            </a:r>
            <a:endParaRPr lang="zh-CN" altLang="en-US"/>
          </a:p>
        </p:txBody>
      </p:sp>
      <p:sp>
        <p:nvSpPr>
          <p:cNvPr id="118786" name="Rectangle 3"/>
          <p:cNvSpPr>
            <a:spLocks noGrp="1" noChangeArrowheads="1"/>
          </p:cNvSpPr>
          <p:nvPr>
            <p:ph idx="1"/>
          </p:nvPr>
        </p:nvSpPr>
        <p:spPr>
          <a:xfrm>
            <a:off x="685800" y="1600200"/>
            <a:ext cx="7772400" cy="4495800"/>
          </a:xfrm>
        </p:spPr>
        <p:txBody>
          <a:bodyPr/>
          <a:lstStyle/>
          <a:p>
            <a:pPr eaLnBrk="1" hangingPunct="1">
              <a:buFontTx/>
              <a:buNone/>
            </a:pPr>
            <a:r>
              <a:rPr lang="en-US" altLang="zh-CN" sz="2000"/>
              <a:t>static char	*sock_str_int(union val *ptr, int len)</a:t>
            </a:r>
            <a:endParaRPr lang="en-US" altLang="zh-CN" sz="2000"/>
          </a:p>
          <a:p>
            <a:pPr eaLnBrk="1" hangingPunct="1">
              <a:buFontTx/>
              <a:buNone/>
            </a:pPr>
            <a:r>
              <a:rPr lang="en-US" altLang="zh-CN" sz="2000"/>
              <a:t>{</a:t>
            </a:r>
            <a:endParaRPr lang="en-US" altLang="zh-CN" sz="2000"/>
          </a:p>
          <a:p>
            <a:pPr eaLnBrk="1" hangingPunct="1">
              <a:buFontTx/>
              <a:buNone/>
            </a:pPr>
            <a:r>
              <a:rPr lang="en-US" altLang="zh-CN" sz="2000"/>
              <a:t>	if (len != sizeof(int))</a:t>
            </a:r>
            <a:endParaRPr lang="en-US" altLang="zh-CN" sz="2000"/>
          </a:p>
          <a:p>
            <a:pPr eaLnBrk="1" hangingPunct="1">
              <a:buFontTx/>
              <a:buNone/>
            </a:pPr>
            <a:r>
              <a:rPr lang="en-US" altLang="zh-CN" sz="2000"/>
              <a:t>		snprintf(strres, sizeof(strres), "size (%d) not sizeof(int)", len);</a:t>
            </a:r>
            <a:endParaRPr lang="en-US" altLang="zh-CN" sz="2000"/>
          </a:p>
          <a:p>
            <a:pPr eaLnBrk="1" hangingPunct="1">
              <a:buFontTx/>
              <a:buNone/>
            </a:pPr>
            <a:r>
              <a:rPr lang="en-US" altLang="zh-CN" sz="2000"/>
              <a:t>	else</a:t>
            </a:r>
            <a:endParaRPr lang="en-US" altLang="zh-CN" sz="2000"/>
          </a:p>
          <a:p>
            <a:pPr eaLnBrk="1" hangingPunct="1">
              <a:buFontTx/>
              <a:buNone/>
            </a:pPr>
            <a:r>
              <a:rPr lang="en-US" altLang="zh-CN" sz="2000"/>
              <a:t>		snprintf(strres, sizeof(strres), "%d", ptr-&gt;i_val);</a:t>
            </a:r>
            <a:endParaRPr lang="en-US" altLang="zh-CN" sz="2000"/>
          </a:p>
          <a:p>
            <a:pPr eaLnBrk="1" hangingPunct="1">
              <a:buFontTx/>
              <a:buNone/>
            </a:pPr>
            <a:r>
              <a:rPr lang="en-US" altLang="zh-CN" sz="2000"/>
              <a:t>	return(strres);</a:t>
            </a:r>
            <a:endParaRPr lang="en-US" altLang="zh-CN" sz="2000"/>
          </a:p>
          <a:p>
            <a:pPr eaLnBrk="1" hangingPunct="1">
              <a:buFontTx/>
              <a:buNone/>
            </a:pPr>
            <a:r>
              <a:rPr lang="en-US" altLang="zh-CN" sz="2000"/>
              <a:t>}</a:t>
            </a:r>
            <a:endParaRPr lang="en-US" altLang="zh-CN" sz="2000"/>
          </a:p>
        </p:txBody>
      </p:sp>
    </p:spTree>
  </p:cSld>
  <p:clrMapOvr>
    <a:masterClrMapping/>
  </p:clrMapOvr>
  <p:transition spd="slow">
    <p:wipe dir="r"/>
    <p:sndAc>
      <p:endSnd/>
    </p:sndAc>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p:cNvSpPr>
            <a:spLocks noGrp="1" noChangeArrowheads="1"/>
          </p:cNvSpPr>
          <p:nvPr>
            <p:ph type="title"/>
          </p:nvPr>
        </p:nvSpPr>
        <p:spPr/>
        <p:txBody>
          <a:bodyPr/>
          <a:lstStyle/>
          <a:p>
            <a:pPr eaLnBrk="1" hangingPunct="1"/>
            <a:r>
              <a:rPr lang="zh-CN" altLang="en-US"/>
              <a:t>测试本机支持的选项（续）</a:t>
            </a:r>
            <a:endParaRPr lang="zh-CN" altLang="en-US"/>
          </a:p>
        </p:txBody>
      </p:sp>
      <p:sp>
        <p:nvSpPr>
          <p:cNvPr id="119810" name="Rectangle 3"/>
          <p:cNvSpPr>
            <a:spLocks noGrp="1" noChangeArrowheads="1"/>
          </p:cNvSpPr>
          <p:nvPr>
            <p:ph idx="1"/>
          </p:nvPr>
        </p:nvSpPr>
        <p:spPr/>
        <p:txBody>
          <a:bodyPr/>
          <a:lstStyle/>
          <a:p>
            <a:pPr eaLnBrk="1" hangingPunct="1">
              <a:lnSpc>
                <a:spcPct val="90000"/>
              </a:lnSpc>
              <a:buFontTx/>
              <a:buNone/>
            </a:pPr>
            <a:r>
              <a:rPr lang="en-US" altLang="zh-CN" sz="2000"/>
              <a:t>static char	*sock_str_linger(union val *ptr, int len)</a:t>
            </a:r>
            <a:endParaRPr lang="en-US" altLang="zh-CN" sz="2000"/>
          </a:p>
          <a:p>
            <a:pPr eaLnBrk="1" hangingPunct="1">
              <a:lnSpc>
                <a:spcPct val="90000"/>
              </a:lnSpc>
              <a:buFontTx/>
              <a:buNone/>
            </a:pPr>
            <a:r>
              <a:rPr lang="en-US" altLang="zh-CN" sz="2000"/>
              <a:t>{</a:t>
            </a:r>
            <a:endParaRPr lang="en-US" altLang="zh-CN" sz="2000"/>
          </a:p>
          <a:p>
            <a:pPr eaLnBrk="1" hangingPunct="1">
              <a:lnSpc>
                <a:spcPct val="90000"/>
              </a:lnSpc>
              <a:buFontTx/>
              <a:buNone/>
            </a:pPr>
            <a:r>
              <a:rPr lang="en-US" altLang="zh-CN" sz="2000"/>
              <a:t>	struct linger	*lptr = &amp;ptr-&gt;linger_val;</a:t>
            </a:r>
            <a:endParaRPr lang="en-US" altLang="zh-CN" sz="2000"/>
          </a:p>
          <a:p>
            <a:pPr eaLnBrk="1" hangingPunct="1">
              <a:lnSpc>
                <a:spcPct val="90000"/>
              </a:lnSpc>
              <a:buFontTx/>
              <a:buNone/>
            </a:pPr>
            <a:endParaRPr lang="en-US" altLang="zh-CN" sz="2000"/>
          </a:p>
          <a:p>
            <a:pPr eaLnBrk="1" hangingPunct="1">
              <a:lnSpc>
                <a:spcPct val="90000"/>
              </a:lnSpc>
              <a:buFontTx/>
              <a:buNone/>
            </a:pPr>
            <a:r>
              <a:rPr lang="en-US" altLang="zh-CN" sz="2000"/>
              <a:t>	if (len != sizeof(struct linger))</a:t>
            </a:r>
            <a:endParaRPr lang="en-US" altLang="zh-CN" sz="2000"/>
          </a:p>
          <a:p>
            <a:pPr eaLnBrk="1" hangingPunct="1">
              <a:lnSpc>
                <a:spcPct val="90000"/>
              </a:lnSpc>
              <a:buFontTx/>
              <a:buNone/>
            </a:pPr>
            <a:r>
              <a:rPr lang="en-US" altLang="zh-CN" sz="2000"/>
              <a:t>		snprintf(strres, sizeof(strres),</a:t>
            </a:r>
            <a:endParaRPr lang="en-US" altLang="zh-CN" sz="2000"/>
          </a:p>
          <a:p>
            <a:pPr eaLnBrk="1" hangingPunct="1">
              <a:lnSpc>
                <a:spcPct val="90000"/>
              </a:lnSpc>
              <a:buFontTx/>
              <a:buNone/>
            </a:pPr>
            <a:r>
              <a:rPr lang="en-US" altLang="zh-CN" sz="2000"/>
              <a:t>				 "size (%d) not sizeof(struct linger)", len);</a:t>
            </a:r>
            <a:endParaRPr lang="en-US" altLang="zh-CN" sz="2000"/>
          </a:p>
          <a:p>
            <a:pPr eaLnBrk="1" hangingPunct="1">
              <a:lnSpc>
                <a:spcPct val="90000"/>
              </a:lnSpc>
              <a:buFontTx/>
              <a:buNone/>
            </a:pPr>
            <a:r>
              <a:rPr lang="en-US" altLang="zh-CN" sz="2000"/>
              <a:t>	else</a:t>
            </a:r>
            <a:endParaRPr lang="en-US" altLang="zh-CN" sz="2000"/>
          </a:p>
          <a:p>
            <a:pPr eaLnBrk="1" hangingPunct="1">
              <a:lnSpc>
                <a:spcPct val="90000"/>
              </a:lnSpc>
              <a:buFontTx/>
              <a:buNone/>
            </a:pPr>
            <a:r>
              <a:rPr lang="en-US" altLang="zh-CN" sz="2000"/>
              <a:t>		snprintf(strres, sizeof(strres), "l_onoff = %d, l_linger = %d",</a:t>
            </a:r>
            <a:endParaRPr lang="en-US" altLang="zh-CN" sz="2000"/>
          </a:p>
          <a:p>
            <a:pPr eaLnBrk="1" hangingPunct="1">
              <a:lnSpc>
                <a:spcPct val="90000"/>
              </a:lnSpc>
              <a:buFontTx/>
              <a:buNone/>
            </a:pPr>
            <a:r>
              <a:rPr lang="en-US" altLang="zh-CN" sz="2000"/>
              <a:t>				 lptr-&gt;l_onoff, lptr-&gt;l_linger);</a:t>
            </a:r>
            <a:endParaRPr lang="en-US" altLang="zh-CN" sz="2000"/>
          </a:p>
          <a:p>
            <a:pPr eaLnBrk="1" hangingPunct="1">
              <a:lnSpc>
                <a:spcPct val="90000"/>
              </a:lnSpc>
              <a:buFontTx/>
              <a:buNone/>
            </a:pPr>
            <a:r>
              <a:rPr lang="en-US" altLang="zh-CN" sz="2000"/>
              <a:t>	return(strres);</a:t>
            </a:r>
            <a:endParaRPr lang="en-US" altLang="zh-CN" sz="2000"/>
          </a:p>
          <a:p>
            <a:pPr eaLnBrk="1" hangingPunct="1">
              <a:lnSpc>
                <a:spcPct val="90000"/>
              </a:lnSpc>
              <a:buFontTx/>
              <a:buNone/>
            </a:pPr>
            <a:r>
              <a:rPr lang="en-US" altLang="zh-CN" sz="2000"/>
              <a:t>}</a:t>
            </a:r>
            <a:endParaRPr lang="en-US" altLang="zh-CN" sz="2000"/>
          </a:p>
        </p:txBody>
      </p:sp>
    </p:spTree>
  </p:cSld>
  <p:clrMapOvr>
    <a:masterClrMapping/>
  </p:clrMapOvr>
  <p:transition spd="slow">
    <p:wipe dir="r"/>
    <p:sndAc>
      <p:endSnd/>
    </p:sndAc>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p:cNvSpPr>
            <a:spLocks noGrp="1" noChangeArrowheads="1"/>
          </p:cNvSpPr>
          <p:nvPr>
            <p:ph type="title"/>
          </p:nvPr>
        </p:nvSpPr>
        <p:spPr/>
        <p:txBody>
          <a:bodyPr/>
          <a:lstStyle/>
          <a:p>
            <a:pPr eaLnBrk="1" hangingPunct="1"/>
            <a:r>
              <a:rPr lang="zh-CN" altLang="en-US"/>
              <a:t>测试本机支持的选项（续）</a:t>
            </a:r>
            <a:endParaRPr lang="zh-CN" altLang="en-US"/>
          </a:p>
        </p:txBody>
      </p:sp>
      <p:sp>
        <p:nvSpPr>
          <p:cNvPr id="120834" name="Rectangle 3"/>
          <p:cNvSpPr>
            <a:spLocks noGrp="1" noChangeArrowheads="1"/>
          </p:cNvSpPr>
          <p:nvPr>
            <p:ph idx="1"/>
          </p:nvPr>
        </p:nvSpPr>
        <p:spPr/>
        <p:txBody>
          <a:bodyPr/>
          <a:lstStyle/>
          <a:p>
            <a:pPr eaLnBrk="1" hangingPunct="1">
              <a:lnSpc>
                <a:spcPct val="90000"/>
              </a:lnSpc>
              <a:buFontTx/>
              <a:buNone/>
            </a:pPr>
            <a:r>
              <a:rPr lang="en-US" altLang="zh-CN" sz="2000"/>
              <a:t>static char	*sock_str_timeval(union val *ptr, int len)</a:t>
            </a:r>
            <a:endParaRPr lang="en-US" altLang="zh-CN" sz="2000"/>
          </a:p>
          <a:p>
            <a:pPr eaLnBrk="1" hangingPunct="1">
              <a:lnSpc>
                <a:spcPct val="90000"/>
              </a:lnSpc>
              <a:buFontTx/>
              <a:buNone/>
            </a:pPr>
            <a:r>
              <a:rPr lang="en-US" altLang="zh-CN" sz="2000"/>
              <a:t>{</a:t>
            </a:r>
            <a:endParaRPr lang="en-US" altLang="zh-CN" sz="2000"/>
          </a:p>
          <a:p>
            <a:pPr eaLnBrk="1" hangingPunct="1">
              <a:lnSpc>
                <a:spcPct val="90000"/>
              </a:lnSpc>
              <a:buFontTx/>
              <a:buNone/>
            </a:pPr>
            <a:r>
              <a:rPr lang="en-US" altLang="zh-CN" sz="2000"/>
              <a:t>	struct timeval	*tvptr = &amp;ptr-&gt;timeval_val;</a:t>
            </a:r>
            <a:endParaRPr lang="en-US" altLang="zh-CN" sz="2000"/>
          </a:p>
          <a:p>
            <a:pPr eaLnBrk="1" hangingPunct="1">
              <a:lnSpc>
                <a:spcPct val="90000"/>
              </a:lnSpc>
              <a:buFontTx/>
              <a:buNone/>
            </a:pPr>
            <a:endParaRPr lang="en-US" altLang="zh-CN" sz="2000"/>
          </a:p>
          <a:p>
            <a:pPr eaLnBrk="1" hangingPunct="1">
              <a:lnSpc>
                <a:spcPct val="90000"/>
              </a:lnSpc>
              <a:buFontTx/>
              <a:buNone/>
            </a:pPr>
            <a:r>
              <a:rPr lang="en-US" altLang="zh-CN" sz="2000"/>
              <a:t>	if (len != sizeof(struct timeval))</a:t>
            </a:r>
            <a:endParaRPr lang="en-US" altLang="zh-CN" sz="2000"/>
          </a:p>
          <a:p>
            <a:pPr eaLnBrk="1" hangingPunct="1">
              <a:lnSpc>
                <a:spcPct val="90000"/>
              </a:lnSpc>
              <a:buFontTx/>
              <a:buNone/>
            </a:pPr>
            <a:r>
              <a:rPr lang="en-US" altLang="zh-CN" sz="2000"/>
              <a:t>		snprintf(strres, sizeof(strres),</a:t>
            </a:r>
            <a:endParaRPr lang="en-US" altLang="zh-CN" sz="2000"/>
          </a:p>
          <a:p>
            <a:pPr eaLnBrk="1" hangingPunct="1">
              <a:lnSpc>
                <a:spcPct val="90000"/>
              </a:lnSpc>
              <a:buFontTx/>
              <a:buNone/>
            </a:pPr>
            <a:r>
              <a:rPr lang="en-US" altLang="zh-CN" sz="2000"/>
              <a:t>				 "size (%d) not sizeof(struct timeval)", len);</a:t>
            </a:r>
            <a:endParaRPr lang="en-US" altLang="zh-CN" sz="2000"/>
          </a:p>
          <a:p>
            <a:pPr eaLnBrk="1" hangingPunct="1">
              <a:lnSpc>
                <a:spcPct val="90000"/>
              </a:lnSpc>
              <a:buFontTx/>
              <a:buNone/>
            </a:pPr>
            <a:r>
              <a:rPr lang="en-US" altLang="zh-CN" sz="2000"/>
              <a:t>	else</a:t>
            </a:r>
            <a:endParaRPr lang="en-US" altLang="zh-CN" sz="2000"/>
          </a:p>
          <a:p>
            <a:pPr eaLnBrk="1" hangingPunct="1">
              <a:lnSpc>
                <a:spcPct val="90000"/>
              </a:lnSpc>
              <a:buFontTx/>
              <a:buNone/>
            </a:pPr>
            <a:r>
              <a:rPr lang="en-US" altLang="zh-CN" sz="2000"/>
              <a:t>		snprintf(strres, sizeof(strres), "%d sec, %d usec",</a:t>
            </a:r>
            <a:endParaRPr lang="en-US" altLang="zh-CN" sz="2000"/>
          </a:p>
          <a:p>
            <a:pPr eaLnBrk="1" hangingPunct="1">
              <a:lnSpc>
                <a:spcPct val="90000"/>
              </a:lnSpc>
              <a:buFontTx/>
              <a:buNone/>
            </a:pPr>
            <a:r>
              <a:rPr lang="en-US" altLang="zh-CN" sz="2000"/>
              <a:t>				 tvptr-&gt;tv_sec, tvptr-&gt;tv_usec);</a:t>
            </a:r>
            <a:endParaRPr lang="en-US" altLang="zh-CN" sz="2000"/>
          </a:p>
          <a:p>
            <a:pPr eaLnBrk="1" hangingPunct="1">
              <a:lnSpc>
                <a:spcPct val="90000"/>
              </a:lnSpc>
              <a:buFontTx/>
              <a:buNone/>
            </a:pPr>
            <a:r>
              <a:rPr lang="en-US" altLang="zh-CN" sz="2000"/>
              <a:t>	return(strres);</a:t>
            </a:r>
            <a:endParaRPr lang="en-US" altLang="zh-CN" sz="2000"/>
          </a:p>
          <a:p>
            <a:pPr eaLnBrk="1" hangingPunct="1">
              <a:lnSpc>
                <a:spcPct val="90000"/>
              </a:lnSpc>
              <a:buFontTx/>
              <a:buNone/>
            </a:pPr>
            <a:r>
              <a:rPr lang="en-US" altLang="zh-CN" sz="2000"/>
              <a:t>}</a:t>
            </a:r>
            <a:endParaRPr lang="en-US" altLang="zh-CN" sz="2000"/>
          </a:p>
        </p:txBody>
      </p:sp>
    </p:spTree>
  </p:cSld>
  <p:clrMapOvr>
    <a:masterClrMapping/>
  </p:clrMapOvr>
  <p:transition spd="slow">
    <p:wipe dir="r"/>
    <p:sndAc>
      <p:endSnd/>
    </p:sndAc>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7"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450" y="115888"/>
            <a:ext cx="7200900" cy="667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sndAc>
      <p:endSnd/>
    </p:sndAc>
  </p:transition>
</p:sld>
</file>

<file path=ppt/tags/tag1.xml><?xml version="1.0" encoding="utf-8"?>
<p:tagLst xmlns:p="http://schemas.openxmlformats.org/presentationml/2006/main">
  <p:tag name="KSO_WPP_MARK_KEY" val="ca39a2aa-bc20-4cca-82bd-bccaf618717a"/>
  <p:tag name="COMMONDATA" val="eyJoZGlkIjoiMzcyODMxYTE0ZTc0ZGU3Y2QwODc3MzYzN2Q1YmNiM2EifQ=="/>
</p:tagLst>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otalTime>0</TotalTime>
  <Words>32527</Words>
  <Application>WPS 演示</Application>
  <PresentationFormat>全屏显示(4:3)</PresentationFormat>
  <Paragraphs>1651</Paragraphs>
  <Slides>110</Slides>
  <Notes>12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5</vt:i4>
      </vt:variant>
      <vt:variant>
        <vt:lpstr>幻灯片标题</vt:lpstr>
      </vt:variant>
      <vt:variant>
        <vt:i4>110</vt:i4>
      </vt:variant>
    </vt:vector>
  </HeadingPairs>
  <TitlesOfParts>
    <vt:vector size="127" baseType="lpstr">
      <vt:lpstr>Arial</vt:lpstr>
      <vt:lpstr>宋体</vt:lpstr>
      <vt:lpstr>Wingdings</vt:lpstr>
      <vt:lpstr>Times New Roman</vt:lpstr>
      <vt:lpstr>微软雅黑</vt:lpstr>
      <vt:lpstr>Tahoma</vt:lpstr>
      <vt:lpstr>微软雅黑 Light</vt:lpstr>
      <vt:lpstr>Comic Sans MS</vt:lpstr>
      <vt:lpstr>华文新魏</vt:lpstr>
      <vt:lpstr>Calibri Light</vt:lpstr>
      <vt:lpstr>Arial Unicode MS</vt:lpstr>
      <vt:lpstr>默认设计模板</vt:lpstr>
      <vt:lpstr>Paint.Picture</vt:lpstr>
      <vt:lpstr>Paint.Picture</vt:lpstr>
      <vt:lpstr>Paint.Picture</vt:lpstr>
      <vt:lpstr>Paint.Picture</vt:lpstr>
      <vt:lpstr>Paint.Picture</vt:lpstr>
      <vt:lpstr>并发服务器 I/O复用与套接字选项</vt:lpstr>
      <vt:lpstr>目  录</vt:lpstr>
      <vt:lpstr>I/O</vt:lpstr>
      <vt:lpstr>PowerPoint 演示文稿</vt:lpstr>
      <vt:lpstr>PowerPoint 演示文稿</vt:lpstr>
      <vt:lpstr>I/O模型</vt:lpstr>
      <vt:lpstr>阻塞I/O模型</vt:lpstr>
      <vt:lpstr>非阻塞I/O模型</vt:lpstr>
      <vt:lpstr>I/O复用模型</vt:lpstr>
      <vt:lpstr>信号驱动I/O模型</vt:lpstr>
      <vt:lpstr>异步I/O模型</vt:lpstr>
      <vt:lpstr>五个I/O模型的比较</vt:lpstr>
      <vt:lpstr>同步i/o与异步i/o</vt:lpstr>
      <vt:lpstr>I/O复用概述</vt:lpstr>
      <vt:lpstr>I/O复用的应用场合</vt:lpstr>
      <vt:lpstr>I/O复用的基本思想</vt:lpstr>
      <vt:lpstr>select函数（1）</vt:lpstr>
      <vt:lpstr>select函数（2）</vt:lpstr>
      <vt:lpstr>select函数（3）</vt:lpstr>
      <vt:lpstr>select函数（4）</vt:lpstr>
      <vt:lpstr>select函数（4）</vt:lpstr>
      <vt:lpstr>select函数（4）</vt:lpstr>
      <vt:lpstr>select函数（4）</vt:lpstr>
      <vt:lpstr>select函数（4）</vt:lpstr>
      <vt:lpstr>select函数（5）</vt:lpstr>
      <vt:lpstr>select函数（6）</vt:lpstr>
      <vt:lpstr>select函数（6）</vt:lpstr>
      <vt:lpstr>Select()函数实现I/O多路复用的步骤</vt:lpstr>
      <vt:lpstr>select函数例程（1）</vt:lpstr>
      <vt:lpstr>select函数例程（1）</vt:lpstr>
      <vt:lpstr>运行结果</vt:lpstr>
      <vt:lpstr>select函数例程（2） </vt:lpstr>
      <vt:lpstr>select函数例程（2） </vt:lpstr>
      <vt:lpstr>select函数例程（2） </vt:lpstr>
      <vt:lpstr>pselect（）函数（1）</vt:lpstr>
      <vt:lpstr>pselect（）函数（2）</vt:lpstr>
      <vt:lpstr>pselect（）函数（2）</vt:lpstr>
      <vt:lpstr>pselect函数例程</vt:lpstr>
      <vt:lpstr>pselect（）运行结果</vt:lpstr>
      <vt:lpstr>UDP谈话程序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TCP-UDP服务器</vt:lpstr>
      <vt:lpstr>PowerPoint 演示文稿</vt:lpstr>
      <vt:lpstr>PowerPoint 演示文稿</vt:lpstr>
      <vt:lpstr>PowerPoint 演示文稿</vt:lpstr>
      <vt:lpstr>PowerPoint 演示文稿</vt:lpstr>
      <vt:lpstr>PowerPoint 演示文稿</vt:lpstr>
      <vt:lpstr>PowerPoint 演示文稿</vt:lpstr>
      <vt:lpstr>非阻塞I/O模型</vt:lpstr>
      <vt:lpstr>非阻塞I/O的实现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信号驱动I/O模型</vt:lpstr>
      <vt:lpstr>信号驱动I/O的实现</vt:lpstr>
      <vt:lpstr>PowerPoint 演示文稿</vt:lpstr>
      <vt:lpstr>PowerPoint 演示文稿</vt:lpstr>
      <vt:lpstr>PowerPoint 演示文稿</vt:lpstr>
      <vt:lpstr>信号驱动I/O源程序</vt:lpstr>
      <vt:lpstr>PowerPoint 演示文稿</vt:lpstr>
      <vt:lpstr>PowerPoint 演示文稿</vt:lpstr>
      <vt:lpstr>PowerPoint 演示文稿</vt:lpstr>
      <vt:lpstr>PowerPoint 演示文稿</vt:lpstr>
      <vt:lpstr>PowerPoint 演示文稿</vt:lpstr>
      <vt:lpstr>套接字选项概述</vt:lpstr>
      <vt:lpstr>getsockopt和setsockopt函数</vt:lpstr>
      <vt:lpstr>PowerPoint 演示文稿</vt:lpstr>
      <vt:lpstr>部分选项</vt:lpstr>
      <vt:lpstr>SO_KEEPALIVE选项（tcp）</vt:lpstr>
      <vt:lpstr>SO_KEEPALIVE选项（续）</vt:lpstr>
      <vt:lpstr>检测各种TCP条件的方法</vt:lpstr>
      <vt:lpstr>SO_LINGER选项</vt:lpstr>
      <vt:lpstr>SO_LINGER选项（续）</vt:lpstr>
      <vt:lpstr>SO_LINGER选项（续）</vt:lpstr>
      <vt:lpstr>SO_LINGER图示</vt:lpstr>
      <vt:lpstr>shutdown和应用ACK</vt:lpstr>
      <vt:lpstr>PowerPoint 演示文稿</vt:lpstr>
      <vt:lpstr>SO_RCVBUF和SO_SNDBUF</vt:lpstr>
      <vt:lpstr>SO_RCVLOWAT和SO_SNDLOWAT</vt:lpstr>
      <vt:lpstr>PowerPoint 演示文稿</vt:lpstr>
      <vt:lpstr>PowerPoint 演示文稿</vt:lpstr>
      <vt:lpstr>SO_RCVTIMEO vs. SO_SNDTIMEO</vt:lpstr>
      <vt:lpstr>接收数据超时例子</vt:lpstr>
      <vt:lpstr>SO_REUSEADDR选项</vt:lpstr>
      <vt:lpstr>SO_REUSEADDR选项</vt:lpstr>
      <vt:lpstr>SO_ERROR选项</vt:lpstr>
      <vt:lpstr>IPv4选项：IP_HDRINCL选项</vt:lpstr>
      <vt:lpstr>测试本机支持的选项</vt:lpstr>
      <vt:lpstr>测试本机支持的选项（续）</vt:lpstr>
      <vt:lpstr>测试本机支持的选项（续）</vt:lpstr>
      <vt:lpstr>测试本机支持的选项（续）</vt:lpstr>
      <vt:lpstr>测试本机支持的选项（续）</vt:lpstr>
      <vt:lpstr>测试本机支持的选项（续）</vt:lpstr>
      <vt:lpstr>测试本机支持的选项（续）</vt:lpstr>
      <vt:lpstr>测试本机支持的选项（续）</vt:lpstr>
      <vt:lpstr>测试本机支持的选项（续）</vt:lpstr>
      <vt:lpstr>PowerPoint 演示文稿</vt:lpstr>
    </vt:vector>
  </TitlesOfParts>
  <Company>cuit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并发服务器 I/O复用与套接字选项</dc:title>
  <dc:creator>liushijun</dc:creator>
  <cp:lastModifiedBy>穆意</cp:lastModifiedBy>
  <cp:revision>439</cp:revision>
  <dcterms:created xsi:type="dcterms:W3CDTF">2005-11-06T07:08:00Z</dcterms:created>
  <dcterms:modified xsi:type="dcterms:W3CDTF">2025-04-12T16:19:10Z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B63EE68FDE9C43E98110C9B18DA1810C</vt:lpwstr>
  </property>
  <property fmtid="{D5CDD505-2E9C-101B-9397-08002B2CF9AE}" pid="3" name="KSOProductBuildVer">
    <vt:lpwstr>2052-11.1.0.12165</vt:lpwstr>
  </property>
</Properties>
</file>